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70" r:id="rId9"/>
    <p:sldId id="262" r:id="rId10"/>
    <p:sldId id="269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99DD51-820F-4F05-B72A-AFF9FC96FC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0706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10E053-EB79-49CF-9D0A-76FC9E8B7E3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931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BDE31-A6AA-49C7-AB03-BC00B7FB5E0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DB42D-6E42-435D-A5B4-E6CA49DF092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398E4-DDCE-49E1-B329-21AB95BD4A5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88BB4-6DD6-4BC7-941C-C4C97190DA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C27D5-5DD8-4CCD-81D6-76467108D7F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42AAC-575B-45D4-9384-E36B5421534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5A02A-5231-4786-A3F0-613A49492FD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A554C-8F41-46D1-9DE8-ABDACB911B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75EB2-F513-4764-8ADA-6B7B44DC77C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D69706-206E-4BBA-A07C-63AD8AB5EE8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5C5A77-EF34-4022-8C10-1008ECC0EB8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3EFC339-7E48-4330-8D63-FDE2250A67F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406400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zh-CN" altLang="en-US" sz="3200" dirty="0"/>
              <a:t> </a:t>
            </a:r>
            <a:r>
              <a:rPr lang="en-US" altLang="zh-CN" dirty="0"/>
              <a:t>1</a:t>
            </a:r>
            <a:r>
              <a:rPr lang="en-US" altLang="zh-CN" sz="3200" dirty="0"/>
              <a:t> </a:t>
            </a:r>
            <a:r>
              <a:rPr lang="zh-CN" altLang="en-US" dirty="0"/>
              <a:t>章 </a:t>
            </a:r>
            <a:r>
              <a:rPr lang="zh-CN" altLang="en-US" dirty="0" smtClean="0"/>
              <a:t>概述</a:t>
            </a:r>
            <a:r>
              <a:rPr lang="en-US" altLang="zh-CN" dirty="0" smtClean="0"/>
              <a:t>(P36)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6613"/>
            <a:ext cx="9144000" cy="1439862"/>
          </a:xfrm>
        </p:spPr>
        <p:txBody>
          <a:bodyPr/>
          <a:lstStyle/>
          <a:p>
            <a:pPr marL="457200" indent="-457200">
              <a:buFontTx/>
              <a:buNone/>
            </a:pPr>
            <a:r>
              <a:rPr lang="en-US" altLang="zh-CN" sz="3600" b="1" dirty="0"/>
              <a:t>1 </a:t>
            </a:r>
            <a:r>
              <a:rPr lang="zh-CN" altLang="en-US" sz="2800" dirty="0"/>
              <a:t>三种交换方式在数据传送阶段的主要特点</a:t>
            </a:r>
            <a:r>
              <a:rPr lang="en-US" altLang="zh-CN" sz="2800" dirty="0"/>
              <a:t>? </a:t>
            </a:r>
            <a:r>
              <a:rPr lang="en-US" altLang="zh-CN" sz="3600" b="1" dirty="0"/>
              <a:t>(P15)</a:t>
            </a:r>
          </a:p>
          <a:p>
            <a:pPr marL="457200" indent="-457200">
              <a:buFontTx/>
              <a:buNone/>
            </a:pPr>
            <a:r>
              <a:rPr lang="en-US" altLang="zh-CN" sz="3600" b="1" dirty="0"/>
              <a:t>2 </a:t>
            </a:r>
            <a:r>
              <a:rPr lang="zh-CN" altLang="en-US" sz="2800" dirty="0"/>
              <a:t>分组交换的优缺点</a:t>
            </a:r>
            <a:r>
              <a:rPr lang="en-US" altLang="zh-CN" sz="2800" dirty="0"/>
              <a:t>? </a:t>
            </a:r>
            <a:r>
              <a:rPr lang="en-US" altLang="zh-CN" sz="3600" b="1" dirty="0"/>
              <a:t>( P15)</a:t>
            </a:r>
          </a:p>
          <a:p>
            <a:pPr marL="457200" indent="-457200">
              <a:buFontTx/>
              <a:buNone/>
            </a:pPr>
            <a:endParaRPr lang="en-US" altLang="zh-CN" sz="2800" dirty="0"/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0" y="2230438"/>
            <a:ext cx="8591550" cy="4627562"/>
            <a:chOff x="113" y="416"/>
            <a:chExt cx="5412" cy="2915"/>
          </a:xfrm>
        </p:grpSpPr>
        <p:grpSp>
          <p:nvGrpSpPr>
            <p:cNvPr id="3077" name="Group 5"/>
            <p:cNvGrpSpPr>
              <a:grpSpLocks/>
            </p:cNvGrpSpPr>
            <p:nvPr/>
          </p:nvGrpSpPr>
          <p:grpSpPr bwMode="auto">
            <a:xfrm>
              <a:off x="4653" y="920"/>
              <a:ext cx="366" cy="249"/>
              <a:chOff x="4653" y="1615"/>
              <a:chExt cx="366" cy="249"/>
            </a:xfrm>
          </p:grpSpPr>
          <p:sp>
            <p:nvSpPr>
              <p:cNvPr id="3078" name="AutoShape 6"/>
              <p:cNvSpPr>
                <a:spLocks noChangeArrowheads="1"/>
              </p:cNvSpPr>
              <p:nvPr/>
            </p:nvSpPr>
            <p:spPr bwMode="auto">
              <a:xfrm rot="5400000">
                <a:off x="4733" y="1579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" name="Text Box 7"/>
              <p:cNvSpPr txBox="1">
                <a:spLocks noChangeArrowheads="1"/>
              </p:cNvSpPr>
              <p:nvPr/>
            </p:nvSpPr>
            <p:spPr bwMode="auto">
              <a:xfrm rot="626605">
                <a:off x="4662" y="1615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080" name="Line 8"/>
              <p:cNvSpPr>
                <a:spLocks noChangeShapeType="1"/>
              </p:cNvSpPr>
              <p:nvPr/>
            </p:nvSpPr>
            <p:spPr bwMode="auto">
              <a:xfrm>
                <a:off x="4656" y="165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1" name="Line 9"/>
              <p:cNvSpPr>
                <a:spLocks noChangeShapeType="1"/>
              </p:cNvSpPr>
              <p:nvPr/>
            </p:nvSpPr>
            <p:spPr bwMode="auto">
              <a:xfrm>
                <a:off x="4653" y="1801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2" name="AutoShape 10"/>
              <p:cNvSpPr>
                <a:spLocks noChangeArrowheads="1"/>
              </p:cNvSpPr>
              <p:nvPr/>
            </p:nvSpPr>
            <p:spPr bwMode="auto">
              <a:xfrm rot="746037">
                <a:off x="4847" y="1715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83" name="Group 11"/>
            <p:cNvGrpSpPr>
              <a:grpSpLocks/>
            </p:cNvGrpSpPr>
            <p:nvPr/>
          </p:nvGrpSpPr>
          <p:grpSpPr bwMode="auto">
            <a:xfrm>
              <a:off x="4648" y="1099"/>
              <a:ext cx="367" cy="249"/>
              <a:chOff x="4648" y="1794"/>
              <a:chExt cx="367" cy="249"/>
            </a:xfrm>
          </p:grpSpPr>
          <p:sp>
            <p:nvSpPr>
              <p:cNvPr id="3084" name="AutoShape 12"/>
              <p:cNvSpPr>
                <a:spLocks noChangeArrowheads="1"/>
              </p:cNvSpPr>
              <p:nvPr/>
            </p:nvSpPr>
            <p:spPr bwMode="auto">
              <a:xfrm rot="5400000">
                <a:off x="4729" y="1758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5" name="Text Box 13"/>
              <p:cNvSpPr txBox="1">
                <a:spLocks noChangeArrowheads="1"/>
              </p:cNvSpPr>
              <p:nvPr/>
            </p:nvSpPr>
            <p:spPr bwMode="auto">
              <a:xfrm rot="626605">
                <a:off x="4651" y="179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086" name="Line 14"/>
              <p:cNvSpPr>
                <a:spLocks noChangeShapeType="1"/>
              </p:cNvSpPr>
              <p:nvPr/>
            </p:nvSpPr>
            <p:spPr bwMode="auto">
              <a:xfrm>
                <a:off x="4652" y="1829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7" name="Line 15"/>
              <p:cNvSpPr>
                <a:spLocks noChangeShapeType="1"/>
              </p:cNvSpPr>
              <p:nvPr/>
            </p:nvSpPr>
            <p:spPr bwMode="auto">
              <a:xfrm>
                <a:off x="4648" y="19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8" name="AutoShape 16"/>
              <p:cNvSpPr>
                <a:spLocks noChangeArrowheads="1"/>
              </p:cNvSpPr>
              <p:nvPr/>
            </p:nvSpPr>
            <p:spPr bwMode="auto">
              <a:xfrm rot="746037">
                <a:off x="4843" y="1894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89" name="Group 17"/>
            <p:cNvGrpSpPr>
              <a:grpSpLocks/>
            </p:cNvGrpSpPr>
            <p:nvPr/>
          </p:nvGrpSpPr>
          <p:grpSpPr bwMode="auto">
            <a:xfrm>
              <a:off x="4652" y="1281"/>
              <a:ext cx="366" cy="243"/>
              <a:chOff x="4652" y="1976"/>
              <a:chExt cx="366" cy="243"/>
            </a:xfrm>
          </p:grpSpPr>
          <p:sp>
            <p:nvSpPr>
              <p:cNvPr id="3090" name="AutoShape 18"/>
              <p:cNvSpPr>
                <a:spLocks noChangeArrowheads="1"/>
              </p:cNvSpPr>
              <p:nvPr/>
            </p:nvSpPr>
            <p:spPr bwMode="auto">
              <a:xfrm rot="5400000">
                <a:off x="4732" y="1934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1" name="Text Box 19"/>
              <p:cNvSpPr txBox="1">
                <a:spLocks noChangeArrowheads="1"/>
              </p:cNvSpPr>
              <p:nvPr/>
            </p:nvSpPr>
            <p:spPr bwMode="auto">
              <a:xfrm rot="626605">
                <a:off x="4655" y="197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092" name="Line 20"/>
              <p:cNvSpPr>
                <a:spLocks noChangeShapeType="1"/>
              </p:cNvSpPr>
              <p:nvPr/>
            </p:nvSpPr>
            <p:spPr bwMode="auto">
              <a:xfrm>
                <a:off x="4656" y="2004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3" name="Line 21"/>
              <p:cNvSpPr>
                <a:spLocks noChangeShapeType="1"/>
              </p:cNvSpPr>
              <p:nvPr/>
            </p:nvSpPr>
            <p:spPr bwMode="auto">
              <a:xfrm>
                <a:off x="4652" y="2155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4" name="AutoShape 22"/>
              <p:cNvSpPr>
                <a:spLocks noChangeArrowheads="1"/>
              </p:cNvSpPr>
              <p:nvPr/>
            </p:nvSpPr>
            <p:spPr bwMode="auto">
              <a:xfrm rot="746037">
                <a:off x="4846" y="2069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95" name="Group 23"/>
            <p:cNvGrpSpPr>
              <a:grpSpLocks/>
            </p:cNvGrpSpPr>
            <p:nvPr/>
          </p:nvGrpSpPr>
          <p:grpSpPr bwMode="auto">
            <a:xfrm>
              <a:off x="4656" y="1451"/>
              <a:ext cx="366" cy="248"/>
              <a:chOff x="4656" y="2146"/>
              <a:chExt cx="366" cy="248"/>
            </a:xfrm>
          </p:grpSpPr>
          <p:sp>
            <p:nvSpPr>
              <p:cNvPr id="3096" name="AutoShape 24"/>
              <p:cNvSpPr>
                <a:spLocks noChangeArrowheads="1"/>
              </p:cNvSpPr>
              <p:nvPr/>
            </p:nvSpPr>
            <p:spPr bwMode="auto">
              <a:xfrm rot="5400000">
                <a:off x="4737" y="2109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7" name="Text Box 25"/>
              <p:cNvSpPr txBox="1">
                <a:spLocks noChangeArrowheads="1"/>
              </p:cNvSpPr>
              <p:nvPr/>
            </p:nvSpPr>
            <p:spPr bwMode="auto">
              <a:xfrm rot="626605">
                <a:off x="4659" y="214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098" name="Line 26"/>
              <p:cNvSpPr>
                <a:spLocks noChangeShapeType="1"/>
              </p:cNvSpPr>
              <p:nvPr/>
            </p:nvSpPr>
            <p:spPr bwMode="auto">
              <a:xfrm>
                <a:off x="4659" y="21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9" name="Line 27"/>
              <p:cNvSpPr>
                <a:spLocks noChangeShapeType="1"/>
              </p:cNvSpPr>
              <p:nvPr/>
            </p:nvSpPr>
            <p:spPr bwMode="auto">
              <a:xfrm>
                <a:off x="4656" y="233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0" name="AutoShape 28"/>
              <p:cNvSpPr>
                <a:spLocks noChangeArrowheads="1"/>
              </p:cNvSpPr>
              <p:nvPr/>
            </p:nvSpPr>
            <p:spPr bwMode="auto">
              <a:xfrm rot="746037">
                <a:off x="4850" y="2245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01" name="Group 29"/>
            <p:cNvGrpSpPr>
              <a:grpSpLocks/>
            </p:cNvGrpSpPr>
            <p:nvPr/>
          </p:nvGrpSpPr>
          <p:grpSpPr bwMode="auto">
            <a:xfrm>
              <a:off x="5012" y="1169"/>
              <a:ext cx="369" cy="242"/>
              <a:chOff x="5012" y="1864"/>
              <a:chExt cx="369" cy="242"/>
            </a:xfrm>
          </p:grpSpPr>
          <p:sp>
            <p:nvSpPr>
              <p:cNvPr id="3102" name="AutoShape 30"/>
              <p:cNvSpPr>
                <a:spLocks noChangeArrowheads="1"/>
              </p:cNvSpPr>
              <p:nvPr/>
            </p:nvSpPr>
            <p:spPr bwMode="auto">
              <a:xfrm rot="5400000">
                <a:off x="5096" y="1821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3" name="Text Box 31"/>
              <p:cNvSpPr txBox="1">
                <a:spLocks noChangeArrowheads="1"/>
              </p:cNvSpPr>
              <p:nvPr/>
            </p:nvSpPr>
            <p:spPr bwMode="auto">
              <a:xfrm rot="626605">
                <a:off x="5012" y="186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04" name="Line 32"/>
              <p:cNvSpPr>
                <a:spLocks noChangeShapeType="1"/>
              </p:cNvSpPr>
              <p:nvPr/>
            </p:nvSpPr>
            <p:spPr bwMode="auto">
              <a:xfrm>
                <a:off x="5018" y="189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5" name="Line 33"/>
              <p:cNvSpPr>
                <a:spLocks noChangeShapeType="1"/>
              </p:cNvSpPr>
              <p:nvPr/>
            </p:nvSpPr>
            <p:spPr bwMode="auto">
              <a:xfrm>
                <a:off x="5015" y="2043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6" name="AutoShape 34"/>
              <p:cNvSpPr>
                <a:spLocks noChangeArrowheads="1"/>
              </p:cNvSpPr>
              <p:nvPr/>
            </p:nvSpPr>
            <p:spPr bwMode="auto">
              <a:xfrm rot="746037">
                <a:off x="5209" y="1957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07" name="Group 35"/>
            <p:cNvGrpSpPr>
              <a:grpSpLocks/>
            </p:cNvGrpSpPr>
            <p:nvPr/>
          </p:nvGrpSpPr>
          <p:grpSpPr bwMode="auto">
            <a:xfrm>
              <a:off x="5007" y="1336"/>
              <a:ext cx="369" cy="254"/>
              <a:chOff x="5007" y="2031"/>
              <a:chExt cx="369" cy="254"/>
            </a:xfrm>
          </p:grpSpPr>
          <p:sp>
            <p:nvSpPr>
              <p:cNvPr id="3108" name="AutoShape 36"/>
              <p:cNvSpPr>
                <a:spLocks noChangeArrowheads="1"/>
              </p:cNvSpPr>
              <p:nvPr/>
            </p:nvSpPr>
            <p:spPr bwMode="auto">
              <a:xfrm rot="5400000">
                <a:off x="5091" y="2000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9" name="Text Box 37"/>
              <p:cNvSpPr txBox="1">
                <a:spLocks noChangeArrowheads="1"/>
              </p:cNvSpPr>
              <p:nvPr/>
            </p:nvSpPr>
            <p:spPr bwMode="auto">
              <a:xfrm rot="626605">
                <a:off x="5007" y="2031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10" name="Line 38"/>
              <p:cNvSpPr>
                <a:spLocks noChangeShapeType="1"/>
              </p:cNvSpPr>
              <p:nvPr/>
            </p:nvSpPr>
            <p:spPr bwMode="auto">
              <a:xfrm>
                <a:off x="5014" y="207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1" name="Line 39"/>
              <p:cNvSpPr>
                <a:spLocks noChangeShapeType="1"/>
              </p:cNvSpPr>
              <p:nvPr/>
            </p:nvSpPr>
            <p:spPr bwMode="auto">
              <a:xfrm>
                <a:off x="5010" y="222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2" name="AutoShape 40"/>
              <p:cNvSpPr>
                <a:spLocks noChangeArrowheads="1"/>
              </p:cNvSpPr>
              <p:nvPr/>
            </p:nvSpPr>
            <p:spPr bwMode="auto">
              <a:xfrm rot="746037">
                <a:off x="5204" y="2136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3" name="Group 41"/>
            <p:cNvGrpSpPr>
              <a:grpSpLocks/>
            </p:cNvGrpSpPr>
            <p:nvPr/>
          </p:nvGrpSpPr>
          <p:grpSpPr bwMode="auto">
            <a:xfrm>
              <a:off x="5014" y="1517"/>
              <a:ext cx="366" cy="249"/>
              <a:chOff x="5014" y="2212"/>
              <a:chExt cx="366" cy="249"/>
            </a:xfrm>
          </p:grpSpPr>
          <p:sp>
            <p:nvSpPr>
              <p:cNvPr id="3114" name="AutoShape 42"/>
              <p:cNvSpPr>
                <a:spLocks noChangeArrowheads="1"/>
              </p:cNvSpPr>
              <p:nvPr/>
            </p:nvSpPr>
            <p:spPr bwMode="auto">
              <a:xfrm rot="5400000">
                <a:off x="5094" y="217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5" name="Text Box 43"/>
              <p:cNvSpPr txBox="1">
                <a:spLocks noChangeArrowheads="1"/>
              </p:cNvSpPr>
              <p:nvPr/>
            </p:nvSpPr>
            <p:spPr bwMode="auto">
              <a:xfrm rot="626605">
                <a:off x="5017" y="221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16" name="Line 44"/>
              <p:cNvSpPr>
                <a:spLocks noChangeShapeType="1"/>
              </p:cNvSpPr>
              <p:nvPr/>
            </p:nvSpPr>
            <p:spPr bwMode="auto">
              <a:xfrm>
                <a:off x="5017" y="224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7" name="Line 45"/>
              <p:cNvSpPr>
                <a:spLocks noChangeShapeType="1"/>
              </p:cNvSpPr>
              <p:nvPr/>
            </p:nvSpPr>
            <p:spPr bwMode="auto">
              <a:xfrm>
                <a:off x="5014" y="2398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8" name="AutoShape 46"/>
              <p:cNvSpPr>
                <a:spLocks noChangeArrowheads="1"/>
              </p:cNvSpPr>
              <p:nvPr/>
            </p:nvSpPr>
            <p:spPr bwMode="auto">
              <a:xfrm rot="746037">
                <a:off x="5208" y="2312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9" name="Group 47"/>
            <p:cNvGrpSpPr>
              <a:grpSpLocks/>
            </p:cNvGrpSpPr>
            <p:nvPr/>
          </p:nvGrpSpPr>
          <p:grpSpPr bwMode="auto">
            <a:xfrm>
              <a:off x="5014" y="1687"/>
              <a:ext cx="370" cy="255"/>
              <a:chOff x="5014" y="2382"/>
              <a:chExt cx="370" cy="255"/>
            </a:xfrm>
          </p:grpSpPr>
          <p:sp>
            <p:nvSpPr>
              <p:cNvPr id="3120" name="AutoShape 48"/>
              <p:cNvSpPr>
                <a:spLocks noChangeArrowheads="1"/>
              </p:cNvSpPr>
              <p:nvPr/>
            </p:nvSpPr>
            <p:spPr bwMode="auto">
              <a:xfrm rot="5400000">
                <a:off x="5098" y="2352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1" name="Text Box 49"/>
              <p:cNvSpPr txBox="1">
                <a:spLocks noChangeArrowheads="1"/>
              </p:cNvSpPr>
              <p:nvPr/>
            </p:nvSpPr>
            <p:spPr bwMode="auto">
              <a:xfrm rot="626605">
                <a:off x="5014" y="238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22" name="Line 50"/>
              <p:cNvSpPr>
                <a:spLocks noChangeShapeType="1"/>
              </p:cNvSpPr>
              <p:nvPr/>
            </p:nvSpPr>
            <p:spPr bwMode="auto">
              <a:xfrm>
                <a:off x="5021" y="2422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3" name="Line 51"/>
              <p:cNvSpPr>
                <a:spLocks noChangeShapeType="1"/>
              </p:cNvSpPr>
              <p:nvPr/>
            </p:nvSpPr>
            <p:spPr bwMode="auto">
              <a:xfrm>
                <a:off x="5017" y="2573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4" name="AutoShape 52"/>
              <p:cNvSpPr>
                <a:spLocks noChangeArrowheads="1"/>
              </p:cNvSpPr>
              <p:nvPr/>
            </p:nvSpPr>
            <p:spPr bwMode="auto">
              <a:xfrm rot="746037">
                <a:off x="5212" y="2487"/>
                <a:ext cx="132" cy="127"/>
              </a:xfrm>
              <a:prstGeom prst="rightArrow">
                <a:avLst>
                  <a:gd name="adj1" fmla="val 50000"/>
                  <a:gd name="adj2" fmla="val 25984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25" name="Group 53"/>
            <p:cNvGrpSpPr>
              <a:grpSpLocks/>
            </p:cNvGrpSpPr>
            <p:nvPr/>
          </p:nvGrpSpPr>
          <p:grpSpPr bwMode="auto">
            <a:xfrm>
              <a:off x="4287" y="1033"/>
              <a:ext cx="369" cy="248"/>
              <a:chOff x="4287" y="1728"/>
              <a:chExt cx="369" cy="248"/>
            </a:xfrm>
          </p:grpSpPr>
          <p:sp>
            <p:nvSpPr>
              <p:cNvPr id="3126" name="AutoShape 54"/>
              <p:cNvSpPr>
                <a:spLocks noChangeArrowheads="1"/>
              </p:cNvSpPr>
              <p:nvPr/>
            </p:nvSpPr>
            <p:spPr bwMode="auto">
              <a:xfrm rot="5400000">
                <a:off x="4371" y="1691"/>
                <a:ext cx="210" cy="360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7" name="Text Box 55"/>
              <p:cNvSpPr txBox="1">
                <a:spLocks noChangeArrowheads="1"/>
              </p:cNvSpPr>
              <p:nvPr/>
            </p:nvSpPr>
            <p:spPr bwMode="auto">
              <a:xfrm rot="626605">
                <a:off x="4287" y="172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28" name="Line 56"/>
              <p:cNvSpPr>
                <a:spLocks noChangeShapeType="1"/>
              </p:cNvSpPr>
              <p:nvPr/>
            </p:nvSpPr>
            <p:spPr bwMode="auto">
              <a:xfrm>
                <a:off x="4294" y="1762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9" name="Line 57"/>
              <p:cNvSpPr>
                <a:spLocks noChangeShapeType="1"/>
              </p:cNvSpPr>
              <p:nvPr/>
            </p:nvSpPr>
            <p:spPr bwMode="auto">
              <a:xfrm>
                <a:off x="4290" y="1913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0" name="AutoShape 58"/>
              <p:cNvSpPr>
                <a:spLocks noChangeArrowheads="1"/>
              </p:cNvSpPr>
              <p:nvPr/>
            </p:nvSpPr>
            <p:spPr bwMode="auto">
              <a:xfrm rot="746037">
                <a:off x="4484" y="1827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31" name="Group 59"/>
            <p:cNvGrpSpPr>
              <a:grpSpLocks/>
            </p:cNvGrpSpPr>
            <p:nvPr/>
          </p:nvGrpSpPr>
          <p:grpSpPr bwMode="auto">
            <a:xfrm>
              <a:off x="4294" y="1208"/>
              <a:ext cx="366" cy="249"/>
              <a:chOff x="4294" y="1903"/>
              <a:chExt cx="366" cy="249"/>
            </a:xfrm>
          </p:grpSpPr>
          <p:sp>
            <p:nvSpPr>
              <p:cNvPr id="3132" name="AutoShape 60"/>
              <p:cNvSpPr>
                <a:spLocks noChangeArrowheads="1"/>
              </p:cNvSpPr>
              <p:nvPr/>
            </p:nvSpPr>
            <p:spPr bwMode="auto">
              <a:xfrm rot="5400000">
                <a:off x="4374" y="186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3" name="Text Box 61"/>
              <p:cNvSpPr txBox="1">
                <a:spLocks noChangeArrowheads="1"/>
              </p:cNvSpPr>
              <p:nvPr/>
            </p:nvSpPr>
            <p:spPr bwMode="auto">
              <a:xfrm rot="626605">
                <a:off x="4297" y="190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34" name="Line 62"/>
              <p:cNvSpPr>
                <a:spLocks noChangeShapeType="1"/>
              </p:cNvSpPr>
              <p:nvPr/>
            </p:nvSpPr>
            <p:spPr bwMode="auto">
              <a:xfrm>
                <a:off x="4297" y="19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5" name="Line 63"/>
              <p:cNvSpPr>
                <a:spLocks noChangeShapeType="1"/>
              </p:cNvSpPr>
              <p:nvPr/>
            </p:nvSpPr>
            <p:spPr bwMode="auto">
              <a:xfrm>
                <a:off x="4294" y="2089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6" name="AutoShape 64"/>
              <p:cNvSpPr>
                <a:spLocks noChangeArrowheads="1"/>
              </p:cNvSpPr>
              <p:nvPr/>
            </p:nvSpPr>
            <p:spPr bwMode="auto">
              <a:xfrm rot="746037">
                <a:off x="4488" y="2003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37" name="Group 65"/>
            <p:cNvGrpSpPr>
              <a:grpSpLocks/>
            </p:cNvGrpSpPr>
            <p:nvPr/>
          </p:nvGrpSpPr>
          <p:grpSpPr bwMode="auto">
            <a:xfrm>
              <a:off x="2876" y="1496"/>
              <a:ext cx="367" cy="674"/>
              <a:chOff x="2876" y="2191"/>
              <a:chExt cx="367" cy="674"/>
            </a:xfrm>
          </p:grpSpPr>
          <p:sp>
            <p:nvSpPr>
              <p:cNvPr id="3138" name="AutoShape 66"/>
              <p:cNvSpPr>
                <a:spLocks noChangeArrowheads="1"/>
              </p:cNvSpPr>
              <p:nvPr/>
            </p:nvSpPr>
            <p:spPr bwMode="auto">
              <a:xfrm rot="5400000">
                <a:off x="2729" y="2350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9" name="AutoShape 67"/>
              <p:cNvSpPr>
                <a:spLocks noChangeArrowheads="1"/>
              </p:cNvSpPr>
              <p:nvPr/>
            </p:nvSpPr>
            <p:spPr bwMode="auto">
              <a:xfrm rot="746037">
                <a:off x="2925" y="2654"/>
                <a:ext cx="227" cy="127"/>
              </a:xfrm>
              <a:prstGeom prst="rightArrow">
                <a:avLst>
                  <a:gd name="adj1" fmla="val 50000"/>
                  <a:gd name="adj2" fmla="val 4468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0" name="Text Box 68"/>
              <p:cNvSpPr txBox="1">
                <a:spLocks noChangeArrowheads="1"/>
              </p:cNvSpPr>
              <p:nvPr/>
            </p:nvSpPr>
            <p:spPr bwMode="auto">
              <a:xfrm>
                <a:off x="2919" y="23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3141" name="Line 69"/>
              <p:cNvSpPr>
                <a:spLocks noChangeShapeType="1"/>
              </p:cNvSpPr>
              <p:nvPr/>
            </p:nvSpPr>
            <p:spPr bwMode="auto">
              <a:xfrm>
                <a:off x="2876" y="2191"/>
                <a:ext cx="363" cy="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2" name="Line 70"/>
              <p:cNvSpPr>
                <a:spLocks noChangeShapeType="1"/>
              </p:cNvSpPr>
              <p:nvPr/>
            </p:nvSpPr>
            <p:spPr bwMode="auto">
              <a:xfrm>
                <a:off x="2876" y="2807"/>
                <a:ext cx="363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43" name="Group 71"/>
            <p:cNvGrpSpPr>
              <a:grpSpLocks/>
            </p:cNvGrpSpPr>
            <p:nvPr/>
          </p:nvGrpSpPr>
          <p:grpSpPr bwMode="auto">
            <a:xfrm>
              <a:off x="3251" y="2338"/>
              <a:ext cx="366" cy="675"/>
              <a:chOff x="3251" y="3033"/>
              <a:chExt cx="366" cy="675"/>
            </a:xfrm>
          </p:grpSpPr>
          <p:sp>
            <p:nvSpPr>
              <p:cNvPr id="3144" name="AutoShape 72"/>
              <p:cNvSpPr>
                <a:spLocks noChangeArrowheads="1"/>
              </p:cNvSpPr>
              <p:nvPr/>
            </p:nvSpPr>
            <p:spPr bwMode="auto">
              <a:xfrm rot="5400000">
                <a:off x="3102" y="3193"/>
                <a:ext cx="675" cy="355"/>
              </a:xfrm>
              <a:prstGeom prst="parallelogram">
                <a:avLst>
                  <a:gd name="adj" fmla="val 1829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5" name="AutoShape 73"/>
              <p:cNvSpPr>
                <a:spLocks noChangeArrowheads="1"/>
              </p:cNvSpPr>
              <p:nvPr/>
            </p:nvSpPr>
            <p:spPr bwMode="auto">
              <a:xfrm rot="746037">
                <a:off x="3300" y="3497"/>
                <a:ext cx="226" cy="126"/>
              </a:xfrm>
              <a:prstGeom prst="rightArrow">
                <a:avLst>
                  <a:gd name="adj1" fmla="val 50000"/>
                  <a:gd name="adj2" fmla="val 4484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6" name="Text Box 74"/>
              <p:cNvSpPr txBox="1">
                <a:spLocks noChangeArrowheads="1"/>
              </p:cNvSpPr>
              <p:nvPr/>
            </p:nvSpPr>
            <p:spPr bwMode="auto">
              <a:xfrm>
                <a:off x="3293" y="3143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3147" name="Line 75"/>
              <p:cNvSpPr>
                <a:spLocks noChangeShapeType="1"/>
              </p:cNvSpPr>
              <p:nvPr/>
            </p:nvSpPr>
            <p:spPr bwMode="auto">
              <a:xfrm>
                <a:off x="3251" y="3033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8" name="Line 76"/>
              <p:cNvSpPr>
                <a:spLocks noChangeShapeType="1"/>
              </p:cNvSpPr>
              <p:nvPr/>
            </p:nvSpPr>
            <p:spPr bwMode="auto">
              <a:xfrm>
                <a:off x="3251" y="3650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49" name="Group 77"/>
            <p:cNvGrpSpPr>
              <a:grpSpLocks/>
            </p:cNvGrpSpPr>
            <p:nvPr/>
          </p:nvGrpSpPr>
          <p:grpSpPr bwMode="auto">
            <a:xfrm>
              <a:off x="2519" y="695"/>
              <a:ext cx="361" cy="674"/>
              <a:chOff x="2519" y="1390"/>
              <a:chExt cx="361" cy="674"/>
            </a:xfrm>
          </p:grpSpPr>
          <p:sp>
            <p:nvSpPr>
              <p:cNvPr id="3150" name="AutoShape 78"/>
              <p:cNvSpPr>
                <a:spLocks noChangeArrowheads="1"/>
              </p:cNvSpPr>
              <p:nvPr/>
            </p:nvSpPr>
            <p:spPr bwMode="auto">
              <a:xfrm rot="5400000">
                <a:off x="2366" y="1549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1" name="AutoShape 79"/>
              <p:cNvSpPr>
                <a:spLocks noChangeArrowheads="1"/>
              </p:cNvSpPr>
              <p:nvPr/>
            </p:nvSpPr>
            <p:spPr bwMode="auto">
              <a:xfrm rot="746037">
                <a:off x="2563" y="1853"/>
                <a:ext cx="226" cy="127"/>
              </a:xfrm>
              <a:prstGeom prst="rightArrow">
                <a:avLst>
                  <a:gd name="adj1" fmla="val 50000"/>
                  <a:gd name="adj2" fmla="val 44488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2" name="Text Box 80"/>
              <p:cNvSpPr txBox="1">
                <a:spLocks noChangeArrowheads="1"/>
              </p:cNvSpPr>
              <p:nvPr/>
            </p:nvSpPr>
            <p:spPr bwMode="auto">
              <a:xfrm>
                <a:off x="2567" y="15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3153" name="Line 81"/>
              <p:cNvSpPr>
                <a:spLocks noChangeShapeType="1"/>
              </p:cNvSpPr>
              <p:nvPr/>
            </p:nvSpPr>
            <p:spPr bwMode="auto">
              <a:xfrm>
                <a:off x="2519" y="1395"/>
                <a:ext cx="357" cy="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" name="Line 82"/>
              <p:cNvSpPr>
                <a:spLocks noChangeShapeType="1"/>
              </p:cNvSpPr>
              <p:nvPr/>
            </p:nvSpPr>
            <p:spPr bwMode="auto">
              <a:xfrm>
                <a:off x="2519" y="2001"/>
                <a:ext cx="357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55" name="Line 83"/>
            <p:cNvSpPr>
              <a:spLocks noChangeShapeType="1"/>
            </p:cNvSpPr>
            <p:nvPr/>
          </p:nvSpPr>
          <p:spPr bwMode="auto">
            <a:xfrm>
              <a:off x="1189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6" name="Line 84"/>
            <p:cNvSpPr>
              <a:spLocks noChangeShapeType="1"/>
            </p:cNvSpPr>
            <p:nvPr/>
          </p:nvSpPr>
          <p:spPr bwMode="auto">
            <a:xfrm>
              <a:off x="1552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7" name="Text Box 85"/>
            <p:cNvSpPr txBox="1">
              <a:spLocks noChangeArrowheads="1"/>
            </p:cNvSpPr>
            <p:nvPr/>
          </p:nvSpPr>
          <p:spPr bwMode="auto">
            <a:xfrm>
              <a:off x="703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D </a:t>
              </a:r>
            </a:p>
          </p:txBody>
        </p:sp>
        <p:sp>
          <p:nvSpPr>
            <p:cNvPr id="3158" name="Text Box 86"/>
            <p:cNvSpPr txBox="1">
              <a:spLocks noChangeArrowheads="1"/>
            </p:cNvSpPr>
            <p:nvPr/>
          </p:nvSpPr>
          <p:spPr bwMode="auto">
            <a:xfrm>
              <a:off x="2402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3159" name="Text Box 87"/>
            <p:cNvSpPr txBox="1">
              <a:spLocks noChangeArrowheads="1"/>
            </p:cNvSpPr>
            <p:nvPr/>
          </p:nvSpPr>
          <p:spPr bwMode="auto">
            <a:xfrm>
              <a:off x="4171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3160" name="Line 88"/>
            <p:cNvSpPr>
              <a:spLocks noChangeShapeType="1"/>
            </p:cNvSpPr>
            <p:nvPr/>
          </p:nvSpPr>
          <p:spPr bwMode="auto">
            <a:xfrm>
              <a:off x="826" y="779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1" name="Line 89"/>
            <p:cNvSpPr>
              <a:spLocks noChangeShapeType="1"/>
            </p:cNvSpPr>
            <p:nvPr/>
          </p:nvSpPr>
          <p:spPr bwMode="auto">
            <a:xfrm>
              <a:off x="1189" y="948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2" name="Line 90"/>
            <p:cNvSpPr>
              <a:spLocks noChangeShapeType="1"/>
            </p:cNvSpPr>
            <p:nvPr/>
          </p:nvSpPr>
          <p:spPr bwMode="auto">
            <a:xfrm>
              <a:off x="1552" y="1116"/>
              <a:ext cx="362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3" name="Line 91"/>
            <p:cNvSpPr>
              <a:spLocks noChangeShapeType="1"/>
            </p:cNvSpPr>
            <p:nvPr/>
          </p:nvSpPr>
          <p:spPr bwMode="auto">
            <a:xfrm flipH="1">
              <a:off x="826" y="1369"/>
              <a:ext cx="1088" cy="169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4" name="Text Box 92"/>
            <p:cNvSpPr txBox="1">
              <a:spLocks noChangeArrowheads="1"/>
            </p:cNvSpPr>
            <p:nvPr/>
          </p:nvSpPr>
          <p:spPr bwMode="auto">
            <a:xfrm>
              <a:off x="2713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solidFill>
                    <a:srgbClr val="333399"/>
                  </a:solidFill>
                  <a:ea typeface="黑体" pitchFamily="2" charset="-122"/>
                </a:rPr>
                <a:t>报文交换</a:t>
              </a:r>
            </a:p>
          </p:txBody>
        </p:sp>
        <p:sp>
          <p:nvSpPr>
            <p:cNvPr id="3165" name="Text Box 93"/>
            <p:cNvSpPr txBox="1">
              <a:spLocks noChangeArrowheads="1"/>
            </p:cNvSpPr>
            <p:nvPr/>
          </p:nvSpPr>
          <p:spPr bwMode="auto">
            <a:xfrm>
              <a:off x="975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solidFill>
                    <a:srgbClr val="333399"/>
                  </a:solidFill>
                  <a:ea typeface="黑体" pitchFamily="2" charset="-122"/>
                </a:rPr>
                <a:t>电路交换</a:t>
              </a:r>
            </a:p>
          </p:txBody>
        </p:sp>
        <p:sp>
          <p:nvSpPr>
            <p:cNvPr id="3166" name="Text Box 94"/>
            <p:cNvSpPr txBox="1">
              <a:spLocks noChangeArrowheads="1"/>
            </p:cNvSpPr>
            <p:nvPr/>
          </p:nvSpPr>
          <p:spPr bwMode="auto">
            <a:xfrm>
              <a:off x="4446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solidFill>
                    <a:srgbClr val="333399"/>
                  </a:solidFill>
                  <a:ea typeface="黑体" pitchFamily="2" charset="-122"/>
                </a:rPr>
                <a:t>分组交换</a:t>
              </a:r>
            </a:p>
          </p:txBody>
        </p:sp>
        <p:sp>
          <p:nvSpPr>
            <p:cNvPr id="3167" name="Line 95"/>
            <p:cNvSpPr>
              <a:spLocks noChangeShapeType="1"/>
            </p:cNvSpPr>
            <p:nvPr/>
          </p:nvSpPr>
          <p:spPr bwMode="auto">
            <a:xfrm>
              <a:off x="2212" y="990"/>
              <a:ext cx="0" cy="172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8" name="Text Box 96"/>
            <p:cNvSpPr txBox="1">
              <a:spLocks noChangeArrowheads="1"/>
            </p:cNvSpPr>
            <p:nvPr/>
          </p:nvSpPr>
          <p:spPr bwMode="auto">
            <a:xfrm>
              <a:off x="2148" y="2728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333399"/>
                  </a:solidFill>
                  <a:ea typeface="黑体" pitchFamily="2" charset="-122"/>
                </a:rPr>
                <a:t>t</a:t>
              </a:r>
            </a:p>
          </p:txBody>
        </p:sp>
        <p:grpSp>
          <p:nvGrpSpPr>
            <p:cNvPr id="3169" name="Group 97"/>
            <p:cNvGrpSpPr>
              <a:grpSpLocks/>
            </p:cNvGrpSpPr>
            <p:nvPr/>
          </p:nvGrpSpPr>
          <p:grpSpPr bwMode="auto">
            <a:xfrm>
              <a:off x="113" y="778"/>
              <a:ext cx="699" cy="775"/>
              <a:chOff x="113" y="1473"/>
              <a:chExt cx="699" cy="775"/>
            </a:xfrm>
          </p:grpSpPr>
          <p:sp>
            <p:nvSpPr>
              <p:cNvPr id="3170" name="Line 98"/>
              <p:cNvSpPr>
                <a:spLocks noChangeShapeType="1"/>
              </p:cNvSpPr>
              <p:nvPr/>
            </p:nvSpPr>
            <p:spPr bwMode="auto">
              <a:xfrm>
                <a:off x="630" y="1474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1" name="Line 99"/>
              <p:cNvSpPr>
                <a:spLocks noChangeShapeType="1"/>
              </p:cNvSpPr>
              <p:nvPr/>
            </p:nvSpPr>
            <p:spPr bwMode="auto">
              <a:xfrm>
                <a:off x="622" y="2248"/>
                <a:ext cx="181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2" name="Text Box 100"/>
              <p:cNvSpPr txBox="1">
                <a:spLocks noChangeArrowheads="1"/>
              </p:cNvSpPr>
              <p:nvPr/>
            </p:nvSpPr>
            <p:spPr bwMode="auto">
              <a:xfrm>
                <a:off x="113" y="17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连接建立</a:t>
                </a:r>
              </a:p>
            </p:txBody>
          </p:sp>
          <p:sp>
            <p:nvSpPr>
              <p:cNvPr id="3173" name="Line 101"/>
              <p:cNvSpPr>
                <a:spLocks noChangeShapeType="1"/>
              </p:cNvSpPr>
              <p:nvPr/>
            </p:nvSpPr>
            <p:spPr bwMode="auto">
              <a:xfrm>
                <a:off x="720" y="1473"/>
                <a:ext cx="0" cy="759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74" name="Group 102"/>
            <p:cNvGrpSpPr>
              <a:grpSpLocks/>
            </p:cNvGrpSpPr>
            <p:nvPr/>
          </p:nvGrpSpPr>
          <p:grpSpPr bwMode="auto">
            <a:xfrm>
              <a:off x="113" y="1551"/>
              <a:ext cx="699" cy="637"/>
              <a:chOff x="113" y="2246"/>
              <a:chExt cx="699" cy="637"/>
            </a:xfrm>
          </p:grpSpPr>
          <p:sp>
            <p:nvSpPr>
              <p:cNvPr id="3175" name="Line 103"/>
              <p:cNvSpPr>
                <a:spLocks noChangeShapeType="1"/>
              </p:cNvSpPr>
              <p:nvPr/>
            </p:nvSpPr>
            <p:spPr bwMode="auto">
              <a:xfrm>
                <a:off x="630" y="288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" name="Text Box 104"/>
              <p:cNvSpPr txBox="1">
                <a:spLocks noChangeArrowheads="1"/>
              </p:cNvSpPr>
              <p:nvPr/>
            </p:nvSpPr>
            <p:spPr bwMode="auto">
              <a:xfrm>
                <a:off x="113" y="2405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数据传送</a:t>
                </a:r>
              </a:p>
            </p:txBody>
          </p:sp>
          <p:sp>
            <p:nvSpPr>
              <p:cNvPr id="3177" name="Line 105"/>
              <p:cNvSpPr>
                <a:spLocks noChangeShapeType="1"/>
              </p:cNvSpPr>
              <p:nvPr/>
            </p:nvSpPr>
            <p:spPr bwMode="auto">
              <a:xfrm>
                <a:off x="721" y="2246"/>
                <a:ext cx="0" cy="63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78" name="Freeform 106"/>
            <p:cNvSpPr>
              <a:spLocks/>
            </p:cNvSpPr>
            <p:nvPr/>
          </p:nvSpPr>
          <p:spPr bwMode="auto">
            <a:xfrm>
              <a:off x="823" y="695"/>
              <a:ext cx="3" cy="240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42"/>
                </a:cxn>
              </a:cxnLst>
              <a:rect l="0" t="0" r="r" b="b"/>
              <a:pathLst>
                <a:path w="3" h="2742">
                  <a:moveTo>
                    <a:pt x="3" y="0"/>
                  </a:moveTo>
                  <a:lnTo>
                    <a:pt x="0" y="274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" name="Freeform 107"/>
            <p:cNvSpPr>
              <a:spLocks/>
            </p:cNvSpPr>
            <p:nvPr/>
          </p:nvSpPr>
          <p:spPr bwMode="auto">
            <a:xfrm>
              <a:off x="3614" y="681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" name="Line 108"/>
            <p:cNvSpPr>
              <a:spLocks noChangeShapeType="1"/>
            </p:cNvSpPr>
            <p:nvPr/>
          </p:nvSpPr>
          <p:spPr bwMode="auto">
            <a:xfrm>
              <a:off x="5379" y="712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" name="Line 109"/>
            <p:cNvSpPr>
              <a:spLocks noChangeShapeType="1"/>
            </p:cNvSpPr>
            <p:nvPr/>
          </p:nvSpPr>
          <p:spPr bwMode="auto">
            <a:xfrm>
              <a:off x="5015" y="703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" name="Line 110"/>
            <p:cNvSpPr>
              <a:spLocks noChangeShapeType="1"/>
            </p:cNvSpPr>
            <p:nvPr/>
          </p:nvSpPr>
          <p:spPr bwMode="auto">
            <a:xfrm>
              <a:off x="4657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3" name="Line 111"/>
            <p:cNvSpPr>
              <a:spLocks noChangeShapeType="1"/>
            </p:cNvSpPr>
            <p:nvPr/>
          </p:nvSpPr>
          <p:spPr bwMode="auto">
            <a:xfrm>
              <a:off x="2517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4" name="Line 112"/>
            <p:cNvSpPr>
              <a:spLocks noChangeShapeType="1"/>
            </p:cNvSpPr>
            <p:nvPr/>
          </p:nvSpPr>
          <p:spPr bwMode="auto">
            <a:xfrm>
              <a:off x="2876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5" name="Line 113"/>
            <p:cNvSpPr>
              <a:spLocks noChangeShapeType="1"/>
            </p:cNvSpPr>
            <p:nvPr/>
          </p:nvSpPr>
          <p:spPr bwMode="auto">
            <a:xfrm>
              <a:off x="3250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86" name="Group 114"/>
            <p:cNvGrpSpPr>
              <a:grpSpLocks/>
            </p:cNvGrpSpPr>
            <p:nvPr/>
          </p:nvGrpSpPr>
          <p:grpSpPr bwMode="auto">
            <a:xfrm>
              <a:off x="817" y="1543"/>
              <a:ext cx="1113" cy="806"/>
              <a:chOff x="817" y="2238"/>
              <a:chExt cx="1113" cy="806"/>
            </a:xfrm>
          </p:grpSpPr>
          <p:sp>
            <p:nvSpPr>
              <p:cNvPr id="3187" name="Line 115"/>
              <p:cNvSpPr>
                <a:spLocks noChangeShapeType="1"/>
              </p:cNvSpPr>
              <p:nvPr/>
            </p:nvSpPr>
            <p:spPr bwMode="auto">
              <a:xfrm>
                <a:off x="841" y="2268"/>
                <a:ext cx="1089" cy="168"/>
              </a:xfrm>
              <a:prstGeom prst="line">
                <a:avLst/>
              </a:prstGeom>
              <a:noFill/>
              <a:ln w="19050">
                <a:noFill/>
                <a:round/>
                <a:headEnd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88" name="AutoShape 116"/>
              <p:cNvSpPr>
                <a:spLocks noChangeArrowheads="1"/>
              </p:cNvSpPr>
              <p:nvPr/>
            </p:nvSpPr>
            <p:spPr bwMode="auto">
              <a:xfrm rot="5400000">
                <a:off x="976" y="2091"/>
                <a:ext cx="793" cy="1092"/>
              </a:xfrm>
              <a:prstGeom prst="parallelogram">
                <a:avLst>
                  <a:gd name="adj" fmla="val 21176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89" name="Text Box 117"/>
              <p:cNvSpPr txBox="1">
                <a:spLocks noChangeArrowheads="1"/>
              </p:cNvSpPr>
              <p:nvPr/>
            </p:nvSpPr>
            <p:spPr bwMode="auto">
              <a:xfrm>
                <a:off x="1113" y="2429"/>
                <a:ext cx="4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报文</a:t>
                </a:r>
              </a:p>
            </p:txBody>
          </p:sp>
          <p:sp>
            <p:nvSpPr>
              <p:cNvPr id="3190" name="AutoShape 118"/>
              <p:cNvSpPr>
                <a:spLocks noChangeArrowheads="1"/>
              </p:cNvSpPr>
              <p:nvPr/>
            </p:nvSpPr>
            <p:spPr bwMode="auto">
              <a:xfrm rot="746037">
                <a:off x="1174" y="2745"/>
                <a:ext cx="408" cy="127"/>
              </a:xfrm>
              <a:prstGeom prst="rightArrow">
                <a:avLst>
                  <a:gd name="adj1" fmla="val 50000"/>
                  <a:gd name="adj2" fmla="val 8031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1" name="Line 119"/>
              <p:cNvSpPr>
                <a:spLocks noChangeShapeType="1"/>
              </p:cNvSpPr>
              <p:nvPr/>
            </p:nvSpPr>
            <p:spPr bwMode="auto">
              <a:xfrm>
                <a:off x="823" y="2238"/>
                <a:ext cx="1094" cy="1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2" name="Line 120"/>
              <p:cNvSpPr>
                <a:spLocks noChangeShapeType="1"/>
              </p:cNvSpPr>
              <p:nvPr/>
            </p:nvSpPr>
            <p:spPr bwMode="auto">
              <a:xfrm>
                <a:off x="817" y="2865"/>
                <a:ext cx="1100" cy="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93" name="Group 121"/>
            <p:cNvGrpSpPr>
              <a:grpSpLocks/>
            </p:cNvGrpSpPr>
            <p:nvPr/>
          </p:nvGrpSpPr>
          <p:grpSpPr bwMode="auto">
            <a:xfrm>
              <a:off x="4286" y="863"/>
              <a:ext cx="367" cy="243"/>
              <a:chOff x="4286" y="1558"/>
              <a:chExt cx="367" cy="243"/>
            </a:xfrm>
          </p:grpSpPr>
          <p:sp>
            <p:nvSpPr>
              <p:cNvPr id="3194" name="AutoShape 122"/>
              <p:cNvSpPr>
                <a:spLocks noChangeArrowheads="1"/>
              </p:cNvSpPr>
              <p:nvPr/>
            </p:nvSpPr>
            <p:spPr bwMode="auto">
              <a:xfrm rot="5400000">
                <a:off x="4367" y="151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5" name="Text Box 123"/>
              <p:cNvSpPr txBox="1">
                <a:spLocks noChangeArrowheads="1"/>
              </p:cNvSpPr>
              <p:nvPr/>
            </p:nvSpPr>
            <p:spPr bwMode="auto">
              <a:xfrm rot="626605">
                <a:off x="4295" y="155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196" name="Line 124"/>
              <p:cNvSpPr>
                <a:spLocks noChangeShapeType="1"/>
              </p:cNvSpPr>
              <p:nvPr/>
            </p:nvSpPr>
            <p:spPr bwMode="auto">
              <a:xfrm>
                <a:off x="4286" y="17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7" name="AutoShape 125"/>
              <p:cNvSpPr>
                <a:spLocks noChangeArrowheads="1"/>
              </p:cNvSpPr>
              <p:nvPr/>
            </p:nvSpPr>
            <p:spPr bwMode="auto">
              <a:xfrm rot="746037">
                <a:off x="4481" y="1652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8" name="Line 126"/>
              <p:cNvSpPr>
                <a:spLocks noChangeShapeType="1"/>
              </p:cNvSpPr>
              <p:nvPr/>
            </p:nvSpPr>
            <p:spPr bwMode="auto">
              <a:xfrm>
                <a:off x="4290" y="158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99" name="Group 127"/>
            <p:cNvGrpSpPr>
              <a:grpSpLocks/>
            </p:cNvGrpSpPr>
            <p:nvPr/>
          </p:nvGrpSpPr>
          <p:grpSpPr bwMode="auto">
            <a:xfrm>
              <a:off x="4291" y="678"/>
              <a:ext cx="366" cy="249"/>
              <a:chOff x="4291" y="1373"/>
              <a:chExt cx="366" cy="249"/>
            </a:xfrm>
          </p:grpSpPr>
          <p:sp>
            <p:nvSpPr>
              <p:cNvPr id="3200" name="AutoShape 128"/>
              <p:cNvSpPr>
                <a:spLocks noChangeArrowheads="1"/>
              </p:cNvSpPr>
              <p:nvPr/>
            </p:nvSpPr>
            <p:spPr bwMode="auto">
              <a:xfrm rot="5400000">
                <a:off x="4371" y="133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01" name="Text Box 129"/>
              <p:cNvSpPr txBox="1">
                <a:spLocks noChangeArrowheads="1"/>
              </p:cNvSpPr>
              <p:nvPr/>
            </p:nvSpPr>
            <p:spPr bwMode="auto">
              <a:xfrm rot="626605">
                <a:off x="4294" y="137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3202" name="Line 130"/>
              <p:cNvSpPr>
                <a:spLocks noChangeShapeType="1"/>
              </p:cNvSpPr>
              <p:nvPr/>
            </p:nvSpPr>
            <p:spPr bwMode="auto">
              <a:xfrm>
                <a:off x="4295" y="1407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03" name="Line 131"/>
              <p:cNvSpPr>
                <a:spLocks noChangeShapeType="1"/>
              </p:cNvSpPr>
              <p:nvPr/>
            </p:nvSpPr>
            <p:spPr bwMode="auto">
              <a:xfrm>
                <a:off x="4291" y="1558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04" name="AutoShape 132"/>
              <p:cNvSpPr>
                <a:spLocks noChangeArrowheads="1"/>
              </p:cNvSpPr>
              <p:nvPr/>
            </p:nvSpPr>
            <p:spPr bwMode="auto">
              <a:xfrm rot="746037">
                <a:off x="4485" y="1472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05" name="Line 133"/>
            <p:cNvSpPr>
              <a:spLocks noChangeShapeType="1"/>
            </p:cNvSpPr>
            <p:nvPr/>
          </p:nvSpPr>
          <p:spPr bwMode="auto">
            <a:xfrm>
              <a:off x="4289" y="687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6" name="Line 134"/>
            <p:cNvSpPr>
              <a:spLocks noChangeShapeType="1"/>
            </p:cNvSpPr>
            <p:nvPr/>
          </p:nvSpPr>
          <p:spPr bwMode="auto">
            <a:xfrm>
              <a:off x="823" y="2240"/>
              <a:ext cx="363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7" name="Line 135"/>
            <p:cNvSpPr>
              <a:spLocks noChangeShapeType="1"/>
            </p:cNvSpPr>
            <p:nvPr/>
          </p:nvSpPr>
          <p:spPr bwMode="auto">
            <a:xfrm>
              <a:off x="1192" y="2354"/>
              <a:ext cx="357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8" name="Line 136"/>
            <p:cNvSpPr>
              <a:spLocks noChangeShapeType="1"/>
            </p:cNvSpPr>
            <p:nvPr/>
          </p:nvSpPr>
          <p:spPr bwMode="auto">
            <a:xfrm>
              <a:off x="1549" y="2474"/>
              <a:ext cx="362" cy="5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09" name="Group 137"/>
            <p:cNvGrpSpPr>
              <a:grpSpLocks/>
            </p:cNvGrpSpPr>
            <p:nvPr/>
          </p:nvGrpSpPr>
          <p:grpSpPr bwMode="auto">
            <a:xfrm>
              <a:off x="113" y="2174"/>
              <a:ext cx="692" cy="373"/>
              <a:chOff x="113" y="2869"/>
              <a:chExt cx="692" cy="373"/>
            </a:xfrm>
          </p:grpSpPr>
          <p:sp>
            <p:nvSpPr>
              <p:cNvPr id="3210" name="Line 138"/>
              <p:cNvSpPr>
                <a:spLocks noChangeShapeType="1"/>
              </p:cNvSpPr>
              <p:nvPr/>
            </p:nvSpPr>
            <p:spPr bwMode="auto">
              <a:xfrm>
                <a:off x="615" y="324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11" name="Line 139"/>
              <p:cNvSpPr>
                <a:spLocks noChangeShapeType="1"/>
              </p:cNvSpPr>
              <p:nvPr/>
            </p:nvSpPr>
            <p:spPr bwMode="auto">
              <a:xfrm>
                <a:off x="721" y="2869"/>
                <a:ext cx="0" cy="373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12" name="Text Box 140"/>
              <p:cNvSpPr txBox="1">
                <a:spLocks noChangeArrowheads="1"/>
              </p:cNvSpPr>
              <p:nvPr/>
            </p:nvSpPr>
            <p:spPr bwMode="auto">
              <a:xfrm>
                <a:off x="113" y="29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连接释放</a:t>
                </a:r>
              </a:p>
            </p:txBody>
          </p:sp>
        </p:grpSp>
        <p:sp>
          <p:nvSpPr>
            <p:cNvPr id="3213" name="Freeform 141"/>
            <p:cNvSpPr>
              <a:spLocks/>
            </p:cNvSpPr>
            <p:nvPr/>
          </p:nvSpPr>
          <p:spPr bwMode="auto">
            <a:xfrm>
              <a:off x="1915" y="709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7363" y="604904"/>
            <a:ext cx="7772400" cy="503461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1" dirty="0" smtClean="0"/>
              <a:t>3 </a:t>
            </a:r>
            <a:r>
              <a:rPr lang="en-US" altLang="zh-CN" dirty="0" smtClean="0"/>
              <a:t>1-10</a:t>
            </a:r>
            <a:r>
              <a:rPr lang="zh-CN" altLang="en-US" dirty="0"/>
              <a:t>、</a:t>
            </a:r>
            <a:r>
              <a:rPr lang="en-US" altLang="zh-CN" dirty="0" smtClean="0"/>
              <a:t>1-11</a:t>
            </a:r>
            <a:r>
              <a:rPr lang="en-US" altLang="zh-CN" b="1" dirty="0"/>
              <a:t>( </a:t>
            </a:r>
            <a:r>
              <a:rPr lang="en-US" altLang="zh-CN" b="1" dirty="0" smtClean="0"/>
              <a:t>P36)</a:t>
            </a:r>
            <a:endParaRPr lang="en-US" altLang="zh-CN" b="1" dirty="0"/>
          </a:p>
          <a:p>
            <a:pPr>
              <a:lnSpc>
                <a:spcPct val="90000"/>
              </a:lnSpc>
              <a:buFontTx/>
              <a:buNone/>
            </a:pPr>
            <a:endParaRPr lang="zh-CN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79512" y="1844824"/>
            <a:ext cx="8591550" cy="4627562"/>
            <a:chOff x="113" y="416"/>
            <a:chExt cx="5412" cy="2915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4653" y="920"/>
              <a:ext cx="366" cy="249"/>
              <a:chOff x="4653" y="1615"/>
              <a:chExt cx="366" cy="249"/>
            </a:xfrm>
          </p:grpSpPr>
          <p:sp>
            <p:nvSpPr>
              <p:cNvPr id="136" name="AutoShape 6"/>
              <p:cNvSpPr>
                <a:spLocks noChangeArrowheads="1"/>
              </p:cNvSpPr>
              <p:nvPr/>
            </p:nvSpPr>
            <p:spPr bwMode="auto">
              <a:xfrm rot="5400000">
                <a:off x="4733" y="1579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Text Box 7"/>
              <p:cNvSpPr txBox="1">
                <a:spLocks noChangeArrowheads="1"/>
              </p:cNvSpPr>
              <p:nvPr/>
            </p:nvSpPr>
            <p:spPr bwMode="auto">
              <a:xfrm rot="626605">
                <a:off x="4662" y="1615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38" name="Line 8"/>
              <p:cNvSpPr>
                <a:spLocks noChangeShapeType="1"/>
              </p:cNvSpPr>
              <p:nvPr/>
            </p:nvSpPr>
            <p:spPr bwMode="auto">
              <a:xfrm>
                <a:off x="4656" y="165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9"/>
              <p:cNvSpPr>
                <a:spLocks noChangeShapeType="1"/>
              </p:cNvSpPr>
              <p:nvPr/>
            </p:nvSpPr>
            <p:spPr bwMode="auto">
              <a:xfrm>
                <a:off x="4653" y="1801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AutoShape 10"/>
              <p:cNvSpPr>
                <a:spLocks noChangeArrowheads="1"/>
              </p:cNvSpPr>
              <p:nvPr/>
            </p:nvSpPr>
            <p:spPr bwMode="auto">
              <a:xfrm rot="746037">
                <a:off x="4847" y="1715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648" y="1099"/>
              <a:ext cx="367" cy="249"/>
              <a:chOff x="4648" y="1794"/>
              <a:chExt cx="367" cy="249"/>
            </a:xfrm>
          </p:grpSpPr>
          <p:sp>
            <p:nvSpPr>
              <p:cNvPr id="131" name="AutoShape 12"/>
              <p:cNvSpPr>
                <a:spLocks noChangeArrowheads="1"/>
              </p:cNvSpPr>
              <p:nvPr/>
            </p:nvSpPr>
            <p:spPr bwMode="auto">
              <a:xfrm rot="5400000">
                <a:off x="4729" y="1758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Text Box 13"/>
              <p:cNvSpPr txBox="1">
                <a:spLocks noChangeArrowheads="1"/>
              </p:cNvSpPr>
              <p:nvPr/>
            </p:nvSpPr>
            <p:spPr bwMode="auto">
              <a:xfrm rot="626605">
                <a:off x="4651" y="179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33" name="Line 14"/>
              <p:cNvSpPr>
                <a:spLocks noChangeShapeType="1"/>
              </p:cNvSpPr>
              <p:nvPr/>
            </p:nvSpPr>
            <p:spPr bwMode="auto">
              <a:xfrm>
                <a:off x="4652" y="1829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15"/>
              <p:cNvSpPr>
                <a:spLocks noChangeShapeType="1"/>
              </p:cNvSpPr>
              <p:nvPr/>
            </p:nvSpPr>
            <p:spPr bwMode="auto">
              <a:xfrm>
                <a:off x="4648" y="19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AutoShape 16"/>
              <p:cNvSpPr>
                <a:spLocks noChangeArrowheads="1"/>
              </p:cNvSpPr>
              <p:nvPr/>
            </p:nvSpPr>
            <p:spPr bwMode="auto">
              <a:xfrm rot="746037">
                <a:off x="4843" y="1894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4652" y="1281"/>
              <a:ext cx="366" cy="243"/>
              <a:chOff x="4652" y="1976"/>
              <a:chExt cx="366" cy="243"/>
            </a:xfrm>
          </p:grpSpPr>
          <p:sp>
            <p:nvSpPr>
              <p:cNvPr id="126" name="AutoShape 18"/>
              <p:cNvSpPr>
                <a:spLocks noChangeArrowheads="1"/>
              </p:cNvSpPr>
              <p:nvPr/>
            </p:nvSpPr>
            <p:spPr bwMode="auto">
              <a:xfrm rot="5400000">
                <a:off x="4732" y="1934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Text Box 19"/>
              <p:cNvSpPr txBox="1">
                <a:spLocks noChangeArrowheads="1"/>
              </p:cNvSpPr>
              <p:nvPr/>
            </p:nvSpPr>
            <p:spPr bwMode="auto">
              <a:xfrm rot="626605">
                <a:off x="4655" y="197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28" name="Line 20"/>
              <p:cNvSpPr>
                <a:spLocks noChangeShapeType="1"/>
              </p:cNvSpPr>
              <p:nvPr/>
            </p:nvSpPr>
            <p:spPr bwMode="auto">
              <a:xfrm>
                <a:off x="4656" y="2004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21"/>
              <p:cNvSpPr>
                <a:spLocks noChangeShapeType="1"/>
              </p:cNvSpPr>
              <p:nvPr/>
            </p:nvSpPr>
            <p:spPr bwMode="auto">
              <a:xfrm>
                <a:off x="4652" y="2155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AutoShape 22"/>
              <p:cNvSpPr>
                <a:spLocks noChangeArrowheads="1"/>
              </p:cNvSpPr>
              <p:nvPr/>
            </p:nvSpPr>
            <p:spPr bwMode="auto">
              <a:xfrm rot="746037">
                <a:off x="4846" y="2069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23"/>
            <p:cNvGrpSpPr>
              <a:grpSpLocks/>
            </p:cNvGrpSpPr>
            <p:nvPr/>
          </p:nvGrpSpPr>
          <p:grpSpPr bwMode="auto">
            <a:xfrm>
              <a:off x="4656" y="1451"/>
              <a:ext cx="366" cy="248"/>
              <a:chOff x="4656" y="2146"/>
              <a:chExt cx="366" cy="248"/>
            </a:xfrm>
          </p:grpSpPr>
          <p:sp>
            <p:nvSpPr>
              <p:cNvPr id="121" name="AutoShape 24"/>
              <p:cNvSpPr>
                <a:spLocks noChangeArrowheads="1"/>
              </p:cNvSpPr>
              <p:nvPr/>
            </p:nvSpPr>
            <p:spPr bwMode="auto">
              <a:xfrm rot="5400000">
                <a:off x="4737" y="2109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Text Box 25"/>
              <p:cNvSpPr txBox="1">
                <a:spLocks noChangeArrowheads="1"/>
              </p:cNvSpPr>
              <p:nvPr/>
            </p:nvSpPr>
            <p:spPr bwMode="auto">
              <a:xfrm rot="626605">
                <a:off x="4659" y="214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23" name="Line 26"/>
              <p:cNvSpPr>
                <a:spLocks noChangeShapeType="1"/>
              </p:cNvSpPr>
              <p:nvPr/>
            </p:nvSpPr>
            <p:spPr bwMode="auto">
              <a:xfrm>
                <a:off x="4659" y="21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27"/>
              <p:cNvSpPr>
                <a:spLocks noChangeShapeType="1"/>
              </p:cNvSpPr>
              <p:nvPr/>
            </p:nvSpPr>
            <p:spPr bwMode="auto">
              <a:xfrm>
                <a:off x="4656" y="233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AutoShape 28"/>
              <p:cNvSpPr>
                <a:spLocks noChangeArrowheads="1"/>
              </p:cNvSpPr>
              <p:nvPr/>
            </p:nvSpPr>
            <p:spPr bwMode="auto">
              <a:xfrm rot="746037">
                <a:off x="4850" y="2245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5012" y="1169"/>
              <a:ext cx="369" cy="242"/>
              <a:chOff x="5012" y="1864"/>
              <a:chExt cx="369" cy="242"/>
            </a:xfrm>
          </p:grpSpPr>
          <p:sp>
            <p:nvSpPr>
              <p:cNvPr id="116" name="AutoShape 30"/>
              <p:cNvSpPr>
                <a:spLocks noChangeArrowheads="1"/>
              </p:cNvSpPr>
              <p:nvPr/>
            </p:nvSpPr>
            <p:spPr bwMode="auto">
              <a:xfrm rot="5400000">
                <a:off x="5096" y="1821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Text Box 31"/>
              <p:cNvSpPr txBox="1">
                <a:spLocks noChangeArrowheads="1"/>
              </p:cNvSpPr>
              <p:nvPr/>
            </p:nvSpPr>
            <p:spPr bwMode="auto">
              <a:xfrm rot="626605">
                <a:off x="5012" y="186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18" name="Line 32"/>
              <p:cNvSpPr>
                <a:spLocks noChangeShapeType="1"/>
              </p:cNvSpPr>
              <p:nvPr/>
            </p:nvSpPr>
            <p:spPr bwMode="auto">
              <a:xfrm>
                <a:off x="5018" y="189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Line 33"/>
              <p:cNvSpPr>
                <a:spLocks noChangeShapeType="1"/>
              </p:cNvSpPr>
              <p:nvPr/>
            </p:nvSpPr>
            <p:spPr bwMode="auto">
              <a:xfrm>
                <a:off x="5015" y="2043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AutoShape 34"/>
              <p:cNvSpPr>
                <a:spLocks noChangeArrowheads="1"/>
              </p:cNvSpPr>
              <p:nvPr/>
            </p:nvSpPr>
            <p:spPr bwMode="auto">
              <a:xfrm rot="746037">
                <a:off x="5209" y="1957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35"/>
            <p:cNvGrpSpPr>
              <a:grpSpLocks/>
            </p:cNvGrpSpPr>
            <p:nvPr/>
          </p:nvGrpSpPr>
          <p:grpSpPr bwMode="auto">
            <a:xfrm>
              <a:off x="5007" y="1336"/>
              <a:ext cx="369" cy="254"/>
              <a:chOff x="5007" y="2031"/>
              <a:chExt cx="369" cy="254"/>
            </a:xfrm>
          </p:grpSpPr>
          <p:sp>
            <p:nvSpPr>
              <p:cNvPr id="111" name="AutoShape 36"/>
              <p:cNvSpPr>
                <a:spLocks noChangeArrowheads="1"/>
              </p:cNvSpPr>
              <p:nvPr/>
            </p:nvSpPr>
            <p:spPr bwMode="auto">
              <a:xfrm rot="5400000">
                <a:off x="5091" y="2000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Text Box 37"/>
              <p:cNvSpPr txBox="1">
                <a:spLocks noChangeArrowheads="1"/>
              </p:cNvSpPr>
              <p:nvPr/>
            </p:nvSpPr>
            <p:spPr bwMode="auto">
              <a:xfrm rot="626605">
                <a:off x="5007" y="2031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13" name="Line 38"/>
              <p:cNvSpPr>
                <a:spLocks noChangeShapeType="1"/>
              </p:cNvSpPr>
              <p:nvPr/>
            </p:nvSpPr>
            <p:spPr bwMode="auto">
              <a:xfrm>
                <a:off x="5014" y="207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39"/>
              <p:cNvSpPr>
                <a:spLocks noChangeShapeType="1"/>
              </p:cNvSpPr>
              <p:nvPr/>
            </p:nvSpPr>
            <p:spPr bwMode="auto">
              <a:xfrm>
                <a:off x="5010" y="222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AutoShape 40"/>
              <p:cNvSpPr>
                <a:spLocks noChangeArrowheads="1"/>
              </p:cNvSpPr>
              <p:nvPr/>
            </p:nvSpPr>
            <p:spPr bwMode="auto">
              <a:xfrm rot="746037">
                <a:off x="5204" y="2136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41"/>
            <p:cNvGrpSpPr>
              <a:grpSpLocks/>
            </p:cNvGrpSpPr>
            <p:nvPr/>
          </p:nvGrpSpPr>
          <p:grpSpPr bwMode="auto">
            <a:xfrm>
              <a:off x="5014" y="1517"/>
              <a:ext cx="366" cy="249"/>
              <a:chOff x="5014" y="2212"/>
              <a:chExt cx="366" cy="249"/>
            </a:xfrm>
          </p:grpSpPr>
          <p:sp>
            <p:nvSpPr>
              <p:cNvPr id="106" name="AutoShape 42"/>
              <p:cNvSpPr>
                <a:spLocks noChangeArrowheads="1"/>
              </p:cNvSpPr>
              <p:nvPr/>
            </p:nvSpPr>
            <p:spPr bwMode="auto">
              <a:xfrm rot="5400000">
                <a:off x="5094" y="217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Text Box 43"/>
              <p:cNvSpPr txBox="1">
                <a:spLocks noChangeArrowheads="1"/>
              </p:cNvSpPr>
              <p:nvPr/>
            </p:nvSpPr>
            <p:spPr bwMode="auto">
              <a:xfrm rot="626605">
                <a:off x="5017" y="221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08" name="Line 44"/>
              <p:cNvSpPr>
                <a:spLocks noChangeShapeType="1"/>
              </p:cNvSpPr>
              <p:nvPr/>
            </p:nvSpPr>
            <p:spPr bwMode="auto">
              <a:xfrm>
                <a:off x="5017" y="224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45"/>
              <p:cNvSpPr>
                <a:spLocks noChangeShapeType="1"/>
              </p:cNvSpPr>
              <p:nvPr/>
            </p:nvSpPr>
            <p:spPr bwMode="auto">
              <a:xfrm>
                <a:off x="5014" y="2398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AutoShape 46"/>
              <p:cNvSpPr>
                <a:spLocks noChangeArrowheads="1"/>
              </p:cNvSpPr>
              <p:nvPr/>
            </p:nvSpPr>
            <p:spPr bwMode="auto">
              <a:xfrm rot="746037">
                <a:off x="5208" y="2312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5014" y="1687"/>
              <a:ext cx="370" cy="255"/>
              <a:chOff x="5014" y="2382"/>
              <a:chExt cx="370" cy="255"/>
            </a:xfrm>
          </p:grpSpPr>
          <p:sp>
            <p:nvSpPr>
              <p:cNvPr id="101" name="AutoShape 48"/>
              <p:cNvSpPr>
                <a:spLocks noChangeArrowheads="1"/>
              </p:cNvSpPr>
              <p:nvPr/>
            </p:nvSpPr>
            <p:spPr bwMode="auto">
              <a:xfrm rot="5400000">
                <a:off x="5098" y="2352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Text Box 49"/>
              <p:cNvSpPr txBox="1">
                <a:spLocks noChangeArrowheads="1"/>
              </p:cNvSpPr>
              <p:nvPr/>
            </p:nvSpPr>
            <p:spPr bwMode="auto">
              <a:xfrm rot="626605">
                <a:off x="5014" y="238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03" name="Line 50"/>
              <p:cNvSpPr>
                <a:spLocks noChangeShapeType="1"/>
              </p:cNvSpPr>
              <p:nvPr/>
            </p:nvSpPr>
            <p:spPr bwMode="auto">
              <a:xfrm>
                <a:off x="5021" y="2422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51"/>
              <p:cNvSpPr>
                <a:spLocks noChangeShapeType="1"/>
              </p:cNvSpPr>
              <p:nvPr/>
            </p:nvSpPr>
            <p:spPr bwMode="auto">
              <a:xfrm>
                <a:off x="5017" y="2573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AutoShape 52"/>
              <p:cNvSpPr>
                <a:spLocks noChangeArrowheads="1"/>
              </p:cNvSpPr>
              <p:nvPr/>
            </p:nvSpPr>
            <p:spPr bwMode="auto">
              <a:xfrm rot="746037">
                <a:off x="5212" y="2487"/>
                <a:ext cx="132" cy="127"/>
              </a:xfrm>
              <a:prstGeom prst="rightArrow">
                <a:avLst>
                  <a:gd name="adj1" fmla="val 50000"/>
                  <a:gd name="adj2" fmla="val 25984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53"/>
            <p:cNvGrpSpPr>
              <a:grpSpLocks/>
            </p:cNvGrpSpPr>
            <p:nvPr/>
          </p:nvGrpSpPr>
          <p:grpSpPr bwMode="auto">
            <a:xfrm>
              <a:off x="4287" y="1033"/>
              <a:ext cx="369" cy="248"/>
              <a:chOff x="4287" y="1728"/>
              <a:chExt cx="369" cy="248"/>
            </a:xfrm>
          </p:grpSpPr>
          <p:sp>
            <p:nvSpPr>
              <p:cNvPr id="96" name="AutoShape 54"/>
              <p:cNvSpPr>
                <a:spLocks noChangeArrowheads="1"/>
              </p:cNvSpPr>
              <p:nvPr/>
            </p:nvSpPr>
            <p:spPr bwMode="auto">
              <a:xfrm rot="5400000">
                <a:off x="4371" y="1691"/>
                <a:ext cx="210" cy="360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Text Box 55"/>
              <p:cNvSpPr txBox="1">
                <a:spLocks noChangeArrowheads="1"/>
              </p:cNvSpPr>
              <p:nvPr/>
            </p:nvSpPr>
            <p:spPr bwMode="auto">
              <a:xfrm rot="626605">
                <a:off x="4287" y="172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98" name="Line 56"/>
              <p:cNvSpPr>
                <a:spLocks noChangeShapeType="1"/>
              </p:cNvSpPr>
              <p:nvPr/>
            </p:nvSpPr>
            <p:spPr bwMode="auto">
              <a:xfrm>
                <a:off x="4294" y="1762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57"/>
              <p:cNvSpPr>
                <a:spLocks noChangeShapeType="1"/>
              </p:cNvSpPr>
              <p:nvPr/>
            </p:nvSpPr>
            <p:spPr bwMode="auto">
              <a:xfrm>
                <a:off x="4290" y="1913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AutoShape 58"/>
              <p:cNvSpPr>
                <a:spLocks noChangeArrowheads="1"/>
              </p:cNvSpPr>
              <p:nvPr/>
            </p:nvSpPr>
            <p:spPr bwMode="auto">
              <a:xfrm rot="746037">
                <a:off x="4484" y="1827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59"/>
            <p:cNvGrpSpPr>
              <a:grpSpLocks/>
            </p:cNvGrpSpPr>
            <p:nvPr/>
          </p:nvGrpSpPr>
          <p:grpSpPr bwMode="auto">
            <a:xfrm>
              <a:off x="4294" y="1208"/>
              <a:ext cx="366" cy="249"/>
              <a:chOff x="4294" y="1903"/>
              <a:chExt cx="366" cy="249"/>
            </a:xfrm>
          </p:grpSpPr>
          <p:sp>
            <p:nvSpPr>
              <p:cNvPr id="91" name="AutoShape 60"/>
              <p:cNvSpPr>
                <a:spLocks noChangeArrowheads="1"/>
              </p:cNvSpPr>
              <p:nvPr/>
            </p:nvSpPr>
            <p:spPr bwMode="auto">
              <a:xfrm rot="5400000">
                <a:off x="4374" y="186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Text Box 61"/>
              <p:cNvSpPr txBox="1">
                <a:spLocks noChangeArrowheads="1"/>
              </p:cNvSpPr>
              <p:nvPr/>
            </p:nvSpPr>
            <p:spPr bwMode="auto">
              <a:xfrm rot="626605">
                <a:off x="4297" y="190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93" name="Line 62"/>
              <p:cNvSpPr>
                <a:spLocks noChangeShapeType="1"/>
              </p:cNvSpPr>
              <p:nvPr/>
            </p:nvSpPr>
            <p:spPr bwMode="auto">
              <a:xfrm>
                <a:off x="4297" y="19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63"/>
              <p:cNvSpPr>
                <a:spLocks noChangeShapeType="1"/>
              </p:cNvSpPr>
              <p:nvPr/>
            </p:nvSpPr>
            <p:spPr bwMode="auto">
              <a:xfrm>
                <a:off x="4294" y="2089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AutoShape 64"/>
              <p:cNvSpPr>
                <a:spLocks noChangeArrowheads="1"/>
              </p:cNvSpPr>
              <p:nvPr/>
            </p:nvSpPr>
            <p:spPr bwMode="auto">
              <a:xfrm rot="746037">
                <a:off x="4488" y="2003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2876" y="1496"/>
              <a:ext cx="367" cy="674"/>
              <a:chOff x="2876" y="2191"/>
              <a:chExt cx="367" cy="674"/>
            </a:xfrm>
          </p:grpSpPr>
          <p:sp>
            <p:nvSpPr>
              <p:cNvPr id="86" name="AutoShape 66"/>
              <p:cNvSpPr>
                <a:spLocks noChangeArrowheads="1"/>
              </p:cNvSpPr>
              <p:nvPr/>
            </p:nvSpPr>
            <p:spPr bwMode="auto">
              <a:xfrm rot="5400000">
                <a:off x="2729" y="2350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AutoShape 67"/>
              <p:cNvSpPr>
                <a:spLocks noChangeArrowheads="1"/>
              </p:cNvSpPr>
              <p:nvPr/>
            </p:nvSpPr>
            <p:spPr bwMode="auto">
              <a:xfrm rot="746037">
                <a:off x="2925" y="2654"/>
                <a:ext cx="227" cy="127"/>
              </a:xfrm>
              <a:prstGeom prst="rightArrow">
                <a:avLst>
                  <a:gd name="adj1" fmla="val 50000"/>
                  <a:gd name="adj2" fmla="val 4468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Text Box 68"/>
              <p:cNvSpPr txBox="1">
                <a:spLocks noChangeArrowheads="1"/>
              </p:cNvSpPr>
              <p:nvPr/>
            </p:nvSpPr>
            <p:spPr bwMode="auto">
              <a:xfrm>
                <a:off x="2919" y="23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89" name="Line 69"/>
              <p:cNvSpPr>
                <a:spLocks noChangeShapeType="1"/>
              </p:cNvSpPr>
              <p:nvPr/>
            </p:nvSpPr>
            <p:spPr bwMode="auto">
              <a:xfrm>
                <a:off x="2876" y="2191"/>
                <a:ext cx="363" cy="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70"/>
              <p:cNvSpPr>
                <a:spLocks noChangeShapeType="1"/>
              </p:cNvSpPr>
              <p:nvPr/>
            </p:nvSpPr>
            <p:spPr bwMode="auto">
              <a:xfrm>
                <a:off x="2876" y="2807"/>
                <a:ext cx="363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Group 71"/>
            <p:cNvGrpSpPr>
              <a:grpSpLocks/>
            </p:cNvGrpSpPr>
            <p:nvPr/>
          </p:nvGrpSpPr>
          <p:grpSpPr bwMode="auto">
            <a:xfrm>
              <a:off x="3251" y="2338"/>
              <a:ext cx="366" cy="675"/>
              <a:chOff x="3251" y="3033"/>
              <a:chExt cx="366" cy="675"/>
            </a:xfrm>
          </p:grpSpPr>
          <p:sp>
            <p:nvSpPr>
              <p:cNvPr id="81" name="AutoShape 72"/>
              <p:cNvSpPr>
                <a:spLocks noChangeArrowheads="1"/>
              </p:cNvSpPr>
              <p:nvPr/>
            </p:nvSpPr>
            <p:spPr bwMode="auto">
              <a:xfrm rot="5400000">
                <a:off x="3102" y="3193"/>
                <a:ext cx="675" cy="355"/>
              </a:xfrm>
              <a:prstGeom prst="parallelogram">
                <a:avLst>
                  <a:gd name="adj" fmla="val 1829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AutoShape 73"/>
              <p:cNvSpPr>
                <a:spLocks noChangeArrowheads="1"/>
              </p:cNvSpPr>
              <p:nvPr/>
            </p:nvSpPr>
            <p:spPr bwMode="auto">
              <a:xfrm rot="746037">
                <a:off x="3300" y="3497"/>
                <a:ext cx="226" cy="126"/>
              </a:xfrm>
              <a:prstGeom prst="rightArrow">
                <a:avLst>
                  <a:gd name="adj1" fmla="val 50000"/>
                  <a:gd name="adj2" fmla="val 4484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Text Box 74"/>
              <p:cNvSpPr txBox="1">
                <a:spLocks noChangeArrowheads="1"/>
              </p:cNvSpPr>
              <p:nvPr/>
            </p:nvSpPr>
            <p:spPr bwMode="auto">
              <a:xfrm>
                <a:off x="3293" y="3143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84" name="Line 75"/>
              <p:cNvSpPr>
                <a:spLocks noChangeShapeType="1"/>
              </p:cNvSpPr>
              <p:nvPr/>
            </p:nvSpPr>
            <p:spPr bwMode="auto">
              <a:xfrm>
                <a:off x="3251" y="3033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Line 76"/>
              <p:cNvSpPr>
                <a:spLocks noChangeShapeType="1"/>
              </p:cNvSpPr>
              <p:nvPr/>
            </p:nvSpPr>
            <p:spPr bwMode="auto">
              <a:xfrm>
                <a:off x="3251" y="3650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" name="Group 77"/>
            <p:cNvGrpSpPr>
              <a:grpSpLocks/>
            </p:cNvGrpSpPr>
            <p:nvPr/>
          </p:nvGrpSpPr>
          <p:grpSpPr bwMode="auto">
            <a:xfrm>
              <a:off x="2519" y="695"/>
              <a:ext cx="361" cy="674"/>
              <a:chOff x="2519" y="1390"/>
              <a:chExt cx="361" cy="674"/>
            </a:xfrm>
          </p:grpSpPr>
          <p:sp>
            <p:nvSpPr>
              <p:cNvPr id="76" name="AutoShape 78"/>
              <p:cNvSpPr>
                <a:spLocks noChangeArrowheads="1"/>
              </p:cNvSpPr>
              <p:nvPr/>
            </p:nvSpPr>
            <p:spPr bwMode="auto">
              <a:xfrm rot="5400000">
                <a:off x="2366" y="1549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AutoShape 79"/>
              <p:cNvSpPr>
                <a:spLocks noChangeArrowheads="1"/>
              </p:cNvSpPr>
              <p:nvPr/>
            </p:nvSpPr>
            <p:spPr bwMode="auto">
              <a:xfrm rot="746037">
                <a:off x="2563" y="1853"/>
                <a:ext cx="226" cy="127"/>
              </a:xfrm>
              <a:prstGeom prst="rightArrow">
                <a:avLst>
                  <a:gd name="adj1" fmla="val 50000"/>
                  <a:gd name="adj2" fmla="val 44488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Text Box 80"/>
              <p:cNvSpPr txBox="1">
                <a:spLocks noChangeArrowheads="1"/>
              </p:cNvSpPr>
              <p:nvPr/>
            </p:nvSpPr>
            <p:spPr bwMode="auto">
              <a:xfrm>
                <a:off x="2567" y="15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79" name="Line 81"/>
              <p:cNvSpPr>
                <a:spLocks noChangeShapeType="1"/>
              </p:cNvSpPr>
              <p:nvPr/>
            </p:nvSpPr>
            <p:spPr bwMode="auto">
              <a:xfrm>
                <a:off x="2519" y="1395"/>
                <a:ext cx="357" cy="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82"/>
              <p:cNvSpPr>
                <a:spLocks noChangeShapeType="1"/>
              </p:cNvSpPr>
              <p:nvPr/>
            </p:nvSpPr>
            <p:spPr bwMode="auto">
              <a:xfrm>
                <a:off x="2519" y="2001"/>
                <a:ext cx="357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" name="Line 83"/>
            <p:cNvSpPr>
              <a:spLocks noChangeShapeType="1"/>
            </p:cNvSpPr>
            <p:nvPr/>
          </p:nvSpPr>
          <p:spPr bwMode="auto">
            <a:xfrm>
              <a:off x="1189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84"/>
            <p:cNvSpPr>
              <a:spLocks noChangeShapeType="1"/>
            </p:cNvSpPr>
            <p:nvPr/>
          </p:nvSpPr>
          <p:spPr bwMode="auto">
            <a:xfrm>
              <a:off x="1552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85"/>
            <p:cNvSpPr txBox="1">
              <a:spLocks noChangeArrowheads="1"/>
            </p:cNvSpPr>
            <p:nvPr/>
          </p:nvSpPr>
          <p:spPr bwMode="auto">
            <a:xfrm>
              <a:off x="703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D </a:t>
              </a:r>
            </a:p>
          </p:txBody>
        </p:sp>
        <p:sp>
          <p:nvSpPr>
            <p:cNvPr id="20" name="Text Box 86"/>
            <p:cNvSpPr txBox="1">
              <a:spLocks noChangeArrowheads="1"/>
            </p:cNvSpPr>
            <p:nvPr/>
          </p:nvSpPr>
          <p:spPr bwMode="auto">
            <a:xfrm>
              <a:off x="2402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21" name="Text Box 87"/>
            <p:cNvSpPr txBox="1">
              <a:spLocks noChangeArrowheads="1"/>
            </p:cNvSpPr>
            <p:nvPr/>
          </p:nvSpPr>
          <p:spPr bwMode="auto">
            <a:xfrm>
              <a:off x="4171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22" name="Line 88"/>
            <p:cNvSpPr>
              <a:spLocks noChangeShapeType="1"/>
            </p:cNvSpPr>
            <p:nvPr/>
          </p:nvSpPr>
          <p:spPr bwMode="auto">
            <a:xfrm>
              <a:off x="826" y="779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89"/>
            <p:cNvSpPr>
              <a:spLocks noChangeShapeType="1"/>
            </p:cNvSpPr>
            <p:nvPr/>
          </p:nvSpPr>
          <p:spPr bwMode="auto">
            <a:xfrm>
              <a:off x="1189" y="948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90"/>
            <p:cNvSpPr>
              <a:spLocks noChangeShapeType="1"/>
            </p:cNvSpPr>
            <p:nvPr/>
          </p:nvSpPr>
          <p:spPr bwMode="auto">
            <a:xfrm>
              <a:off x="1552" y="1116"/>
              <a:ext cx="362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91"/>
            <p:cNvSpPr>
              <a:spLocks noChangeShapeType="1"/>
            </p:cNvSpPr>
            <p:nvPr/>
          </p:nvSpPr>
          <p:spPr bwMode="auto">
            <a:xfrm flipH="1">
              <a:off x="826" y="1369"/>
              <a:ext cx="1088" cy="169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92"/>
            <p:cNvSpPr txBox="1">
              <a:spLocks noChangeArrowheads="1"/>
            </p:cNvSpPr>
            <p:nvPr/>
          </p:nvSpPr>
          <p:spPr bwMode="auto">
            <a:xfrm>
              <a:off x="2713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solidFill>
                    <a:srgbClr val="333399"/>
                  </a:solidFill>
                  <a:ea typeface="黑体" pitchFamily="2" charset="-122"/>
                </a:rPr>
                <a:t>报文交换</a:t>
              </a:r>
            </a:p>
          </p:txBody>
        </p:sp>
        <p:sp>
          <p:nvSpPr>
            <p:cNvPr id="27" name="Text Box 93"/>
            <p:cNvSpPr txBox="1">
              <a:spLocks noChangeArrowheads="1"/>
            </p:cNvSpPr>
            <p:nvPr/>
          </p:nvSpPr>
          <p:spPr bwMode="auto">
            <a:xfrm>
              <a:off x="975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solidFill>
                    <a:srgbClr val="333399"/>
                  </a:solidFill>
                  <a:ea typeface="黑体" pitchFamily="2" charset="-122"/>
                </a:rPr>
                <a:t>电路交换</a:t>
              </a:r>
            </a:p>
          </p:txBody>
        </p:sp>
        <p:sp>
          <p:nvSpPr>
            <p:cNvPr id="28" name="Text Box 94"/>
            <p:cNvSpPr txBox="1">
              <a:spLocks noChangeArrowheads="1"/>
            </p:cNvSpPr>
            <p:nvPr/>
          </p:nvSpPr>
          <p:spPr bwMode="auto">
            <a:xfrm>
              <a:off x="4446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solidFill>
                    <a:srgbClr val="333399"/>
                  </a:solidFill>
                  <a:ea typeface="黑体" pitchFamily="2" charset="-122"/>
                </a:rPr>
                <a:t>分组交换</a:t>
              </a:r>
            </a:p>
          </p:txBody>
        </p:sp>
        <p:sp>
          <p:nvSpPr>
            <p:cNvPr id="29" name="Line 95"/>
            <p:cNvSpPr>
              <a:spLocks noChangeShapeType="1"/>
            </p:cNvSpPr>
            <p:nvPr/>
          </p:nvSpPr>
          <p:spPr bwMode="auto">
            <a:xfrm>
              <a:off x="2212" y="990"/>
              <a:ext cx="0" cy="172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96"/>
            <p:cNvSpPr txBox="1">
              <a:spLocks noChangeArrowheads="1"/>
            </p:cNvSpPr>
            <p:nvPr/>
          </p:nvSpPr>
          <p:spPr bwMode="auto">
            <a:xfrm>
              <a:off x="2148" y="2728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333399"/>
                  </a:solidFill>
                  <a:ea typeface="黑体" pitchFamily="2" charset="-122"/>
                </a:rPr>
                <a:t>t</a:t>
              </a:r>
            </a:p>
          </p:txBody>
        </p:sp>
        <p:grpSp>
          <p:nvGrpSpPr>
            <p:cNvPr id="31" name="Group 97"/>
            <p:cNvGrpSpPr>
              <a:grpSpLocks/>
            </p:cNvGrpSpPr>
            <p:nvPr/>
          </p:nvGrpSpPr>
          <p:grpSpPr bwMode="auto">
            <a:xfrm>
              <a:off x="113" y="778"/>
              <a:ext cx="699" cy="775"/>
              <a:chOff x="113" y="1473"/>
              <a:chExt cx="699" cy="775"/>
            </a:xfrm>
          </p:grpSpPr>
          <p:sp>
            <p:nvSpPr>
              <p:cNvPr id="72" name="Line 98"/>
              <p:cNvSpPr>
                <a:spLocks noChangeShapeType="1"/>
              </p:cNvSpPr>
              <p:nvPr/>
            </p:nvSpPr>
            <p:spPr bwMode="auto">
              <a:xfrm>
                <a:off x="630" y="1474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Line 99"/>
              <p:cNvSpPr>
                <a:spLocks noChangeShapeType="1"/>
              </p:cNvSpPr>
              <p:nvPr/>
            </p:nvSpPr>
            <p:spPr bwMode="auto">
              <a:xfrm>
                <a:off x="622" y="2248"/>
                <a:ext cx="181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100"/>
              <p:cNvSpPr txBox="1">
                <a:spLocks noChangeArrowheads="1"/>
              </p:cNvSpPr>
              <p:nvPr/>
            </p:nvSpPr>
            <p:spPr bwMode="auto">
              <a:xfrm>
                <a:off x="113" y="17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连接建立</a:t>
                </a:r>
              </a:p>
            </p:txBody>
          </p:sp>
          <p:sp>
            <p:nvSpPr>
              <p:cNvPr id="75" name="Line 101"/>
              <p:cNvSpPr>
                <a:spLocks noChangeShapeType="1"/>
              </p:cNvSpPr>
              <p:nvPr/>
            </p:nvSpPr>
            <p:spPr bwMode="auto">
              <a:xfrm>
                <a:off x="720" y="1473"/>
                <a:ext cx="0" cy="759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Group 102"/>
            <p:cNvGrpSpPr>
              <a:grpSpLocks/>
            </p:cNvGrpSpPr>
            <p:nvPr/>
          </p:nvGrpSpPr>
          <p:grpSpPr bwMode="auto">
            <a:xfrm>
              <a:off x="113" y="1551"/>
              <a:ext cx="699" cy="637"/>
              <a:chOff x="113" y="2246"/>
              <a:chExt cx="699" cy="637"/>
            </a:xfrm>
          </p:grpSpPr>
          <p:sp>
            <p:nvSpPr>
              <p:cNvPr id="69" name="Line 103"/>
              <p:cNvSpPr>
                <a:spLocks noChangeShapeType="1"/>
              </p:cNvSpPr>
              <p:nvPr/>
            </p:nvSpPr>
            <p:spPr bwMode="auto">
              <a:xfrm>
                <a:off x="630" y="288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Text Box 104"/>
              <p:cNvSpPr txBox="1">
                <a:spLocks noChangeArrowheads="1"/>
              </p:cNvSpPr>
              <p:nvPr/>
            </p:nvSpPr>
            <p:spPr bwMode="auto">
              <a:xfrm>
                <a:off x="113" y="2405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数据传送</a:t>
                </a:r>
              </a:p>
            </p:txBody>
          </p:sp>
          <p:sp>
            <p:nvSpPr>
              <p:cNvPr id="71" name="Line 105"/>
              <p:cNvSpPr>
                <a:spLocks noChangeShapeType="1"/>
              </p:cNvSpPr>
              <p:nvPr/>
            </p:nvSpPr>
            <p:spPr bwMode="auto">
              <a:xfrm>
                <a:off x="721" y="2246"/>
                <a:ext cx="0" cy="63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" name="Freeform 106"/>
            <p:cNvSpPr>
              <a:spLocks/>
            </p:cNvSpPr>
            <p:nvPr/>
          </p:nvSpPr>
          <p:spPr bwMode="auto">
            <a:xfrm>
              <a:off x="823" y="695"/>
              <a:ext cx="3" cy="240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42"/>
                </a:cxn>
              </a:cxnLst>
              <a:rect l="0" t="0" r="r" b="b"/>
              <a:pathLst>
                <a:path w="3" h="2742">
                  <a:moveTo>
                    <a:pt x="3" y="0"/>
                  </a:moveTo>
                  <a:lnTo>
                    <a:pt x="0" y="274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Freeform 107"/>
            <p:cNvSpPr>
              <a:spLocks/>
            </p:cNvSpPr>
            <p:nvPr/>
          </p:nvSpPr>
          <p:spPr bwMode="auto">
            <a:xfrm>
              <a:off x="3614" y="681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108"/>
            <p:cNvSpPr>
              <a:spLocks noChangeShapeType="1"/>
            </p:cNvSpPr>
            <p:nvPr/>
          </p:nvSpPr>
          <p:spPr bwMode="auto">
            <a:xfrm>
              <a:off x="5379" y="712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109"/>
            <p:cNvSpPr>
              <a:spLocks noChangeShapeType="1"/>
            </p:cNvSpPr>
            <p:nvPr/>
          </p:nvSpPr>
          <p:spPr bwMode="auto">
            <a:xfrm>
              <a:off x="5015" y="703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10"/>
            <p:cNvSpPr>
              <a:spLocks noChangeShapeType="1"/>
            </p:cNvSpPr>
            <p:nvPr/>
          </p:nvSpPr>
          <p:spPr bwMode="auto">
            <a:xfrm>
              <a:off x="4657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11"/>
            <p:cNvSpPr>
              <a:spLocks noChangeShapeType="1"/>
            </p:cNvSpPr>
            <p:nvPr/>
          </p:nvSpPr>
          <p:spPr bwMode="auto">
            <a:xfrm>
              <a:off x="2517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112"/>
            <p:cNvSpPr>
              <a:spLocks noChangeShapeType="1"/>
            </p:cNvSpPr>
            <p:nvPr/>
          </p:nvSpPr>
          <p:spPr bwMode="auto">
            <a:xfrm>
              <a:off x="2876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113"/>
            <p:cNvSpPr>
              <a:spLocks noChangeShapeType="1"/>
            </p:cNvSpPr>
            <p:nvPr/>
          </p:nvSpPr>
          <p:spPr bwMode="auto">
            <a:xfrm>
              <a:off x="3250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" name="Group 114"/>
            <p:cNvGrpSpPr>
              <a:grpSpLocks/>
            </p:cNvGrpSpPr>
            <p:nvPr/>
          </p:nvGrpSpPr>
          <p:grpSpPr bwMode="auto">
            <a:xfrm>
              <a:off x="817" y="1543"/>
              <a:ext cx="1113" cy="806"/>
              <a:chOff x="817" y="2238"/>
              <a:chExt cx="1113" cy="806"/>
            </a:xfrm>
          </p:grpSpPr>
          <p:sp>
            <p:nvSpPr>
              <p:cNvPr id="63" name="Line 115"/>
              <p:cNvSpPr>
                <a:spLocks noChangeShapeType="1"/>
              </p:cNvSpPr>
              <p:nvPr/>
            </p:nvSpPr>
            <p:spPr bwMode="auto">
              <a:xfrm>
                <a:off x="841" y="2268"/>
                <a:ext cx="1089" cy="168"/>
              </a:xfrm>
              <a:prstGeom prst="line">
                <a:avLst/>
              </a:prstGeom>
              <a:noFill/>
              <a:ln w="19050">
                <a:noFill/>
                <a:round/>
                <a:headEnd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AutoShape 116"/>
              <p:cNvSpPr>
                <a:spLocks noChangeArrowheads="1"/>
              </p:cNvSpPr>
              <p:nvPr/>
            </p:nvSpPr>
            <p:spPr bwMode="auto">
              <a:xfrm rot="5400000">
                <a:off x="976" y="2091"/>
                <a:ext cx="793" cy="1092"/>
              </a:xfrm>
              <a:prstGeom prst="parallelogram">
                <a:avLst>
                  <a:gd name="adj" fmla="val 21176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Text Box 117"/>
              <p:cNvSpPr txBox="1">
                <a:spLocks noChangeArrowheads="1"/>
              </p:cNvSpPr>
              <p:nvPr/>
            </p:nvSpPr>
            <p:spPr bwMode="auto">
              <a:xfrm>
                <a:off x="1113" y="2429"/>
                <a:ext cx="4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报文</a:t>
                </a:r>
              </a:p>
            </p:txBody>
          </p:sp>
          <p:sp>
            <p:nvSpPr>
              <p:cNvPr id="66" name="AutoShape 118"/>
              <p:cNvSpPr>
                <a:spLocks noChangeArrowheads="1"/>
              </p:cNvSpPr>
              <p:nvPr/>
            </p:nvSpPr>
            <p:spPr bwMode="auto">
              <a:xfrm rot="746037">
                <a:off x="1174" y="2745"/>
                <a:ext cx="408" cy="127"/>
              </a:xfrm>
              <a:prstGeom prst="rightArrow">
                <a:avLst>
                  <a:gd name="adj1" fmla="val 50000"/>
                  <a:gd name="adj2" fmla="val 8031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119"/>
              <p:cNvSpPr>
                <a:spLocks noChangeShapeType="1"/>
              </p:cNvSpPr>
              <p:nvPr/>
            </p:nvSpPr>
            <p:spPr bwMode="auto">
              <a:xfrm>
                <a:off x="823" y="2238"/>
                <a:ext cx="1094" cy="1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120"/>
              <p:cNvSpPr>
                <a:spLocks noChangeShapeType="1"/>
              </p:cNvSpPr>
              <p:nvPr/>
            </p:nvSpPr>
            <p:spPr bwMode="auto">
              <a:xfrm>
                <a:off x="817" y="2865"/>
                <a:ext cx="1100" cy="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" name="Group 121"/>
            <p:cNvGrpSpPr>
              <a:grpSpLocks/>
            </p:cNvGrpSpPr>
            <p:nvPr/>
          </p:nvGrpSpPr>
          <p:grpSpPr bwMode="auto">
            <a:xfrm>
              <a:off x="4286" y="863"/>
              <a:ext cx="367" cy="243"/>
              <a:chOff x="4286" y="1558"/>
              <a:chExt cx="367" cy="243"/>
            </a:xfrm>
          </p:grpSpPr>
          <p:sp>
            <p:nvSpPr>
              <p:cNvPr id="58" name="AutoShape 122"/>
              <p:cNvSpPr>
                <a:spLocks noChangeArrowheads="1"/>
              </p:cNvSpPr>
              <p:nvPr/>
            </p:nvSpPr>
            <p:spPr bwMode="auto">
              <a:xfrm rot="5400000">
                <a:off x="4367" y="151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Text Box 123"/>
              <p:cNvSpPr txBox="1">
                <a:spLocks noChangeArrowheads="1"/>
              </p:cNvSpPr>
              <p:nvPr/>
            </p:nvSpPr>
            <p:spPr bwMode="auto">
              <a:xfrm rot="626605">
                <a:off x="4295" y="155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60" name="Line 124"/>
              <p:cNvSpPr>
                <a:spLocks noChangeShapeType="1"/>
              </p:cNvSpPr>
              <p:nvPr/>
            </p:nvSpPr>
            <p:spPr bwMode="auto">
              <a:xfrm>
                <a:off x="4286" y="17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AutoShape 125"/>
              <p:cNvSpPr>
                <a:spLocks noChangeArrowheads="1"/>
              </p:cNvSpPr>
              <p:nvPr/>
            </p:nvSpPr>
            <p:spPr bwMode="auto">
              <a:xfrm rot="746037">
                <a:off x="4481" y="1652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126"/>
              <p:cNvSpPr>
                <a:spLocks noChangeShapeType="1"/>
              </p:cNvSpPr>
              <p:nvPr/>
            </p:nvSpPr>
            <p:spPr bwMode="auto">
              <a:xfrm>
                <a:off x="4290" y="158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Group 127"/>
            <p:cNvGrpSpPr>
              <a:grpSpLocks/>
            </p:cNvGrpSpPr>
            <p:nvPr/>
          </p:nvGrpSpPr>
          <p:grpSpPr bwMode="auto">
            <a:xfrm>
              <a:off x="4291" y="678"/>
              <a:ext cx="366" cy="249"/>
              <a:chOff x="4291" y="1373"/>
              <a:chExt cx="366" cy="249"/>
            </a:xfrm>
          </p:grpSpPr>
          <p:sp>
            <p:nvSpPr>
              <p:cNvPr id="53" name="AutoShape 128"/>
              <p:cNvSpPr>
                <a:spLocks noChangeArrowheads="1"/>
              </p:cNvSpPr>
              <p:nvPr/>
            </p:nvSpPr>
            <p:spPr bwMode="auto">
              <a:xfrm rot="5400000">
                <a:off x="4371" y="133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Text Box 129"/>
              <p:cNvSpPr txBox="1">
                <a:spLocks noChangeArrowheads="1"/>
              </p:cNvSpPr>
              <p:nvPr/>
            </p:nvSpPr>
            <p:spPr bwMode="auto">
              <a:xfrm rot="626605">
                <a:off x="4294" y="137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55" name="Line 130"/>
              <p:cNvSpPr>
                <a:spLocks noChangeShapeType="1"/>
              </p:cNvSpPr>
              <p:nvPr/>
            </p:nvSpPr>
            <p:spPr bwMode="auto">
              <a:xfrm>
                <a:off x="4295" y="1407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131"/>
              <p:cNvSpPr>
                <a:spLocks noChangeShapeType="1"/>
              </p:cNvSpPr>
              <p:nvPr/>
            </p:nvSpPr>
            <p:spPr bwMode="auto">
              <a:xfrm>
                <a:off x="4291" y="1558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AutoShape 132"/>
              <p:cNvSpPr>
                <a:spLocks noChangeArrowheads="1"/>
              </p:cNvSpPr>
              <p:nvPr/>
            </p:nvSpPr>
            <p:spPr bwMode="auto">
              <a:xfrm rot="746037">
                <a:off x="4485" y="1472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" name="Line 133"/>
            <p:cNvSpPr>
              <a:spLocks noChangeShapeType="1"/>
            </p:cNvSpPr>
            <p:nvPr/>
          </p:nvSpPr>
          <p:spPr bwMode="auto">
            <a:xfrm>
              <a:off x="4289" y="687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34"/>
            <p:cNvSpPr>
              <a:spLocks noChangeShapeType="1"/>
            </p:cNvSpPr>
            <p:nvPr/>
          </p:nvSpPr>
          <p:spPr bwMode="auto">
            <a:xfrm>
              <a:off x="823" y="2240"/>
              <a:ext cx="363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135"/>
            <p:cNvSpPr>
              <a:spLocks noChangeShapeType="1"/>
            </p:cNvSpPr>
            <p:nvPr/>
          </p:nvSpPr>
          <p:spPr bwMode="auto">
            <a:xfrm>
              <a:off x="1192" y="2354"/>
              <a:ext cx="357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36"/>
            <p:cNvSpPr>
              <a:spLocks noChangeShapeType="1"/>
            </p:cNvSpPr>
            <p:nvPr/>
          </p:nvSpPr>
          <p:spPr bwMode="auto">
            <a:xfrm>
              <a:off x="1549" y="2474"/>
              <a:ext cx="362" cy="5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" name="Group 137"/>
            <p:cNvGrpSpPr>
              <a:grpSpLocks/>
            </p:cNvGrpSpPr>
            <p:nvPr/>
          </p:nvGrpSpPr>
          <p:grpSpPr bwMode="auto">
            <a:xfrm>
              <a:off x="113" y="2174"/>
              <a:ext cx="692" cy="373"/>
              <a:chOff x="113" y="2869"/>
              <a:chExt cx="692" cy="373"/>
            </a:xfrm>
          </p:grpSpPr>
          <p:sp>
            <p:nvSpPr>
              <p:cNvPr id="50" name="Line 138"/>
              <p:cNvSpPr>
                <a:spLocks noChangeShapeType="1"/>
              </p:cNvSpPr>
              <p:nvPr/>
            </p:nvSpPr>
            <p:spPr bwMode="auto">
              <a:xfrm>
                <a:off x="615" y="324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139"/>
              <p:cNvSpPr>
                <a:spLocks noChangeShapeType="1"/>
              </p:cNvSpPr>
              <p:nvPr/>
            </p:nvSpPr>
            <p:spPr bwMode="auto">
              <a:xfrm>
                <a:off x="721" y="2869"/>
                <a:ext cx="0" cy="373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140"/>
              <p:cNvSpPr txBox="1">
                <a:spLocks noChangeArrowheads="1"/>
              </p:cNvSpPr>
              <p:nvPr/>
            </p:nvSpPr>
            <p:spPr bwMode="auto">
              <a:xfrm>
                <a:off x="113" y="29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连接释放</a:t>
                </a:r>
              </a:p>
            </p:txBody>
          </p:sp>
        </p:grpSp>
        <p:sp>
          <p:nvSpPr>
            <p:cNvPr id="49" name="Freeform 141"/>
            <p:cNvSpPr>
              <a:spLocks/>
            </p:cNvSpPr>
            <p:nvPr/>
          </p:nvSpPr>
          <p:spPr bwMode="auto">
            <a:xfrm>
              <a:off x="1915" y="709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2988" y="1484313"/>
            <a:ext cx="7772400" cy="2808287"/>
          </a:xfrm>
        </p:spPr>
        <p:txBody>
          <a:bodyPr/>
          <a:lstStyle/>
          <a:p>
            <a:r>
              <a:rPr lang="zh-CN" altLang="en-US" sz="2800">
                <a:solidFill>
                  <a:schemeClr val="hlink"/>
                </a:solidFill>
              </a:rPr>
              <a:t>发送时延</a:t>
            </a:r>
            <a:r>
              <a:rPr lang="zh-CN" altLang="en-US" sz="2800"/>
              <a:t>（传输时延 ）</a:t>
            </a:r>
            <a:r>
              <a:rPr lang="en-US" altLang="zh-CN" sz="2800"/>
              <a:t>: </a:t>
            </a:r>
            <a:r>
              <a:rPr lang="zh-CN" altLang="en-US" sz="2800"/>
              <a:t>发送数据时，数据块从结点进入到传输媒体所需要的时间。</a:t>
            </a:r>
          </a:p>
          <a:p>
            <a:pPr>
              <a:buFontTx/>
              <a:buNone/>
            </a:pPr>
            <a:r>
              <a:rPr lang="zh-CN" altLang="en-US" sz="2800"/>
              <a:t>           也就是从发送数据帧的第一个比特算起，到该帧的最后一个比特发送完毕所需的时间。 </a:t>
            </a:r>
          </a:p>
          <a:p>
            <a:pPr>
              <a:buFontTx/>
              <a:buNone/>
            </a:pPr>
            <a:endParaRPr lang="zh-CN" altLang="en-US" sz="2800"/>
          </a:p>
          <a:p>
            <a:endParaRPr lang="en-US" altLang="zh-CN" sz="280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2124075" y="4508500"/>
            <a:ext cx="5097463" cy="1225550"/>
            <a:chOff x="1574" y="3066"/>
            <a:chExt cx="3211" cy="772"/>
          </a:xfrm>
        </p:grpSpPr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1574" y="3066"/>
              <a:ext cx="3211" cy="772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1688" y="3286"/>
              <a:ext cx="1144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发送时延 </a:t>
              </a:r>
              <a:r>
                <a:rPr lang="en-US" altLang="zh-CN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= 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2789" y="3142"/>
              <a:ext cx="1844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数据块长度（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比特</a:t>
              </a:r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>
              <a:off x="2858" y="3467"/>
              <a:ext cx="1917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信道带宽（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比特</a:t>
              </a:r>
              <a:r>
                <a:rPr lang="en-US" altLang="zh-CN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/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秒</a:t>
              </a:r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 flipV="1">
              <a:off x="2789" y="3449"/>
              <a:ext cx="1819" cy="1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50825" y="333375"/>
            <a:ext cx="86423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zh-CN" altLang="en-US" sz="3600">
                <a:solidFill>
                  <a:schemeClr val="tx2"/>
                </a:solidFill>
              </a:rPr>
              <a:t>时延</a:t>
            </a:r>
            <a:r>
              <a:rPr lang="en-US" altLang="zh-CN" sz="3600">
                <a:solidFill>
                  <a:schemeClr val="tx2"/>
                </a:solidFill>
              </a:rPr>
              <a:t>(delay </a:t>
            </a:r>
            <a:r>
              <a:rPr lang="zh-CN" altLang="en-US" sz="3600">
                <a:solidFill>
                  <a:schemeClr val="tx2"/>
                </a:solidFill>
              </a:rPr>
              <a:t>或 </a:t>
            </a:r>
            <a:r>
              <a:rPr lang="en-US" altLang="zh-CN" sz="3600">
                <a:solidFill>
                  <a:schemeClr val="tx2"/>
                </a:solidFill>
              </a:rPr>
              <a:t>latency)(P19)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567613" cy="1143000"/>
          </a:xfrm>
        </p:spPr>
        <p:txBody>
          <a:bodyPr/>
          <a:lstStyle/>
          <a:p>
            <a:r>
              <a:rPr lang="zh-CN" altLang="en-US"/>
              <a:t>时延</a:t>
            </a:r>
            <a:r>
              <a:rPr lang="en-US" altLang="zh-CN"/>
              <a:t>(delay </a:t>
            </a:r>
            <a:r>
              <a:rPr lang="zh-CN" altLang="en-US"/>
              <a:t>或 </a:t>
            </a:r>
            <a:r>
              <a:rPr lang="en-US" altLang="zh-CN"/>
              <a:t>latency)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38325"/>
            <a:ext cx="8229600" cy="2928938"/>
          </a:xfrm>
        </p:spPr>
        <p:txBody>
          <a:bodyPr/>
          <a:lstStyle/>
          <a:p>
            <a:r>
              <a:rPr lang="zh-CN" altLang="en-US">
                <a:solidFill>
                  <a:schemeClr val="hlink"/>
                </a:solidFill>
              </a:rPr>
              <a:t>传播时延    </a:t>
            </a:r>
            <a:r>
              <a:rPr lang="zh-CN" altLang="en-US"/>
              <a:t>电磁波在信道中需要传播一定的距离而花费的时间。 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1269" name="Group 5"/>
          <p:cNvGrpSpPr>
            <a:grpSpLocks/>
          </p:cNvGrpSpPr>
          <p:nvPr/>
        </p:nvGrpSpPr>
        <p:grpSpPr bwMode="auto">
          <a:xfrm>
            <a:off x="1258888" y="3716338"/>
            <a:ext cx="6769100" cy="1225550"/>
            <a:chOff x="1020" y="2840"/>
            <a:chExt cx="4264" cy="772"/>
          </a:xfrm>
        </p:grpSpPr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1020" y="2840"/>
              <a:ext cx="4264" cy="772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1" name="Text Box 7"/>
            <p:cNvSpPr txBox="1">
              <a:spLocks noChangeArrowheads="1"/>
            </p:cNvSpPr>
            <p:nvPr/>
          </p:nvSpPr>
          <p:spPr bwMode="auto">
            <a:xfrm>
              <a:off x="1134" y="3060"/>
              <a:ext cx="1144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传播时延 </a:t>
              </a:r>
              <a:r>
                <a:rPr lang="en-US" altLang="zh-CN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= </a:t>
              </a:r>
            </a:p>
          </p:txBody>
        </p:sp>
        <p:sp>
          <p:nvSpPr>
            <p:cNvPr id="11272" name="Text Box 8"/>
            <p:cNvSpPr txBox="1">
              <a:spLocks noChangeArrowheads="1"/>
            </p:cNvSpPr>
            <p:nvPr/>
          </p:nvSpPr>
          <p:spPr bwMode="auto">
            <a:xfrm>
              <a:off x="3053" y="2916"/>
              <a:ext cx="1460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信道长度（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米</a:t>
              </a:r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2185" y="3241"/>
              <a:ext cx="3069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信号在信道上的传播速率（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米</a:t>
              </a:r>
              <a:r>
                <a:rPr lang="en-US" altLang="zh-CN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/</a:t>
              </a:r>
              <a:r>
                <a:rPr lang="zh-CN" altLang="en-US" sz="2400">
                  <a:solidFill>
                    <a:schemeClr val="hlink"/>
                  </a:solidFill>
                  <a:latin typeface="Tahoma" pitchFamily="34" charset="0"/>
                  <a:ea typeface="黑体" pitchFamily="2" charset="-122"/>
                </a:rPr>
                <a:t>秒</a:t>
              </a:r>
              <a:r>
                <a:rPr lang="zh-CN" altLang="en-US" sz="2400">
                  <a:solidFill>
                    <a:srgbClr val="333399"/>
                  </a:solidFill>
                  <a:latin typeface="Tahoma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>
              <a:off x="2190" y="3233"/>
              <a:ext cx="2913" cy="1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567613" cy="1143000"/>
          </a:xfrm>
        </p:spPr>
        <p:txBody>
          <a:bodyPr/>
          <a:lstStyle/>
          <a:p>
            <a:r>
              <a:rPr lang="zh-CN" altLang="en-US"/>
              <a:t>时延</a:t>
            </a:r>
            <a:r>
              <a:rPr lang="en-US" altLang="zh-CN"/>
              <a:t>(delay </a:t>
            </a:r>
            <a:r>
              <a:rPr lang="zh-CN" altLang="en-US"/>
              <a:t>或 </a:t>
            </a:r>
            <a:r>
              <a:rPr lang="en-US" altLang="zh-CN"/>
              <a:t>latency)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989138"/>
            <a:ext cx="7772400" cy="4679950"/>
          </a:xfrm>
        </p:spPr>
        <p:txBody>
          <a:bodyPr/>
          <a:lstStyle/>
          <a:p>
            <a:r>
              <a:rPr lang="zh-CN" altLang="en-US">
                <a:solidFill>
                  <a:schemeClr val="hlink"/>
                </a:solidFill>
              </a:rPr>
              <a:t>处理时延    </a:t>
            </a:r>
            <a:r>
              <a:rPr lang="zh-CN" altLang="en-US"/>
              <a:t>交换结点为存储转发而进行一些必要的处理所花费的时间。 </a:t>
            </a:r>
          </a:p>
          <a:p>
            <a:r>
              <a:rPr lang="zh-CN" altLang="en-US">
                <a:solidFill>
                  <a:schemeClr val="hlink"/>
                </a:solidFill>
              </a:rPr>
              <a:t>排队时延    </a:t>
            </a:r>
            <a:r>
              <a:rPr lang="zh-CN" altLang="en-US"/>
              <a:t>结点缓存队列中分组</a:t>
            </a:r>
            <a:r>
              <a:rPr lang="zh-CN" altLang="en-US">
                <a:solidFill>
                  <a:schemeClr val="hlink"/>
                </a:solidFill>
              </a:rPr>
              <a:t>排队</a:t>
            </a:r>
            <a:r>
              <a:rPr lang="zh-CN" altLang="en-US"/>
              <a:t>所经历的时延。</a:t>
            </a:r>
          </a:p>
          <a:p>
            <a:endParaRPr lang="en-US" altLang="zh-CN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567613" cy="1143000"/>
          </a:xfrm>
        </p:spPr>
        <p:txBody>
          <a:bodyPr/>
          <a:lstStyle/>
          <a:p>
            <a:r>
              <a:rPr lang="zh-CN" altLang="en-US"/>
              <a:t>时延</a:t>
            </a:r>
            <a:r>
              <a:rPr lang="en-US" altLang="zh-CN"/>
              <a:t>(delay </a:t>
            </a:r>
            <a:r>
              <a:rPr lang="zh-CN" altLang="en-US"/>
              <a:t>或 </a:t>
            </a:r>
            <a:r>
              <a:rPr lang="en-US" altLang="zh-CN"/>
              <a:t>latency)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38325"/>
            <a:ext cx="8229600" cy="1504950"/>
          </a:xfrm>
        </p:spPr>
        <p:txBody>
          <a:bodyPr/>
          <a:lstStyle/>
          <a:p>
            <a:r>
              <a:rPr lang="zh-CN" altLang="en-US"/>
              <a:t>数据经历的总时延就是发送时延、传播时延、处理时延和排队时延之和： </a:t>
            </a:r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042988" y="3789363"/>
            <a:ext cx="7561262" cy="457200"/>
          </a:xfrm>
          <a:prstGeom prst="rect">
            <a:avLst/>
          </a:prstGeom>
          <a:solidFill>
            <a:srgbClr val="FFFF99"/>
          </a:solidFill>
          <a:ln w="76200" cmpd="tri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总时延 </a:t>
            </a:r>
            <a:r>
              <a:rPr lang="en-US" altLang="zh-CN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= </a:t>
            </a:r>
            <a:r>
              <a:rPr lang="zh-CN" altLang="en-US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发送时延</a:t>
            </a:r>
            <a:r>
              <a:rPr lang="en-US" altLang="zh-CN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+</a:t>
            </a:r>
            <a:r>
              <a:rPr lang="zh-CN" altLang="en-US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传播时延</a:t>
            </a:r>
            <a:r>
              <a:rPr lang="en-US" altLang="zh-CN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+</a:t>
            </a:r>
            <a:r>
              <a:rPr lang="zh-CN" altLang="en-US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处理时延</a:t>
            </a:r>
            <a:r>
              <a:rPr lang="en-US" altLang="zh-CN" sz="2400">
                <a:solidFill>
                  <a:srgbClr val="333399"/>
                </a:solidFill>
                <a:latin typeface="Tahoma" pitchFamily="34" charset="0"/>
              </a:rPr>
              <a:t>+</a:t>
            </a:r>
            <a:r>
              <a:rPr lang="zh-CN" altLang="en-US" sz="2400">
                <a:solidFill>
                  <a:srgbClr val="333399"/>
                </a:solidFill>
                <a:latin typeface="Tahoma" pitchFamily="34" charset="0"/>
                <a:ea typeface="黑体" pitchFamily="2" charset="-122"/>
              </a:rPr>
              <a:t>排队时延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15888"/>
            <a:ext cx="7165975" cy="768350"/>
          </a:xfrm>
        </p:spPr>
        <p:txBody>
          <a:bodyPr/>
          <a:lstStyle/>
          <a:p>
            <a:r>
              <a:rPr lang="zh-CN" altLang="en-US"/>
              <a:t>四种时延所产生的地方 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0795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136775" y="4702175"/>
            <a:ext cx="5522913" cy="265113"/>
          </a:xfrm>
          <a:prstGeom prst="rect">
            <a:avLst/>
          </a:prstGeom>
          <a:gradFill rotWithShape="1">
            <a:gsLst>
              <a:gs pos="0">
                <a:srgbClr val="B2B2B2">
                  <a:gamma/>
                  <a:shade val="27451"/>
                  <a:invGamma/>
                </a:srgbClr>
              </a:gs>
              <a:gs pos="50000">
                <a:srgbClr val="B2B2B2"/>
              </a:gs>
              <a:gs pos="100000">
                <a:srgbClr val="B2B2B2">
                  <a:gamma/>
                  <a:shade val="27451"/>
                  <a:invGamma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868363" y="4168775"/>
            <a:ext cx="1358900" cy="13319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7569200" y="4168775"/>
            <a:ext cx="1358900" cy="13319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666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43" name="Group 7"/>
          <p:cNvGrpSpPr>
            <a:grpSpLocks/>
          </p:cNvGrpSpPr>
          <p:nvPr/>
        </p:nvGrpSpPr>
        <p:grpSpPr bwMode="auto">
          <a:xfrm>
            <a:off x="1230313" y="4576763"/>
            <a:ext cx="723900" cy="458787"/>
            <a:chOff x="1567" y="1056"/>
            <a:chExt cx="384" cy="336"/>
          </a:xfrm>
        </p:grpSpPr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1663" y="1056"/>
              <a:ext cx="288" cy="33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5" name="Freeform 9"/>
            <p:cNvSpPr>
              <a:spLocks/>
            </p:cNvSpPr>
            <p:nvPr/>
          </p:nvSpPr>
          <p:spPr bwMode="auto">
            <a:xfrm>
              <a:off x="1567" y="1056"/>
              <a:ext cx="384" cy="3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384" y="336"/>
                </a:cxn>
                <a:cxn ang="0">
                  <a:pos x="0" y="336"/>
                </a:cxn>
              </a:cxnLst>
              <a:rect l="0" t="0" r="r" b="b"/>
              <a:pathLst>
                <a:path w="384" h="336">
                  <a:moveTo>
                    <a:pt x="0" y="0"/>
                  </a:moveTo>
                  <a:lnTo>
                    <a:pt x="384" y="0"/>
                  </a:lnTo>
                  <a:lnTo>
                    <a:pt x="384" y="336"/>
                  </a:lnTo>
                  <a:lnTo>
                    <a:pt x="0" y="33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>
              <a:off x="1855" y="1056"/>
              <a:ext cx="0" cy="3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>
              <a:off x="1759" y="1056"/>
              <a:ext cx="0" cy="3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>
              <a:off x="1663" y="1056"/>
              <a:ext cx="0" cy="3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1949450" y="4822825"/>
            <a:ext cx="271463" cy="635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2011363" y="4729163"/>
            <a:ext cx="169862" cy="1936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AutoShape 15"/>
          <p:cNvSpPr>
            <a:spLocks noChangeArrowheads="1"/>
          </p:cNvSpPr>
          <p:nvPr/>
        </p:nvSpPr>
        <p:spPr bwMode="auto">
          <a:xfrm>
            <a:off x="2770188" y="4754563"/>
            <a:ext cx="1266825" cy="177800"/>
          </a:xfrm>
          <a:prstGeom prst="rightArrow">
            <a:avLst>
              <a:gd name="adj1" fmla="val 50000"/>
              <a:gd name="adj2" fmla="val 178125"/>
            </a:avLst>
          </a:prstGeom>
          <a:solidFill>
            <a:srgbClr val="00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AutoShape 16"/>
          <p:cNvSpPr>
            <a:spLocks noChangeArrowheads="1"/>
          </p:cNvSpPr>
          <p:nvPr/>
        </p:nvSpPr>
        <p:spPr bwMode="auto">
          <a:xfrm>
            <a:off x="139700" y="4754563"/>
            <a:ext cx="1268413" cy="177800"/>
          </a:xfrm>
          <a:prstGeom prst="rightArrow">
            <a:avLst>
              <a:gd name="adj1" fmla="val 50000"/>
              <a:gd name="adj2" fmla="val 178348"/>
            </a:avLst>
          </a:prstGeom>
          <a:solidFill>
            <a:srgbClr val="00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AutoShape 17"/>
          <p:cNvSpPr>
            <a:spLocks noChangeArrowheads="1"/>
          </p:cNvSpPr>
          <p:nvPr/>
        </p:nvSpPr>
        <p:spPr bwMode="auto">
          <a:xfrm>
            <a:off x="6564313" y="4746625"/>
            <a:ext cx="1266825" cy="176213"/>
          </a:xfrm>
          <a:prstGeom prst="rightArrow">
            <a:avLst>
              <a:gd name="adj1" fmla="val 50000"/>
              <a:gd name="adj2" fmla="val 179729"/>
            </a:avLst>
          </a:prstGeom>
          <a:solidFill>
            <a:srgbClr val="00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4060825" y="4645025"/>
            <a:ext cx="159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000" b="1">
                <a:solidFill>
                  <a:srgbClr val="333399"/>
                </a:solidFill>
              </a:rPr>
              <a:t>1 0 1 1 0 0 1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675313" y="45116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333399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2232025" y="5473700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发送器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1187450" y="4987925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队列</a:t>
            </a:r>
          </a:p>
        </p:txBody>
      </p:sp>
      <p:grpSp>
        <p:nvGrpSpPr>
          <p:cNvPr id="14358" name="Group 22"/>
          <p:cNvGrpSpPr>
            <a:grpSpLocks/>
          </p:cNvGrpSpPr>
          <p:nvPr/>
        </p:nvGrpSpPr>
        <p:grpSpPr bwMode="auto">
          <a:xfrm>
            <a:off x="5535613" y="3068638"/>
            <a:ext cx="2089150" cy="1612900"/>
            <a:chOff x="3419" y="1933"/>
            <a:chExt cx="1316" cy="1016"/>
          </a:xfrm>
        </p:grpSpPr>
        <p:sp>
          <p:nvSpPr>
            <p:cNvPr id="14359" name="Line 23"/>
            <p:cNvSpPr>
              <a:spLocks noChangeShapeType="1"/>
            </p:cNvSpPr>
            <p:nvPr/>
          </p:nvSpPr>
          <p:spPr bwMode="auto">
            <a:xfrm flipH="1">
              <a:off x="3602" y="2495"/>
              <a:ext cx="276" cy="45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Text Box 24"/>
            <p:cNvSpPr txBox="1">
              <a:spLocks noChangeArrowheads="1"/>
            </p:cNvSpPr>
            <p:nvPr/>
          </p:nvSpPr>
          <p:spPr bwMode="auto">
            <a:xfrm>
              <a:off x="3419" y="1933"/>
              <a:ext cx="1316" cy="566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在链路上产生</a:t>
              </a:r>
            </a:p>
            <a:p>
              <a:pPr algn="ctr"/>
              <a:r>
                <a:rPr kumimoji="1" lang="zh-CN" altLang="en-US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传播时延</a:t>
              </a:r>
            </a:p>
          </p:txBody>
        </p:sp>
      </p:grp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7704138" y="5564188"/>
            <a:ext cx="1054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结点</a:t>
            </a:r>
            <a:r>
              <a:rPr kumimoji="1" lang="zh-CN" altLang="en-US" sz="1600">
                <a:solidFill>
                  <a:srgbClr val="333399"/>
                </a:solidFill>
                <a:ea typeface="黑体" pitchFamily="2" charset="-122"/>
              </a:rPr>
              <a:t> </a:t>
            </a:r>
            <a:r>
              <a:rPr kumimoji="1" lang="en-US" altLang="zh-CN" sz="2400">
                <a:solidFill>
                  <a:srgbClr val="333399"/>
                </a:solidFill>
                <a:ea typeface="黑体" pitchFamily="2" charset="-122"/>
              </a:rPr>
              <a:t>B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1008063" y="5473700"/>
            <a:ext cx="1054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结点</a:t>
            </a:r>
            <a:r>
              <a:rPr kumimoji="1" lang="zh-CN" altLang="en-US" sz="1600">
                <a:solidFill>
                  <a:srgbClr val="333399"/>
                </a:solidFill>
                <a:ea typeface="黑体" pitchFamily="2" charset="-122"/>
              </a:rPr>
              <a:t> </a:t>
            </a:r>
            <a:r>
              <a:rPr kumimoji="1" lang="en-US" altLang="zh-CN" sz="2400">
                <a:solidFill>
                  <a:srgbClr val="333399"/>
                </a:solidFill>
                <a:ea typeface="黑体" pitchFamily="2" charset="-122"/>
              </a:rPr>
              <a:t>A</a:t>
            </a:r>
          </a:p>
        </p:txBody>
      </p:sp>
      <p:grpSp>
        <p:nvGrpSpPr>
          <p:cNvPr id="14363" name="Group 27"/>
          <p:cNvGrpSpPr>
            <a:grpSpLocks/>
          </p:cNvGrpSpPr>
          <p:nvPr/>
        </p:nvGrpSpPr>
        <p:grpSpPr bwMode="auto">
          <a:xfrm>
            <a:off x="1935163" y="3284538"/>
            <a:ext cx="3308350" cy="1470025"/>
            <a:chOff x="1151" y="2069"/>
            <a:chExt cx="2084" cy="926"/>
          </a:xfrm>
        </p:grpSpPr>
        <p:sp>
          <p:nvSpPr>
            <p:cNvPr id="14364" name="Text Box 28"/>
            <p:cNvSpPr txBox="1">
              <a:spLocks noChangeArrowheads="1"/>
            </p:cNvSpPr>
            <p:nvPr/>
          </p:nvSpPr>
          <p:spPr bwMode="auto">
            <a:xfrm>
              <a:off x="1151" y="2069"/>
              <a:ext cx="2084" cy="566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在发送器产生传输时延</a:t>
              </a:r>
            </a:p>
            <a:p>
              <a:pPr algn="ctr"/>
              <a:r>
                <a:rPr kumimoji="1" lang="en-US" altLang="zh-CN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kumimoji="1" lang="zh-CN" altLang="en-US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即发送时延</a:t>
              </a:r>
              <a:r>
                <a:rPr kumimoji="1" lang="en-US" altLang="zh-CN" sz="24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 flipH="1">
              <a:off x="1247" y="2614"/>
              <a:ext cx="454" cy="38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66" name="Line 30"/>
          <p:cNvSpPr>
            <a:spLocks noChangeShapeType="1"/>
          </p:cNvSpPr>
          <p:nvPr/>
        </p:nvSpPr>
        <p:spPr bwMode="auto">
          <a:xfrm flipH="1" flipV="1">
            <a:off x="2087563" y="4897438"/>
            <a:ext cx="431800" cy="6477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 flipH="1">
            <a:off x="1547813" y="3141663"/>
            <a:ext cx="55562" cy="100806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28588" y="2224088"/>
            <a:ext cx="3003550" cy="898525"/>
          </a:xfrm>
          <a:prstGeom prst="rect">
            <a:avLst/>
          </a:prstGeom>
          <a:solidFill>
            <a:srgbClr val="FFFF99"/>
          </a:solidFill>
          <a:ln w="76200" cmpd="tri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在结点</a:t>
            </a:r>
            <a:r>
              <a:rPr kumimoji="1" lang="zh-CN" altLang="en-US" sz="2400">
                <a:solidFill>
                  <a:srgbClr val="333399"/>
                </a:solidFill>
                <a:ea typeface="黑体" pitchFamily="2" charset="-122"/>
              </a:rPr>
              <a:t> </a:t>
            </a:r>
            <a:r>
              <a:rPr kumimoji="1" lang="en-US" altLang="zh-CN" sz="2400">
                <a:solidFill>
                  <a:srgbClr val="333399"/>
                </a:solidFill>
                <a:ea typeface="黑体" pitchFamily="2" charset="-122"/>
              </a:rPr>
              <a:t>A </a:t>
            </a:r>
            <a:r>
              <a:rPr kumimoji="1" lang="zh-CN" altLang="en-US" sz="240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中产生</a:t>
            </a:r>
          </a:p>
          <a:p>
            <a:pPr algn="ctr"/>
            <a:r>
              <a:rPr kumimoji="1" lang="zh-CN" altLang="en-US" sz="240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处理时延和排队时延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107950" y="429260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数据</a:t>
            </a:r>
            <a:endParaRPr kumimoji="1" lang="zh-CN" altLang="en-US" sz="2400">
              <a:solidFill>
                <a:srgbClr val="333399"/>
              </a:solidFill>
              <a:ea typeface="黑体" pitchFamily="2" charset="-122"/>
            </a:endParaRP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124075" y="981075"/>
            <a:ext cx="5241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3200">
                <a:solidFill>
                  <a:srgbClr val="333399"/>
                </a:solidFill>
                <a:ea typeface="黑体" pitchFamily="2" charset="-122"/>
              </a:rPr>
              <a:t>从结点 </a:t>
            </a:r>
            <a:r>
              <a:rPr kumimoji="1" lang="en-US" altLang="zh-CN" sz="3200">
                <a:solidFill>
                  <a:srgbClr val="333399"/>
                </a:solidFill>
                <a:ea typeface="黑体" pitchFamily="2" charset="-122"/>
              </a:rPr>
              <a:t>A </a:t>
            </a:r>
            <a:r>
              <a:rPr kumimoji="1" lang="zh-CN" altLang="en-US" sz="3200">
                <a:solidFill>
                  <a:srgbClr val="333399"/>
                </a:solidFill>
                <a:ea typeface="黑体" pitchFamily="2" charset="-122"/>
              </a:rPr>
              <a:t>向结点 </a:t>
            </a:r>
            <a:r>
              <a:rPr kumimoji="1" lang="en-US" altLang="zh-CN" sz="3200">
                <a:solidFill>
                  <a:srgbClr val="333399"/>
                </a:solidFill>
                <a:ea typeface="黑体" pitchFamily="2" charset="-122"/>
              </a:rPr>
              <a:t>B </a:t>
            </a:r>
            <a:r>
              <a:rPr kumimoji="1" lang="zh-CN" altLang="en-US" sz="3200">
                <a:solidFill>
                  <a:srgbClr val="333399"/>
                </a:solidFill>
                <a:ea typeface="黑体" pitchFamily="2" charset="-122"/>
              </a:rPr>
              <a:t>发送数据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4356100" y="5013325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333399"/>
                </a:solidFill>
                <a:latin typeface="Times New Roman" pitchFamily="18" charset="0"/>
                <a:ea typeface="黑体" pitchFamily="2" charset="-122"/>
              </a:rPr>
              <a:t>链路</a:t>
            </a:r>
            <a:endParaRPr kumimoji="1" lang="zh-CN" altLang="en-US" sz="2400">
              <a:solidFill>
                <a:srgbClr val="333399"/>
              </a:solidFill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79512" y="1052736"/>
            <a:ext cx="8591550" cy="4627562"/>
            <a:chOff x="113" y="416"/>
            <a:chExt cx="5412" cy="2915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4653" y="920"/>
              <a:ext cx="366" cy="249"/>
              <a:chOff x="4653" y="1615"/>
              <a:chExt cx="366" cy="249"/>
            </a:xfrm>
          </p:grpSpPr>
          <p:sp>
            <p:nvSpPr>
              <p:cNvPr id="136" name="AutoShape 6"/>
              <p:cNvSpPr>
                <a:spLocks noChangeArrowheads="1"/>
              </p:cNvSpPr>
              <p:nvPr/>
            </p:nvSpPr>
            <p:spPr bwMode="auto">
              <a:xfrm rot="5400000">
                <a:off x="4733" y="1579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Text Box 7"/>
              <p:cNvSpPr txBox="1">
                <a:spLocks noChangeArrowheads="1"/>
              </p:cNvSpPr>
              <p:nvPr/>
            </p:nvSpPr>
            <p:spPr bwMode="auto">
              <a:xfrm rot="626605">
                <a:off x="4662" y="1615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38" name="Line 8"/>
              <p:cNvSpPr>
                <a:spLocks noChangeShapeType="1"/>
              </p:cNvSpPr>
              <p:nvPr/>
            </p:nvSpPr>
            <p:spPr bwMode="auto">
              <a:xfrm>
                <a:off x="4656" y="165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9"/>
              <p:cNvSpPr>
                <a:spLocks noChangeShapeType="1"/>
              </p:cNvSpPr>
              <p:nvPr/>
            </p:nvSpPr>
            <p:spPr bwMode="auto">
              <a:xfrm>
                <a:off x="4653" y="1801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AutoShape 10"/>
              <p:cNvSpPr>
                <a:spLocks noChangeArrowheads="1"/>
              </p:cNvSpPr>
              <p:nvPr/>
            </p:nvSpPr>
            <p:spPr bwMode="auto">
              <a:xfrm rot="746037">
                <a:off x="4847" y="1715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648" y="1099"/>
              <a:ext cx="367" cy="249"/>
              <a:chOff x="4648" y="1794"/>
              <a:chExt cx="367" cy="249"/>
            </a:xfrm>
          </p:grpSpPr>
          <p:sp>
            <p:nvSpPr>
              <p:cNvPr id="131" name="AutoShape 12"/>
              <p:cNvSpPr>
                <a:spLocks noChangeArrowheads="1"/>
              </p:cNvSpPr>
              <p:nvPr/>
            </p:nvSpPr>
            <p:spPr bwMode="auto">
              <a:xfrm rot="5400000">
                <a:off x="4729" y="1758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Text Box 13"/>
              <p:cNvSpPr txBox="1">
                <a:spLocks noChangeArrowheads="1"/>
              </p:cNvSpPr>
              <p:nvPr/>
            </p:nvSpPr>
            <p:spPr bwMode="auto">
              <a:xfrm rot="626605">
                <a:off x="4651" y="179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33" name="Line 14"/>
              <p:cNvSpPr>
                <a:spLocks noChangeShapeType="1"/>
              </p:cNvSpPr>
              <p:nvPr/>
            </p:nvSpPr>
            <p:spPr bwMode="auto">
              <a:xfrm>
                <a:off x="4652" y="1829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15"/>
              <p:cNvSpPr>
                <a:spLocks noChangeShapeType="1"/>
              </p:cNvSpPr>
              <p:nvPr/>
            </p:nvSpPr>
            <p:spPr bwMode="auto">
              <a:xfrm>
                <a:off x="4648" y="19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AutoShape 16"/>
              <p:cNvSpPr>
                <a:spLocks noChangeArrowheads="1"/>
              </p:cNvSpPr>
              <p:nvPr/>
            </p:nvSpPr>
            <p:spPr bwMode="auto">
              <a:xfrm rot="746037">
                <a:off x="4843" y="1894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4652" y="1281"/>
              <a:ext cx="366" cy="243"/>
              <a:chOff x="4652" y="1976"/>
              <a:chExt cx="366" cy="243"/>
            </a:xfrm>
          </p:grpSpPr>
          <p:sp>
            <p:nvSpPr>
              <p:cNvPr id="126" name="AutoShape 18"/>
              <p:cNvSpPr>
                <a:spLocks noChangeArrowheads="1"/>
              </p:cNvSpPr>
              <p:nvPr/>
            </p:nvSpPr>
            <p:spPr bwMode="auto">
              <a:xfrm rot="5400000">
                <a:off x="4732" y="1934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Text Box 19"/>
              <p:cNvSpPr txBox="1">
                <a:spLocks noChangeArrowheads="1"/>
              </p:cNvSpPr>
              <p:nvPr/>
            </p:nvSpPr>
            <p:spPr bwMode="auto">
              <a:xfrm rot="626605">
                <a:off x="4655" y="197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28" name="Line 20"/>
              <p:cNvSpPr>
                <a:spLocks noChangeShapeType="1"/>
              </p:cNvSpPr>
              <p:nvPr/>
            </p:nvSpPr>
            <p:spPr bwMode="auto">
              <a:xfrm>
                <a:off x="4656" y="2004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21"/>
              <p:cNvSpPr>
                <a:spLocks noChangeShapeType="1"/>
              </p:cNvSpPr>
              <p:nvPr/>
            </p:nvSpPr>
            <p:spPr bwMode="auto">
              <a:xfrm>
                <a:off x="4652" y="2155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AutoShape 22"/>
              <p:cNvSpPr>
                <a:spLocks noChangeArrowheads="1"/>
              </p:cNvSpPr>
              <p:nvPr/>
            </p:nvSpPr>
            <p:spPr bwMode="auto">
              <a:xfrm rot="746037">
                <a:off x="4846" y="2069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23"/>
            <p:cNvGrpSpPr>
              <a:grpSpLocks/>
            </p:cNvGrpSpPr>
            <p:nvPr/>
          </p:nvGrpSpPr>
          <p:grpSpPr bwMode="auto">
            <a:xfrm>
              <a:off x="4656" y="1451"/>
              <a:ext cx="366" cy="248"/>
              <a:chOff x="4656" y="2146"/>
              <a:chExt cx="366" cy="248"/>
            </a:xfrm>
          </p:grpSpPr>
          <p:sp>
            <p:nvSpPr>
              <p:cNvPr id="121" name="AutoShape 24"/>
              <p:cNvSpPr>
                <a:spLocks noChangeArrowheads="1"/>
              </p:cNvSpPr>
              <p:nvPr/>
            </p:nvSpPr>
            <p:spPr bwMode="auto">
              <a:xfrm rot="5400000">
                <a:off x="4737" y="2109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Text Box 25"/>
              <p:cNvSpPr txBox="1">
                <a:spLocks noChangeArrowheads="1"/>
              </p:cNvSpPr>
              <p:nvPr/>
            </p:nvSpPr>
            <p:spPr bwMode="auto">
              <a:xfrm rot="626605">
                <a:off x="4659" y="2146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23" name="Line 26"/>
              <p:cNvSpPr>
                <a:spLocks noChangeShapeType="1"/>
              </p:cNvSpPr>
              <p:nvPr/>
            </p:nvSpPr>
            <p:spPr bwMode="auto">
              <a:xfrm>
                <a:off x="4659" y="21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27"/>
              <p:cNvSpPr>
                <a:spLocks noChangeShapeType="1"/>
              </p:cNvSpPr>
              <p:nvPr/>
            </p:nvSpPr>
            <p:spPr bwMode="auto">
              <a:xfrm>
                <a:off x="4656" y="233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AutoShape 28"/>
              <p:cNvSpPr>
                <a:spLocks noChangeArrowheads="1"/>
              </p:cNvSpPr>
              <p:nvPr/>
            </p:nvSpPr>
            <p:spPr bwMode="auto">
              <a:xfrm rot="746037">
                <a:off x="4850" y="2245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5012" y="1169"/>
              <a:ext cx="369" cy="242"/>
              <a:chOff x="5012" y="1864"/>
              <a:chExt cx="369" cy="242"/>
            </a:xfrm>
          </p:grpSpPr>
          <p:sp>
            <p:nvSpPr>
              <p:cNvPr id="116" name="AutoShape 30"/>
              <p:cNvSpPr>
                <a:spLocks noChangeArrowheads="1"/>
              </p:cNvSpPr>
              <p:nvPr/>
            </p:nvSpPr>
            <p:spPr bwMode="auto">
              <a:xfrm rot="5400000">
                <a:off x="5096" y="1821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Text Box 31"/>
              <p:cNvSpPr txBox="1">
                <a:spLocks noChangeArrowheads="1"/>
              </p:cNvSpPr>
              <p:nvPr/>
            </p:nvSpPr>
            <p:spPr bwMode="auto">
              <a:xfrm rot="626605">
                <a:off x="5012" y="1864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18" name="Line 32"/>
              <p:cNvSpPr>
                <a:spLocks noChangeShapeType="1"/>
              </p:cNvSpPr>
              <p:nvPr/>
            </p:nvSpPr>
            <p:spPr bwMode="auto">
              <a:xfrm>
                <a:off x="5018" y="189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Line 33"/>
              <p:cNvSpPr>
                <a:spLocks noChangeShapeType="1"/>
              </p:cNvSpPr>
              <p:nvPr/>
            </p:nvSpPr>
            <p:spPr bwMode="auto">
              <a:xfrm>
                <a:off x="5015" y="2043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AutoShape 34"/>
              <p:cNvSpPr>
                <a:spLocks noChangeArrowheads="1"/>
              </p:cNvSpPr>
              <p:nvPr/>
            </p:nvSpPr>
            <p:spPr bwMode="auto">
              <a:xfrm rot="746037">
                <a:off x="5209" y="1957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35"/>
            <p:cNvGrpSpPr>
              <a:grpSpLocks/>
            </p:cNvGrpSpPr>
            <p:nvPr/>
          </p:nvGrpSpPr>
          <p:grpSpPr bwMode="auto">
            <a:xfrm>
              <a:off x="5007" y="1336"/>
              <a:ext cx="369" cy="254"/>
              <a:chOff x="5007" y="2031"/>
              <a:chExt cx="369" cy="254"/>
            </a:xfrm>
          </p:grpSpPr>
          <p:sp>
            <p:nvSpPr>
              <p:cNvPr id="111" name="AutoShape 36"/>
              <p:cNvSpPr>
                <a:spLocks noChangeArrowheads="1"/>
              </p:cNvSpPr>
              <p:nvPr/>
            </p:nvSpPr>
            <p:spPr bwMode="auto">
              <a:xfrm rot="5400000">
                <a:off x="5091" y="2000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Text Box 37"/>
              <p:cNvSpPr txBox="1">
                <a:spLocks noChangeArrowheads="1"/>
              </p:cNvSpPr>
              <p:nvPr/>
            </p:nvSpPr>
            <p:spPr bwMode="auto">
              <a:xfrm rot="626605">
                <a:off x="5007" y="2031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13" name="Line 38"/>
              <p:cNvSpPr>
                <a:spLocks noChangeShapeType="1"/>
              </p:cNvSpPr>
              <p:nvPr/>
            </p:nvSpPr>
            <p:spPr bwMode="auto">
              <a:xfrm>
                <a:off x="5014" y="2071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39"/>
              <p:cNvSpPr>
                <a:spLocks noChangeShapeType="1"/>
              </p:cNvSpPr>
              <p:nvPr/>
            </p:nvSpPr>
            <p:spPr bwMode="auto">
              <a:xfrm>
                <a:off x="5010" y="222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AutoShape 40"/>
              <p:cNvSpPr>
                <a:spLocks noChangeArrowheads="1"/>
              </p:cNvSpPr>
              <p:nvPr/>
            </p:nvSpPr>
            <p:spPr bwMode="auto">
              <a:xfrm rot="746037">
                <a:off x="5204" y="2136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41"/>
            <p:cNvGrpSpPr>
              <a:grpSpLocks/>
            </p:cNvGrpSpPr>
            <p:nvPr/>
          </p:nvGrpSpPr>
          <p:grpSpPr bwMode="auto">
            <a:xfrm>
              <a:off x="5014" y="1517"/>
              <a:ext cx="366" cy="249"/>
              <a:chOff x="5014" y="2212"/>
              <a:chExt cx="366" cy="249"/>
            </a:xfrm>
          </p:grpSpPr>
          <p:sp>
            <p:nvSpPr>
              <p:cNvPr id="106" name="AutoShape 42"/>
              <p:cNvSpPr>
                <a:spLocks noChangeArrowheads="1"/>
              </p:cNvSpPr>
              <p:nvPr/>
            </p:nvSpPr>
            <p:spPr bwMode="auto">
              <a:xfrm rot="5400000">
                <a:off x="5094" y="217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Text Box 43"/>
              <p:cNvSpPr txBox="1">
                <a:spLocks noChangeArrowheads="1"/>
              </p:cNvSpPr>
              <p:nvPr/>
            </p:nvSpPr>
            <p:spPr bwMode="auto">
              <a:xfrm rot="626605">
                <a:off x="5017" y="221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08" name="Line 44"/>
              <p:cNvSpPr>
                <a:spLocks noChangeShapeType="1"/>
              </p:cNvSpPr>
              <p:nvPr/>
            </p:nvSpPr>
            <p:spPr bwMode="auto">
              <a:xfrm>
                <a:off x="5017" y="224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45"/>
              <p:cNvSpPr>
                <a:spLocks noChangeShapeType="1"/>
              </p:cNvSpPr>
              <p:nvPr/>
            </p:nvSpPr>
            <p:spPr bwMode="auto">
              <a:xfrm>
                <a:off x="5014" y="2398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AutoShape 46"/>
              <p:cNvSpPr>
                <a:spLocks noChangeArrowheads="1"/>
              </p:cNvSpPr>
              <p:nvPr/>
            </p:nvSpPr>
            <p:spPr bwMode="auto">
              <a:xfrm rot="746037">
                <a:off x="5208" y="2312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5014" y="1687"/>
              <a:ext cx="370" cy="255"/>
              <a:chOff x="5014" y="2382"/>
              <a:chExt cx="370" cy="255"/>
            </a:xfrm>
          </p:grpSpPr>
          <p:sp>
            <p:nvSpPr>
              <p:cNvPr id="101" name="AutoShape 48"/>
              <p:cNvSpPr>
                <a:spLocks noChangeArrowheads="1"/>
              </p:cNvSpPr>
              <p:nvPr/>
            </p:nvSpPr>
            <p:spPr bwMode="auto">
              <a:xfrm rot="5400000">
                <a:off x="5098" y="2352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Text Box 49"/>
              <p:cNvSpPr txBox="1">
                <a:spLocks noChangeArrowheads="1"/>
              </p:cNvSpPr>
              <p:nvPr/>
            </p:nvSpPr>
            <p:spPr bwMode="auto">
              <a:xfrm rot="626605">
                <a:off x="5014" y="2382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103" name="Line 50"/>
              <p:cNvSpPr>
                <a:spLocks noChangeShapeType="1"/>
              </p:cNvSpPr>
              <p:nvPr/>
            </p:nvSpPr>
            <p:spPr bwMode="auto">
              <a:xfrm>
                <a:off x="5021" y="2422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51"/>
              <p:cNvSpPr>
                <a:spLocks noChangeShapeType="1"/>
              </p:cNvSpPr>
              <p:nvPr/>
            </p:nvSpPr>
            <p:spPr bwMode="auto">
              <a:xfrm>
                <a:off x="5017" y="2573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AutoShape 52"/>
              <p:cNvSpPr>
                <a:spLocks noChangeArrowheads="1"/>
              </p:cNvSpPr>
              <p:nvPr/>
            </p:nvSpPr>
            <p:spPr bwMode="auto">
              <a:xfrm rot="746037">
                <a:off x="5212" y="2487"/>
                <a:ext cx="132" cy="127"/>
              </a:xfrm>
              <a:prstGeom prst="rightArrow">
                <a:avLst>
                  <a:gd name="adj1" fmla="val 50000"/>
                  <a:gd name="adj2" fmla="val 25984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53"/>
            <p:cNvGrpSpPr>
              <a:grpSpLocks/>
            </p:cNvGrpSpPr>
            <p:nvPr/>
          </p:nvGrpSpPr>
          <p:grpSpPr bwMode="auto">
            <a:xfrm>
              <a:off x="4287" y="1033"/>
              <a:ext cx="369" cy="248"/>
              <a:chOff x="4287" y="1728"/>
              <a:chExt cx="369" cy="248"/>
            </a:xfrm>
          </p:grpSpPr>
          <p:sp>
            <p:nvSpPr>
              <p:cNvPr id="96" name="AutoShape 54"/>
              <p:cNvSpPr>
                <a:spLocks noChangeArrowheads="1"/>
              </p:cNvSpPr>
              <p:nvPr/>
            </p:nvSpPr>
            <p:spPr bwMode="auto">
              <a:xfrm rot="5400000">
                <a:off x="4371" y="1691"/>
                <a:ext cx="210" cy="360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Text Box 55"/>
              <p:cNvSpPr txBox="1">
                <a:spLocks noChangeArrowheads="1"/>
              </p:cNvSpPr>
              <p:nvPr/>
            </p:nvSpPr>
            <p:spPr bwMode="auto">
              <a:xfrm rot="626605">
                <a:off x="4287" y="172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3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98" name="Line 56"/>
              <p:cNvSpPr>
                <a:spLocks noChangeShapeType="1"/>
              </p:cNvSpPr>
              <p:nvPr/>
            </p:nvSpPr>
            <p:spPr bwMode="auto">
              <a:xfrm>
                <a:off x="4294" y="1762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57"/>
              <p:cNvSpPr>
                <a:spLocks noChangeShapeType="1"/>
              </p:cNvSpPr>
              <p:nvPr/>
            </p:nvSpPr>
            <p:spPr bwMode="auto">
              <a:xfrm>
                <a:off x="4290" y="1913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AutoShape 58"/>
              <p:cNvSpPr>
                <a:spLocks noChangeArrowheads="1"/>
              </p:cNvSpPr>
              <p:nvPr/>
            </p:nvSpPr>
            <p:spPr bwMode="auto">
              <a:xfrm rot="746037">
                <a:off x="4484" y="1827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59"/>
            <p:cNvGrpSpPr>
              <a:grpSpLocks/>
            </p:cNvGrpSpPr>
            <p:nvPr/>
          </p:nvGrpSpPr>
          <p:grpSpPr bwMode="auto">
            <a:xfrm>
              <a:off x="4294" y="1208"/>
              <a:ext cx="366" cy="249"/>
              <a:chOff x="4294" y="1903"/>
              <a:chExt cx="366" cy="249"/>
            </a:xfrm>
          </p:grpSpPr>
          <p:sp>
            <p:nvSpPr>
              <p:cNvPr id="91" name="AutoShape 60"/>
              <p:cNvSpPr>
                <a:spLocks noChangeArrowheads="1"/>
              </p:cNvSpPr>
              <p:nvPr/>
            </p:nvSpPr>
            <p:spPr bwMode="auto">
              <a:xfrm rot="5400000">
                <a:off x="4374" y="186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Text Box 61"/>
              <p:cNvSpPr txBox="1">
                <a:spLocks noChangeArrowheads="1"/>
              </p:cNvSpPr>
              <p:nvPr/>
            </p:nvSpPr>
            <p:spPr bwMode="auto">
              <a:xfrm rot="626605">
                <a:off x="4297" y="190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4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93" name="Line 62"/>
              <p:cNvSpPr>
                <a:spLocks noChangeShapeType="1"/>
              </p:cNvSpPr>
              <p:nvPr/>
            </p:nvSpPr>
            <p:spPr bwMode="auto">
              <a:xfrm>
                <a:off x="4297" y="19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63"/>
              <p:cNvSpPr>
                <a:spLocks noChangeShapeType="1"/>
              </p:cNvSpPr>
              <p:nvPr/>
            </p:nvSpPr>
            <p:spPr bwMode="auto">
              <a:xfrm>
                <a:off x="4294" y="2089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AutoShape 64"/>
              <p:cNvSpPr>
                <a:spLocks noChangeArrowheads="1"/>
              </p:cNvSpPr>
              <p:nvPr/>
            </p:nvSpPr>
            <p:spPr bwMode="auto">
              <a:xfrm rot="746037">
                <a:off x="4488" y="2003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2876" y="1496"/>
              <a:ext cx="367" cy="674"/>
              <a:chOff x="2876" y="2191"/>
              <a:chExt cx="367" cy="674"/>
            </a:xfrm>
          </p:grpSpPr>
          <p:sp>
            <p:nvSpPr>
              <p:cNvPr id="86" name="AutoShape 66"/>
              <p:cNvSpPr>
                <a:spLocks noChangeArrowheads="1"/>
              </p:cNvSpPr>
              <p:nvPr/>
            </p:nvSpPr>
            <p:spPr bwMode="auto">
              <a:xfrm rot="5400000">
                <a:off x="2729" y="2350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AutoShape 67"/>
              <p:cNvSpPr>
                <a:spLocks noChangeArrowheads="1"/>
              </p:cNvSpPr>
              <p:nvPr/>
            </p:nvSpPr>
            <p:spPr bwMode="auto">
              <a:xfrm rot="746037">
                <a:off x="2925" y="2654"/>
                <a:ext cx="227" cy="127"/>
              </a:xfrm>
              <a:prstGeom prst="rightArrow">
                <a:avLst>
                  <a:gd name="adj1" fmla="val 50000"/>
                  <a:gd name="adj2" fmla="val 4468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Text Box 68"/>
              <p:cNvSpPr txBox="1">
                <a:spLocks noChangeArrowheads="1"/>
              </p:cNvSpPr>
              <p:nvPr/>
            </p:nvSpPr>
            <p:spPr bwMode="auto">
              <a:xfrm>
                <a:off x="2919" y="23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89" name="Line 69"/>
              <p:cNvSpPr>
                <a:spLocks noChangeShapeType="1"/>
              </p:cNvSpPr>
              <p:nvPr/>
            </p:nvSpPr>
            <p:spPr bwMode="auto">
              <a:xfrm>
                <a:off x="2876" y="2191"/>
                <a:ext cx="363" cy="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70"/>
              <p:cNvSpPr>
                <a:spLocks noChangeShapeType="1"/>
              </p:cNvSpPr>
              <p:nvPr/>
            </p:nvSpPr>
            <p:spPr bwMode="auto">
              <a:xfrm>
                <a:off x="2876" y="2807"/>
                <a:ext cx="363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Group 71"/>
            <p:cNvGrpSpPr>
              <a:grpSpLocks/>
            </p:cNvGrpSpPr>
            <p:nvPr/>
          </p:nvGrpSpPr>
          <p:grpSpPr bwMode="auto">
            <a:xfrm>
              <a:off x="3251" y="2338"/>
              <a:ext cx="366" cy="675"/>
              <a:chOff x="3251" y="3033"/>
              <a:chExt cx="366" cy="675"/>
            </a:xfrm>
          </p:grpSpPr>
          <p:sp>
            <p:nvSpPr>
              <p:cNvPr id="81" name="AutoShape 72"/>
              <p:cNvSpPr>
                <a:spLocks noChangeArrowheads="1"/>
              </p:cNvSpPr>
              <p:nvPr/>
            </p:nvSpPr>
            <p:spPr bwMode="auto">
              <a:xfrm rot="5400000">
                <a:off x="3102" y="3193"/>
                <a:ext cx="675" cy="355"/>
              </a:xfrm>
              <a:prstGeom prst="parallelogram">
                <a:avLst>
                  <a:gd name="adj" fmla="val 1829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AutoShape 73"/>
              <p:cNvSpPr>
                <a:spLocks noChangeArrowheads="1"/>
              </p:cNvSpPr>
              <p:nvPr/>
            </p:nvSpPr>
            <p:spPr bwMode="auto">
              <a:xfrm rot="746037">
                <a:off x="3300" y="3497"/>
                <a:ext cx="226" cy="126"/>
              </a:xfrm>
              <a:prstGeom prst="rightArrow">
                <a:avLst>
                  <a:gd name="adj1" fmla="val 50000"/>
                  <a:gd name="adj2" fmla="val 4484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Text Box 74"/>
              <p:cNvSpPr txBox="1">
                <a:spLocks noChangeArrowheads="1"/>
              </p:cNvSpPr>
              <p:nvPr/>
            </p:nvSpPr>
            <p:spPr bwMode="auto">
              <a:xfrm>
                <a:off x="3293" y="3143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84" name="Line 75"/>
              <p:cNvSpPr>
                <a:spLocks noChangeShapeType="1"/>
              </p:cNvSpPr>
              <p:nvPr/>
            </p:nvSpPr>
            <p:spPr bwMode="auto">
              <a:xfrm>
                <a:off x="3251" y="3033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Line 76"/>
              <p:cNvSpPr>
                <a:spLocks noChangeShapeType="1"/>
              </p:cNvSpPr>
              <p:nvPr/>
            </p:nvSpPr>
            <p:spPr bwMode="auto">
              <a:xfrm>
                <a:off x="3251" y="3650"/>
                <a:ext cx="362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" name="Group 77"/>
            <p:cNvGrpSpPr>
              <a:grpSpLocks/>
            </p:cNvGrpSpPr>
            <p:nvPr/>
          </p:nvGrpSpPr>
          <p:grpSpPr bwMode="auto">
            <a:xfrm>
              <a:off x="2519" y="695"/>
              <a:ext cx="361" cy="674"/>
              <a:chOff x="2519" y="1390"/>
              <a:chExt cx="361" cy="674"/>
            </a:xfrm>
          </p:grpSpPr>
          <p:sp>
            <p:nvSpPr>
              <p:cNvPr id="76" name="AutoShape 78"/>
              <p:cNvSpPr>
                <a:spLocks noChangeArrowheads="1"/>
              </p:cNvSpPr>
              <p:nvPr/>
            </p:nvSpPr>
            <p:spPr bwMode="auto">
              <a:xfrm rot="5400000">
                <a:off x="2366" y="1549"/>
                <a:ext cx="674" cy="355"/>
              </a:xfrm>
              <a:prstGeom prst="parallelogram">
                <a:avLst>
                  <a:gd name="adj" fmla="val 18265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AutoShape 79"/>
              <p:cNvSpPr>
                <a:spLocks noChangeArrowheads="1"/>
              </p:cNvSpPr>
              <p:nvPr/>
            </p:nvSpPr>
            <p:spPr bwMode="auto">
              <a:xfrm rot="746037">
                <a:off x="2563" y="1853"/>
                <a:ext cx="226" cy="127"/>
              </a:xfrm>
              <a:prstGeom prst="rightArrow">
                <a:avLst>
                  <a:gd name="adj1" fmla="val 50000"/>
                  <a:gd name="adj2" fmla="val 44488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Text Box 80"/>
              <p:cNvSpPr txBox="1">
                <a:spLocks noChangeArrowheads="1"/>
              </p:cNvSpPr>
              <p:nvPr/>
            </p:nvSpPr>
            <p:spPr bwMode="auto">
              <a:xfrm>
                <a:off x="2567" y="1500"/>
                <a:ext cx="260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</a:t>
                </a:r>
              </a:p>
              <a:p>
                <a:pPr>
                  <a:lnSpc>
                    <a:spcPct val="8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文</a:t>
                </a:r>
              </a:p>
            </p:txBody>
          </p:sp>
          <p:sp>
            <p:nvSpPr>
              <p:cNvPr id="79" name="Line 81"/>
              <p:cNvSpPr>
                <a:spLocks noChangeShapeType="1"/>
              </p:cNvSpPr>
              <p:nvPr/>
            </p:nvSpPr>
            <p:spPr bwMode="auto">
              <a:xfrm>
                <a:off x="2519" y="1395"/>
                <a:ext cx="357" cy="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82"/>
              <p:cNvSpPr>
                <a:spLocks noChangeShapeType="1"/>
              </p:cNvSpPr>
              <p:nvPr/>
            </p:nvSpPr>
            <p:spPr bwMode="auto">
              <a:xfrm>
                <a:off x="2519" y="2001"/>
                <a:ext cx="357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" name="Line 83"/>
            <p:cNvSpPr>
              <a:spLocks noChangeShapeType="1"/>
            </p:cNvSpPr>
            <p:nvPr/>
          </p:nvSpPr>
          <p:spPr bwMode="auto">
            <a:xfrm>
              <a:off x="1189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84"/>
            <p:cNvSpPr>
              <a:spLocks noChangeShapeType="1"/>
            </p:cNvSpPr>
            <p:nvPr/>
          </p:nvSpPr>
          <p:spPr bwMode="auto">
            <a:xfrm>
              <a:off x="1552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85"/>
            <p:cNvSpPr txBox="1">
              <a:spLocks noChangeArrowheads="1"/>
            </p:cNvSpPr>
            <p:nvPr/>
          </p:nvSpPr>
          <p:spPr bwMode="auto">
            <a:xfrm>
              <a:off x="703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D </a:t>
              </a:r>
            </a:p>
          </p:txBody>
        </p:sp>
        <p:sp>
          <p:nvSpPr>
            <p:cNvPr id="20" name="Text Box 86"/>
            <p:cNvSpPr txBox="1">
              <a:spLocks noChangeArrowheads="1"/>
            </p:cNvSpPr>
            <p:nvPr/>
          </p:nvSpPr>
          <p:spPr bwMode="auto">
            <a:xfrm>
              <a:off x="2402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21" name="Text Box 87"/>
            <p:cNvSpPr txBox="1">
              <a:spLocks noChangeArrowheads="1"/>
            </p:cNvSpPr>
            <p:nvPr/>
          </p:nvSpPr>
          <p:spPr bwMode="auto">
            <a:xfrm>
              <a:off x="4171" y="3081"/>
              <a:ext cx="1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333399"/>
                  </a:solidFill>
                  <a:ea typeface="黑体" pitchFamily="2" charset="-122"/>
                </a:rPr>
                <a:t>A      B      C      D</a:t>
              </a:r>
            </a:p>
          </p:txBody>
        </p:sp>
        <p:sp>
          <p:nvSpPr>
            <p:cNvPr id="22" name="Line 88"/>
            <p:cNvSpPr>
              <a:spLocks noChangeShapeType="1"/>
            </p:cNvSpPr>
            <p:nvPr/>
          </p:nvSpPr>
          <p:spPr bwMode="auto">
            <a:xfrm>
              <a:off x="826" y="779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89"/>
            <p:cNvSpPr>
              <a:spLocks noChangeShapeType="1"/>
            </p:cNvSpPr>
            <p:nvPr/>
          </p:nvSpPr>
          <p:spPr bwMode="auto">
            <a:xfrm>
              <a:off x="1189" y="948"/>
              <a:ext cx="363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90"/>
            <p:cNvSpPr>
              <a:spLocks noChangeShapeType="1"/>
            </p:cNvSpPr>
            <p:nvPr/>
          </p:nvSpPr>
          <p:spPr bwMode="auto">
            <a:xfrm>
              <a:off x="1552" y="1116"/>
              <a:ext cx="362" cy="4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91"/>
            <p:cNvSpPr>
              <a:spLocks noChangeShapeType="1"/>
            </p:cNvSpPr>
            <p:nvPr/>
          </p:nvSpPr>
          <p:spPr bwMode="auto">
            <a:xfrm flipH="1">
              <a:off x="826" y="1369"/>
              <a:ext cx="1088" cy="169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92"/>
            <p:cNvSpPr txBox="1">
              <a:spLocks noChangeArrowheads="1"/>
            </p:cNvSpPr>
            <p:nvPr/>
          </p:nvSpPr>
          <p:spPr bwMode="auto">
            <a:xfrm>
              <a:off x="2713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solidFill>
                    <a:srgbClr val="333399"/>
                  </a:solidFill>
                  <a:ea typeface="黑体" pitchFamily="2" charset="-122"/>
                </a:rPr>
                <a:t>报文交换</a:t>
              </a:r>
            </a:p>
          </p:txBody>
        </p:sp>
        <p:sp>
          <p:nvSpPr>
            <p:cNvPr id="27" name="Text Box 93"/>
            <p:cNvSpPr txBox="1">
              <a:spLocks noChangeArrowheads="1"/>
            </p:cNvSpPr>
            <p:nvPr/>
          </p:nvSpPr>
          <p:spPr bwMode="auto">
            <a:xfrm>
              <a:off x="975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solidFill>
                    <a:srgbClr val="333399"/>
                  </a:solidFill>
                  <a:ea typeface="黑体" pitchFamily="2" charset="-122"/>
                </a:rPr>
                <a:t>电路交换</a:t>
              </a:r>
            </a:p>
          </p:txBody>
        </p:sp>
        <p:sp>
          <p:nvSpPr>
            <p:cNvPr id="28" name="Text Box 94"/>
            <p:cNvSpPr txBox="1">
              <a:spLocks noChangeArrowheads="1"/>
            </p:cNvSpPr>
            <p:nvPr/>
          </p:nvSpPr>
          <p:spPr bwMode="auto">
            <a:xfrm>
              <a:off x="4446" y="416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solidFill>
                    <a:srgbClr val="333399"/>
                  </a:solidFill>
                  <a:ea typeface="黑体" pitchFamily="2" charset="-122"/>
                </a:rPr>
                <a:t>分组交换</a:t>
              </a:r>
            </a:p>
          </p:txBody>
        </p:sp>
        <p:sp>
          <p:nvSpPr>
            <p:cNvPr id="29" name="Line 95"/>
            <p:cNvSpPr>
              <a:spLocks noChangeShapeType="1"/>
            </p:cNvSpPr>
            <p:nvPr/>
          </p:nvSpPr>
          <p:spPr bwMode="auto">
            <a:xfrm>
              <a:off x="2212" y="990"/>
              <a:ext cx="0" cy="172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96"/>
            <p:cNvSpPr txBox="1">
              <a:spLocks noChangeArrowheads="1"/>
            </p:cNvSpPr>
            <p:nvPr/>
          </p:nvSpPr>
          <p:spPr bwMode="auto">
            <a:xfrm>
              <a:off x="2148" y="2728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rgbClr val="333399"/>
                  </a:solidFill>
                  <a:ea typeface="黑体" pitchFamily="2" charset="-122"/>
                </a:rPr>
                <a:t>t</a:t>
              </a:r>
            </a:p>
          </p:txBody>
        </p:sp>
        <p:grpSp>
          <p:nvGrpSpPr>
            <p:cNvPr id="31" name="Group 97"/>
            <p:cNvGrpSpPr>
              <a:grpSpLocks/>
            </p:cNvGrpSpPr>
            <p:nvPr/>
          </p:nvGrpSpPr>
          <p:grpSpPr bwMode="auto">
            <a:xfrm>
              <a:off x="113" y="778"/>
              <a:ext cx="699" cy="775"/>
              <a:chOff x="113" y="1473"/>
              <a:chExt cx="699" cy="775"/>
            </a:xfrm>
          </p:grpSpPr>
          <p:sp>
            <p:nvSpPr>
              <p:cNvPr id="72" name="Line 98"/>
              <p:cNvSpPr>
                <a:spLocks noChangeShapeType="1"/>
              </p:cNvSpPr>
              <p:nvPr/>
            </p:nvSpPr>
            <p:spPr bwMode="auto">
              <a:xfrm>
                <a:off x="630" y="1474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Line 99"/>
              <p:cNvSpPr>
                <a:spLocks noChangeShapeType="1"/>
              </p:cNvSpPr>
              <p:nvPr/>
            </p:nvSpPr>
            <p:spPr bwMode="auto">
              <a:xfrm>
                <a:off x="622" y="2248"/>
                <a:ext cx="181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100"/>
              <p:cNvSpPr txBox="1">
                <a:spLocks noChangeArrowheads="1"/>
              </p:cNvSpPr>
              <p:nvPr/>
            </p:nvSpPr>
            <p:spPr bwMode="auto">
              <a:xfrm>
                <a:off x="113" y="17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连接建立</a:t>
                </a:r>
              </a:p>
            </p:txBody>
          </p:sp>
          <p:sp>
            <p:nvSpPr>
              <p:cNvPr id="75" name="Line 101"/>
              <p:cNvSpPr>
                <a:spLocks noChangeShapeType="1"/>
              </p:cNvSpPr>
              <p:nvPr/>
            </p:nvSpPr>
            <p:spPr bwMode="auto">
              <a:xfrm>
                <a:off x="720" y="1473"/>
                <a:ext cx="0" cy="759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Group 102"/>
            <p:cNvGrpSpPr>
              <a:grpSpLocks/>
            </p:cNvGrpSpPr>
            <p:nvPr/>
          </p:nvGrpSpPr>
          <p:grpSpPr bwMode="auto">
            <a:xfrm>
              <a:off x="113" y="1551"/>
              <a:ext cx="699" cy="637"/>
              <a:chOff x="113" y="2246"/>
              <a:chExt cx="699" cy="637"/>
            </a:xfrm>
          </p:grpSpPr>
          <p:sp>
            <p:nvSpPr>
              <p:cNvPr id="69" name="Line 103"/>
              <p:cNvSpPr>
                <a:spLocks noChangeShapeType="1"/>
              </p:cNvSpPr>
              <p:nvPr/>
            </p:nvSpPr>
            <p:spPr bwMode="auto">
              <a:xfrm>
                <a:off x="630" y="288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Text Box 104"/>
              <p:cNvSpPr txBox="1">
                <a:spLocks noChangeArrowheads="1"/>
              </p:cNvSpPr>
              <p:nvPr/>
            </p:nvSpPr>
            <p:spPr bwMode="auto">
              <a:xfrm>
                <a:off x="113" y="2405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数据传送</a:t>
                </a:r>
              </a:p>
            </p:txBody>
          </p:sp>
          <p:sp>
            <p:nvSpPr>
              <p:cNvPr id="71" name="Line 105"/>
              <p:cNvSpPr>
                <a:spLocks noChangeShapeType="1"/>
              </p:cNvSpPr>
              <p:nvPr/>
            </p:nvSpPr>
            <p:spPr bwMode="auto">
              <a:xfrm>
                <a:off x="721" y="2246"/>
                <a:ext cx="0" cy="63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" name="Freeform 106"/>
            <p:cNvSpPr>
              <a:spLocks/>
            </p:cNvSpPr>
            <p:nvPr/>
          </p:nvSpPr>
          <p:spPr bwMode="auto">
            <a:xfrm>
              <a:off x="823" y="695"/>
              <a:ext cx="3" cy="240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42"/>
                </a:cxn>
              </a:cxnLst>
              <a:rect l="0" t="0" r="r" b="b"/>
              <a:pathLst>
                <a:path w="3" h="2742">
                  <a:moveTo>
                    <a:pt x="3" y="0"/>
                  </a:moveTo>
                  <a:lnTo>
                    <a:pt x="0" y="274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Freeform 107"/>
            <p:cNvSpPr>
              <a:spLocks/>
            </p:cNvSpPr>
            <p:nvPr/>
          </p:nvSpPr>
          <p:spPr bwMode="auto">
            <a:xfrm>
              <a:off x="3614" y="681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108"/>
            <p:cNvSpPr>
              <a:spLocks noChangeShapeType="1"/>
            </p:cNvSpPr>
            <p:nvPr/>
          </p:nvSpPr>
          <p:spPr bwMode="auto">
            <a:xfrm>
              <a:off x="5379" y="712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109"/>
            <p:cNvSpPr>
              <a:spLocks noChangeShapeType="1"/>
            </p:cNvSpPr>
            <p:nvPr/>
          </p:nvSpPr>
          <p:spPr bwMode="auto">
            <a:xfrm>
              <a:off x="5015" y="703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10"/>
            <p:cNvSpPr>
              <a:spLocks noChangeShapeType="1"/>
            </p:cNvSpPr>
            <p:nvPr/>
          </p:nvSpPr>
          <p:spPr bwMode="auto">
            <a:xfrm>
              <a:off x="4657" y="695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11"/>
            <p:cNvSpPr>
              <a:spLocks noChangeShapeType="1"/>
            </p:cNvSpPr>
            <p:nvPr/>
          </p:nvSpPr>
          <p:spPr bwMode="auto">
            <a:xfrm>
              <a:off x="2517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112"/>
            <p:cNvSpPr>
              <a:spLocks noChangeShapeType="1"/>
            </p:cNvSpPr>
            <p:nvPr/>
          </p:nvSpPr>
          <p:spPr bwMode="auto">
            <a:xfrm>
              <a:off x="2876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113"/>
            <p:cNvSpPr>
              <a:spLocks noChangeShapeType="1"/>
            </p:cNvSpPr>
            <p:nvPr/>
          </p:nvSpPr>
          <p:spPr bwMode="auto">
            <a:xfrm>
              <a:off x="3250" y="681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" name="Group 114"/>
            <p:cNvGrpSpPr>
              <a:grpSpLocks/>
            </p:cNvGrpSpPr>
            <p:nvPr/>
          </p:nvGrpSpPr>
          <p:grpSpPr bwMode="auto">
            <a:xfrm>
              <a:off x="817" y="1543"/>
              <a:ext cx="1113" cy="806"/>
              <a:chOff x="817" y="2238"/>
              <a:chExt cx="1113" cy="806"/>
            </a:xfrm>
          </p:grpSpPr>
          <p:sp>
            <p:nvSpPr>
              <p:cNvPr id="63" name="Line 115"/>
              <p:cNvSpPr>
                <a:spLocks noChangeShapeType="1"/>
              </p:cNvSpPr>
              <p:nvPr/>
            </p:nvSpPr>
            <p:spPr bwMode="auto">
              <a:xfrm>
                <a:off x="841" y="2268"/>
                <a:ext cx="1089" cy="168"/>
              </a:xfrm>
              <a:prstGeom prst="line">
                <a:avLst/>
              </a:prstGeom>
              <a:noFill/>
              <a:ln w="19050">
                <a:noFill/>
                <a:round/>
                <a:headEnd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AutoShape 116"/>
              <p:cNvSpPr>
                <a:spLocks noChangeArrowheads="1"/>
              </p:cNvSpPr>
              <p:nvPr/>
            </p:nvSpPr>
            <p:spPr bwMode="auto">
              <a:xfrm rot="5400000">
                <a:off x="976" y="2091"/>
                <a:ext cx="793" cy="1092"/>
              </a:xfrm>
              <a:prstGeom prst="parallelogram">
                <a:avLst>
                  <a:gd name="adj" fmla="val 21176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Text Box 117"/>
              <p:cNvSpPr txBox="1">
                <a:spLocks noChangeArrowheads="1"/>
              </p:cNvSpPr>
              <p:nvPr/>
            </p:nvSpPr>
            <p:spPr bwMode="auto">
              <a:xfrm>
                <a:off x="1113" y="2429"/>
                <a:ext cx="4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报文</a:t>
                </a:r>
              </a:p>
            </p:txBody>
          </p:sp>
          <p:sp>
            <p:nvSpPr>
              <p:cNvPr id="66" name="AutoShape 118"/>
              <p:cNvSpPr>
                <a:spLocks noChangeArrowheads="1"/>
              </p:cNvSpPr>
              <p:nvPr/>
            </p:nvSpPr>
            <p:spPr bwMode="auto">
              <a:xfrm rot="746037">
                <a:off x="1174" y="2745"/>
                <a:ext cx="408" cy="127"/>
              </a:xfrm>
              <a:prstGeom prst="rightArrow">
                <a:avLst>
                  <a:gd name="adj1" fmla="val 50000"/>
                  <a:gd name="adj2" fmla="val 80315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119"/>
              <p:cNvSpPr>
                <a:spLocks noChangeShapeType="1"/>
              </p:cNvSpPr>
              <p:nvPr/>
            </p:nvSpPr>
            <p:spPr bwMode="auto">
              <a:xfrm>
                <a:off x="823" y="2238"/>
                <a:ext cx="1094" cy="1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120"/>
              <p:cNvSpPr>
                <a:spLocks noChangeShapeType="1"/>
              </p:cNvSpPr>
              <p:nvPr/>
            </p:nvSpPr>
            <p:spPr bwMode="auto">
              <a:xfrm>
                <a:off x="817" y="2865"/>
                <a:ext cx="1100" cy="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" name="Group 121"/>
            <p:cNvGrpSpPr>
              <a:grpSpLocks/>
            </p:cNvGrpSpPr>
            <p:nvPr/>
          </p:nvGrpSpPr>
          <p:grpSpPr bwMode="auto">
            <a:xfrm>
              <a:off x="4286" y="863"/>
              <a:ext cx="367" cy="243"/>
              <a:chOff x="4286" y="1558"/>
              <a:chExt cx="367" cy="243"/>
            </a:xfrm>
          </p:grpSpPr>
          <p:sp>
            <p:nvSpPr>
              <p:cNvPr id="58" name="AutoShape 122"/>
              <p:cNvSpPr>
                <a:spLocks noChangeArrowheads="1"/>
              </p:cNvSpPr>
              <p:nvPr/>
            </p:nvSpPr>
            <p:spPr bwMode="auto">
              <a:xfrm rot="5400000">
                <a:off x="4367" y="151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Text Box 123"/>
              <p:cNvSpPr txBox="1">
                <a:spLocks noChangeArrowheads="1"/>
              </p:cNvSpPr>
              <p:nvPr/>
            </p:nvSpPr>
            <p:spPr bwMode="auto">
              <a:xfrm rot="626605">
                <a:off x="4295" y="1558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2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60" name="Line 124"/>
              <p:cNvSpPr>
                <a:spLocks noChangeShapeType="1"/>
              </p:cNvSpPr>
              <p:nvPr/>
            </p:nvSpPr>
            <p:spPr bwMode="auto">
              <a:xfrm>
                <a:off x="4286" y="17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AutoShape 125"/>
              <p:cNvSpPr>
                <a:spLocks noChangeArrowheads="1"/>
              </p:cNvSpPr>
              <p:nvPr/>
            </p:nvSpPr>
            <p:spPr bwMode="auto">
              <a:xfrm rot="746037">
                <a:off x="4481" y="1652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126"/>
              <p:cNvSpPr>
                <a:spLocks noChangeShapeType="1"/>
              </p:cNvSpPr>
              <p:nvPr/>
            </p:nvSpPr>
            <p:spPr bwMode="auto">
              <a:xfrm>
                <a:off x="4290" y="158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Group 127"/>
            <p:cNvGrpSpPr>
              <a:grpSpLocks/>
            </p:cNvGrpSpPr>
            <p:nvPr/>
          </p:nvGrpSpPr>
          <p:grpSpPr bwMode="auto">
            <a:xfrm>
              <a:off x="4291" y="678"/>
              <a:ext cx="366" cy="249"/>
              <a:chOff x="4291" y="1373"/>
              <a:chExt cx="366" cy="249"/>
            </a:xfrm>
          </p:grpSpPr>
          <p:sp>
            <p:nvSpPr>
              <p:cNvPr id="53" name="AutoShape 128"/>
              <p:cNvSpPr>
                <a:spLocks noChangeArrowheads="1"/>
              </p:cNvSpPr>
              <p:nvPr/>
            </p:nvSpPr>
            <p:spPr bwMode="auto">
              <a:xfrm rot="5400000">
                <a:off x="4371" y="1337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Text Box 129"/>
              <p:cNvSpPr txBox="1">
                <a:spLocks noChangeArrowheads="1"/>
              </p:cNvSpPr>
              <p:nvPr/>
            </p:nvSpPr>
            <p:spPr bwMode="auto">
              <a:xfrm rot="626605">
                <a:off x="4294" y="1373"/>
                <a:ext cx="2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solidFill>
                      <a:srgbClr val="333399"/>
                    </a:solidFill>
                    <a:ea typeface="黑体" pitchFamily="2" charset="-122"/>
                  </a:rPr>
                  <a:t>P</a:t>
                </a:r>
                <a:r>
                  <a:rPr kumimoji="1" lang="en-US" altLang="zh-CN" baseline="-25000">
                    <a:solidFill>
                      <a:srgbClr val="333399"/>
                    </a:solidFill>
                    <a:ea typeface="黑体" pitchFamily="2" charset="-122"/>
                  </a:rPr>
                  <a:t>1</a:t>
                </a:r>
                <a:endParaRPr kumimoji="1" lang="en-US" altLang="zh-CN">
                  <a:solidFill>
                    <a:srgbClr val="333399"/>
                  </a:solidFill>
                  <a:ea typeface="黑体" pitchFamily="2" charset="-122"/>
                </a:endParaRPr>
              </a:p>
            </p:txBody>
          </p:sp>
          <p:sp>
            <p:nvSpPr>
              <p:cNvPr id="55" name="Line 130"/>
              <p:cNvSpPr>
                <a:spLocks noChangeShapeType="1"/>
              </p:cNvSpPr>
              <p:nvPr/>
            </p:nvSpPr>
            <p:spPr bwMode="auto">
              <a:xfrm>
                <a:off x="4295" y="1407"/>
                <a:ext cx="362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131"/>
              <p:cNvSpPr>
                <a:spLocks noChangeShapeType="1"/>
              </p:cNvSpPr>
              <p:nvPr/>
            </p:nvSpPr>
            <p:spPr bwMode="auto">
              <a:xfrm>
                <a:off x="4291" y="1558"/>
                <a:ext cx="363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AutoShape 132"/>
              <p:cNvSpPr>
                <a:spLocks noChangeArrowheads="1"/>
              </p:cNvSpPr>
              <p:nvPr/>
            </p:nvSpPr>
            <p:spPr bwMode="auto">
              <a:xfrm rot="746037">
                <a:off x="4485" y="1472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" name="Line 133"/>
            <p:cNvSpPr>
              <a:spLocks noChangeShapeType="1"/>
            </p:cNvSpPr>
            <p:nvPr/>
          </p:nvSpPr>
          <p:spPr bwMode="auto">
            <a:xfrm>
              <a:off x="4289" y="687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34"/>
            <p:cNvSpPr>
              <a:spLocks noChangeShapeType="1"/>
            </p:cNvSpPr>
            <p:nvPr/>
          </p:nvSpPr>
          <p:spPr bwMode="auto">
            <a:xfrm>
              <a:off x="823" y="2240"/>
              <a:ext cx="363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135"/>
            <p:cNvSpPr>
              <a:spLocks noChangeShapeType="1"/>
            </p:cNvSpPr>
            <p:nvPr/>
          </p:nvSpPr>
          <p:spPr bwMode="auto">
            <a:xfrm>
              <a:off x="1192" y="2354"/>
              <a:ext cx="357" cy="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36"/>
            <p:cNvSpPr>
              <a:spLocks noChangeShapeType="1"/>
            </p:cNvSpPr>
            <p:nvPr/>
          </p:nvSpPr>
          <p:spPr bwMode="auto">
            <a:xfrm>
              <a:off x="1549" y="2474"/>
              <a:ext cx="362" cy="5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" name="Group 137"/>
            <p:cNvGrpSpPr>
              <a:grpSpLocks/>
            </p:cNvGrpSpPr>
            <p:nvPr/>
          </p:nvGrpSpPr>
          <p:grpSpPr bwMode="auto">
            <a:xfrm>
              <a:off x="113" y="2174"/>
              <a:ext cx="692" cy="373"/>
              <a:chOff x="113" y="2869"/>
              <a:chExt cx="692" cy="373"/>
            </a:xfrm>
          </p:grpSpPr>
          <p:sp>
            <p:nvSpPr>
              <p:cNvPr id="50" name="Line 138"/>
              <p:cNvSpPr>
                <a:spLocks noChangeShapeType="1"/>
              </p:cNvSpPr>
              <p:nvPr/>
            </p:nvSpPr>
            <p:spPr bwMode="auto">
              <a:xfrm>
                <a:off x="615" y="3241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139"/>
              <p:cNvSpPr>
                <a:spLocks noChangeShapeType="1"/>
              </p:cNvSpPr>
              <p:nvPr/>
            </p:nvSpPr>
            <p:spPr bwMode="auto">
              <a:xfrm>
                <a:off x="721" y="2869"/>
                <a:ext cx="0" cy="373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140"/>
              <p:cNvSpPr txBox="1">
                <a:spLocks noChangeArrowheads="1"/>
              </p:cNvSpPr>
              <p:nvPr/>
            </p:nvSpPr>
            <p:spPr bwMode="auto">
              <a:xfrm>
                <a:off x="113" y="2933"/>
                <a:ext cx="692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kumimoji="1" lang="zh-CN" altLang="en-US">
                    <a:solidFill>
                      <a:srgbClr val="333399"/>
                    </a:solidFill>
                    <a:ea typeface="黑体" pitchFamily="2" charset="-122"/>
                  </a:rPr>
                  <a:t>连接释放</a:t>
                </a:r>
              </a:p>
            </p:txBody>
          </p:sp>
        </p:grpSp>
        <p:sp>
          <p:nvSpPr>
            <p:cNvPr id="49" name="Freeform 141"/>
            <p:cNvSpPr>
              <a:spLocks/>
            </p:cNvSpPr>
            <p:nvPr/>
          </p:nvSpPr>
          <p:spPr bwMode="auto">
            <a:xfrm>
              <a:off x="1915" y="709"/>
              <a:ext cx="3" cy="240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36"/>
                </a:cxn>
              </a:cxnLst>
              <a:rect l="0" t="0" r="r" b="b"/>
              <a:pathLst>
                <a:path w="3" h="2736">
                  <a:moveTo>
                    <a:pt x="3" y="0"/>
                  </a:moveTo>
                  <a:lnTo>
                    <a:pt x="0" y="273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30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501650"/>
            <a:ext cx="8229600" cy="3719513"/>
          </a:xfrm>
        </p:spPr>
        <p:txBody>
          <a:bodyPr/>
          <a:lstStyle/>
          <a:p>
            <a:pPr algn="l"/>
            <a:r>
              <a:rPr lang="en-US" altLang="zh-CN" dirty="0" smtClean="0"/>
              <a:t>4 </a:t>
            </a:r>
            <a:r>
              <a:rPr lang="en-US" altLang="zh-CN" dirty="0"/>
              <a:t>1-21(P31)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5 </a:t>
            </a:r>
            <a:r>
              <a:rPr lang="en-US" altLang="zh-CN" dirty="0"/>
              <a:t>1-24(</a:t>
            </a:r>
            <a:r>
              <a:rPr lang="zh-CN" altLang="en-US" dirty="0"/>
              <a:t>见</a:t>
            </a:r>
            <a:r>
              <a:rPr lang="en-US" altLang="zh-CN" dirty="0"/>
              <a:t>PPT)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836613"/>
            <a:ext cx="7308850" cy="633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物理层：负责在物理介质中传输数据的比特流。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数据链路层：将位组成叫做</a:t>
            </a:r>
            <a:r>
              <a:rPr lang="zh-CN" altLang="en-US" sz="2400" b="1">
                <a:solidFill>
                  <a:srgbClr val="FF0066"/>
                </a:solidFill>
                <a:latin typeface="Times New Roman" pitchFamily="18" charset="0"/>
              </a:rPr>
              <a:t>帧</a:t>
            </a:r>
            <a:r>
              <a:rPr lang="en-US" altLang="zh-CN" sz="2400" b="1">
                <a:solidFill>
                  <a:srgbClr val="FF0066"/>
                </a:solidFill>
                <a:latin typeface="Times New Roman" pitchFamily="18" charset="0"/>
              </a:rPr>
              <a:t>(frame)</a:t>
            </a:r>
            <a:r>
              <a:rPr lang="zh-CN" altLang="en-US" sz="2400" b="1">
                <a:latin typeface="Times New Roman" pitchFamily="18" charset="0"/>
              </a:rPr>
              <a:t>的逻辑单元。在两个邻近站点之间无差错地进行点对点的</a:t>
            </a:r>
            <a:r>
              <a:rPr lang="zh-CN" altLang="en-US" sz="2400" b="1">
                <a:solidFill>
                  <a:srgbClr val="FF0066"/>
                </a:solidFill>
                <a:latin typeface="Times New Roman" pitchFamily="18" charset="0"/>
              </a:rPr>
              <a:t>帧</a:t>
            </a:r>
            <a:r>
              <a:rPr lang="zh-CN" altLang="en-US" sz="2400" b="1">
                <a:latin typeface="Times New Roman" pitchFamily="18" charset="0"/>
              </a:rPr>
              <a:t>传输。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网络层：选择合适路由，在源站点和目的站点之间点对点地传输</a:t>
            </a:r>
            <a:r>
              <a:rPr lang="zh-CN" altLang="en-US" sz="2400" b="1">
                <a:solidFill>
                  <a:srgbClr val="FF0066"/>
                </a:solidFill>
                <a:latin typeface="Times New Roman" pitchFamily="18" charset="0"/>
              </a:rPr>
              <a:t>数据包</a:t>
            </a:r>
            <a:r>
              <a:rPr lang="en-US" altLang="zh-CN" sz="2400" b="1">
                <a:solidFill>
                  <a:srgbClr val="FF0066"/>
                </a:solidFill>
                <a:latin typeface="Times New Roman" pitchFamily="18" charset="0"/>
              </a:rPr>
              <a:t>(packet)</a:t>
            </a:r>
            <a:r>
              <a:rPr lang="en-US" altLang="zh-CN" sz="2400" b="1">
                <a:latin typeface="Times New Roman" pitchFamily="18" charset="0"/>
              </a:rPr>
              <a:t> </a:t>
            </a:r>
            <a:r>
              <a:rPr lang="zh-CN" altLang="en-US" sz="2400" b="1">
                <a:latin typeface="Times New Roman" pitchFamily="18" charset="0"/>
              </a:rPr>
              <a:t>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运输层：向相互通信的进程提供端到端的可靠通信。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会话层：对数据传输进行管理。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表示层：该层关心两个系统间所交换的信息的语法（格式）和语义（意义）。 在表示层对数据进行压缩</a:t>
            </a:r>
            <a:r>
              <a:rPr lang="en-US" altLang="zh-CN" sz="2400" b="1">
                <a:latin typeface="Times New Roman" pitchFamily="18" charset="0"/>
              </a:rPr>
              <a:t>(compress)</a:t>
            </a:r>
            <a:r>
              <a:rPr lang="zh-CN" altLang="en-US" sz="2400" b="1">
                <a:latin typeface="Times New Roman" pitchFamily="18" charset="0"/>
              </a:rPr>
              <a:t>和解压缩</a:t>
            </a:r>
            <a:r>
              <a:rPr lang="en-US" altLang="zh-CN" sz="2400" b="1">
                <a:latin typeface="Times New Roman" pitchFamily="18" charset="0"/>
              </a:rPr>
              <a:t>(decompress)</a:t>
            </a:r>
            <a:r>
              <a:rPr lang="zh-CN" altLang="en-US" sz="2400" b="1">
                <a:latin typeface="Times New Roman" pitchFamily="18" charset="0"/>
              </a:rPr>
              <a:t>、加密</a:t>
            </a:r>
            <a:r>
              <a:rPr lang="en-US" altLang="zh-CN" sz="2400" b="1">
                <a:latin typeface="Times New Roman" pitchFamily="18" charset="0"/>
              </a:rPr>
              <a:t>(encrypt)</a:t>
            </a:r>
            <a:r>
              <a:rPr lang="zh-CN" altLang="en-US" sz="2400" b="1">
                <a:latin typeface="Times New Roman" pitchFamily="18" charset="0"/>
              </a:rPr>
              <a:t>和解密</a:t>
            </a:r>
            <a:r>
              <a:rPr lang="en-US" altLang="zh-CN" sz="2400" b="1">
                <a:latin typeface="Times New Roman" pitchFamily="18" charset="0"/>
              </a:rPr>
              <a:t>(decrypt)</a:t>
            </a:r>
            <a:r>
              <a:rPr lang="zh-CN" altLang="en-US" sz="2400" b="1">
                <a:latin typeface="Times New Roman" pitchFamily="18" charset="0"/>
              </a:rPr>
              <a:t>。</a:t>
            </a:r>
          </a:p>
          <a:p>
            <a:pPr marL="457200" indent="-457200">
              <a:buSzPct val="150000"/>
              <a:buFontTx/>
              <a:buChar char="•"/>
            </a:pPr>
            <a:r>
              <a:rPr lang="zh-CN" altLang="en-US" sz="2400" b="1">
                <a:latin typeface="Times New Roman" pitchFamily="18" charset="0"/>
              </a:rPr>
              <a:t>应用层：使用户（人或软件）都可以访问网络。</a:t>
            </a:r>
            <a:r>
              <a:rPr lang="en-US" altLang="zh-CN" sz="2400" b="1">
                <a:latin typeface="Times New Roman" pitchFamily="18" charset="0"/>
              </a:rPr>
              <a:t>(</a:t>
            </a:r>
            <a:r>
              <a:rPr lang="zh-CN" altLang="en-US" sz="2400" b="1">
                <a:latin typeface="Times New Roman" pitchFamily="18" charset="0"/>
              </a:rPr>
              <a:t>如通过应用层访问网络、使用邮件服务和目录服务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0"/>
            <a:ext cx="83169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200"/>
              <a:t> </a:t>
            </a:r>
            <a:r>
              <a:rPr lang="en-US" altLang="zh-CN" sz="3200" b="1"/>
              <a:t> </a:t>
            </a:r>
            <a:r>
              <a:rPr lang="zh-CN" altLang="en-US" sz="3200" b="1"/>
              <a:t>例</a:t>
            </a:r>
            <a:r>
              <a:rPr lang="en-US" altLang="zh-CN" sz="3200" b="1"/>
              <a:t>:ISO</a:t>
            </a:r>
            <a:r>
              <a:rPr lang="zh-CN" altLang="en-US" sz="3200" b="1"/>
              <a:t>的</a:t>
            </a:r>
            <a:r>
              <a:rPr lang="en-US" altLang="zh-CN" sz="3200" b="1"/>
              <a:t>OSI</a:t>
            </a:r>
            <a:r>
              <a:rPr lang="zh-CN" altLang="en-US" sz="3200" b="1"/>
              <a:t>七层参考模型</a:t>
            </a: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/>
        </p:nvGraphicFramePr>
        <p:xfrm>
          <a:off x="7380288" y="1268413"/>
          <a:ext cx="1519237" cy="4358640"/>
        </p:xfrm>
        <a:graphic>
          <a:graphicData uri="http://schemas.openxmlformats.org/drawingml/2006/table">
            <a:tbl>
              <a:tblPr/>
              <a:tblGrid>
                <a:gridCol w="1519237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应用层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表示层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会话层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运输层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网络层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数据链路层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物理层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586</Words>
  <Application>Microsoft Office PowerPoint</Application>
  <PresentationFormat>全屏显示(4:3)</PresentationFormat>
  <Paragraphs>142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宋体</vt:lpstr>
      <vt:lpstr>Arial</vt:lpstr>
      <vt:lpstr>Tahoma</vt:lpstr>
      <vt:lpstr>Times New Roman</vt:lpstr>
      <vt:lpstr>默认设计模板</vt:lpstr>
      <vt:lpstr>第 1 章 概述(P36)</vt:lpstr>
      <vt:lpstr>PowerPoint 演示文稿</vt:lpstr>
      <vt:lpstr>PowerPoint 演示文稿</vt:lpstr>
      <vt:lpstr>时延(delay 或 latency)</vt:lpstr>
      <vt:lpstr>时延(delay 或 latency)</vt:lpstr>
      <vt:lpstr>时延(delay 或 latency)</vt:lpstr>
      <vt:lpstr>四种时延所产生的地方 </vt:lpstr>
      <vt:lpstr>PowerPoint 演示文稿</vt:lpstr>
      <vt:lpstr>4 1-21(P31)  5 1-24(见PPT)</vt:lpstr>
      <vt:lpstr>PowerPoint 演示文稿</vt:lpstr>
    </vt:vector>
  </TitlesOfParts>
  <Company>MC SYSTEM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本章作业（须掌握P33）</dc:title>
  <dc:creator>MC SYSTEM</dc:creator>
  <cp:lastModifiedBy>Lenovo</cp:lastModifiedBy>
  <cp:revision>36</cp:revision>
  <dcterms:created xsi:type="dcterms:W3CDTF">2011-05-30T12:40:10Z</dcterms:created>
  <dcterms:modified xsi:type="dcterms:W3CDTF">2017-05-08T14:56:10Z</dcterms:modified>
</cp:coreProperties>
</file>