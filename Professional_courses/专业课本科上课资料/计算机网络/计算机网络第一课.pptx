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7" r:id="rId2"/>
    <p:sldId id="337" r:id="rId3"/>
    <p:sldId id="258" r:id="rId4"/>
    <p:sldId id="261" r:id="rId5"/>
    <p:sldId id="262" r:id="rId6"/>
    <p:sldId id="263" r:id="rId7"/>
    <p:sldId id="264" r:id="rId8"/>
    <p:sldId id="265" r:id="rId9"/>
    <p:sldId id="266" r:id="rId10"/>
    <p:sldId id="267" r:id="rId11"/>
    <p:sldId id="268" r:id="rId12"/>
    <p:sldId id="270" r:id="rId13"/>
    <p:sldId id="271" r:id="rId14"/>
    <p:sldId id="272" r:id="rId15"/>
    <p:sldId id="273" r:id="rId16"/>
    <p:sldId id="274" r:id="rId17"/>
    <p:sldId id="275" r:id="rId18"/>
    <p:sldId id="276" r:id="rId19"/>
    <p:sldId id="269" r:id="rId20"/>
    <p:sldId id="277" r:id="rId21"/>
    <p:sldId id="278" r:id="rId22"/>
    <p:sldId id="279" r:id="rId23"/>
    <p:sldId id="280" r:id="rId24"/>
    <p:sldId id="281" r:id="rId25"/>
    <p:sldId id="282" r:id="rId26"/>
    <p:sldId id="283" r:id="rId27"/>
    <p:sldId id="284"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65" d="100"/>
          <a:sy n="65" d="100"/>
        </p:scale>
        <p:origin x="1306"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389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389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389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89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389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58CE70B5-68C1-4872-AF57-8D3F7ACC3146}" type="slidenum">
              <a:rPr lang="en-US" altLang="zh-CN"/>
              <a:pPr/>
              <a:t>‹#›</a:t>
            </a:fld>
            <a:endParaRPr lang="en-US" altLang="zh-CN"/>
          </a:p>
        </p:txBody>
      </p:sp>
    </p:spTree>
    <p:extLst>
      <p:ext uri="{BB962C8B-B14F-4D97-AF65-F5344CB8AC3E}">
        <p14:creationId xmlns:p14="http://schemas.microsoft.com/office/powerpoint/2010/main" val="263003079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宋体" pitchFamily="2" charset="-122"/>
        <a:cs typeface="+mn-cs"/>
      </a:defRPr>
    </a:lvl1pPr>
    <a:lvl2pPr marL="457200" algn="l" rtl="0" fontAlgn="base">
      <a:spcBef>
        <a:spcPct val="30000"/>
      </a:spcBef>
      <a:spcAft>
        <a:spcPct val="0"/>
      </a:spcAft>
      <a:defRPr sz="1200" kern="1200">
        <a:solidFill>
          <a:schemeClr val="tx1"/>
        </a:solidFill>
        <a:latin typeface="Arial" pitchFamily="34" charset="0"/>
        <a:ea typeface="宋体" pitchFamily="2" charset="-122"/>
        <a:cs typeface="+mn-cs"/>
      </a:defRPr>
    </a:lvl2pPr>
    <a:lvl3pPr marL="914400" algn="l" rtl="0" fontAlgn="base">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fontAlgn="base">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fontAlgn="base">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C94667-FDA9-4474-B8D1-3D54600C3C98}" type="slidenum">
              <a:rPr lang="en-US" altLang="zh-CN"/>
              <a:pPr/>
              <a:t>33</a:t>
            </a:fld>
            <a:endParaRPr lang="en-US" altLang="zh-CN"/>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025584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8D47EB-DEDD-46A3-BD82-075DCA64B638}" type="slidenum">
              <a:rPr lang="en-US" altLang="zh-CN"/>
              <a:pPr/>
              <a:t>36</a:t>
            </a:fld>
            <a:endParaRPr lang="en-US" altLang="zh-CN"/>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664015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484A11-750B-4A5C-A14D-BD71C186FECA}" type="slidenum">
              <a:rPr lang="en-US" altLang="zh-CN"/>
              <a:pPr/>
              <a:t>37</a:t>
            </a:fld>
            <a:endParaRPr lang="en-US" altLang="zh-CN"/>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205188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C3C821-4E75-45E2-80F4-406C4F8464A5}" type="slidenum">
              <a:rPr lang="en-US" altLang="zh-CN"/>
              <a:pPr/>
              <a:t>38</a:t>
            </a:fld>
            <a:endParaRPr lang="en-US" altLang="zh-CN"/>
          </a:p>
        </p:txBody>
      </p:sp>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233675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DBA706-EF80-4E38-8607-7D51BEE21A84}" type="slidenum">
              <a:rPr lang="en-US" altLang="zh-CN"/>
              <a:pPr/>
              <a:t>39</a:t>
            </a:fld>
            <a:endParaRPr lang="en-US" altLang="zh-CN"/>
          </a:p>
        </p:txBody>
      </p:sp>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630010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765BB3-3514-4438-B1FC-B60F291DC6EF}" type="slidenum">
              <a:rPr lang="en-US" altLang="zh-CN"/>
              <a:pPr/>
              <a:t>46</a:t>
            </a:fld>
            <a:endParaRPr lang="en-US" altLang="zh-CN"/>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848890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95254FF-12E4-4779-A870-85515B927F40}" type="slidenum">
              <a:rPr lang="en-US" altLang="zh-CN"/>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5ADBBCD-C402-4E57-946F-FAE88FB32AE3}" type="slidenum">
              <a:rPr lang="en-US" altLang="zh-CN"/>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F39261D-DEA8-4A90-9569-BA828E14BF10}" type="slidenum">
              <a:rPr lang="en-US" altLang="zh-CN"/>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8F7A0BC-C74A-487E-9EF8-67643961E74F}" type="slidenum">
              <a:rPr lang="en-US" altLang="zh-CN"/>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0BEA51EE-DE7A-46E4-87CA-53DFA391DB8B}" type="slidenum">
              <a:rPr lang="en-US" altLang="zh-CN"/>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8EA7C86E-AA7C-414A-AFD7-D32775C3E067}" type="slidenum">
              <a:rPr lang="en-US" altLang="zh-CN"/>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B630B2B-1DD8-4DBB-B66C-255862F7899C}" type="slidenum">
              <a:rPr lang="en-US" altLang="zh-CN"/>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ED808CE1-E5B2-4848-8854-DF54CC258A3A}" type="slidenum">
              <a:rPr lang="en-US" altLang="zh-CN"/>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55D340F-16D7-4C2A-A440-CB06E926EFD4}" type="slidenum">
              <a:rPr lang="en-US" altLang="zh-CN"/>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C869B8B-B1FB-4AF6-90C6-FE687867BBD8}" type="slidenum">
              <a:rPr lang="en-US" altLang="zh-CN"/>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CFFAF25-8E19-43EF-ADAB-3E82BA1C6681}" type="slidenum">
              <a:rPr lang="en-US" altLang="zh-CN"/>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DA2DEADA-45DE-4FB3-B90E-704020D08B8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ea typeface="宋体" pitchFamily="2" charset="-122"/>
        </a:defRPr>
      </a:lvl2pPr>
      <a:lvl3pPr algn="ctr" rtl="0" fontAlgn="base">
        <a:spcBef>
          <a:spcPct val="0"/>
        </a:spcBef>
        <a:spcAft>
          <a:spcPct val="0"/>
        </a:spcAft>
        <a:defRPr sz="4400">
          <a:solidFill>
            <a:schemeClr val="tx2"/>
          </a:solidFill>
          <a:latin typeface="Arial" pitchFamily="34" charset="0"/>
          <a:ea typeface="宋体" pitchFamily="2" charset="-122"/>
        </a:defRPr>
      </a:lvl3pPr>
      <a:lvl4pPr algn="ctr" rtl="0" fontAlgn="base">
        <a:spcBef>
          <a:spcPct val="0"/>
        </a:spcBef>
        <a:spcAft>
          <a:spcPct val="0"/>
        </a:spcAft>
        <a:defRPr sz="4400">
          <a:solidFill>
            <a:schemeClr val="tx2"/>
          </a:solidFill>
          <a:latin typeface="Arial" pitchFamily="34" charset="0"/>
          <a:ea typeface="宋体" pitchFamily="2" charset="-122"/>
        </a:defRPr>
      </a:lvl4pPr>
      <a:lvl5pPr algn="ctr" rtl="0" fontAlgn="base">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5.xml"/><Relationship Id="rId1" Type="http://schemas.openxmlformats.org/officeDocument/2006/relationships/slideLayout" Target="../slideLayouts/slideLayout2.xml"/><Relationship Id="rId5" Type="http://schemas.openxmlformats.org/officeDocument/2006/relationships/slide" Target="slide11.xml"/><Relationship Id="rId4" Type="http://schemas.openxmlformats.org/officeDocument/2006/relationships/slide" Target="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6.wmf"/><Relationship Id="rId4" Type="http://schemas.openxmlformats.org/officeDocument/2006/relationships/image" Target="../media/image9.w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pic>
        <p:nvPicPr>
          <p:cNvPr id="3076" name="Picture 4"/>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11188" y="476250"/>
            <a:ext cx="7793037" cy="911225"/>
          </a:xfrm>
        </p:spPr>
        <p:txBody>
          <a:bodyPr/>
          <a:lstStyle/>
          <a:p>
            <a:r>
              <a:rPr lang="zh-CN" altLang="en-US"/>
              <a:t>第</a:t>
            </a:r>
            <a:r>
              <a:rPr lang="zh-CN" altLang="en-US" sz="3200"/>
              <a:t> </a:t>
            </a:r>
            <a:r>
              <a:rPr lang="en-US" altLang="zh-CN"/>
              <a:t>1</a:t>
            </a:r>
            <a:r>
              <a:rPr lang="en-US" altLang="zh-CN" sz="3200"/>
              <a:t> </a:t>
            </a:r>
            <a:r>
              <a:rPr lang="zh-CN" altLang="en-US"/>
              <a:t>章   概述</a:t>
            </a:r>
          </a:p>
        </p:txBody>
      </p:sp>
      <p:sp>
        <p:nvSpPr>
          <p:cNvPr id="3075" name="Rectangle 3"/>
          <p:cNvSpPr>
            <a:spLocks noGrp="1" noChangeArrowheads="1"/>
          </p:cNvSpPr>
          <p:nvPr>
            <p:ph type="body" idx="1"/>
          </p:nvPr>
        </p:nvSpPr>
        <p:spPr>
          <a:xfrm>
            <a:off x="1042988" y="1773238"/>
            <a:ext cx="7772400" cy="4679950"/>
          </a:xfrm>
        </p:spPr>
        <p:txBody>
          <a:bodyPr/>
          <a:lstStyle/>
          <a:p>
            <a:pPr>
              <a:buFontTx/>
              <a:buNone/>
            </a:pPr>
            <a:r>
              <a:rPr lang="en-US" altLang="zh-CN"/>
              <a:t>1.1  </a:t>
            </a:r>
            <a:r>
              <a:rPr lang="zh-CN" altLang="en-US"/>
              <a:t>计算机网络在信息时代中的作用</a:t>
            </a:r>
          </a:p>
          <a:p>
            <a:pPr>
              <a:buFontTx/>
              <a:buNone/>
            </a:pPr>
            <a:r>
              <a:rPr lang="en-US" altLang="zh-CN"/>
              <a:t>1.2  </a:t>
            </a:r>
            <a:r>
              <a:rPr lang="zh-CN" altLang="en-US"/>
              <a:t>计算机网络的发展过程</a:t>
            </a:r>
          </a:p>
          <a:p>
            <a:pPr>
              <a:buFontTx/>
              <a:buNone/>
            </a:pPr>
            <a:r>
              <a:rPr lang="en-US" altLang="zh-CN"/>
              <a:t>1.3  </a:t>
            </a:r>
            <a:r>
              <a:rPr lang="zh-CN" altLang="en-US"/>
              <a:t>计算机网络的分类</a:t>
            </a:r>
          </a:p>
          <a:p>
            <a:pPr>
              <a:buFontTx/>
              <a:buNone/>
            </a:pPr>
            <a:r>
              <a:rPr lang="en-US" altLang="zh-CN"/>
              <a:t>1.4  </a:t>
            </a:r>
            <a:r>
              <a:rPr lang="zh-CN" altLang="en-US"/>
              <a:t>计算机网络的主要性能指标</a:t>
            </a:r>
          </a:p>
          <a:p>
            <a:pPr>
              <a:buFontTx/>
              <a:buNone/>
            </a:pPr>
            <a:r>
              <a:rPr lang="en-US" altLang="zh-CN"/>
              <a:t>1.5  </a:t>
            </a:r>
            <a:r>
              <a:rPr lang="zh-CN" altLang="en-US"/>
              <a:t>计算机网络的体系结构</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100138" y="931863"/>
            <a:ext cx="6856412" cy="768350"/>
          </a:xfrm>
        </p:spPr>
        <p:txBody>
          <a:bodyPr/>
          <a:lstStyle/>
          <a:p>
            <a:r>
              <a:rPr lang="en-US" altLang="zh-CN" sz="4000"/>
              <a:t>1.1  </a:t>
            </a:r>
            <a:r>
              <a:rPr lang="zh-CN" altLang="en-US" sz="4000"/>
              <a:t>计算机网络</a:t>
            </a:r>
            <a:br>
              <a:rPr lang="zh-CN" altLang="en-US" sz="4000"/>
            </a:br>
            <a:r>
              <a:rPr lang="zh-CN" altLang="en-US" sz="4000"/>
              <a:t>在信息时代的作用</a:t>
            </a:r>
          </a:p>
        </p:txBody>
      </p:sp>
      <p:sp>
        <p:nvSpPr>
          <p:cNvPr id="4099" name="Rectangle 3"/>
          <p:cNvSpPr>
            <a:spLocks noGrp="1" noChangeArrowheads="1"/>
          </p:cNvSpPr>
          <p:nvPr>
            <p:ph type="body" idx="1"/>
          </p:nvPr>
        </p:nvSpPr>
        <p:spPr>
          <a:xfrm>
            <a:off x="1182688" y="2017713"/>
            <a:ext cx="7772400" cy="4506912"/>
          </a:xfrm>
        </p:spPr>
        <p:txBody>
          <a:bodyPr/>
          <a:lstStyle/>
          <a:p>
            <a:pPr>
              <a:lnSpc>
                <a:spcPct val="90000"/>
              </a:lnSpc>
            </a:pPr>
            <a:r>
              <a:rPr lang="en-US" altLang="zh-CN"/>
              <a:t>21 </a:t>
            </a:r>
            <a:r>
              <a:rPr lang="zh-CN" altLang="en-US"/>
              <a:t>世纪的一些重要特征就是数字化、网络化和信息化，它是一个以网络为核心的信息时代。</a:t>
            </a:r>
          </a:p>
          <a:p>
            <a:pPr>
              <a:lnSpc>
                <a:spcPct val="90000"/>
              </a:lnSpc>
            </a:pPr>
            <a:r>
              <a:rPr lang="zh-CN" altLang="en-US"/>
              <a:t>网络现已成为信息社会的命脉和发展知识经济的重要基础。</a:t>
            </a:r>
          </a:p>
          <a:p>
            <a:pPr>
              <a:lnSpc>
                <a:spcPct val="90000"/>
              </a:lnSpc>
            </a:pPr>
            <a:r>
              <a:rPr lang="zh-CN" altLang="en-US"/>
              <a:t>网络是指“三网”，即电信网络、有线电视网络和计算机网络。</a:t>
            </a:r>
          </a:p>
          <a:p>
            <a:pPr>
              <a:lnSpc>
                <a:spcPct val="90000"/>
              </a:lnSpc>
            </a:pPr>
            <a:r>
              <a:rPr lang="zh-CN" altLang="en-US"/>
              <a:t>发展最快的并起到核心作用的是计算机网络。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4213" y="260350"/>
            <a:ext cx="7772400" cy="838200"/>
          </a:xfrm>
        </p:spPr>
        <p:txBody>
          <a:bodyPr/>
          <a:lstStyle/>
          <a:p>
            <a:r>
              <a:rPr lang="en-US" altLang="zh-CN" b="1">
                <a:solidFill>
                  <a:schemeClr val="tx1"/>
                </a:solidFill>
              </a:rPr>
              <a:t> </a:t>
            </a:r>
            <a:r>
              <a:rPr lang="en-US" altLang="zh-CN" sz="3600"/>
              <a:t>1.2  </a:t>
            </a:r>
            <a:r>
              <a:rPr lang="zh-CN" altLang="en-US" sz="3600"/>
              <a:t>计算机网络的发展过程</a:t>
            </a:r>
          </a:p>
        </p:txBody>
      </p:sp>
      <p:sp>
        <p:nvSpPr>
          <p:cNvPr id="7171" name="Rectangle 3"/>
          <p:cNvSpPr>
            <a:spLocks noGrp="1" noChangeArrowheads="1"/>
          </p:cNvSpPr>
          <p:nvPr>
            <p:ph type="body" idx="1"/>
          </p:nvPr>
        </p:nvSpPr>
        <p:spPr>
          <a:xfrm>
            <a:off x="609600" y="2133600"/>
            <a:ext cx="7772400" cy="1676400"/>
          </a:xfrm>
        </p:spPr>
        <p:txBody>
          <a:bodyPr/>
          <a:lstStyle/>
          <a:p>
            <a:pPr marL="990600" lvl="1" indent="-533400" algn="just">
              <a:buFontTx/>
              <a:buNone/>
            </a:pPr>
            <a:r>
              <a:rPr kumimoji="1" lang="en-US" altLang="zh-CN" sz="2400" b="1">
                <a:latin typeface="Times New Roman" pitchFamily="18" charset="0"/>
              </a:rPr>
              <a:t> (1) </a:t>
            </a:r>
            <a:r>
              <a:rPr kumimoji="1" lang="zh-CN" altLang="en-US" sz="2400" b="1">
                <a:latin typeface="Times New Roman" pitchFamily="18" charset="0"/>
              </a:rPr>
              <a:t>面向终端的网络</a:t>
            </a:r>
          </a:p>
          <a:p>
            <a:pPr marL="1371600" lvl="2" indent="-457200"/>
            <a:r>
              <a:rPr lang="zh-CN" altLang="en-US" sz="2000" b="1"/>
              <a:t>是“</a:t>
            </a:r>
            <a:r>
              <a:rPr lang="en-US" altLang="zh-CN" sz="2000" b="1"/>
              <a:t>Terminal—Computer”</a:t>
            </a:r>
            <a:r>
              <a:rPr lang="zh-CN" altLang="en-US" sz="2000" b="1"/>
              <a:t>之间的网络，它可能有许多终端，但主机只有一套。</a:t>
            </a:r>
          </a:p>
        </p:txBody>
      </p:sp>
      <p:sp>
        <p:nvSpPr>
          <p:cNvPr id="7172" name="AutoShape 4">
            <a:hlinkClick r:id="rId2" action="ppaction://hlinksldjump" highlightClick="1"/>
          </p:cNvPr>
          <p:cNvSpPr>
            <a:spLocks noChangeArrowheads="1"/>
          </p:cNvSpPr>
          <p:nvPr/>
        </p:nvSpPr>
        <p:spPr bwMode="auto">
          <a:xfrm>
            <a:off x="8501090" y="2357430"/>
            <a:ext cx="381000" cy="304800"/>
          </a:xfrm>
          <a:prstGeom prst="actionButtonBlank">
            <a:avLst/>
          </a:prstGeom>
          <a:solidFill>
            <a:srgbClr val="FFFFFF">
              <a:alpha val="50000"/>
            </a:srgbClr>
          </a:solidFill>
          <a:ln w="9525">
            <a:solidFill>
              <a:srgbClr val="FFFFFF"/>
            </a:solidFill>
            <a:miter lim="800000"/>
            <a:headEnd/>
            <a:tailEnd/>
          </a:ln>
          <a:effectLst/>
        </p:spPr>
        <p:txBody>
          <a:bodyPr wrap="none" anchor="ctr"/>
          <a:lstStyle/>
          <a:p>
            <a:endParaRPr lang="zh-CN" altLang="en-US"/>
          </a:p>
        </p:txBody>
      </p:sp>
      <p:sp>
        <p:nvSpPr>
          <p:cNvPr id="7173" name="AutoShape 5">
            <a:hlinkClick r:id="rId3" action="ppaction://hlinksldjump" highlightClick="1"/>
          </p:cNvPr>
          <p:cNvSpPr>
            <a:spLocks noChangeArrowheads="1"/>
          </p:cNvSpPr>
          <p:nvPr/>
        </p:nvSpPr>
        <p:spPr bwMode="auto">
          <a:xfrm>
            <a:off x="8458200" y="4114800"/>
            <a:ext cx="381000" cy="304800"/>
          </a:xfrm>
          <a:prstGeom prst="actionButtonBlank">
            <a:avLst/>
          </a:prstGeom>
          <a:solidFill>
            <a:srgbClr val="FFFFFF">
              <a:alpha val="50000"/>
            </a:srgbClr>
          </a:solidFill>
          <a:ln w="9525">
            <a:solidFill>
              <a:srgbClr val="FFFFFF"/>
            </a:solidFill>
            <a:miter lim="800000"/>
            <a:headEnd/>
            <a:tailEnd/>
          </a:ln>
          <a:effectLst/>
        </p:spPr>
        <p:txBody>
          <a:bodyPr wrap="none" anchor="ctr"/>
          <a:lstStyle/>
          <a:p>
            <a:endParaRPr lang="zh-CN" altLang="en-US"/>
          </a:p>
        </p:txBody>
      </p:sp>
      <p:sp>
        <p:nvSpPr>
          <p:cNvPr id="7174" name="AutoShape 6">
            <a:hlinkClick r:id="rId4" action="ppaction://hlinksldjump" highlightClick="1"/>
          </p:cNvPr>
          <p:cNvSpPr>
            <a:spLocks noChangeArrowheads="1"/>
          </p:cNvSpPr>
          <p:nvPr/>
        </p:nvSpPr>
        <p:spPr bwMode="auto">
          <a:xfrm>
            <a:off x="8458200" y="5410200"/>
            <a:ext cx="381000" cy="304800"/>
          </a:xfrm>
          <a:prstGeom prst="actionButtonBlank">
            <a:avLst/>
          </a:prstGeom>
          <a:solidFill>
            <a:srgbClr val="FFFFFF">
              <a:alpha val="50000"/>
            </a:srgbClr>
          </a:solidFill>
          <a:ln w="9525">
            <a:solidFill>
              <a:srgbClr val="FFFFFF"/>
            </a:solidFill>
            <a:miter lim="800000"/>
            <a:headEnd/>
            <a:tailEnd/>
          </a:ln>
          <a:effectLst/>
        </p:spPr>
        <p:txBody>
          <a:bodyPr wrap="none" anchor="ctr"/>
          <a:lstStyle/>
          <a:p>
            <a:endParaRPr lang="zh-CN" altLang="en-US"/>
          </a:p>
        </p:txBody>
      </p:sp>
      <p:sp>
        <p:nvSpPr>
          <p:cNvPr id="7175" name="AutoShape 7">
            <a:hlinkClick r:id="rId5" action="ppaction://hlinksldjump" highlightClick="1"/>
          </p:cNvPr>
          <p:cNvSpPr>
            <a:spLocks noChangeArrowheads="1"/>
          </p:cNvSpPr>
          <p:nvPr/>
        </p:nvSpPr>
        <p:spPr bwMode="auto">
          <a:xfrm>
            <a:off x="8382000" y="1600200"/>
            <a:ext cx="381000" cy="304800"/>
          </a:xfrm>
          <a:prstGeom prst="actionButtonBlank">
            <a:avLst/>
          </a:prstGeom>
          <a:solidFill>
            <a:srgbClr val="FFFFFF">
              <a:alpha val="50000"/>
            </a:srgbClr>
          </a:solidFill>
          <a:ln w="9525">
            <a:solidFill>
              <a:srgbClr val="FFFFFF"/>
            </a:solidFill>
            <a:miter lim="800000"/>
            <a:headEnd/>
            <a:tailEnd/>
          </a:ln>
          <a:effectLst/>
        </p:spPr>
        <p:txBody>
          <a:bodyPr wrap="none" anchor="ctr"/>
          <a:lstStyle/>
          <a:p>
            <a:endParaRPr lang="zh-CN" altLang="en-US"/>
          </a:p>
        </p:txBody>
      </p:sp>
      <p:sp>
        <p:nvSpPr>
          <p:cNvPr id="7176" name="Rectangle 8"/>
          <p:cNvSpPr>
            <a:spLocks noChangeArrowheads="1"/>
          </p:cNvSpPr>
          <p:nvPr/>
        </p:nvSpPr>
        <p:spPr bwMode="auto">
          <a:xfrm>
            <a:off x="609600" y="3962400"/>
            <a:ext cx="7772400" cy="1219200"/>
          </a:xfrm>
          <a:prstGeom prst="rect">
            <a:avLst/>
          </a:prstGeom>
          <a:noFill/>
          <a:ln w="9525">
            <a:noFill/>
            <a:miter lim="800000"/>
            <a:headEnd/>
            <a:tailEnd/>
          </a:ln>
          <a:effectLst/>
        </p:spPr>
        <p:txBody>
          <a:bodyPr/>
          <a:lstStyle/>
          <a:p>
            <a:pPr marL="990600" lvl="1" indent="-533400">
              <a:lnSpc>
                <a:spcPct val="130000"/>
              </a:lnSpc>
              <a:spcBef>
                <a:spcPct val="20000"/>
              </a:spcBef>
            </a:pPr>
            <a:r>
              <a:rPr kumimoji="1" lang="en-US" altLang="zh-CN" sz="2400" b="1">
                <a:latin typeface="Times New Roman" pitchFamily="18" charset="0"/>
              </a:rPr>
              <a:t>(2) </a:t>
            </a:r>
            <a:r>
              <a:rPr kumimoji="1" lang="zh-CN" altLang="en-US" sz="2400" b="1">
                <a:latin typeface="Times New Roman" pitchFamily="18" charset="0"/>
              </a:rPr>
              <a:t>计算机互连网络（</a:t>
            </a:r>
            <a:r>
              <a:rPr kumimoji="1" lang="en-US" altLang="zh-CN" sz="2400" b="1">
                <a:latin typeface="Times New Roman" pitchFamily="18" charset="0"/>
              </a:rPr>
              <a:t>Computer--- Computer </a:t>
            </a:r>
            <a:r>
              <a:rPr kumimoji="1" lang="zh-CN" altLang="en-US" sz="2400" b="1">
                <a:latin typeface="Times New Roman" pitchFamily="18" charset="0"/>
              </a:rPr>
              <a:t>）</a:t>
            </a:r>
          </a:p>
          <a:p>
            <a:pPr marL="1371600" lvl="2" indent="-457200">
              <a:lnSpc>
                <a:spcPct val="130000"/>
              </a:lnSpc>
              <a:spcBef>
                <a:spcPct val="20000"/>
              </a:spcBef>
              <a:buFontTx/>
              <a:buChar char="•"/>
            </a:pPr>
            <a:r>
              <a:rPr kumimoji="1" lang="zh-CN" altLang="en-US" sz="2000" b="1">
                <a:latin typeface="Times New Roman" pitchFamily="18" charset="0"/>
              </a:rPr>
              <a:t>整个计算机网络中主机不止一套</a:t>
            </a:r>
          </a:p>
        </p:txBody>
      </p:sp>
      <p:sp>
        <p:nvSpPr>
          <p:cNvPr id="7177" name="Rectangle 9"/>
          <p:cNvSpPr>
            <a:spLocks noChangeArrowheads="1"/>
          </p:cNvSpPr>
          <p:nvPr/>
        </p:nvSpPr>
        <p:spPr bwMode="auto">
          <a:xfrm>
            <a:off x="685800" y="5181600"/>
            <a:ext cx="7772400" cy="1219200"/>
          </a:xfrm>
          <a:prstGeom prst="rect">
            <a:avLst/>
          </a:prstGeom>
          <a:noFill/>
          <a:ln w="9525">
            <a:noFill/>
            <a:miter lim="800000"/>
            <a:headEnd/>
            <a:tailEnd/>
          </a:ln>
          <a:effectLst/>
        </p:spPr>
        <p:txBody>
          <a:bodyPr/>
          <a:lstStyle/>
          <a:p>
            <a:pPr marL="990600" lvl="1" indent="-533400">
              <a:lnSpc>
                <a:spcPct val="130000"/>
              </a:lnSpc>
              <a:spcBef>
                <a:spcPct val="20000"/>
              </a:spcBef>
            </a:pPr>
            <a:r>
              <a:rPr kumimoji="1" lang="en-US" altLang="zh-CN" sz="2400" b="1">
                <a:latin typeface="Times New Roman" pitchFamily="18" charset="0"/>
              </a:rPr>
              <a:t>(3) </a:t>
            </a:r>
            <a:r>
              <a:rPr kumimoji="1" lang="zh-CN" altLang="en-US" sz="2400" b="1">
                <a:latin typeface="Times New Roman" pitchFamily="18" charset="0"/>
              </a:rPr>
              <a:t>标准化网络（</a:t>
            </a:r>
            <a:r>
              <a:rPr kumimoji="1" lang="en-US" altLang="zh-CN" sz="2400" b="1">
                <a:latin typeface="Times New Roman" pitchFamily="18" charset="0"/>
              </a:rPr>
              <a:t>Network Standardization </a:t>
            </a:r>
            <a:r>
              <a:rPr kumimoji="1" lang="zh-CN" altLang="en-US" sz="2400" b="1">
                <a:latin typeface="Times New Roman" pitchFamily="18" charset="0"/>
              </a:rPr>
              <a:t>）</a:t>
            </a:r>
          </a:p>
        </p:txBody>
      </p:sp>
      <p:sp>
        <p:nvSpPr>
          <p:cNvPr id="7178" name="Rectangle 10"/>
          <p:cNvSpPr>
            <a:spLocks noChangeArrowheads="1"/>
          </p:cNvSpPr>
          <p:nvPr/>
        </p:nvSpPr>
        <p:spPr bwMode="auto">
          <a:xfrm>
            <a:off x="755650" y="1268413"/>
            <a:ext cx="7772400" cy="622300"/>
          </a:xfrm>
          <a:prstGeom prst="rect">
            <a:avLst/>
          </a:prstGeom>
          <a:noFill/>
          <a:ln w="9525">
            <a:noFill/>
            <a:miter lim="800000"/>
            <a:headEnd/>
            <a:tailEnd/>
          </a:ln>
          <a:effectLst/>
        </p:spPr>
        <p:txBody>
          <a:bodyPr anchor="b"/>
          <a:lstStyle/>
          <a:p>
            <a:pPr algn="ctr"/>
            <a:r>
              <a:rPr lang="en-US" altLang="zh-CN" sz="4400" b="1"/>
              <a:t> </a:t>
            </a:r>
            <a:r>
              <a:rPr lang="en-US" altLang="zh-CN" sz="2800">
                <a:solidFill>
                  <a:schemeClr val="tx2"/>
                </a:solidFill>
              </a:rPr>
              <a:t>1.2.1  </a:t>
            </a:r>
            <a:r>
              <a:rPr lang="zh-CN" altLang="en-US" sz="2800">
                <a:solidFill>
                  <a:schemeClr val="tx2"/>
                </a:solidFill>
              </a:rPr>
              <a:t>计算机网络发展概述</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0-#ppt_w/2"/>
                                          </p:val>
                                        </p:tav>
                                        <p:tav tm="100000">
                                          <p:val>
                                            <p:strVal val="#ppt_x"/>
                                          </p:val>
                                        </p:tav>
                                      </p:tavLst>
                                    </p:anim>
                                    <p:anim calcmode="lin" valueType="num">
                                      <p:cBhvr additive="base">
                                        <p:cTn id="8" dur="500" fill="hold"/>
                                        <p:tgtEl>
                                          <p:spTgt spid="71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78"/>
                                        </p:tgtEl>
                                        <p:attrNameLst>
                                          <p:attrName>style.visibility</p:attrName>
                                        </p:attrNameLst>
                                      </p:cBhvr>
                                      <p:to>
                                        <p:strVal val="visible"/>
                                      </p:to>
                                    </p:set>
                                    <p:anim calcmode="lin" valueType="num">
                                      <p:cBhvr additive="base">
                                        <p:cTn id="13" dur="500" fill="hold"/>
                                        <p:tgtEl>
                                          <p:spTgt spid="7178"/>
                                        </p:tgtEl>
                                        <p:attrNameLst>
                                          <p:attrName>ppt_x</p:attrName>
                                        </p:attrNameLst>
                                      </p:cBhvr>
                                      <p:tavLst>
                                        <p:tav tm="0">
                                          <p:val>
                                            <p:strVal val="0-#ppt_w/2"/>
                                          </p:val>
                                        </p:tav>
                                        <p:tav tm="100000">
                                          <p:val>
                                            <p:strVal val="#ppt_x"/>
                                          </p:val>
                                        </p:tav>
                                      </p:tavLst>
                                    </p:anim>
                                    <p:anim calcmode="lin" valueType="num">
                                      <p:cBhvr additive="base">
                                        <p:cTn id="14" dur="500" fill="hold"/>
                                        <p:tgtEl>
                                          <p:spTgt spid="717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171"/>
                                        </p:tgtEl>
                                        <p:attrNameLst>
                                          <p:attrName>style.visibility</p:attrName>
                                        </p:attrNameLst>
                                      </p:cBhvr>
                                      <p:to>
                                        <p:strVal val="visible"/>
                                      </p:to>
                                    </p:set>
                                    <p:anim calcmode="lin" valueType="num">
                                      <p:cBhvr additive="base">
                                        <p:cTn id="19" dur="500" fill="hold"/>
                                        <p:tgtEl>
                                          <p:spTgt spid="7171"/>
                                        </p:tgtEl>
                                        <p:attrNameLst>
                                          <p:attrName>ppt_x</p:attrName>
                                        </p:attrNameLst>
                                      </p:cBhvr>
                                      <p:tavLst>
                                        <p:tav tm="0">
                                          <p:val>
                                            <p:strVal val="0-#ppt_w/2"/>
                                          </p:val>
                                        </p:tav>
                                        <p:tav tm="100000">
                                          <p:val>
                                            <p:strVal val="#ppt_x"/>
                                          </p:val>
                                        </p:tav>
                                      </p:tavLst>
                                    </p:anim>
                                    <p:anim calcmode="lin" valueType="num">
                                      <p:cBhvr additive="base">
                                        <p:cTn id="20" dur="500" fill="hold"/>
                                        <p:tgtEl>
                                          <p:spTgt spid="717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176"/>
                                        </p:tgtEl>
                                        <p:attrNameLst>
                                          <p:attrName>style.visibility</p:attrName>
                                        </p:attrNameLst>
                                      </p:cBhvr>
                                      <p:to>
                                        <p:strVal val="visible"/>
                                      </p:to>
                                    </p:set>
                                    <p:anim calcmode="lin" valueType="num">
                                      <p:cBhvr additive="base">
                                        <p:cTn id="25" dur="500" fill="hold"/>
                                        <p:tgtEl>
                                          <p:spTgt spid="7176"/>
                                        </p:tgtEl>
                                        <p:attrNameLst>
                                          <p:attrName>ppt_x</p:attrName>
                                        </p:attrNameLst>
                                      </p:cBhvr>
                                      <p:tavLst>
                                        <p:tav tm="0">
                                          <p:val>
                                            <p:strVal val="0-#ppt_w/2"/>
                                          </p:val>
                                        </p:tav>
                                        <p:tav tm="100000">
                                          <p:val>
                                            <p:strVal val="#ppt_x"/>
                                          </p:val>
                                        </p:tav>
                                      </p:tavLst>
                                    </p:anim>
                                    <p:anim calcmode="lin" valueType="num">
                                      <p:cBhvr additive="base">
                                        <p:cTn id="26" dur="500" fill="hold"/>
                                        <p:tgtEl>
                                          <p:spTgt spid="717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177"/>
                                        </p:tgtEl>
                                        <p:attrNameLst>
                                          <p:attrName>style.visibility</p:attrName>
                                        </p:attrNameLst>
                                      </p:cBhvr>
                                      <p:to>
                                        <p:strVal val="visible"/>
                                      </p:to>
                                    </p:set>
                                    <p:anim calcmode="lin" valueType="num">
                                      <p:cBhvr additive="base">
                                        <p:cTn id="31" dur="500" fill="hold"/>
                                        <p:tgtEl>
                                          <p:spTgt spid="7177"/>
                                        </p:tgtEl>
                                        <p:attrNameLst>
                                          <p:attrName>ppt_x</p:attrName>
                                        </p:attrNameLst>
                                      </p:cBhvr>
                                      <p:tavLst>
                                        <p:tav tm="0">
                                          <p:val>
                                            <p:strVal val="0-#ppt_w/2"/>
                                          </p:val>
                                        </p:tav>
                                        <p:tav tm="100000">
                                          <p:val>
                                            <p:strVal val="#ppt_x"/>
                                          </p:val>
                                        </p:tav>
                                      </p:tavLst>
                                    </p:anim>
                                    <p:anim calcmode="lin" valueType="num">
                                      <p:cBhvr additive="base">
                                        <p:cTn id="32" dur="500" fill="hold"/>
                                        <p:tgtEl>
                                          <p:spTgt spid="71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utoUpdateAnimBg="0"/>
      <p:bldP spid="7171" grpId="0" autoUpdateAnimBg="0"/>
      <p:bldP spid="7176" grpId="0" autoUpdateAnimBg="0"/>
      <p:bldP spid="7177" grpId="0" autoUpdateAnimBg="0"/>
      <p:bldP spid="717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990600" y="762000"/>
            <a:ext cx="7696200" cy="457200"/>
          </a:xfrm>
          <a:prstGeom prst="rect">
            <a:avLst/>
          </a:prstGeom>
          <a:noFill/>
          <a:ln w="9525">
            <a:noFill/>
            <a:miter lim="800000"/>
            <a:headEnd/>
            <a:tailEnd/>
          </a:ln>
          <a:effectLst/>
        </p:spPr>
        <p:txBody>
          <a:bodyPr>
            <a:spAutoFit/>
          </a:bodyPr>
          <a:lstStyle/>
          <a:p>
            <a:pPr>
              <a:spcBef>
                <a:spcPct val="50000"/>
              </a:spcBef>
            </a:pPr>
            <a:endParaRPr kumimoji="1" lang="zh-CN" altLang="zh-CN" sz="2400" b="1">
              <a:latin typeface="Times New Roman" pitchFamily="18" charset="0"/>
            </a:endParaRPr>
          </a:p>
        </p:txBody>
      </p:sp>
      <p:sp>
        <p:nvSpPr>
          <p:cNvPr id="8195" name="Text Box 3"/>
          <p:cNvSpPr txBox="1">
            <a:spLocks noChangeArrowheads="1"/>
          </p:cNvSpPr>
          <p:nvPr/>
        </p:nvSpPr>
        <p:spPr bwMode="auto">
          <a:xfrm>
            <a:off x="1295400" y="914400"/>
            <a:ext cx="6400800" cy="822325"/>
          </a:xfrm>
          <a:prstGeom prst="rect">
            <a:avLst/>
          </a:prstGeom>
          <a:noFill/>
          <a:ln w="9525">
            <a:noFill/>
            <a:miter lim="800000"/>
            <a:headEnd/>
            <a:tailEnd/>
          </a:ln>
          <a:effectLst/>
        </p:spPr>
        <p:txBody>
          <a:bodyPr>
            <a:spAutoFit/>
          </a:bodyPr>
          <a:lstStyle/>
          <a:p>
            <a:pPr>
              <a:spcBef>
                <a:spcPct val="50000"/>
              </a:spcBef>
            </a:pPr>
            <a:r>
              <a:rPr kumimoji="1" lang="en-US" altLang="zh-CN" sz="2400">
                <a:latin typeface="Times New Roman" pitchFamily="18" charset="0"/>
              </a:rPr>
              <a:t>A </a:t>
            </a:r>
            <a:r>
              <a:rPr kumimoji="1" lang="zh-CN" altLang="en-US" sz="2400">
                <a:latin typeface="Times New Roman" pitchFamily="18" charset="0"/>
              </a:rPr>
              <a:t>、一个远程终端利用专用线路和主机连接起来作为主机的一个用户。</a:t>
            </a:r>
          </a:p>
        </p:txBody>
      </p:sp>
      <p:sp>
        <p:nvSpPr>
          <p:cNvPr id="8196" name="Text Box 4"/>
          <p:cNvSpPr txBox="1">
            <a:spLocks noChangeArrowheads="1"/>
          </p:cNvSpPr>
          <p:nvPr/>
        </p:nvSpPr>
        <p:spPr bwMode="auto">
          <a:xfrm>
            <a:off x="1295400" y="4724400"/>
            <a:ext cx="6400800" cy="822325"/>
          </a:xfrm>
          <a:prstGeom prst="rect">
            <a:avLst/>
          </a:prstGeom>
          <a:noFill/>
          <a:ln w="9525">
            <a:noFill/>
            <a:miter lim="800000"/>
            <a:headEnd/>
            <a:tailEnd/>
          </a:ln>
          <a:effectLst/>
        </p:spPr>
        <p:txBody>
          <a:bodyPr>
            <a:spAutoFit/>
          </a:bodyPr>
          <a:lstStyle/>
          <a:p>
            <a:pPr>
              <a:spcBef>
                <a:spcPct val="50000"/>
              </a:spcBef>
            </a:pPr>
            <a:r>
              <a:rPr kumimoji="1" lang="zh-CN" altLang="en-US" sz="2400">
                <a:latin typeface="Times New Roman" pitchFamily="18" charset="0"/>
              </a:rPr>
              <a:t>缺点：一个远程终端独占一条线路，线路利用率很低。</a:t>
            </a:r>
          </a:p>
        </p:txBody>
      </p:sp>
      <p:grpSp>
        <p:nvGrpSpPr>
          <p:cNvPr id="8197" name="Group 5"/>
          <p:cNvGrpSpPr>
            <a:grpSpLocks/>
          </p:cNvGrpSpPr>
          <p:nvPr/>
        </p:nvGrpSpPr>
        <p:grpSpPr bwMode="auto">
          <a:xfrm>
            <a:off x="2286000" y="2362200"/>
            <a:ext cx="4191000" cy="1870075"/>
            <a:chOff x="3225" y="3534"/>
            <a:chExt cx="4830" cy="1359"/>
          </a:xfrm>
        </p:grpSpPr>
        <p:sp>
          <p:nvSpPr>
            <p:cNvPr id="8198" name="Text Box 6"/>
            <p:cNvSpPr txBox="1">
              <a:spLocks noChangeArrowheads="1"/>
            </p:cNvSpPr>
            <p:nvPr/>
          </p:nvSpPr>
          <p:spPr bwMode="auto">
            <a:xfrm>
              <a:off x="3225" y="3534"/>
              <a:ext cx="930" cy="450"/>
            </a:xfrm>
            <a:prstGeom prst="rect">
              <a:avLst/>
            </a:prstGeom>
            <a:solidFill>
              <a:srgbClr val="FFFFFF"/>
            </a:solidFill>
            <a:ln w="9525">
              <a:solidFill>
                <a:srgbClr val="000000"/>
              </a:solidFill>
              <a:miter lim="800000"/>
              <a:headEnd/>
              <a:tailEnd/>
            </a:ln>
          </p:spPr>
          <p:txBody>
            <a:bodyPr/>
            <a:lstStyle/>
            <a:p>
              <a:pPr algn="ctr" eaLnBrk="0" hangingPunct="0"/>
              <a:r>
                <a:rPr lang="en-US" altLang="zh-CN" sz="1000">
                  <a:latin typeface="Times New Roman" pitchFamily="18" charset="0"/>
                </a:rPr>
                <a:t>HOST</a:t>
              </a:r>
            </a:p>
          </p:txBody>
        </p:sp>
        <p:sp>
          <p:nvSpPr>
            <p:cNvPr id="8199" name="AutoShape 7"/>
            <p:cNvSpPr>
              <a:spLocks noChangeArrowheads="1"/>
            </p:cNvSpPr>
            <p:nvPr/>
          </p:nvSpPr>
          <p:spPr bwMode="auto">
            <a:xfrm>
              <a:off x="3345" y="4188"/>
              <a:ext cx="615" cy="645"/>
            </a:xfrm>
            <a:prstGeom prst="flowChartExtract">
              <a:avLst/>
            </a:prstGeom>
            <a:solidFill>
              <a:srgbClr val="FFFFFF"/>
            </a:solidFill>
            <a:ln w="9525">
              <a:solidFill>
                <a:srgbClr val="000000"/>
              </a:solidFill>
              <a:miter lim="800000"/>
              <a:headEnd/>
              <a:tailEnd/>
            </a:ln>
          </p:spPr>
          <p:txBody>
            <a:bodyPr/>
            <a:lstStyle/>
            <a:p>
              <a:pPr algn="just" eaLnBrk="0" hangingPunct="0"/>
              <a:r>
                <a:rPr lang="en-US" altLang="zh-CN" sz="1000">
                  <a:latin typeface="Times New Roman" pitchFamily="18" charset="0"/>
                </a:rPr>
                <a:t>T</a:t>
              </a:r>
            </a:p>
          </p:txBody>
        </p:sp>
        <p:sp>
          <p:nvSpPr>
            <p:cNvPr id="8200" name="AutoShape 8"/>
            <p:cNvSpPr>
              <a:spLocks noChangeArrowheads="1"/>
            </p:cNvSpPr>
            <p:nvPr/>
          </p:nvSpPr>
          <p:spPr bwMode="auto">
            <a:xfrm>
              <a:off x="7440" y="4248"/>
              <a:ext cx="615" cy="645"/>
            </a:xfrm>
            <a:prstGeom prst="flowChartExtract">
              <a:avLst/>
            </a:prstGeom>
            <a:solidFill>
              <a:srgbClr val="FFFFFF"/>
            </a:solidFill>
            <a:ln w="9525">
              <a:solidFill>
                <a:srgbClr val="000000"/>
              </a:solidFill>
              <a:miter lim="800000"/>
              <a:headEnd/>
              <a:tailEnd/>
            </a:ln>
          </p:spPr>
          <p:txBody>
            <a:bodyPr/>
            <a:lstStyle/>
            <a:p>
              <a:pPr algn="just" eaLnBrk="0" hangingPunct="0"/>
              <a:r>
                <a:rPr lang="en-US" altLang="zh-CN" sz="1000">
                  <a:latin typeface="Times New Roman" pitchFamily="18" charset="0"/>
                </a:rPr>
                <a:t>T</a:t>
              </a:r>
            </a:p>
          </p:txBody>
        </p:sp>
        <p:sp>
          <p:nvSpPr>
            <p:cNvPr id="8201" name="Line 9"/>
            <p:cNvSpPr>
              <a:spLocks noChangeShapeType="1"/>
            </p:cNvSpPr>
            <p:nvPr/>
          </p:nvSpPr>
          <p:spPr bwMode="auto">
            <a:xfrm flipV="1">
              <a:off x="3660" y="3984"/>
              <a:ext cx="0" cy="264"/>
            </a:xfrm>
            <a:prstGeom prst="line">
              <a:avLst/>
            </a:prstGeom>
            <a:noFill/>
            <a:ln w="9525">
              <a:solidFill>
                <a:srgbClr val="000000"/>
              </a:solidFill>
              <a:round/>
              <a:headEnd/>
              <a:tailEnd/>
            </a:ln>
          </p:spPr>
          <p:txBody>
            <a:bodyPr/>
            <a:lstStyle/>
            <a:p>
              <a:endParaRPr lang="zh-CN" altLang="en-US"/>
            </a:p>
          </p:txBody>
        </p:sp>
        <p:sp>
          <p:nvSpPr>
            <p:cNvPr id="8202" name="Line 10"/>
            <p:cNvSpPr>
              <a:spLocks noChangeShapeType="1"/>
            </p:cNvSpPr>
            <p:nvPr/>
          </p:nvSpPr>
          <p:spPr bwMode="auto">
            <a:xfrm>
              <a:off x="4155" y="3759"/>
              <a:ext cx="1125" cy="0"/>
            </a:xfrm>
            <a:prstGeom prst="line">
              <a:avLst/>
            </a:prstGeom>
            <a:noFill/>
            <a:ln w="9525">
              <a:solidFill>
                <a:srgbClr val="000000"/>
              </a:solidFill>
              <a:round/>
              <a:headEnd/>
              <a:tailEnd/>
            </a:ln>
          </p:spPr>
          <p:txBody>
            <a:bodyPr/>
            <a:lstStyle/>
            <a:p>
              <a:endParaRPr lang="zh-CN" altLang="en-US"/>
            </a:p>
          </p:txBody>
        </p:sp>
        <p:sp>
          <p:nvSpPr>
            <p:cNvPr id="8203" name="Line 11"/>
            <p:cNvSpPr>
              <a:spLocks noChangeShapeType="1"/>
            </p:cNvSpPr>
            <p:nvPr/>
          </p:nvSpPr>
          <p:spPr bwMode="auto">
            <a:xfrm flipV="1">
              <a:off x="7755" y="3744"/>
              <a:ext cx="0" cy="504"/>
            </a:xfrm>
            <a:prstGeom prst="line">
              <a:avLst/>
            </a:prstGeom>
            <a:noFill/>
            <a:ln w="9525">
              <a:solidFill>
                <a:srgbClr val="000000"/>
              </a:solidFill>
              <a:round/>
              <a:headEnd/>
              <a:tailEnd/>
            </a:ln>
          </p:spPr>
          <p:txBody>
            <a:bodyPr/>
            <a:lstStyle/>
            <a:p>
              <a:endParaRPr lang="zh-CN" altLang="en-US"/>
            </a:p>
          </p:txBody>
        </p:sp>
        <p:sp>
          <p:nvSpPr>
            <p:cNvPr id="8204" name="Line 12"/>
            <p:cNvSpPr>
              <a:spLocks noChangeShapeType="1"/>
            </p:cNvSpPr>
            <p:nvPr/>
          </p:nvSpPr>
          <p:spPr bwMode="auto">
            <a:xfrm>
              <a:off x="5565" y="3759"/>
              <a:ext cx="2175" cy="0"/>
            </a:xfrm>
            <a:prstGeom prst="line">
              <a:avLst/>
            </a:prstGeom>
            <a:noFill/>
            <a:ln w="9525">
              <a:solidFill>
                <a:srgbClr val="000000"/>
              </a:solidFill>
              <a:round/>
              <a:headEnd/>
              <a:tailEnd/>
            </a:ln>
          </p:spPr>
          <p:txBody>
            <a:bodyPr/>
            <a:lstStyle/>
            <a:p>
              <a:endParaRPr lang="zh-CN" altLang="en-US"/>
            </a:p>
          </p:txBody>
        </p:sp>
        <p:sp>
          <p:nvSpPr>
            <p:cNvPr id="8205" name="AutoShape 13"/>
            <p:cNvSpPr>
              <a:spLocks noChangeArrowheads="1"/>
            </p:cNvSpPr>
            <p:nvPr/>
          </p:nvSpPr>
          <p:spPr bwMode="auto">
            <a:xfrm>
              <a:off x="5355" y="3624"/>
              <a:ext cx="143" cy="345"/>
            </a:xfrm>
            <a:prstGeom prst="wave">
              <a:avLst>
                <a:gd name="adj1" fmla="val 13005"/>
                <a:gd name="adj2" fmla="val 0"/>
              </a:avLst>
            </a:prstGeom>
            <a:solidFill>
              <a:srgbClr val="FFFFFF"/>
            </a:solidFill>
            <a:ln w="9525">
              <a:solidFill>
                <a:srgbClr val="000000"/>
              </a:solidFill>
              <a:round/>
              <a:headEnd/>
              <a:tailEnd/>
            </a:ln>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295400" y="914400"/>
            <a:ext cx="6400800" cy="457200"/>
          </a:xfrm>
          <a:prstGeom prst="rect">
            <a:avLst/>
          </a:prstGeom>
          <a:noFill/>
          <a:ln w="9525">
            <a:noFill/>
            <a:miter lim="800000"/>
            <a:headEnd/>
            <a:tailEnd/>
          </a:ln>
          <a:effectLst/>
        </p:spPr>
        <p:txBody>
          <a:bodyPr>
            <a:spAutoFit/>
          </a:bodyPr>
          <a:lstStyle/>
          <a:p>
            <a:pPr>
              <a:spcBef>
                <a:spcPct val="50000"/>
              </a:spcBef>
            </a:pPr>
            <a:r>
              <a:rPr kumimoji="1" lang="en-US" altLang="zh-CN" sz="2400">
                <a:latin typeface="Times New Roman" pitchFamily="18" charset="0"/>
              </a:rPr>
              <a:t>B </a:t>
            </a:r>
            <a:r>
              <a:rPr kumimoji="1" lang="zh-CN" altLang="en-US" sz="2400">
                <a:latin typeface="Times New Roman" pitchFamily="18" charset="0"/>
              </a:rPr>
              <a:t>、许多终端共用一条线路。</a:t>
            </a:r>
          </a:p>
        </p:txBody>
      </p:sp>
      <p:sp>
        <p:nvSpPr>
          <p:cNvPr id="9219" name="Text Box 3"/>
          <p:cNvSpPr txBox="1">
            <a:spLocks noChangeArrowheads="1"/>
          </p:cNvSpPr>
          <p:nvPr/>
        </p:nvSpPr>
        <p:spPr bwMode="auto">
          <a:xfrm>
            <a:off x="1295400" y="5029200"/>
            <a:ext cx="6400800" cy="457200"/>
          </a:xfrm>
          <a:prstGeom prst="rect">
            <a:avLst/>
          </a:prstGeom>
          <a:noFill/>
          <a:ln w="9525">
            <a:noFill/>
            <a:miter lim="800000"/>
            <a:headEnd/>
            <a:tailEnd/>
          </a:ln>
          <a:effectLst/>
        </p:spPr>
        <p:txBody>
          <a:bodyPr>
            <a:spAutoFit/>
          </a:bodyPr>
          <a:lstStyle/>
          <a:p>
            <a:pPr>
              <a:spcBef>
                <a:spcPct val="50000"/>
              </a:spcBef>
            </a:pPr>
            <a:r>
              <a:rPr kumimoji="1" lang="zh-CN" altLang="en-US" sz="2400">
                <a:latin typeface="Times New Roman" pitchFamily="18" charset="0"/>
              </a:rPr>
              <a:t>缺点：主机在通信控制方面的开销较大。</a:t>
            </a:r>
          </a:p>
        </p:txBody>
      </p:sp>
      <p:grpSp>
        <p:nvGrpSpPr>
          <p:cNvPr id="9220" name="Group 4"/>
          <p:cNvGrpSpPr>
            <a:grpSpLocks/>
          </p:cNvGrpSpPr>
          <p:nvPr/>
        </p:nvGrpSpPr>
        <p:grpSpPr bwMode="auto">
          <a:xfrm>
            <a:off x="2286000" y="2057400"/>
            <a:ext cx="4495800" cy="2286000"/>
            <a:chOff x="3240" y="6111"/>
            <a:chExt cx="4875" cy="1875"/>
          </a:xfrm>
        </p:grpSpPr>
        <p:sp>
          <p:nvSpPr>
            <p:cNvPr id="9221" name="Text Box 5"/>
            <p:cNvSpPr txBox="1">
              <a:spLocks noChangeArrowheads="1"/>
            </p:cNvSpPr>
            <p:nvPr/>
          </p:nvSpPr>
          <p:spPr bwMode="auto">
            <a:xfrm>
              <a:off x="3240" y="6111"/>
              <a:ext cx="930" cy="450"/>
            </a:xfrm>
            <a:prstGeom prst="rect">
              <a:avLst/>
            </a:prstGeom>
            <a:solidFill>
              <a:srgbClr val="FFFFFF"/>
            </a:solidFill>
            <a:ln w="9525">
              <a:solidFill>
                <a:srgbClr val="000000"/>
              </a:solidFill>
              <a:miter lim="800000"/>
              <a:headEnd/>
              <a:tailEnd/>
            </a:ln>
          </p:spPr>
          <p:txBody>
            <a:bodyPr/>
            <a:lstStyle/>
            <a:p>
              <a:pPr algn="ctr" eaLnBrk="0" hangingPunct="0"/>
              <a:r>
                <a:rPr lang="en-US" altLang="zh-CN" sz="1000">
                  <a:latin typeface="Times New Roman" pitchFamily="18" charset="0"/>
                </a:rPr>
                <a:t>HOST</a:t>
              </a:r>
            </a:p>
          </p:txBody>
        </p:sp>
        <p:sp>
          <p:nvSpPr>
            <p:cNvPr id="9222" name="AutoShape 6"/>
            <p:cNvSpPr>
              <a:spLocks noChangeArrowheads="1"/>
            </p:cNvSpPr>
            <p:nvPr/>
          </p:nvSpPr>
          <p:spPr bwMode="auto">
            <a:xfrm>
              <a:off x="7500" y="7326"/>
              <a:ext cx="615" cy="645"/>
            </a:xfrm>
            <a:prstGeom prst="flowChartExtract">
              <a:avLst/>
            </a:prstGeom>
            <a:solidFill>
              <a:srgbClr val="FFFFFF"/>
            </a:solidFill>
            <a:ln w="9525">
              <a:solidFill>
                <a:srgbClr val="000000"/>
              </a:solidFill>
              <a:miter lim="800000"/>
              <a:headEnd/>
              <a:tailEnd/>
            </a:ln>
          </p:spPr>
          <p:txBody>
            <a:bodyPr/>
            <a:lstStyle/>
            <a:p>
              <a:pPr algn="just" eaLnBrk="0" hangingPunct="0"/>
              <a:r>
                <a:rPr lang="en-US" altLang="zh-CN" sz="1000">
                  <a:latin typeface="Times New Roman" pitchFamily="18" charset="0"/>
                </a:rPr>
                <a:t>T</a:t>
              </a:r>
            </a:p>
          </p:txBody>
        </p:sp>
        <p:sp>
          <p:nvSpPr>
            <p:cNvPr id="9223" name="Line 7"/>
            <p:cNvSpPr>
              <a:spLocks noChangeShapeType="1"/>
            </p:cNvSpPr>
            <p:nvPr/>
          </p:nvSpPr>
          <p:spPr bwMode="auto">
            <a:xfrm>
              <a:off x="4200" y="6366"/>
              <a:ext cx="1125" cy="0"/>
            </a:xfrm>
            <a:prstGeom prst="line">
              <a:avLst/>
            </a:prstGeom>
            <a:noFill/>
            <a:ln w="9525">
              <a:solidFill>
                <a:srgbClr val="000000"/>
              </a:solidFill>
              <a:round/>
              <a:headEnd/>
              <a:tailEnd/>
            </a:ln>
          </p:spPr>
          <p:txBody>
            <a:bodyPr/>
            <a:lstStyle/>
            <a:p>
              <a:endParaRPr lang="zh-CN" altLang="en-US"/>
            </a:p>
          </p:txBody>
        </p:sp>
        <p:sp>
          <p:nvSpPr>
            <p:cNvPr id="9224" name="Line 8"/>
            <p:cNvSpPr>
              <a:spLocks noChangeShapeType="1"/>
            </p:cNvSpPr>
            <p:nvPr/>
          </p:nvSpPr>
          <p:spPr bwMode="auto">
            <a:xfrm flipV="1">
              <a:off x="7800" y="6351"/>
              <a:ext cx="0" cy="975"/>
            </a:xfrm>
            <a:prstGeom prst="line">
              <a:avLst/>
            </a:prstGeom>
            <a:noFill/>
            <a:ln w="9525">
              <a:solidFill>
                <a:srgbClr val="000000"/>
              </a:solidFill>
              <a:round/>
              <a:headEnd/>
              <a:tailEnd/>
            </a:ln>
          </p:spPr>
          <p:txBody>
            <a:bodyPr/>
            <a:lstStyle/>
            <a:p>
              <a:endParaRPr lang="zh-CN" altLang="en-US"/>
            </a:p>
          </p:txBody>
        </p:sp>
        <p:sp>
          <p:nvSpPr>
            <p:cNvPr id="9225" name="Line 9"/>
            <p:cNvSpPr>
              <a:spLocks noChangeShapeType="1"/>
            </p:cNvSpPr>
            <p:nvPr/>
          </p:nvSpPr>
          <p:spPr bwMode="auto">
            <a:xfrm>
              <a:off x="5610" y="6366"/>
              <a:ext cx="2175" cy="0"/>
            </a:xfrm>
            <a:prstGeom prst="line">
              <a:avLst/>
            </a:prstGeom>
            <a:noFill/>
            <a:ln w="9525">
              <a:solidFill>
                <a:srgbClr val="000000"/>
              </a:solidFill>
              <a:round/>
              <a:headEnd/>
              <a:tailEnd/>
            </a:ln>
          </p:spPr>
          <p:txBody>
            <a:bodyPr/>
            <a:lstStyle/>
            <a:p>
              <a:endParaRPr lang="zh-CN" altLang="en-US"/>
            </a:p>
          </p:txBody>
        </p:sp>
        <p:sp>
          <p:nvSpPr>
            <p:cNvPr id="9226" name="AutoShape 10"/>
            <p:cNvSpPr>
              <a:spLocks noChangeArrowheads="1"/>
            </p:cNvSpPr>
            <p:nvPr/>
          </p:nvSpPr>
          <p:spPr bwMode="auto">
            <a:xfrm>
              <a:off x="5400" y="6231"/>
              <a:ext cx="143" cy="345"/>
            </a:xfrm>
            <a:prstGeom prst="wave">
              <a:avLst>
                <a:gd name="adj1" fmla="val 13005"/>
                <a:gd name="adj2" fmla="val 0"/>
              </a:avLst>
            </a:prstGeom>
            <a:solidFill>
              <a:srgbClr val="FFFFFF"/>
            </a:solidFill>
            <a:ln w="9525">
              <a:solidFill>
                <a:srgbClr val="000000"/>
              </a:solidFill>
              <a:round/>
              <a:headEnd/>
              <a:tailEnd/>
            </a:ln>
          </p:spPr>
          <p:txBody>
            <a:bodyPr/>
            <a:lstStyle/>
            <a:p>
              <a:endParaRPr lang="zh-CN" altLang="en-US"/>
            </a:p>
          </p:txBody>
        </p:sp>
        <p:sp>
          <p:nvSpPr>
            <p:cNvPr id="9227" name="AutoShape 11"/>
            <p:cNvSpPr>
              <a:spLocks noChangeArrowheads="1"/>
            </p:cNvSpPr>
            <p:nvPr/>
          </p:nvSpPr>
          <p:spPr bwMode="auto">
            <a:xfrm>
              <a:off x="6525" y="7326"/>
              <a:ext cx="615" cy="645"/>
            </a:xfrm>
            <a:prstGeom prst="flowChartExtract">
              <a:avLst/>
            </a:prstGeom>
            <a:solidFill>
              <a:srgbClr val="FFFFFF"/>
            </a:solidFill>
            <a:ln w="9525">
              <a:solidFill>
                <a:srgbClr val="000000"/>
              </a:solidFill>
              <a:miter lim="800000"/>
              <a:headEnd/>
              <a:tailEnd/>
            </a:ln>
          </p:spPr>
          <p:txBody>
            <a:bodyPr/>
            <a:lstStyle/>
            <a:p>
              <a:pPr algn="just" eaLnBrk="0" hangingPunct="0"/>
              <a:r>
                <a:rPr lang="en-US" altLang="zh-CN" sz="1000">
                  <a:latin typeface="Times New Roman" pitchFamily="18" charset="0"/>
                </a:rPr>
                <a:t>T</a:t>
              </a:r>
            </a:p>
          </p:txBody>
        </p:sp>
        <p:sp>
          <p:nvSpPr>
            <p:cNvPr id="9228" name="Line 12"/>
            <p:cNvSpPr>
              <a:spLocks noChangeShapeType="1"/>
            </p:cNvSpPr>
            <p:nvPr/>
          </p:nvSpPr>
          <p:spPr bwMode="auto">
            <a:xfrm flipV="1">
              <a:off x="6825" y="6351"/>
              <a:ext cx="0" cy="975"/>
            </a:xfrm>
            <a:prstGeom prst="line">
              <a:avLst/>
            </a:prstGeom>
            <a:noFill/>
            <a:ln w="9525">
              <a:solidFill>
                <a:srgbClr val="000000"/>
              </a:solidFill>
              <a:round/>
              <a:headEnd/>
              <a:tailEnd/>
            </a:ln>
          </p:spPr>
          <p:txBody>
            <a:bodyPr/>
            <a:lstStyle/>
            <a:p>
              <a:endParaRPr lang="zh-CN" altLang="en-US"/>
            </a:p>
          </p:txBody>
        </p:sp>
        <p:sp>
          <p:nvSpPr>
            <p:cNvPr id="9229" name="AutoShape 13"/>
            <p:cNvSpPr>
              <a:spLocks noChangeArrowheads="1"/>
            </p:cNvSpPr>
            <p:nvPr/>
          </p:nvSpPr>
          <p:spPr bwMode="auto">
            <a:xfrm>
              <a:off x="5565" y="7341"/>
              <a:ext cx="615" cy="645"/>
            </a:xfrm>
            <a:prstGeom prst="flowChartExtract">
              <a:avLst/>
            </a:prstGeom>
            <a:solidFill>
              <a:srgbClr val="FFFFFF"/>
            </a:solidFill>
            <a:ln w="9525">
              <a:solidFill>
                <a:srgbClr val="000000"/>
              </a:solidFill>
              <a:miter lim="800000"/>
              <a:headEnd/>
              <a:tailEnd/>
            </a:ln>
          </p:spPr>
          <p:txBody>
            <a:bodyPr/>
            <a:lstStyle/>
            <a:p>
              <a:pPr algn="just" eaLnBrk="0" hangingPunct="0"/>
              <a:r>
                <a:rPr lang="en-US" altLang="zh-CN" sz="1000">
                  <a:latin typeface="Times New Roman" pitchFamily="18" charset="0"/>
                </a:rPr>
                <a:t>T</a:t>
              </a:r>
            </a:p>
          </p:txBody>
        </p:sp>
        <p:sp>
          <p:nvSpPr>
            <p:cNvPr id="9230" name="Line 14"/>
            <p:cNvSpPr>
              <a:spLocks noChangeShapeType="1"/>
            </p:cNvSpPr>
            <p:nvPr/>
          </p:nvSpPr>
          <p:spPr bwMode="auto">
            <a:xfrm flipV="1">
              <a:off x="5865" y="6366"/>
              <a:ext cx="0" cy="975"/>
            </a:xfrm>
            <a:prstGeom prst="line">
              <a:avLst/>
            </a:prstGeom>
            <a:noFill/>
            <a:ln w="9525">
              <a:solidFill>
                <a:srgbClr val="000000"/>
              </a:solidFill>
              <a:round/>
              <a:headEnd/>
              <a:tailEnd/>
            </a:ln>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9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1219200" y="533400"/>
            <a:ext cx="6400800" cy="1552575"/>
          </a:xfrm>
          <a:prstGeom prst="rect">
            <a:avLst/>
          </a:prstGeom>
          <a:noFill/>
          <a:ln w="9525">
            <a:noFill/>
            <a:miter lim="800000"/>
            <a:headEnd/>
            <a:tailEnd/>
          </a:ln>
          <a:effectLst/>
        </p:spPr>
        <p:txBody>
          <a:bodyPr>
            <a:spAutoFit/>
          </a:bodyPr>
          <a:lstStyle/>
          <a:p>
            <a:pPr>
              <a:spcBef>
                <a:spcPct val="50000"/>
              </a:spcBef>
            </a:pPr>
            <a:r>
              <a:rPr kumimoji="1" lang="en-US" altLang="zh-CN" sz="2400">
                <a:latin typeface="Times New Roman" pitchFamily="18" charset="0"/>
              </a:rPr>
              <a:t>C </a:t>
            </a:r>
            <a:r>
              <a:rPr kumimoji="1" lang="zh-CN" altLang="en-US" sz="2400">
                <a:latin typeface="Times New Roman" pitchFamily="18" charset="0"/>
              </a:rPr>
              <a:t>、在终端和计算机之间加入通信控制器，用来专门负责与终端之间的通信控制，提高主机利用率；同时在终端较集中的地方又加入了集中器以提高通信效率。</a:t>
            </a:r>
          </a:p>
        </p:txBody>
      </p:sp>
      <p:grpSp>
        <p:nvGrpSpPr>
          <p:cNvPr id="10243" name="Group 3"/>
          <p:cNvGrpSpPr>
            <a:grpSpLocks/>
          </p:cNvGrpSpPr>
          <p:nvPr/>
        </p:nvGrpSpPr>
        <p:grpSpPr bwMode="auto">
          <a:xfrm>
            <a:off x="1905000" y="1828800"/>
            <a:ext cx="4876800" cy="3276600"/>
            <a:chOff x="3225" y="8616"/>
            <a:chExt cx="6915" cy="3657"/>
          </a:xfrm>
        </p:grpSpPr>
        <p:sp>
          <p:nvSpPr>
            <p:cNvPr id="10244" name="Text Box 4"/>
            <p:cNvSpPr txBox="1">
              <a:spLocks noChangeArrowheads="1"/>
            </p:cNvSpPr>
            <p:nvPr/>
          </p:nvSpPr>
          <p:spPr bwMode="auto">
            <a:xfrm>
              <a:off x="3225" y="9876"/>
              <a:ext cx="930" cy="450"/>
            </a:xfrm>
            <a:prstGeom prst="rect">
              <a:avLst/>
            </a:prstGeom>
            <a:solidFill>
              <a:srgbClr val="FFFFFF"/>
            </a:solidFill>
            <a:ln w="9525">
              <a:solidFill>
                <a:srgbClr val="000000"/>
              </a:solidFill>
              <a:miter lim="800000"/>
              <a:headEnd/>
              <a:tailEnd/>
            </a:ln>
          </p:spPr>
          <p:txBody>
            <a:bodyPr/>
            <a:lstStyle/>
            <a:p>
              <a:pPr algn="ctr" eaLnBrk="0" hangingPunct="0"/>
              <a:r>
                <a:rPr lang="en-US" altLang="zh-CN" sz="1000">
                  <a:latin typeface="Times New Roman" pitchFamily="18" charset="0"/>
                </a:rPr>
                <a:t>HOST</a:t>
              </a:r>
            </a:p>
          </p:txBody>
        </p:sp>
        <p:sp>
          <p:nvSpPr>
            <p:cNvPr id="10245" name="Text Box 5"/>
            <p:cNvSpPr txBox="1">
              <a:spLocks noChangeArrowheads="1"/>
            </p:cNvSpPr>
            <p:nvPr/>
          </p:nvSpPr>
          <p:spPr bwMode="auto">
            <a:xfrm>
              <a:off x="4545" y="9891"/>
              <a:ext cx="930" cy="450"/>
            </a:xfrm>
            <a:prstGeom prst="rect">
              <a:avLst/>
            </a:prstGeom>
            <a:solidFill>
              <a:srgbClr val="FFFFFF"/>
            </a:solidFill>
            <a:ln w="9525">
              <a:solidFill>
                <a:srgbClr val="000000"/>
              </a:solidFill>
              <a:miter lim="800000"/>
              <a:headEnd/>
              <a:tailEnd/>
            </a:ln>
          </p:spPr>
          <p:txBody>
            <a:bodyPr/>
            <a:lstStyle/>
            <a:p>
              <a:pPr algn="ctr" eaLnBrk="0" hangingPunct="0"/>
              <a:r>
                <a:rPr lang="en-US" altLang="zh-CN" sz="1000">
                  <a:latin typeface="Times New Roman" pitchFamily="18" charset="0"/>
                </a:rPr>
                <a:t>CCU</a:t>
              </a:r>
            </a:p>
          </p:txBody>
        </p:sp>
        <p:sp>
          <p:nvSpPr>
            <p:cNvPr id="10246" name="AutoShape 6"/>
            <p:cNvSpPr>
              <a:spLocks noChangeArrowheads="1"/>
            </p:cNvSpPr>
            <p:nvPr/>
          </p:nvSpPr>
          <p:spPr bwMode="auto">
            <a:xfrm>
              <a:off x="6660" y="9447"/>
              <a:ext cx="143" cy="345"/>
            </a:xfrm>
            <a:prstGeom prst="wave">
              <a:avLst>
                <a:gd name="adj1" fmla="val 13005"/>
                <a:gd name="adj2" fmla="val 0"/>
              </a:avLst>
            </a:prstGeom>
            <a:solidFill>
              <a:srgbClr val="FFFFFF"/>
            </a:solidFill>
            <a:ln w="9525">
              <a:solidFill>
                <a:srgbClr val="000000"/>
              </a:solidFill>
              <a:round/>
              <a:headEnd/>
              <a:tailEnd/>
            </a:ln>
          </p:spPr>
          <p:txBody>
            <a:bodyPr/>
            <a:lstStyle/>
            <a:p>
              <a:endParaRPr lang="zh-CN" altLang="en-US"/>
            </a:p>
          </p:txBody>
        </p:sp>
        <p:sp>
          <p:nvSpPr>
            <p:cNvPr id="10247" name="AutoShape 7"/>
            <p:cNvSpPr>
              <a:spLocks noChangeArrowheads="1"/>
            </p:cNvSpPr>
            <p:nvPr/>
          </p:nvSpPr>
          <p:spPr bwMode="auto">
            <a:xfrm>
              <a:off x="6660" y="10617"/>
              <a:ext cx="143" cy="345"/>
            </a:xfrm>
            <a:prstGeom prst="wave">
              <a:avLst>
                <a:gd name="adj1" fmla="val 13005"/>
                <a:gd name="adj2" fmla="val 0"/>
              </a:avLst>
            </a:prstGeom>
            <a:solidFill>
              <a:srgbClr val="FFFFFF"/>
            </a:solidFill>
            <a:ln w="9525">
              <a:solidFill>
                <a:srgbClr val="000000"/>
              </a:solidFill>
              <a:round/>
              <a:headEnd/>
              <a:tailEnd/>
            </a:ln>
          </p:spPr>
          <p:txBody>
            <a:bodyPr/>
            <a:lstStyle/>
            <a:p>
              <a:endParaRPr lang="zh-CN" altLang="en-US"/>
            </a:p>
          </p:txBody>
        </p:sp>
        <p:sp>
          <p:nvSpPr>
            <p:cNvPr id="10248" name="Text Box 8"/>
            <p:cNvSpPr txBox="1">
              <a:spLocks noChangeArrowheads="1"/>
            </p:cNvSpPr>
            <p:nvPr/>
          </p:nvSpPr>
          <p:spPr bwMode="auto">
            <a:xfrm>
              <a:off x="7770" y="9306"/>
              <a:ext cx="630" cy="450"/>
            </a:xfrm>
            <a:prstGeom prst="rect">
              <a:avLst/>
            </a:prstGeom>
            <a:solidFill>
              <a:srgbClr val="FFFFFF"/>
            </a:solidFill>
            <a:ln w="9525">
              <a:solidFill>
                <a:srgbClr val="000000"/>
              </a:solidFill>
              <a:miter lim="800000"/>
              <a:headEnd/>
              <a:tailEnd/>
            </a:ln>
          </p:spPr>
          <p:txBody>
            <a:bodyPr/>
            <a:lstStyle/>
            <a:p>
              <a:pPr algn="ctr" eaLnBrk="0" hangingPunct="0"/>
              <a:r>
                <a:rPr lang="en-US" altLang="zh-CN" sz="1000">
                  <a:latin typeface="Times New Roman" pitchFamily="18" charset="0"/>
                </a:rPr>
                <a:t>TC</a:t>
              </a:r>
            </a:p>
          </p:txBody>
        </p:sp>
        <p:sp>
          <p:nvSpPr>
            <p:cNvPr id="10249" name="Text Box 9"/>
            <p:cNvSpPr txBox="1">
              <a:spLocks noChangeArrowheads="1"/>
            </p:cNvSpPr>
            <p:nvPr/>
          </p:nvSpPr>
          <p:spPr bwMode="auto">
            <a:xfrm>
              <a:off x="7740" y="10611"/>
              <a:ext cx="660" cy="450"/>
            </a:xfrm>
            <a:prstGeom prst="rect">
              <a:avLst/>
            </a:prstGeom>
            <a:solidFill>
              <a:srgbClr val="FFFFFF"/>
            </a:solidFill>
            <a:ln w="9525">
              <a:solidFill>
                <a:srgbClr val="000000"/>
              </a:solidFill>
              <a:miter lim="800000"/>
              <a:headEnd/>
              <a:tailEnd/>
            </a:ln>
          </p:spPr>
          <p:txBody>
            <a:bodyPr/>
            <a:lstStyle/>
            <a:p>
              <a:pPr algn="ctr" eaLnBrk="0" hangingPunct="0"/>
              <a:r>
                <a:rPr lang="en-US" altLang="zh-CN" sz="1000">
                  <a:latin typeface="Times New Roman" pitchFamily="18" charset="0"/>
                </a:rPr>
                <a:t>TC</a:t>
              </a:r>
            </a:p>
          </p:txBody>
        </p:sp>
        <p:sp>
          <p:nvSpPr>
            <p:cNvPr id="10250" name="AutoShape 10"/>
            <p:cNvSpPr>
              <a:spLocks noChangeArrowheads="1"/>
            </p:cNvSpPr>
            <p:nvPr/>
          </p:nvSpPr>
          <p:spPr bwMode="auto">
            <a:xfrm>
              <a:off x="9405" y="8616"/>
              <a:ext cx="615" cy="645"/>
            </a:xfrm>
            <a:prstGeom prst="flowChartExtract">
              <a:avLst/>
            </a:prstGeom>
            <a:solidFill>
              <a:srgbClr val="FFFFFF"/>
            </a:solidFill>
            <a:ln w="9525">
              <a:solidFill>
                <a:srgbClr val="000000"/>
              </a:solidFill>
              <a:miter lim="800000"/>
              <a:headEnd/>
              <a:tailEnd/>
            </a:ln>
          </p:spPr>
          <p:txBody>
            <a:bodyPr/>
            <a:lstStyle/>
            <a:p>
              <a:pPr algn="just" eaLnBrk="0" hangingPunct="0"/>
              <a:r>
                <a:rPr lang="en-US" altLang="zh-CN" sz="1000">
                  <a:latin typeface="Times New Roman" pitchFamily="18" charset="0"/>
                </a:rPr>
                <a:t>T</a:t>
              </a:r>
            </a:p>
          </p:txBody>
        </p:sp>
        <p:sp>
          <p:nvSpPr>
            <p:cNvPr id="10251" name="AutoShape 11"/>
            <p:cNvSpPr>
              <a:spLocks noChangeArrowheads="1"/>
            </p:cNvSpPr>
            <p:nvPr/>
          </p:nvSpPr>
          <p:spPr bwMode="auto">
            <a:xfrm>
              <a:off x="9405" y="9633"/>
              <a:ext cx="615" cy="645"/>
            </a:xfrm>
            <a:prstGeom prst="flowChartExtract">
              <a:avLst/>
            </a:prstGeom>
            <a:solidFill>
              <a:srgbClr val="FFFFFF"/>
            </a:solidFill>
            <a:ln w="9525">
              <a:solidFill>
                <a:srgbClr val="000000"/>
              </a:solidFill>
              <a:miter lim="800000"/>
              <a:headEnd/>
              <a:tailEnd/>
            </a:ln>
          </p:spPr>
          <p:txBody>
            <a:bodyPr/>
            <a:lstStyle/>
            <a:p>
              <a:pPr algn="just" eaLnBrk="0" hangingPunct="0"/>
              <a:r>
                <a:rPr lang="en-US" altLang="zh-CN" sz="1000">
                  <a:latin typeface="Times New Roman" pitchFamily="18" charset="0"/>
                </a:rPr>
                <a:t>T</a:t>
              </a:r>
            </a:p>
          </p:txBody>
        </p:sp>
        <p:sp>
          <p:nvSpPr>
            <p:cNvPr id="10252" name="AutoShape 12"/>
            <p:cNvSpPr>
              <a:spLocks noChangeArrowheads="1"/>
            </p:cNvSpPr>
            <p:nvPr/>
          </p:nvSpPr>
          <p:spPr bwMode="auto">
            <a:xfrm>
              <a:off x="9480" y="10413"/>
              <a:ext cx="615" cy="645"/>
            </a:xfrm>
            <a:prstGeom prst="flowChartExtract">
              <a:avLst/>
            </a:prstGeom>
            <a:solidFill>
              <a:srgbClr val="FFFFFF"/>
            </a:solidFill>
            <a:ln w="9525">
              <a:solidFill>
                <a:srgbClr val="000000"/>
              </a:solidFill>
              <a:miter lim="800000"/>
              <a:headEnd/>
              <a:tailEnd/>
            </a:ln>
          </p:spPr>
          <p:txBody>
            <a:bodyPr/>
            <a:lstStyle/>
            <a:p>
              <a:pPr algn="just" eaLnBrk="0" hangingPunct="0"/>
              <a:r>
                <a:rPr lang="en-US" altLang="zh-CN" sz="1000">
                  <a:latin typeface="Times New Roman" pitchFamily="18" charset="0"/>
                </a:rPr>
                <a:t>T</a:t>
              </a:r>
            </a:p>
          </p:txBody>
        </p:sp>
        <p:sp>
          <p:nvSpPr>
            <p:cNvPr id="10253" name="Line 13"/>
            <p:cNvSpPr>
              <a:spLocks noChangeShapeType="1"/>
            </p:cNvSpPr>
            <p:nvPr/>
          </p:nvSpPr>
          <p:spPr bwMode="auto">
            <a:xfrm>
              <a:off x="4170" y="10128"/>
              <a:ext cx="360" cy="0"/>
            </a:xfrm>
            <a:prstGeom prst="line">
              <a:avLst/>
            </a:prstGeom>
            <a:noFill/>
            <a:ln w="9525">
              <a:solidFill>
                <a:srgbClr val="000000"/>
              </a:solidFill>
              <a:round/>
              <a:headEnd/>
              <a:tailEnd/>
            </a:ln>
          </p:spPr>
          <p:txBody>
            <a:bodyPr/>
            <a:lstStyle/>
            <a:p>
              <a:endParaRPr lang="zh-CN" altLang="en-US"/>
            </a:p>
          </p:txBody>
        </p:sp>
        <p:sp>
          <p:nvSpPr>
            <p:cNvPr id="10254" name="Line 14"/>
            <p:cNvSpPr>
              <a:spLocks noChangeShapeType="1"/>
            </p:cNvSpPr>
            <p:nvPr/>
          </p:nvSpPr>
          <p:spPr bwMode="auto">
            <a:xfrm flipV="1">
              <a:off x="5490" y="9618"/>
              <a:ext cx="1125" cy="480"/>
            </a:xfrm>
            <a:prstGeom prst="line">
              <a:avLst/>
            </a:prstGeom>
            <a:noFill/>
            <a:ln w="9525">
              <a:solidFill>
                <a:srgbClr val="000000"/>
              </a:solidFill>
              <a:round/>
              <a:headEnd/>
              <a:tailEnd/>
            </a:ln>
          </p:spPr>
          <p:txBody>
            <a:bodyPr/>
            <a:lstStyle/>
            <a:p>
              <a:endParaRPr lang="zh-CN" altLang="en-US"/>
            </a:p>
          </p:txBody>
        </p:sp>
        <p:sp>
          <p:nvSpPr>
            <p:cNvPr id="10255" name="Line 15"/>
            <p:cNvSpPr>
              <a:spLocks noChangeShapeType="1"/>
            </p:cNvSpPr>
            <p:nvPr/>
          </p:nvSpPr>
          <p:spPr bwMode="auto">
            <a:xfrm>
              <a:off x="5475" y="10128"/>
              <a:ext cx="1155" cy="630"/>
            </a:xfrm>
            <a:prstGeom prst="line">
              <a:avLst/>
            </a:prstGeom>
            <a:noFill/>
            <a:ln w="9525">
              <a:solidFill>
                <a:srgbClr val="000000"/>
              </a:solidFill>
              <a:round/>
              <a:headEnd/>
              <a:tailEnd/>
            </a:ln>
          </p:spPr>
          <p:txBody>
            <a:bodyPr/>
            <a:lstStyle/>
            <a:p>
              <a:endParaRPr lang="zh-CN" altLang="en-US"/>
            </a:p>
          </p:txBody>
        </p:sp>
        <p:sp>
          <p:nvSpPr>
            <p:cNvPr id="10256" name="Line 16"/>
            <p:cNvSpPr>
              <a:spLocks noChangeShapeType="1"/>
            </p:cNvSpPr>
            <p:nvPr/>
          </p:nvSpPr>
          <p:spPr bwMode="auto">
            <a:xfrm>
              <a:off x="6870" y="9618"/>
              <a:ext cx="900" cy="0"/>
            </a:xfrm>
            <a:prstGeom prst="line">
              <a:avLst/>
            </a:prstGeom>
            <a:noFill/>
            <a:ln w="9525">
              <a:solidFill>
                <a:srgbClr val="000000"/>
              </a:solidFill>
              <a:round/>
              <a:headEnd/>
              <a:tailEnd/>
            </a:ln>
          </p:spPr>
          <p:txBody>
            <a:bodyPr/>
            <a:lstStyle/>
            <a:p>
              <a:endParaRPr lang="zh-CN" altLang="en-US"/>
            </a:p>
          </p:txBody>
        </p:sp>
        <p:sp>
          <p:nvSpPr>
            <p:cNvPr id="10257" name="Line 17"/>
            <p:cNvSpPr>
              <a:spLocks noChangeShapeType="1"/>
            </p:cNvSpPr>
            <p:nvPr/>
          </p:nvSpPr>
          <p:spPr bwMode="auto">
            <a:xfrm>
              <a:off x="6855" y="10818"/>
              <a:ext cx="900" cy="0"/>
            </a:xfrm>
            <a:prstGeom prst="line">
              <a:avLst/>
            </a:prstGeom>
            <a:noFill/>
            <a:ln w="9525">
              <a:solidFill>
                <a:srgbClr val="000000"/>
              </a:solidFill>
              <a:round/>
              <a:headEnd/>
              <a:tailEnd/>
            </a:ln>
          </p:spPr>
          <p:txBody>
            <a:bodyPr/>
            <a:lstStyle/>
            <a:p>
              <a:endParaRPr lang="zh-CN" altLang="en-US"/>
            </a:p>
          </p:txBody>
        </p:sp>
        <p:sp>
          <p:nvSpPr>
            <p:cNvPr id="10258" name="Line 18"/>
            <p:cNvSpPr>
              <a:spLocks noChangeShapeType="1"/>
            </p:cNvSpPr>
            <p:nvPr/>
          </p:nvSpPr>
          <p:spPr bwMode="auto">
            <a:xfrm flipV="1">
              <a:off x="8415" y="8928"/>
              <a:ext cx="1110" cy="615"/>
            </a:xfrm>
            <a:prstGeom prst="line">
              <a:avLst/>
            </a:prstGeom>
            <a:noFill/>
            <a:ln w="9525">
              <a:solidFill>
                <a:srgbClr val="000000"/>
              </a:solidFill>
              <a:round/>
              <a:headEnd/>
              <a:tailEnd/>
            </a:ln>
          </p:spPr>
          <p:txBody>
            <a:bodyPr/>
            <a:lstStyle/>
            <a:p>
              <a:endParaRPr lang="zh-CN" altLang="en-US"/>
            </a:p>
          </p:txBody>
        </p:sp>
        <p:sp>
          <p:nvSpPr>
            <p:cNvPr id="10259" name="Line 19"/>
            <p:cNvSpPr>
              <a:spLocks noChangeShapeType="1"/>
            </p:cNvSpPr>
            <p:nvPr/>
          </p:nvSpPr>
          <p:spPr bwMode="auto">
            <a:xfrm>
              <a:off x="8400" y="9648"/>
              <a:ext cx="1125" cy="345"/>
            </a:xfrm>
            <a:prstGeom prst="line">
              <a:avLst/>
            </a:prstGeom>
            <a:noFill/>
            <a:ln w="9525">
              <a:solidFill>
                <a:srgbClr val="000000"/>
              </a:solidFill>
              <a:round/>
              <a:headEnd/>
              <a:tailEnd/>
            </a:ln>
          </p:spPr>
          <p:txBody>
            <a:bodyPr/>
            <a:lstStyle/>
            <a:p>
              <a:endParaRPr lang="zh-CN" altLang="en-US"/>
            </a:p>
          </p:txBody>
        </p:sp>
        <p:sp>
          <p:nvSpPr>
            <p:cNvPr id="10260" name="Line 20"/>
            <p:cNvSpPr>
              <a:spLocks noChangeShapeType="1"/>
            </p:cNvSpPr>
            <p:nvPr/>
          </p:nvSpPr>
          <p:spPr bwMode="auto">
            <a:xfrm>
              <a:off x="8400" y="10983"/>
              <a:ext cx="1230" cy="1125"/>
            </a:xfrm>
            <a:prstGeom prst="line">
              <a:avLst/>
            </a:prstGeom>
            <a:noFill/>
            <a:ln w="9525">
              <a:solidFill>
                <a:srgbClr val="000000"/>
              </a:solidFill>
              <a:round/>
              <a:headEnd/>
              <a:tailEnd/>
            </a:ln>
          </p:spPr>
          <p:txBody>
            <a:bodyPr/>
            <a:lstStyle/>
            <a:p>
              <a:endParaRPr lang="zh-CN" altLang="en-US"/>
            </a:p>
          </p:txBody>
        </p:sp>
        <p:sp>
          <p:nvSpPr>
            <p:cNvPr id="10261" name="Text Box 21"/>
            <p:cNvSpPr txBox="1">
              <a:spLocks noChangeArrowheads="1"/>
            </p:cNvSpPr>
            <p:nvPr/>
          </p:nvSpPr>
          <p:spPr bwMode="auto">
            <a:xfrm>
              <a:off x="9480" y="9279"/>
              <a:ext cx="615" cy="390"/>
            </a:xfrm>
            <a:prstGeom prst="rect">
              <a:avLst/>
            </a:prstGeom>
            <a:solidFill>
              <a:srgbClr val="FFFFFF"/>
            </a:solidFill>
            <a:ln w="9525">
              <a:solidFill>
                <a:srgbClr val="FFFFFF"/>
              </a:solidFill>
              <a:miter lim="800000"/>
              <a:headEnd/>
              <a:tailEnd/>
            </a:ln>
          </p:spPr>
          <p:txBody>
            <a:bodyPr vert="eaVert"/>
            <a:lstStyle/>
            <a:p>
              <a:pPr algn="just" eaLnBrk="0" hangingPunct="0"/>
              <a:r>
                <a:rPr lang="en-US" altLang="zh-CN" sz="1200" b="1">
                  <a:latin typeface="Times New Roman" pitchFamily="18" charset="0"/>
                </a:rPr>
                <a:t>…</a:t>
              </a:r>
              <a:r>
                <a:rPr lang="en-US" altLang="zh-CN" sz="1000">
                  <a:latin typeface="Times New Roman" pitchFamily="18" charset="0"/>
                </a:rPr>
                <a:t>.</a:t>
              </a:r>
            </a:p>
          </p:txBody>
        </p:sp>
        <p:sp>
          <p:nvSpPr>
            <p:cNvPr id="10262" name="Text Box 22"/>
            <p:cNvSpPr txBox="1">
              <a:spLocks noChangeArrowheads="1"/>
            </p:cNvSpPr>
            <p:nvPr/>
          </p:nvSpPr>
          <p:spPr bwMode="auto">
            <a:xfrm>
              <a:off x="9525" y="11289"/>
              <a:ext cx="615" cy="390"/>
            </a:xfrm>
            <a:prstGeom prst="rect">
              <a:avLst/>
            </a:prstGeom>
            <a:solidFill>
              <a:srgbClr val="FFFFFF"/>
            </a:solidFill>
            <a:ln w="9525">
              <a:solidFill>
                <a:srgbClr val="FFFFFF"/>
              </a:solidFill>
              <a:miter lim="800000"/>
              <a:headEnd/>
              <a:tailEnd/>
            </a:ln>
          </p:spPr>
          <p:txBody>
            <a:bodyPr vert="eaVert"/>
            <a:lstStyle/>
            <a:p>
              <a:pPr algn="just" eaLnBrk="0" hangingPunct="0"/>
              <a:r>
                <a:rPr lang="en-US" altLang="zh-CN" sz="1200" b="1">
                  <a:latin typeface="Times New Roman" pitchFamily="18" charset="0"/>
                </a:rPr>
                <a:t>…</a:t>
              </a:r>
              <a:r>
                <a:rPr lang="en-US" altLang="zh-CN" sz="1000">
                  <a:latin typeface="Times New Roman" pitchFamily="18" charset="0"/>
                </a:rPr>
                <a:t>.</a:t>
              </a:r>
            </a:p>
          </p:txBody>
        </p:sp>
        <p:sp>
          <p:nvSpPr>
            <p:cNvPr id="10263" name="AutoShape 23"/>
            <p:cNvSpPr>
              <a:spLocks noChangeArrowheads="1"/>
            </p:cNvSpPr>
            <p:nvPr/>
          </p:nvSpPr>
          <p:spPr bwMode="auto">
            <a:xfrm>
              <a:off x="9510" y="11628"/>
              <a:ext cx="615" cy="645"/>
            </a:xfrm>
            <a:prstGeom prst="flowChartExtract">
              <a:avLst/>
            </a:prstGeom>
            <a:solidFill>
              <a:srgbClr val="FFFFFF"/>
            </a:solidFill>
            <a:ln w="9525">
              <a:solidFill>
                <a:srgbClr val="000000"/>
              </a:solidFill>
              <a:miter lim="800000"/>
              <a:headEnd/>
              <a:tailEnd/>
            </a:ln>
          </p:spPr>
          <p:txBody>
            <a:bodyPr/>
            <a:lstStyle/>
            <a:p>
              <a:pPr algn="just" eaLnBrk="0" hangingPunct="0"/>
              <a:r>
                <a:rPr lang="en-US" altLang="zh-CN" sz="1000">
                  <a:latin typeface="Times New Roman" pitchFamily="18" charset="0"/>
                </a:rPr>
                <a:t>T</a:t>
              </a:r>
            </a:p>
          </p:txBody>
        </p:sp>
        <p:sp>
          <p:nvSpPr>
            <p:cNvPr id="10264" name="Line 24"/>
            <p:cNvSpPr>
              <a:spLocks noChangeShapeType="1"/>
            </p:cNvSpPr>
            <p:nvPr/>
          </p:nvSpPr>
          <p:spPr bwMode="auto">
            <a:xfrm>
              <a:off x="8400" y="10854"/>
              <a:ext cx="1185" cy="0"/>
            </a:xfrm>
            <a:prstGeom prst="line">
              <a:avLst/>
            </a:prstGeom>
            <a:noFill/>
            <a:ln w="9525">
              <a:solidFill>
                <a:srgbClr val="000000"/>
              </a:solidFill>
              <a:round/>
              <a:headEnd/>
              <a:tailEnd/>
            </a:ln>
          </p:spPr>
          <p:txBody>
            <a:bodyPr/>
            <a:lstStyle/>
            <a:p>
              <a:endParaRPr lang="zh-CN" altLang="en-US"/>
            </a:p>
          </p:txBody>
        </p:sp>
        <p:sp>
          <p:nvSpPr>
            <p:cNvPr id="10265" name="Text Box 25"/>
            <p:cNvSpPr txBox="1">
              <a:spLocks noChangeArrowheads="1"/>
            </p:cNvSpPr>
            <p:nvPr/>
          </p:nvSpPr>
          <p:spPr bwMode="auto">
            <a:xfrm>
              <a:off x="4200" y="10989"/>
              <a:ext cx="1440" cy="510"/>
            </a:xfrm>
            <a:prstGeom prst="rect">
              <a:avLst/>
            </a:prstGeom>
            <a:solidFill>
              <a:srgbClr val="FFFFFF"/>
            </a:solidFill>
            <a:ln w="9525">
              <a:solidFill>
                <a:srgbClr val="FFFFFF"/>
              </a:solidFill>
              <a:miter lim="800000"/>
              <a:headEnd/>
              <a:tailEnd/>
            </a:ln>
          </p:spPr>
          <p:txBody>
            <a:bodyPr/>
            <a:lstStyle/>
            <a:p>
              <a:pPr algn="ctr" eaLnBrk="0" hangingPunct="0"/>
              <a:r>
                <a:rPr lang="zh-CN" altLang="en-US" sz="1000">
                  <a:solidFill>
                    <a:srgbClr val="000000"/>
                  </a:solidFill>
                  <a:latin typeface="Times New Roman" pitchFamily="18" charset="0"/>
                </a:rPr>
                <a:t>通信控制器</a:t>
              </a:r>
              <a:endParaRPr lang="zh-CN" altLang="en-US" sz="1000">
                <a:latin typeface="Times New Roman" pitchFamily="18" charset="0"/>
              </a:endParaRPr>
            </a:p>
          </p:txBody>
        </p:sp>
        <p:sp>
          <p:nvSpPr>
            <p:cNvPr id="10266" name="AutoShape 26"/>
            <p:cNvSpPr>
              <a:spLocks noChangeArrowheads="1"/>
            </p:cNvSpPr>
            <p:nvPr/>
          </p:nvSpPr>
          <p:spPr bwMode="auto">
            <a:xfrm>
              <a:off x="4845" y="10449"/>
              <a:ext cx="143" cy="555"/>
            </a:xfrm>
            <a:prstGeom prst="downArrow">
              <a:avLst>
                <a:gd name="adj1" fmla="val 50000"/>
                <a:gd name="adj2" fmla="val 97028"/>
              </a:avLst>
            </a:prstGeom>
            <a:solidFill>
              <a:srgbClr val="FFFFFF"/>
            </a:solidFill>
            <a:ln w="9525">
              <a:solidFill>
                <a:srgbClr val="000000"/>
              </a:solidFill>
              <a:miter lim="800000"/>
              <a:headEnd/>
              <a:tailEnd/>
            </a:ln>
          </p:spPr>
          <p:txBody>
            <a:bodyPr/>
            <a:lstStyle/>
            <a:p>
              <a:endParaRPr lang="zh-CN" altLang="en-US"/>
            </a:p>
          </p:txBody>
        </p:sp>
        <p:sp>
          <p:nvSpPr>
            <p:cNvPr id="10267" name="Text Box 27"/>
            <p:cNvSpPr txBox="1">
              <a:spLocks noChangeArrowheads="1"/>
            </p:cNvSpPr>
            <p:nvPr/>
          </p:nvSpPr>
          <p:spPr bwMode="auto">
            <a:xfrm>
              <a:off x="7365" y="11574"/>
              <a:ext cx="945" cy="510"/>
            </a:xfrm>
            <a:prstGeom prst="rect">
              <a:avLst/>
            </a:prstGeom>
            <a:solidFill>
              <a:srgbClr val="FFFFFF"/>
            </a:solidFill>
            <a:ln w="9525">
              <a:solidFill>
                <a:srgbClr val="FFFFFF"/>
              </a:solidFill>
              <a:miter lim="800000"/>
              <a:headEnd/>
              <a:tailEnd/>
            </a:ln>
          </p:spPr>
          <p:txBody>
            <a:bodyPr/>
            <a:lstStyle/>
            <a:p>
              <a:pPr algn="ctr" eaLnBrk="0" hangingPunct="0"/>
              <a:r>
                <a:rPr lang="zh-CN" altLang="en-US" sz="1000">
                  <a:solidFill>
                    <a:srgbClr val="000000"/>
                  </a:solidFill>
                  <a:latin typeface="Times New Roman" pitchFamily="18" charset="0"/>
                </a:rPr>
                <a:t>集中器</a:t>
              </a:r>
              <a:endParaRPr lang="zh-CN" altLang="en-US" sz="1000">
                <a:latin typeface="Times New Roman" pitchFamily="18" charset="0"/>
              </a:endParaRPr>
            </a:p>
          </p:txBody>
        </p:sp>
        <p:sp>
          <p:nvSpPr>
            <p:cNvPr id="10268" name="AutoShape 28"/>
            <p:cNvSpPr>
              <a:spLocks noChangeArrowheads="1"/>
            </p:cNvSpPr>
            <p:nvPr/>
          </p:nvSpPr>
          <p:spPr bwMode="auto">
            <a:xfrm>
              <a:off x="7785" y="11109"/>
              <a:ext cx="128" cy="435"/>
            </a:xfrm>
            <a:prstGeom prst="downArrow">
              <a:avLst>
                <a:gd name="adj1" fmla="val 50000"/>
                <a:gd name="adj2" fmla="val 84961"/>
              </a:avLst>
            </a:prstGeom>
            <a:solidFill>
              <a:srgbClr val="FFFFFF"/>
            </a:solidFill>
            <a:ln w="9525">
              <a:solidFill>
                <a:srgbClr val="000000"/>
              </a:solidFill>
              <a:miter lim="800000"/>
              <a:headEnd/>
              <a:tailEnd/>
            </a:ln>
          </p:spPr>
          <p:txBody>
            <a:bodyPr/>
            <a:lstStyle/>
            <a:p>
              <a:endParaRPr lang="zh-CN" altLang="en-US"/>
            </a:p>
          </p:txBody>
        </p:sp>
      </p:grpSp>
      <p:sp>
        <p:nvSpPr>
          <p:cNvPr id="10269" name="Text Box 29"/>
          <p:cNvSpPr txBox="1">
            <a:spLocks noChangeArrowheads="1"/>
          </p:cNvSpPr>
          <p:nvPr/>
        </p:nvSpPr>
        <p:spPr bwMode="auto">
          <a:xfrm>
            <a:off x="1295400" y="5334000"/>
            <a:ext cx="6400800" cy="457200"/>
          </a:xfrm>
          <a:prstGeom prst="rect">
            <a:avLst/>
          </a:prstGeom>
          <a:noFill/>
          <a:ln w="9525">
            <a:noFill/>
            <a:miter lim="800000"/>
            <a:headEnd/>
            <a:tailEnd/>
          </a:ln>
          <a:effectLst/>
        </p:spPr>
        <p:txBody>
          <a:bodyPr>
            <a:spAutoFit/>
          </a:bodyPr>
          <a:lstStyle/>
          <a:p>
            <a:pPr>
              <a:spcBef>
                <a:spcPct val="50000"/>
              </a:spcBef>
            </a:pPr>
            <a:r>
              <a:rPr kumimoji="1" lang="zh-CN" altLang="en-US" sz="2400">
                <a:latin typeface="Times New Roman" pitchFamily="18" charset="0"/>
              </a:rPr>
              <a:t>缺点：整个网络中主机只有一套。</a:t>
            </a:r>
          </a:p>
        </p:txBody>
      </p:sp>
      <p:sp>
        <p:nvSpPr>
          <p:cNvPr id="10270" name="AutoShape 30">
            <a:hlinkClick r:id="rId2" action="ppaction://hlinksldjump" highlightClick="1"/>
          </p:cNvPr>
          <p:cNvSpPr>
            <a:spLocks noChangeArrowheads="1"/>
          </p:cNvSpPr>
          <p:nvPr/>
        </p:nvSpPr>
        <p:spPr bwMode="auto">
          <a:xfrm>
            <a:off x="8305800" y="5410200"/>
            <a:ext cx="381000" cy="304800"/>
          </a:xfrm>
          <a:prstGeom prst="actionButtonBlank">
            <a:avLst/>
          </a:prstGeom>
          <a:solidFill>
            <a:srgbClr val="FFFFFF">
              <a:alpha val="50000"/>
            </a:srgbClr>
          </a:solidFill>
          <a:ln w="9525">
            <a:solidFill>
              <a:srgbClr val="FFFFFF"/>
            </a:solidFill>
            <a:miter lim="800000"/>
            <a:headEnd/>
            <a:tailEnd/>
          </a:ln>
          <a:effec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0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2"/>
          <p:cNvGrpSpPr>
            <a:grpSpLocks/>
          </p:cNvGrpSpPr>
          <p:nvPr/>
        </p:nvGrpSpPr>
        <p:grpSpPr bwMode="auto">
          <a:xfrm>
            <a:off x="2057400" y="1676400"/>
            <a:ext cx="4419600" cy="2895600"/>
            <a:chOff x="3405" y="12573"/>
            <a:chExt cx="5925" cy="2910"/>
          </a:xfrm>
        </p:grpSpPr>
        <p:sp>
          <p:nvSpPr>
            <p:cNvPr id="11267" name="Text Box 3"/>
            <p:cNvSpPr txBox="1">
              <a:spLocks noChangeArrowheads="1"/>
            </p:cNvSpPr>
            <p:nvPr/>
          </p:nvSpPr>
          <p:spPr bwMode="auto">
            <a:xfrm>
              <a:off x="5715" y="13686"/>
              <a:ext cx="930" cy="450"/>
            </a:xfrm>
            <a:prstGeom prst="rect">
              <a:avLst/>
            </a:prstGeom>
            <a:solidFill>
              <a:srgbClr val="FFFFFF"/>
            </a:solidFill>
            <a:ln w="9525">
              <a:solidFill>
                <a:srgbClr val="000000"/>
              </a:solidFill>
              <a:miter lim="800000"/>
              <a:headEnd/>
              <a:tailEnd/>
            </a:ln>
          </p:spPr>
          <p:txBody>
            <a:bodyPr/>
            <a:lstStyle/>
            <a:p>
              <a:pPr algn="ctr" eaLnBrk="0" hangingPunct="0"/>
              <a:r>
                <a:rPr lang="en-US" altLang="zh-CN" sz="1000">
                  <a:latin typeface="Times New Roman" pitchFamily="18" charset="0"/>
                </a:rPr>
                <a:t>HOST</a:t>
              </a:r>
            </a:p>
          </p:txBody>
        </p:sp>
        <p:sp>
          <p:nvSpPr>
            <p:cNvPr id="11268" name="Text Box 4"/>
            <p:cNvSpPr txBox="1">
              <a:spLocks noChangeArrowheads="1"/>
            </p:cNvSpPr>
            <p:nvPr/>
          </p:nvSpPr>
          <p:spPr bwMode="auto">
            <a:xfrm>
              <a:off x="4380" y="15021"/>
              <a:ext cx="930" cy="450"/>
            </a:xfrm>
            <a:prstGeom prst="rect">
              <a:avLst/>
            </a:prstGeom>
            <a:solidFill>
              <a:srgbClr val="FFFFFF"/>
            </a:solidFill>
            <a:ln w="9525">
              <a:solidFill>
                <a:srgbClr val="000000"/>
              </a:solidFill>
              <a:miter lim="800000"/>
              <a:headEnd/>
              <a:tailEnd/>
            </a:ln>
          </p:spPr>
          <p:txBody>
            <a:bodyPr/>
            <a:lstStyle/>
            <a:p>
              <a:pPr algn="ctr" eaLnBrk="0" hangingPunct="0"/>
              <a:r>
                <a:rPr lang="en-US" altLang="zh-CN" sz="1000">
                  <a:latin typeface="Times New Roman" pitchFamily="18" charset="0"/>
                </a:rPr>
                <a:t>HOST</a:t>
              </a:r>
            </a:p>
          </p:txBody>
        </p:sp>
        <p:sp>
          <p:nvSpPr>
            <p:cNvPr id="11269" name="Text Box 5"/>
            <p:cNvSpPr txBox="1">
              <a:spLocks noChangeArrowheads="1"/>
            </p:cNvSpPr>
            <p:nvPr/>
          </p:nvSpPr>
          <p:spPr bwMode="auto">
            <a:xfrm>
              <a:off x="7110" y="14991"/>
              <a:ext cx="930" cy="450"/>
            </a:xfrm>
            <a:prstGeom prst="rect">
              <a:avLst/>
            </a:prstGeom>
            <a:solidFill>
              <a:srgbClr val="FFFFFF"/>
            </a:solidFill>
            <a:ln w="9525">
              <a:solidFill>
                <a:srgbClr val="000000"/>
              </a:solidFill>
              <a:miter lim="800000"/>
              <a:headEnd/>
              <a:tailEnd/>
            </a:ln>
          </p:spPr>
          <p:txBody>
            <a:bodyPr/>
            <a:lstStyle/>
            <a:p>
              <a:pPr algn="ctr" eaLnBrk="0" hangingPunct="0"/>
              <a:r>
                <a:rPr lang="en-US" altLang="zh-CN" sz="1000">
                  <a:latin typeface="Times New Roman" pitchFamily="18" charset="0"/>
                </a:rPr>
                <a:t>HOST</a:t>
              </a:r>
            </a:p>
          </p:txBody>
        </p:sp>
        <p:sp>
          <p:nvSpPr>
            <p:cNvPr id="11270" name="AutoShape 6"/>
            <p:cNvSpPr>
              <a:spLocks noChangeArrowheads="1"/>
            </p:cNvSpPr>
            <p:nvPr/>
          </p:nvSpPr>
          <p:spPr bwMode="auto">
            <a:xfrm>
              <a:off x="6000" y="12573"/>
              <a:ext cx="615" cy="645"/>
            </a:xfrm>
            <a:prstGeom prst="flowChartExtract">
              <a:avLst/>
            </a:prstGeom>
            <a:solidFill>
              <a:srgbClr val="FFFFFF"/>
            </a:solidFill>
            <a:ln w="9525">
              <a:solidFill>
                <a:srgbClr val="000000"/>
              </a:solidFill>
              <a:miter lim="800000"/>
              <a:headEnd/>
              <a:tailEnd/>
            </a:ln>
          </p:spPr>
          <p:txBody>
            <a:bodyPr/>
            <a:lstStyle/>
            <a:p>
              <a:pPr algn="just" eaLnBrk="0" hangingPunct="0"/>
              <a:r>
                <a:rPr lang="en-US" altLang="zh-CN" sz="1000">
                  <a:latin typeface="Times New Roman" pitchFamily="18" charset="0"/>
                </a:rPr>
                <a:t>T</a:t>
              </a:r>
            </a:p>
          </p:txBody>
        </p:sp>
        <p:sp>
          <p:nvSpPr>
            <p:cNvPr id="11271" name="AutoShape 7"/>
            <p:cNvSpPr>
              <a:spLocks noChangeArrowheads="1"/>
            </p:cNvSpPr>
            <p:nvPr/>
          </p:nvSpPr>
          <p:spPr bwMode="auto">
            <a:xfrm>
              <a:off x="7545" y="13323"/>
              <a:ext cx="615" cy="645"/>
            </a:xfrm>
            <a:prstGeom prst="flowChartExtract">
              <a:avLst/>
            </a:prstGeom>
            <a:solidFill>
              <a:srgbClr val="FFFFFF"/>
            </a:solidFill>
            <a:ln w="9525">
              <a:solidFill>
                <a:srgbClr val="000000"/>
              </a:solidFill>
              <a:miter lim="800000"/>
              <a:headEnd/>
              <a:tailEnd/>
            </a:ln>
          </p:spPr>
          <p:txBody>
            <a:bodyPr/>
            <a:lstStyle/>
            <a:p>
              <a:pPr algn="just" eaLnBrk="0" hangingPunct="0"/>
              <a:r>
                <a:rPr lang="en-US" altLang="zh-CN" sz="1000">
                  <a:latin typeface="Times New Roman" pitchFamily="18" charset="0"/>
                </a:rPr>
                <a:t>T</a:t>
              </a:r>
            </a:p>
          </p:txBody>
        </p:sp>
        <p:sp>
          <p:nvSpPr>
            <p:cNvPr id="11272" name="AutoShape 8"/>
            <p:cNvSpPr>
              <a:spLocks noChangeArrowheads="1"/>
            </p:cNvSpPr>
            <p:nvPr/>
          </p:nvSpPr>
          <p:spPr bwMode="auto">
            <a:xfrm>
              <a:off x="8715" y="14763"/>
              <a:ext cx="615" cy="645"/>
            </a:xfrm>
            <a:prstGeom prst="flowChartExtract">
              <a:avLst/>
            </a:prstGeom>
            <a:solidFill>
              <a:srgbClr val="FFFFFF"/>
            </a:solidFill>
            <a:ln w="9525">
              <a:solidFill>
                <a:srgbClr val="000000"/>
              </a:solidFill>
              <a:miter lim="800000"/>
              <a:headEnd/>
              <a:tailEnd/>
            </a:ln>
          </p:spPr>
          <p:txBody>
            <a:bodyPr/>
            <a:lstStyle/>
            <a:p>
              <a:pPr algn="just" eaLnBrk="0" hangingPunct="0"/>
              <a:r>
                <a:rPr lang="en-US" altLang="zh-CN" sz="1000">
                  <a:latin typeface="Times New Roman" pitchFamily="18" charset="0"/>
                </a:rPr>
                <a:t>T</a:t>
              </a:r>
            </a:p>
          </p:txBody>
        </p:sp>
        <p:sp>
          <p:nvSpPr>
            <p:cNvPr id="11273" name="AutoShape 9"/>
            <p:cNvSpPr>
              <a:spLocks noChangeArrowheads="1"/>
            </p:cNvSpPr>
            <p:nvPr/>
          </p:nvSpPr>
          <p:spPr bwMode="auto">
            <a:xfrm>
              <a:off x="3405" y="14838"/>
              <a:ext cx="615" cy="645"/>
            </a:xfrm>
            <a:prstGeom prst="flowChartExtract">
              <a:avLst/>
            </a:prstGeom>
            <a:solidFill>
              <a:srgbClr val="FFFFFF"/>
            </a:solidFill>
            <a:ln w="9525">
              <a:solidFill>
                <a:srgbClr val="000000"/>
              </a:solidFill>
              <a:miter lim="800000"/>
              <a:headEnd/>
              <a:tailEnd/>
            </a:ln>
          </p:spPr>
          <p:txBody>
            <a:bodyPr/>
            <a:lstStyle/>
            <a:p>
              <a:pPr algn="just" eaLnBrk="0" hangingPunct="0"/>
              <a:r>
                <a:rPr lang="en-US" altLang="zh-CN" sz="1000">
                  <a:latin typeface="Times New Roman" pitchFamily="18" charset="0"/>
                </a:rPr>
                <a:t>T</a:t>
              </a:r>
            </a:p>
          </p:txBody>
        </p:sp>
        <p:sp>
          <p:nvSpPr>
            <p:cNvPr id="11274" name="Line 10"/>
            <p:cNvSpPr>
              <a:spLocks noChangeShapeType="1"/>
            </p:cNvSpPr>
            <p:nvPr/>
          </p:nvSpPr>
          <p:spPr bwMode="auto">
            <a:xfrm flipV="1">
              <a:off x="6645" y="13611"/>
              <a:ext cx="1065" cy="165"/>
            </a:xfrm>
            <a:prstGeom prst="line">
              <a:avLst/>
            </a:prstGeom>
            <a:noFill/>
            <a:ln w="9525">
              <a:solidFill>
                <a:srgbClr val="000000"/>
              </a:solidFill>
              <a:round/>
              <a:headEnd/>
              <a:tailEnd/>
            </a:ln>
          </p:spPr>
          <p:txBody>
            <a:bodyPr/>
            <a:lstStyle/>
            <a:p>
              <a:endParaRPr lang="zh-CN" altLang="en-US"/>
            </a:p>
          </p:txBody>
        </p:sp>
        <p:sp>
          <p:nvSpPr>
            <p:cNvPr id="11275" name="Line 11"/>
            <p:cNvSpPr>
              <a:spLocks noChangeShapeType="1"/>
            </p:cNvSpPr>
            <p:nvPr/>
          </p:nvSpPr>
          <p:spPr bwMode="auto">
            <a:xfrm flipV="1">
              <a:off x="6195" y="13206"/>
              <a:ext cx="30" cy="465"/>
            </a:xfrm>
            <a:prstGeom prst="line">
              <a:avLst/>
            </a:prstGeom>
            <a:noFill/>
            <a:ln w="9525">
              <a:solidFill>
                <a:srgbClr val="000000"/>
              </a:solidFill>
              <a:round/>
              <a:headEnd/>
              <a:tailEnd/>
            </a:ln>
          </p:spPr>
          <p:txBody>
            <a:bodyPr/>
            <a:lstStyle/>
            <a:p>
              <a:endParaRPr lang="zh-CN" altLang="en-US"/>
            </a:p>
          </p:txBody>
        </p:sp>
        <p:sp>
          <p:nvSpPr>
            <p:cNvPr id="11276" name="Line 12"/>
            <p:cNvSpPr>
              <a:spLocks noChangeShapeType="1"/>
            </p:cNvSpPr>
            <p:nvPr/>
          </p:nvSpPr>
          <p:spPr bwMode="auto">
            <a:xfrm flipV="1">
              <a:off x="8040" y="15141"/>
              <a:ext cx="825" cy="30"/>
            </a:xfrm>
            <a:prstGeom prst="line">
              <a:avLst/>
            </a:prstGeom>
            <a:noFill/>
            <a:ln w="9525">
              <a:solidFill>
                <a:srgbClr val="000000"/>
              </a:solidFill>
              <a:round/>
              <a:headEnd/>
              <a:tailEnd/>
            </a:ln>
          </p:spPr>
          <p:txBody>
            <a:bodyPr/>
            <a:lstStyle/>
            <a:p>
              <a:endParaRPr lang="zh-CN" altLang="en-US"/>
            </a:p>
          </p:txBody>
        </p:sp>
        <p:sp>
          <p:nvSpPr>
            <p:cNvPr id="11277" name="Line 13"/>
            <p:cNvSpPr>
              <a:spLocks noChangeShapeType="1"/>
            </p:cNvSpPr>
            <p:nvPr/>
          </p:nvSpPr>
          <p:spPr bwMode="auto">
            <a:xfrm>
              <a:off x="3915" y="15228"/>
              <a:ext cx="480" cy="0"/>
            </a:xfrm>
            <a:prstGeom prst="line">
              <a:avLst/>
            </a:prstGeom>
            <a:noFill/>
            <a:ln w="9525">
              <a:solidFill>
                <a:srgbClr val="000000"/>
              </a:solidFill>
              <a:round/>
              <a:headEnd/>
              <a:tailEnd/>
            </a:ln>
          </p:spPr>
          <p:txBody>
            <a:bodyPr/>
            <a:lstStyle/>
            <a:p>
              <a:endParaRPr lang="zh-CN" altLang="en-US"/>
            </a:p>
          </p:txBody>
        </p:sp>
        <p:sp>
          <p:nvSpPr>
            <p:cNvPr id="11278" name="Freeform 14"/>
            <p:cNvSpPr>
              <a:spLocks/>
            </p:cNvSpPr>
            <p:nvPr/>
          </p:nvSpPr>
          <p:spPr bwMode="auto">
            <a:xfrm>
              <a:off x="5040" y="14016"/>
              <a:ext cx="660" cy="990"/>
            </a:xfrm>
            <a:custGeom>
              <a:avLst/>
              <a:gdLst/>
              <a:ahLst/>
              <a:cxnLst>
                <a:cxn ang="0">
                  <a:pos x="660" y="0"/>
                </a:cxn>
                <a:cxn ang="0">
                  <a:pos x="330" y="450"/>
                </a:cxn>
                <a:cxn ang="0">
                  <a:pos x="420" y="495"/>
                </a:cxn>
                <a:cxn ang="0">
                  <a:pos x="0" y="990"/>
                </a:cxn>
              </a:cxnLst>
              <a:rect l="0" t="0" r="r" b="b"/>
              <a:pathLst>
                <a:path w="660" h="990">
                  <a:moveTo>
                    <a:pt x="660" y="0"/>
                  </a:moveTo>
                  <a:cubicBezTo>
                    <a:pt x="515" y="184"/>
                    <a:pt x="370" y="368"/>
                    <a:pt x="330" y="450"/>
                  </a:cubicBezTo>
                  <a:cubicBezTo>
                    <a:pt x="290" y="532"/>
                    <a:pt x="475" y="405"/>
                    <a:pt x="420" y="495"/>
                  </a:cubicBezTo>
                  <a:cubicBezTo>
                    <a:pt x="365" y="585"/>
                    <a:pt x="70" y="905"/>
                    <a:pt x="0" y="990"/>
                  </a:cubicBezTo>
                </a:path>
              </a:pathLst>
            </a:custGeom>
            <a:noFill/>
            <a:ln w="9525">
              <a:solidFill>
                <a:srgbClr val="000000"/>
              </a:solidFill>
              <a:round/>
              <a:headEnd/>
              <a:tailEnd/>
            </a:ln>
          </p:spPr>
          <p:txBody>
            <a:bodyPr/>
            <a:lstStyle/>
            <a:p>
              <a:endParaRPr lang="zh-CN" altLang="en-US"/>
            </a:p>
          </p:txBody>
        </p:sp>
        <p:sp>
          <p:nvSpPr>
            <p:cNvPr id="11279" name="Freeform 15"/>
            <p:cNvSpPr>
              <a:spLocks/>
            </p:cNvSpPr>
            <p:nvPr/>
          </p:nvSpPr>
          <p:spPr bwMode="auto">
            <a:xfrm>
              <a:off x="6660" y="14031"/>
              <a:ext cx="1215" cy="945"/>
            </a:xfrm>
            <a:custGeom>
              <a:avLst/>
              <a:gdLst/>
              <a:ahLst/>
              <a:cxnLst>
                <a:cxn ang="0">
                  <a:pos x="0" y="0"/>
                </a:cxn>
                <a:cxn ang="0">
                  <a:pos x="720" y="405"/>
                </a:cxn>
                <a:cxn ang="0">
                  <a:pos x="645" y="570"/>
                </a:cxn>
                <a:cxn ang="0">
                  <a:pos x="1215" y="945"/>
                </a:cxn>
              </a:cxnLst>
              <a:rect l="0" t="0" r="r" b="b"/>
              <a:pathLst>
                <a:path w="1215" h="945">
                  <a:moveTo>
                    <a:pt x="0" y="0"/>
                  </a:moveTo>
                  <a:cubicBezTo>
                    <a:pt x="306" y="155"/>
                    <a:pt x="612" y="310"/>
                    <a:pt x="720" y="405"/>
                  </a:cubicBezTo>
                  <a:cubicBezTo>
                    <a:pt x="828" y="500"/>
                    <a:pt x="563" y="480"/>
                    <a:pt x="645" y="570"/>
                  </a:cubicBezTo>
                  <a:cubicBezTo>
                    <a:pt x="727" y="660"/>
                    <a:pt x="1123" y="880"/>
                    <a:pt x="1215" y="945"/>
                  </a:cubicBezTo>
                </a:path>
              </a:pathLst>
            </a:custGeom>
            <a:noFill/>
            <a:ln w="9525">
              <a:solidFill>
                <a:srgbClr val="000000"/>
              </a:solidFill>
              <a:round/>
              <a:headEnd/>
              <a:tailEnd/>
            </a:ln>
          </p:spPr>
          <p:txBody>
            <a:bodyPr/>
            <a:lstStyle/>
            <a:p>
              <a:endParaRPr lang="zh-CN" altLang="en-US"/>
            </a:p>
          </p:txBody>
        </p:sp>
        <p:sp>
          <p:nvSpPr>
            <p:cNvPr id="11280" name="Freeform 16"/>
            <p:cNvSpPr>
              <a:spLocks/>
            </p:cNvSpPr>
            <p:nvPr/>
          </p:nvSpPr>
          <p:spPr bwMode="auto">
            <a:xfrm>
              <a:off x="5325" y="15151"/>
              <a:ext cx="1785" cy="207"/>
            </a:xfrm>
            <a:custGeom>
              <a:avLst/>
              <a:gdLst/>
              <a:ahLst/>
              <a:cxnLst>
                <a:cxn ang="0">
                  <a:pos x="0" y="80"/>
                </a:cxn>
                <a:cxn ang="0">
                  <a:pos x="840" y="20"/>
                </a:cxn>
                <a:cxn ang="0">
                  <a:pos x="840" y="200"/>
                </a:cxn>
                <a:cxn ang="0">
                  <a:pos x="1785" y="65"/>
                </a:cxn>
              </a:cxnLst>
              <a:rect l="0" t="0" r="r" b="b"/>
              <a:pathLst>
                <a:path w="1785" h="207">
                  <a:moveTo>
                    <a:pt x="0" y="80"/>
                  </a:moveTo>
                  <a:cubicBezTo>
                    <a:pt x="350" y="40"/>
                    <a:pt x="700" y="0"/>
                    <a:pt x="840" y="20"/>
                  </a:cubicBezTo>
                  <a:cubicBezTo>
                    <a:pt x="980" y="40"/>
                    <a:pt x="683" y="193"/>
                    <a:pt x="840" y="200"/>
                  </a:cubicBezTo>
                  <a:cubicBezTo>
                    <a:pt x="997" y="207"/>
                    <a:pt x="1628" y="87"/>
                    <a:pt x="1785" y="65"/>
                  </a:cubicBezTo>
                </a:path>
              </a:pathLst>
            </a:custGeom>
            <a:noFill/>
            <a:ln w="9525">
              <a:solidFill>
                <a:srgbClr val="000000"/>
              </a:solidFill>
              <a:round/>
              <a:headEnd/>
              <a:tailEnd/>
            </a:ln>
          </p:spPr>
          <p:txBody>
            <a:bodyPr/>
            <a:lstStyle/>
            <a:p>
              <a:endParaRPr lang="zh-CN" altLang="en-US"/>
            </a:p>
          </p:txBody>
        </p:sp>
      </p:grpSp>
      <p:sp>
        <p:nvSpPr>
          <p:cNvPr id="11281" name="Text Box 17"/>
          <p:cNvSpPr txBox="1">
            <a:spLocks noChangeArrowheads="1"/>
          </p:cNvSpPr>
          <p:nvPr/>
        </p:nvSpPr>
        <p:spPr bwMode="auto">
          <a:xfrm>
            <a:off x="1295400" y="914400"/>
            <a:ext cx="6400800" cy="457200"/>
          </a:xfrm>
          <a:prstGeom prst="rect">
            <a:avLst/>
          </a:prstGeom>
          <a:noFill/>
          <a:ln w="9525">
            <a:noFill/>
            <a:miter lim="800000"/>
            <a:headEnd/>
            <a:tailEnd/>
          </a:ln>
          <a:effectLst/>
        </p:spPr>
        <p:txBody>
          <a:bodyPr>
            <a:spAutoFit/>
          </a:bodyPr>
          <a:lstStyle/>
          <a:p>
            <a:pPr>
              <a:spcBef>
                <a:spcPct val="50000"/>
              </a:spcBef>
            </a:pPr>
            <a:r>
              <a:rPr kumimoji="1" lang="en-US" altLang="zh-CN" sz="2400">
                <a:latin typeface="Times New Roman" pitchFamily="18" charset="0"/>
              </a:rPr>
              <a:t>A</a:t>
            </a:r>
            <a:r>
              <a:rPr kumimoji="1" lang="zh-CN" altLang="en-US" sz="2400">
                <a:latin typeface="Times New Roman" pitchFamily="18" charset="0"/>
              </a:rPr>
              <a:t>、一级结构的计算机网络。</a:t>
            </a:r>
          </a:p>
        </p:txBody>
      </p:sp>
      <p:sp>
        <p:nvSpPr>
          <p:cNvPr id="11282" name="Text Box 18"/>
          <p:cNvSpPr txBox="1">
            <a:spLocks noChangeArrowheads="1"/>
          </p:cNvSpPr>
          <p:nvPr/>
        </p:nvSpPr>
        <p:spPr bwMode="auto">
          <a:xfrm>
            <a:off x="1295400" y="5029200"/>
            <a:ext cx="6400800" cy="1187450"/>
          </a:xfrm>
          <a:prstGeom prst="rect">
            <a:avLst/>
          </a:prstGeom>
          <a:noFill/>
          <a:ln w="9525">
            <a:noFill/>
            <a:miter lim="800000"/>
            <a:headEnd/>
            <a:tailEnd/>
          </a:ln>
          <a:effectLst/>
        </p:spPr>
        <p:txBody>
          <a:bodyPr>
            <a:spAutoFit/>
          </a:bodyPr>
          <a:lstStyle/>
          <a:p>
            <a:pPr>
              <a:spcBef>
                <a:spcPct val="50000"/>
              </a:spcBef>
            </a:pPr>
            <a:r>
              <a:rPr kumimoji="1" lang="zh-CN" altLang="en-US" sz="2400">
                <a:latin typeface="Times New Roman" pitchFamily="18" charset="0"/>
              </a:rPr>
              <a:t>缺点：主机与主机间的通信控制由各主机完成，造成主机在通信处理方面的开销较大，无法集中精力处理用户数据。</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2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295400" y="914400"/>
            <a:ext cx="6400800" cy="457200"/>
          </a:xfrm>
          <a:prstGeom prst="rect">
            <a:avLst/>
          </a:prstGeom>
          <a:noFill/>
          <a:ln w="9525">
            <a:noFill/>
            <a:miter lim="800000"/>
            <a:headEnd/>
            <a:tailEnd/>
          </a:ln>
          <a:effectLst/>
        </p:spPr>
        <p:txBody>
          <a:bodyPr>
            <a:spAutoFit/>
          </a:bodyPr>
          <a:lstStyle/>
          <a:p>
            <a:pPr>
              <a:spcBef>
                <a:spcPct val="50000"/>
              </a:spcBef>
            </a:pPr>
            <a:r>
              <a:rPr kumimoji="1" lang="en-US" altLang="zh-CN" sz="2400">
                <a:latin typeface="Times New Roman" pitchFamily="18" charset="0"/>
              </a:rPr>
              <a:t>B</a:t>
            </a:r>
            <a:r>
              <a:rPr kumimoji="1" lang="zh-CN" altLang="en-US" sz="2400">
                <a:latin typeface="Times New Roman" pitchFamily="18" charset="0"/>
              </a:rPr>
              <a:t>、二级结构的计算机网络。</a:t>
            </a:r>
          </a:p>
        </p:txBody>
      </p:sp>
      <p:sp>
        <p:nvSpPr>
          <p:cNvPr id="12291" name="Text Box 3"/>
          <p:cNvSpPr txBox="1">
            <a:spLocks noChangeArrowheads="1"/>
          </p:cNvSpPr>
          <p:nvPr/>
        </p:nvSpPr>
        <p:spPr bwMode="auto">
          <a:xfrm>
            <a:off x="1219200" y="4724400"/>
            <a:ext cx="6400800" cy="822325"/>
          </a:xfrm>
          <a:prstGeom prst="rect">
            <a:avLst/>
          </a:prstGeom>
          <a:noFill/>
          <a:ln w="9525">
            <a:noFill/>
            <a:miter lim="800000"/>
            <a:headEnd/>
            <a:tailEnd/>
          </a:ln>
          <a:effectLst/>
        </p:spPr>
        <p:txBody>
          <a:bodyPr>
            <a:spAutoFit/>
          </a:bodyPr>
          <a:lstStyle/>
          <a:p>
            <a:pPr>
              <a:spcBef>
                <a:spcPct val="50000"/>
              </a:spcBef>
            </a:pPr>
            <a:r>
              <a:rPr kumimoji="1" lang="zh-CN" altLang="en-US" sz="2400">
                <a:latin typeface="Times New Roman" pitchFamily="18" charset="0"/>
              </a:rPr>
              <a:t>缺点：都为自成体系的“封闭”系统。希望建立一个“开放”系统，使网络走向国际标准化。</a:t>
            </a:r>
          </a:p>
        </p:txBody>
      </p:sp>
      <p:pic>
        <p:nvPicPr>
          <p:cNvPr id="12292" name="Picture 4" descr="packnet"/>
          <p:cNvPicPr>
            <a:picLocks noChangeAspect="1" noChangeArrowheads="1"/>
          </p:cNvPicPr>
          <p:nvPr/>
        </p:nvPicPr>
        <p:blipFill>
          <a:blip r:embed="rId2"/>
          <a:srcRect/>
          <a:stretch>
            <a:fillRect/>
          </a:stretch>
        </p:blipFill>
        <p:spPr bwMode="auto">
          <a:xfrm>
            <a:off x="1905000" y="1828800"/>
            <a:ext cx="5410200" cy="2400300"/>
          </a:xfrm>
          <a:prstGeom prst="rect">
            <a:avLst/>
          </a:prstGeom>
          <a:noFill/>
          <a:ln w="9525">
            <a:noFill/>
            <a:miter lim="800000"/>
            <a:headEnd/>
            <a:tailEnd/>
          </a:ln>
        </p:spPr>
      </p:pic>
      <p:sp>
        <p:nvSpPr>
          <p:cNvPr id="12293" name="AutoShape 5">
            <a:hlinkClick r:id="rId3" action="ppaction://hlinksldjump" highlightClick="1"/>
          </p:cNvPr>
          <p:cNvSpPr>
            <a:spLocks noChangeArrowheads="1"/>
          </p:cNvSpPr>
          <p:nvPr/>
        </p:nvSpPr>
        <p:spPr bwMode="auto">
          <a:xfrm>
            <a:off x="8382000" y="5181600"/>
            <a:ext cx="381000" cy="304800"/>
          </a:xfrm>
          <a:prstGeom prst="actionButtonBlank">
            <a:avLst/>
          </a:prstGeom>
          <a:solidFill>
            <a:srgbClr val="FFFFFF">
              <a:alpha val="50000"/>
            </a:srgbClr>
          </a:solidFill>
          <a:ln w="9525">
            <a:solidFill>
              <a:srgbClr val="FFFFFF"/>
            </a:solidFill>
            <a:miter lim="800000"/>
            <a:headEnd/>
            <a:tailEnd/>
          </a:ln>
          <a:effec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22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1066800" y="2057400"/>
            <a:ext cx="7010400" cy="3378200"/>
          </a:xfrm>
          <a:prstGeom prst="rect">
            <a:avLst/>
          </a:prstGeom>
          <a:noFill/>
          <a:ln w="9525">
            <a:noFill/>
            <a:miter lim="800000"/>
            <a:headEnd/>
            <a:tailEnd/>
          </a:ln>
          <a:effectLst/>
        </p:spPr>
        <p:txBody>
          <a:bodyPr>
            <a:spAutoFit/>
          </a:bodyPr>
          <a:lstStyle/>
          <a:p>
            <a:pPr marL="457200" indent="-457200">
              <a:spcBef>
                <a:spcPct val="50000"/>
              </a:spcBef>
            </a:pPr>
            <a:r>
              <a:rPr kumimoji="1" lang="en-US" altLang="zh-CN" sz="2400">
                <a:latin typeface="宋体" pitchFamily="2" charset="-122"/>
              </a:rPr>
              <a:t>A</a:t>
            </a:r>
            <a:r>
              <a:rPr kumimoji="1" lang="zh-CN" altLang="en-US" sz="2400">
                <a:latin typeface="宋体" pitchFamily="2" charset="-122"/>
              </a:rPr>
              <a:t>、 </a:t>
            </a:r>
            <a:r>
              <a:rPr kumimoji="1" lang="en-US" altLang="zh-CN" sz="2400">
                <a:latin typeface="宋体" pitchFamily="2" charset="-122"/>
              </a:rPr>
              <a:t>OSI(Open Systems Interconnection </a:t>
            </a:r>
            <a:r>
              <a:rPr kumimoji="1" lang="zh-CN" altLang="en-US" sz="2400">
                <a:latin typeface="宋体" pitchFamily="2" charset="-122"/>
              </a:rPr>
              <a:t>开放系统互联模型</a:t>
            </a:r>
            <a:r>
              <a:rPr kumimoji="1" lang="en-US" altLang="zh-CN" sz="2400">
                <a:latin typeface="宋体" pitchFamily="2" charset="-122"/>
              </a:rPr>
              <a:t>)</a:t>
            </a:r>
            <a:r>
              <a:rPr kumimoji="1" lang="zh-CN" altLang="en-US" sz="2400">
                <a:latin typeface="宋体" pitchFamily="2" charset="-122"/>
              </a:rPr>
              <a:t>：由国际标准化组织</a:t>
            </a:r>
            <a:r>
              <a:rPr kumimoji="1" lang="en-US" altLang="zh-CN" sz="2400">
                <a:latin typeface="宋体" pitchFamily="2" charset="-122"/>
              </a:rPr>
              <a:t>(ISO)</a:t>
            </a:r>
            <a:r>
              <a:rPr kumimoji="1" lang="zh-CN" altLang="en-US" sz="2400">
                <a:latin typeface="宋体" pitchFamily="2" charset="-122"/>
              </a:rPr>
              <a:t>设计的一个模型，理论上允许两个不同系统相互通信而不需要考虑它们的底层体系结构。</a:t>
            </a:r>
          </a:p>
          <a:p>
            <a:pPr marL="457200" indent="-457200">
              <a:spcBef>
                <a:spcPct val="50000"/>
              </a:spcBef>
            </a:pPr>
            <a:r>
              <a:rPr kumimoji="1" lang="en-US" altLang="zh-CN" sz="2400">
                <a:latin typeface="宋体" pitchFamily="2" charset="-122"/>
              </a:rPr>
              <a:t>B</a:t>
            </a:r>
            <a:r>
              <a:rPr kumimoji="1" lang="zh-CN" altLang="en-US" sz="2400">
                <a:latin typeface="宋体" pitchFamily="2" charset="-122"/>
              </a:rPr>
              <a:t>、</a:t>
            </a:r>
            <a:r>
              <a:rPr kumimoji="1" lang="zh-CN" altLang="en-US" sz="2400" b="1">
                <a:effectLst>
                  <a:outerShdw blurRad="38100" dist="38100" dir="2700000" algn="tl">
                    <a:srgbClr val="C0C0C0"/>
                  </a:outerShdw>
                </a:effectLst>
                <a:latin typeface="Times New Roman" pitchFamily="18" charset="0"/>
              </a:rPr>
              <a:t> </a:t>
            </a:r>
            <a:r>
              <a:rPr kumimoji="1" lang="en-US" altLang="zh-CN" sz="2400">
                <a:latin typeface="宋体" pitchFamily="2" charset="-122"/>
              </a:rPr>
              <a:t>IAB (Internet Architecture Board , Internet</a:t>
            </a:r>
            <a:r>
              <a:rPr kumimoji="1" lang="zh-CN" altLang="en-US" sz="2400">
                <a:latin typeface="宋体" pitchFamily="2" charset="-122"/>
              </a:rPr>
              <a:t>架构委员会</a:t>
            </a:r>
            <a:r>
              <a:rPr kumimoji="1" lang="en-US" altLang="zh-CN" sz="2400">
                <a:latin typeface="宋体" pitchFamily="2" charset="-122"/>
              </a:rPr>
              <a:t>)</a:t>
            </a:r>
          </a:p>
          <a:p>
            <a:pPr marL="457200" indent="-457200">
              <a:spcBef>
                <a:spcPct val="50000"/>
              </a:spcBef>
            </a:pPr>
            <a:r>
              <a:rPr kumimoji="1" lang="en-US" altLang="zh-CN" sz="2400">
                <a:latin typeface="宋体" pitchFamily="2" charset="-122"/>
              </a:rPr>
              <a:t>C</a:t>
            </a:r>
            <a:r>
              <a:rPr kumimoji="1" lang="zh-CN" altLang="en-US" sz="2400">
                <a:latin typeface="宋体" pitchFamily="2" charset="-122"/>
              </a:rPr>
              <a:t>、一系列局域网络标准：由美国电气和电子工程师学会（</a:t>
            </a:r>
            <a:r>
              <a:rPr kumimoji="1" lang="en-US" altLang="zh-CN" sz="2400">
                <a:latin typeface="宋体" pitchFamily="2" charset="-122"/>
              </a:rPr>
              <a:t>IEEE</a:t>
            </a:r>
            <a:r>
              <a:rPr kumimoji="1" lang="zh-CN" altLang="en-US" sz="2400">
                <a:latin typeface="宋体" pitchFamily="2" charset="-122"/>
              </a:rPr>
              <a:t>）制定。</a:t>
            </a:r>
          </a:p>
        </p:txBody>
      </p:sp>
      <p:sp>
        <p:nvSpPr>
          <p:cNvPr id="13315" name="Text Box 3"/>
          <p:cNvSpPr txBox="1">
            <a:spLocks noChangeArrowheads="1"/>
          </p:cNvSpPr>
          <p:nvPr/>
        </p:nvSpPr>
        <p:spPr bwMode="auto">
          <a:xfrm>
            <a:off x="914400" y="990600"/>
            <a:ext cx="4419600" cy="457200"/>
          </a:xfrm>
          <a:prstGeom prst="rect">
            <a:avLst/>
          </a:prstGeom>
          <a:noFill/>
          <a:ln w="9525">
            <a:noFill/>
            <a:miter lim="800000"/>
            <a:headEnd/>
            <a:tailEnd/>
          </a:ln>
          <a:effectLst/>
        </p:spPr>
        <p:txBody>
          <a:bodyPr>
            <a:spAutoFit/>
          </a:bodyPr>
          <a:lstStyle/>
          <a:p>
            <a:pPr algn="r">
              <a:spcBef>
                <a:spcPct val="50000"/>
              </a:spcBef>
            </a:pPr>
            <a:r>
              <a:rPr kumimoji="1" lang="zh-CN" altLang="en-US" sz="2400">
                <a:latin typeface="宋体" pitchFamily="2" charset="-122"/>
              </a:rPr>
              <a:t>标准化网络</a:t>
            </a:r>
          </a:p>
        </p:txBody>
      </p:sp>
      <p:sp>
        <p:nvSpPr>
          <p:cNvPr id="13316" name="AutoShape 4">
            <a:hlinkClick r:id="rId2" action="ppaction://hlinksldjump" highlightClick="1"/>
          </p:cNvPr>
          <p:cNvSpPr>
            <a:spLocks noChangeArrowheads="1"/>
          </p:cNvSpPr>
          <p:nvPr/>
        </p:nvSpPr>
        <p:spPr bwMode="auto">
          <a:xfrm>
            <a:off x="8305800" y="4267200"/>
            <a:ext cx="381000" cy="304800"/>
          </a:xfrm>
          <a:prstGeom prst="actionButtonBlank">
            <a:avLst/>
          </a:prstGeom>
          <a:solidFill>
            <a:srgbClr val="FFFFFF">
              <a:alpha val="50000"/>
            </a:srgbClr>
          </a:solidFill>
          <a:ln w="9525">
            <a:solidFill>
              <a:srgbClr val="FFFFFF"/>
            </a:solidFill>
            <a:miter lim="800000"/>
            <a:headEnd/>
            <a:tailEnd/>
          </a:ln>
          <a:effec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919" y="332656"/>
            <a:ext cx="7793037" cy="622300"/>
          </a:xfrm>
        </p:spPr>
        <p:txBody>
          <a:bodyPr/>
          <a:lstStyle/>
          <a:p>
            <a:r>
              <a:rPr lang="en-US" altLang="zh-CN" sz="4000" dirty="0"/>
              <a:t> </a:t>
            </a:r>
            <a:r>
              <a:rPr lang="en-US" altLang="zh-CN" sz="3600" dirty="0"/>
              <a:t>1.2.2  </a:t>
            </a:r>
            <a:r>
              <a:rPr lang="zh-CN" altLang="en-US" sz="3600" dirty="0"/>
              <a:t>分组交换网的产生</a:t>
            </a:r>
          </a:p>
        </p:txBody>
      </p:sp>
      <p:sp>
        <p:nvSpPr>
          <p:cNvPr id="14339" name="Rectangle 3"/>
          <p:cNvSpPr>
            <a:spLocks noGrp="1" noChangeArrowheads="1"/>
          </p:cNvSpPr>
          <p:nvPr>
            <p:ph type="body" idx="1"/>
          </p:nvPr>
        </p:nvSpPr>
        <p:spPr>
          <a:xfrm>
            <a:off x="667518" y="1124745"/>
            <a:ext cx="8131175" cy="3168352"/>
          </a:xfrm>
        </p:spPr>
        <p:txBody>
          <a:bodyPr/>
          <a:lstStyle/>
          <a:p>
            <a:pPr>
              <a:lnSpc>
                <a:spcPct val="90000"/>
              </a:lnSpc>
            </a:pPr>
            <a:r>
              <a:rPr lang="zh-CN" altLang="en-US" sz="2800" dirty="0"/>
              <a:t>是 </a:t>
            </a:r>
            <a:r>
              <a:rPr lang="en-US" altLang="zh-CN" sz="2800" dirty="0"/>
              <a:t>20 </a:t>
            </a:r>
            <a:r>
              <a:rPr lang="zh-CN" altLang="en-US" sz="2800" dirty="0"/>
              <a:t>世纪 </a:t>
            </a:r>
            <a:r>
              <a:rPr lang="en-US" altLang="zh-CN" sz="2800" dirty="0"/>
              <a:t>60 </a:t>
            </a:r>
            <a:r>
              <a:rPr lang="zh-CN" altLang="en-US" sz="2800" dirty="0"/>
              <a:t>年代美苏冷战时期的产物。</a:t>
            </a:r>
          </a:p>
          <a:p>
            <a:pPr>
              <a:lnSpc>
                <a:spcPct val="90000"/>
              </a:lnSpc>
            </a:pPr>
            <a:r>
              <a:rPr lang="en-US" altLang="zh-CN" sz="2800" dirty="0"/>
              <a:t>60 </a:t>
            </a:r>
            <a:r>
              <a:rPr lang="zh-CN" altLang="en-US" sz="2800" dirty="0"/>
              <a:t>年代初，美国国防部领导的远景研究规划局</a:t>
            </a:r>
            <a:r>
              <a:rPr lang="en-US" altLang="zh-CN" sz="2800" dirty="0"/>
              <a:t>ARPA (Advanced Research Project Agency) </a:t>
            </a:r>
            <a:r>
              <a:rPr lang="zh-CN" altLang="en-US" sz="2800" dirty="0"/>
              <a:t>提出要研制一种生存性</a:t>
            </a:r>
            <a:r>
              <a:rPr lang="en-US" altLang="zh-CN" sz="2800" dirty="0"/>
              <a:t>(survivability)</a:t>
            </a:r>
            <a:r>
              <a:rPr lang="zh-CN" altLang="en-US" sz="2800" dirty="0"/>
              <a:t>很强的网络。</a:t>
            </a:r>
          </a:p>
          <a:p>
            <a:pPr>
              <a:lnSpc>
                <a:spcPct val="90000"/>
              </a:lnSpc>
            </a:pPr>
            <a:r>
              <a:rPr lang="zh-CN" altLang="en-US" sz="2800" dirty="0"/>
              <a:t>传统的电路交换</a:t>
            </a:r>
            <a:r>
              <a:rPr lang="en-US" altLang="zh-CN" sz="2800" dirty="0"/>
              <a:t>(circuit switching)</a:t>
            </a:r>
            <a:r>
              <a:rPr lang="zh-CN" altLang="en-US" sz="2800" dirty="0"/>
              <a:t>的电信网有一个缺点：正在通信的电路中有一个交换机或有一条链路被炸毁，则整个通信电路就要中断。</a:t>
            </a:r>
          </a:p>
        </p:txBody>
      </p:sp>
      <p:pic>
        <p:nvPicPr>
          <p:cNvPr id="2" name="图片 1"/>
          <p:cNvPicPr>
            <a:picLocks noChangeAspect="1"/>
          </p:cNvPicPr>
          <p:nvPr/>
        </p:nvPicPr>
        <p:blipFill>
          <a:blip r:embed="rId2"/>
          <a:stretch>
            <a:fillRect/>
          </a:stretch>
        </p:blipFill>
        <p:spPr>
          <a:xfrm>
            <a:off x="166805" y="4005064"/>
            <a:ext cx="9132600" cy="32250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zh-CN" altLang="en-US"/>
              <a:t>回顾一下电路交换的特点 </a:t>
            </a:r>
          </a:p>
        </p:txBody>
      </p:sp>
      <p:sp>
        <p:nvSpPr>
          <p:cNvPr id="16387" name="Rectangle 3"/>
          <p:cNvSpPr>
            <a:spLocks noGrp="1" noChangeArrowheads="1"/>
          </p:cNvSpPr>
          <p:nvPr>
            <p:ph type="body" idx="1"/>
          </p:nvPr>
        </p:nvSpPr>
        <p:spPr>
          <a:xfrm>
            <a:off x="457200" y="1868488"/>
            <a:ext cx="8229600" cy="1474787"/>
          </a:xfrm>
        </p:spPr>
        <p:txBody>
          <a:bodyPr/>
          <a:lstStyle/>
          <a:p>
            <a:r>
              <a:rPr lang="zh-CN" altLang="en-US"/>
              <a:t>两部电话机只需要用一对电线就能够互相连接起来。 </a:t>
            </a:r>
          </a:p>
        </p:txBody>
      </p:sp>
      <p:sp>
        <p:nvSpPr>
          <p:cNvPr id="16388" name="Text Box 4"/>
          <p:cNvSpPr txBox="1">
            <a:spLocks noChangeArrowheads="1"/>
          </p:cNvSpPr>
          <p:nvPr/>
        </p:nvSpPr>
        <p:spPr bwMode="auto">
          <a:xfrm>
            <a:off x="5603875" y="3590925"/>
            <a:ext cx="862013" cy="701675"/>
          </a:xfrm>
          <a:prstGeom prst="rect">
            <a:avLst/>
          </a:prstGeom>
          <a:noFill/>
          <a:ln w="9525">
            <a:noFill/>
            <a:miter lim="800000"/>
            <a:headEnd/>
            <a:tailEnd/>
          </a:ln>
          <a:effectLst/>
        </p:spPr>
        <p:txBody>
          <a:bodyPr wrap="none">
            <a:spAutoFit/>
          </a:bodyPr>
          <a:lstStyle/>
          <a:p>
            <a:r>
              <a:rPr kumimoji="1" lang="en-US" altLang="zh-CN" sz="4000">
                <a:latin typeface="Times New Roman" pitchFamily="18" charset="0"/>
                <a:sym typeface="Wingdings" pitchFamily="2" charset="2"/>
              </a:rPr>
              <a:t></a:t>
            </a:r>
            <a:r>
              <a:rPr kumimoji="1" lang="en-US" altLang="zh-CN" sz="4000">
                <a:latin typeface="Times New Roman" pitchFamily="18" charset="0"/>
              </a:rPr>
              <a:t> </a:t>
            </a:r>
          </a:p>
        </p:txBody>
      </p:sp>
      <p:sp>
        <p:nvSpPr>
          <p:cNvPr id="16389" name="Text Box 5"/>
          <p:cNvSpPr txBox="1">
            <a:spLocks noChangeArrowheads="1"/>
          </p:cNvSpPr>
          <p:nvPr/>
        </p:nvSpPr>
        <p:spPr bwMode="auto">
          <a:xfrm>
            <a:off x="3132138" y="3590925"/>
            <a:ext cx="862012" cy="701675"/>
          </a:xfrm>
          <a:prstGeom prst="rect">
            <a:avLst/>
          </a:prstGeom>
          <a:noFill/>
          <a:ln w="9525">
            <a:noFill/>
            <a:miter lim="800000"/>
            <a:headEnd/>
            <a:tailEnd/>
          </a:ln>
          <a:effectLst/>
        </p:spPr>
        <p:txBody>
          <a:bodyPr wrap="none">
            <a:spAutoFit/>
          </a:bodyPr>
          <a:lstStyle/>
          <a:p>
            <a:r>
              <a:rPr kumimoji="1" lang="en-US" altLang="zh-CN" sz="4000">
                <a:latin typeface="Times New Roman" pitchFamily="18" charset="0"/>
                <a:sym typeface="Wingdings" pitchFamily="2" charset="2"/>
              </a:rPr>
              <a:t></a:t>
            </a:r>
            <a:r>
              <a:rPr kumimoji="1" lang="en-US" altLang="zh-CN" sz="4000">
                <a:latin typeface="Times New Roman" pitchFamily="18" charset="0"/>
              </a:rPr>
              <a:t> </a:t>
            </a:r>
          </a:p>
        </p:txBody>
      </p:sp>
      <p:sp>
        <p:nvSpPr>
          <p:cNvPr id="16390" name="Line 6"/>
          <p:cNvSpPr>
            <a:spLocks noChangeShapeType="1"/>
          </p:cNvSpPr>
          <p:nvPr/>
        </p:nvSpPr>
        <p:spPr bwMode="auto">
          <a:xfrm flipV="1">
            <a:off x="3436938" y="4041775"/>
            <a:ext cx="2454275" cy="1588"/>
          </a:xfrm>
          <a:prstGeom prst="line">
            <a:avLst/>
          </a:prstGeom>
          <a:noFill/>
          <a:ln w="28575">
            <a:solidFill>
              <a:schemeClr val="tx1"/>
            </a:solidFill>
            <a:round/>
            <a:headEnd/>
            <a:tailEnd/>
          </a:ln>
          <a:effectLst/>
        </p:spPr>
        <p:txBody>
          <a:bodyPr/>
          <a:lstStyle/>
          <a:p>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zh-CN" altLang="en-US"/>
              <a:t>更多的电话机互相连通</a:t>
            </a:r>
          </a:p>
        </p:txBody>
      </p:sp>
      <p:sp>
        <p:nvSpPr>
          <p:cNvPr id="17411" name="Rectangle 3"/>
          <p:cNvSpPr>
            <a:spLocks noGrp="1" noChangeArrowheads="1"/>
          </p:cNvSpPr>
          <p:nvPr>
            <p:ph type="body" idx="1"/>
          </p:nvPr>
        </p:nvSpPr>
        <p:spPr>
          <a:xfrm>
            <a:off x="539750" y="2017713"/>
            <a:ext cx="8604250" cy="4840287"/>
          </a:xfrm>
        </p:spPr>
        <p:txBody>
          <a:bodyPr/>
          <a:lstStyle/>
          <a:p>
            <a:pPr>
              <a:lnSpc>
                <a:spcPct val="90000"/>
              </a:lnSpc>
            </a:pPr>
            <a:r>
              <a:rPr lang="en-US" altLang="zh-CN" dirty="0"/>
              <a:t>5 </a:t>
            </a:r>
            <a:r>
              <a:rPr lang="zh-CN" altLang="en-US" dirty="0"/>
              <a:t>部电话机两两相连，需 </a:t>
            </a:r>
            <a:r>
              <a:rPr lang="en-US" altLang="zh-CN" dirty="0"/>
              <a:t>10</a:t>
            </a:r>
            <a:r>
              <a:rPr lang="zh-CN" altLang="en-US" dirty="0"/>
              <a:t>对电线。</a:t>
            </a:r>
          </a:p>
          <a:p>
            <a:pPr>
              <a:lnSpc>
                <a:spcPct val="90000"/>
              </a:lnSpc>
            </a:pPr>
            <a:endParaRPr lang="zh-CN" altLang="en-US" dirty="0"/>
          </a:p>
          <a:p>
            <a:pPr>
              <a:lnSpc>
                <a:spcPct val="90000"/>
              </a:lnSpc>
            </a:pPr>
            <a:endParaRPr lang="zh-CN" altLang="en-US" dirty="0"/>
          </a:p>
          <a:p>
            <a:pPr>
              <a:lnSpc>
                <a:spcPct val="90000"/>
              </a:lnSpc>
            </a:pPr>
            <a:endParaRPr lang="zh-CN" altLang="en-US" dirty="0"/>
          </a:p>
          <a:p>
            <a:pPr>
              <a:lnSpc>
                <a:spcPct val="90000"/>
              </a:lnSpc>
            </a:pPr>
            <a:endParaRPr lang="zh-CN" altLang="en-US" dirty="0"/>
          </a:p>
          <a:p>
            <a:pPr>
              <a:lnSpc>
                <a:spcPct val="90000"/>
              </a:lnSpc>
            </a:pPr>
            <a:endParaRPr lang="zh-CN" altLang="en-US" dirty="0"/>
          </a:p>
          <a:p>
            <a:pPr>
              <a:lnSpc>
                <a:spcPct val="90000"/>
              </a:lnSpc>
              <a:spcBef>
                <a:spcPct val="0"/>
              </a:spcBef>
            </a:pPr>
            <a:r>
              <a:rPr lang="en-US" altLang="zh-CN" i="1" dirty="0"/>
              <a:t>N </a:t>
            </a:r>
            <a:r>
              <a:rPr lang="zh-CN" altLang="en-US" dirty="0"/>
              <a:t>部电话机两两相连，需 </a:t>
            </a:r>
            <a:r>
              <a:rPr lang="en-US" altLang="zh-CN" i="1" dirty="0"/>
              <a:t>? </a:t>
            </a:r>
            <a:r>
              <a:rPr lang="zh-CN" altLang="en-US" dirty="0"/>
              <a:t>对电线。</a:t>
            </a:r>
          </a:p>
          <a:p>
            <a:pPr>
              <a:lnSpc>
                <a:spcPct val="90000"/>
              </a:lnSpc>
            </a:pPr>
            <a:r>
              <a:rPr lang="zh-CN" altLang="en-US" dirty="0"/>
              <a:t>当电话机的数量很大时，这种连接方法需要的电线对的数量与电话机数的平方成正比。</a:t>
            </a:r>
          </a:p>
        </p:txBody>
      </p:sp>
      <p:grpSp>
        <p:nvGrpSpPr>
          <p:cNvPr id="17412" name="Group 4"/>
          <p:cNvGrpSpPr>
            <a:grpSpLocks/>
          </p:cNvGrpSpPr>
          <p:nvPr/>
        </p:nvGrpSpPr>
        <p:grpSpPr bwMode="auto">
          <a:xfrm>
            <a:off x="2895600" y="2492375"/>
            <a:ext cx="3968750" cy="2411413"/>
            <a:chOff x="1824" y="1570"/>
            <a:chExt cx="2500" cy="1519"/>
          </a:xfrm>
        </p:grpSpPr>
        <p:sp>
          <p:nvSpPr>
            <p:cNvPr id="17413" name="Text Box 5"/>
            <p:cNvSpPr txBox="1">
              <a:spLocks noChangeArrowheads="1"/>
            </p:cNvSpPr>
            <p:nvPr/>
          </p:nvSpPr>
          <p:spPr bwMode="auto">
            <a:xfrm>
              <a:off x="2792" y="1570"/>
              <a:ext cx="500" cy="404"/>
            </a:xfrm>
            <a:prstGeom prst="rect">
              <a:avLst/>
            </a:prstGeom>
            <a:noFill/>
            <a:ln w="2857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7414" name="Text Box 6"/>
            <p:cNvSpPr txBox="1">
              <a:spLocks noChangeArrowheads="1"/>
            </p:cNvSpPr>
            <p:nvPr/>
          </p:nvSpPr>
          <p:spPr bwMode="auto">
            <a:xfrm>
              <a:off x="1824" y="2058"/>
              <a:ext cx="500" cy="404"/>
            </a:xfrm>
            <a:prstGeom prst="rect">
              <a:avLst/>
            </a:prstGeom>
            <a:noFill/>
            <a:ln w="2857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7415" name="Text Box 7"/>
            <p:cNvSpPr txBox="1">
              <a:spLocks noChangeArrowheads="1"/>
            </p:cNvSpPr>
            <p:nvPr/>
          </p:nvSpPr>
          <p:spPr bwMode="auto">
            <a:xfrm>
              <a:off x="2405" y="2685"/>
              <a:ext cx="500" cy="404"/>
            </a:xfrm>
            <a:prstGeom prst="rect">
              <a:avLst/>
            </a:prstGeom>
            <a:noFill/>
            <a:ln w="2857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7416" name="Text Box 8"/>
            <p:cNvSpPr txBox="1">
              <a:spLocks noChangeArrowheads="1"/>
            </p:cNvSpPr>
            <p:nvPr/>
          </p:nvSpPr>
          <p:spPr bwMode="auto">
            <a:xfrm>
              <a:off x="3824" y="2058"/>
              <a:ext cx="500" cy="404"/>
            </a:xfrm>
            <a:prstGeom prst="rect">
              <a:avLst/>
            </a:prstGeom>
            <a:noFill/>
            <a:ln w="2857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7417" name="Text Box 9"/>
            <p:cNvSpPr txBox="1">
              <a:spLocks noChangeArrowheads="1"/>
            </p:cNvSpPr>
            <p:nvPr/>
          </p:nvSpPr>
          <p:spPr bwMode="auto">
            <a:xfrm>
              <a:off x="3244" y="2685"/>
              <a:ext cx="500" cy="404"/>
            </a:xfrm>
            <a:prstGeom prst="rect">
              <a:avLst/>
            </a:prstGeom>
            <a:noFill/>
            <a:ln w="2857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grpSp>
      <p:sp>
        <p:nvSpPr>
          <p:cNvPr id="17418" name="Line 10"/>
          <p:cNvSpPr>
            <a:spLocks noChangeShapeType="1"/>
          </p:cNvSpPr>
          <p:nvPr/>
        </p:nvSpPr>
        <p:spPr bwMode="auto">
          <a:xfrm flipV="1">
            <a:off x="3373438" y="2895600"/>
            <a:ext cx="1384300" cy="733425"/>
          </a:xfrm>
          <a:prstGeom prst="line">
            <a:avLst/>
          </a:prstGeom>
          <a:noFill/>
          <a:ln w="28575">
            <a:solidFill>
              <a:srgbClr val="333399"/>
            </a:solidFill>
            <a:round/>
            <a:headEnd/>
            <a:tailEnd/>
          </a:ln>
          <a:effectLst/>
        </p:spPr>
        <p:txBody>
          <a:bodyPr/>
          <a:lstStyle/>
          <a:p>
            <a:endParaRPr lang="zh-CN" altLang="en-US"/>
          </a:p>
        </p:txBody>
      </p:sp>
      <p:sp>
        <p:nvSpPr>
          <p:cNvPr id="17419" name="Line 11"/>
          <p:cNvSpPr>
            <a:spLocks noChangeShapeType="1"/>
          </p:cNvSpPr>
          <p:nvPr/>
        </p:nvSpPr>
        <p:spPr bwMode="auto">
          <a:xfrm>
            <a:off x="4895850" y="2933700"/>
            <a:ext cx="1536700" cy="773113"/>
          </a:xfrm>
          <a:prstGeom prst="line">
            <a:avLst/>
          </a:prstGeom>
          <a:noFill/>
          <a:ln w="28575">
            <a:solidFill>
              <a:srgbClr val="333399"/>
            </a:solidFill>
            <a:round/>
            <a:headEnd/>
            <a:tailEnd/>
          </a:ln>
          <a:effectLst/>
        </p:spPr>
        <p:txBody>
          <a:bodyPr/>
          <a:lstStyle/>
          <a:p>
            <a:endParaRPr lang="zh-CN" altLang="en-US"/>
          </a:p>
        </p:txBody>
      </p:sp>
      <p:sp>
        <p:nvSpPr>
          <p:cNvPr id="17420" name="Line 12"/>
          <p:cNvSpPr>
            <a:spLocks noChangeShapeType="1"/>
          </p:cNvSpPr>
          <p:nvPr/>
        </p:nvSpPr>
        <p:spPr bwMode="auto">
          <a:xfrm>
            <a:off x="3232150" y="3678238"/>
            <a:ext cx="857250" cy="954087"/>
          </a:xfrm>
          <a:prstGeom prst="line">
            <a:avLst/>
          </a:prstGeom>
          <a:noFill/>
          <a:ln w="28575">
            <a:solidFill>
              <a:srgbClr val="333399"/>
            </a:solidFill>
            <a:round/>
            <a:headEnd/>
            <a:tailEnd/>
          </a:ln>
          <a:effectLst/>
        </p:spPr>
        <p:txBody>
          <a:bodyPr/>
          <a:lstStyle/>
          <a:p>
            <a:endParaRPr lang="zh-CN" altLang="en-US"/>
          </a:p>
        </p:txBody>
      </p:sp>
      <p:sp>
        <p:nvSpPr>
          <p:cNvPr id="17421" name="Line 13"/>
          <p:cNvSpPr>
            <a:spLocks noChangeShapeType="1"/>
          </p:cNvSpPr>
          <p:nvPr/>
        </p:nvSpPr>
        <p:spPr bwMode="auto">
          <a:xfrm flipV="1">
            <a:off x="4203700" y="4702175"/>
            <a:ext cx="1254125" cy="0"/>
          </a:xfrm>
          <a:prstGeom prst="line">
            <a:avLst/>
          </a:prstGeom>
          <a:noFill/>
          <a:ln w="28575">
            <a:solidFill>
              <a:srgbClr val="333399"/>
            </a:solidFill>
            <a:round/>
            <a:headEnd/>
            <a:tailEnd/>
          </a:ln>
          <a:effectLst/>
        </p:spPr>
        <p:txBody>
          <a:bodyPr/>
          <a:lstStyle/>
          <a:p>
            <a:endParaRPr lang="zh-CN" altLang="en-US"/>
          </a:p>
        </p:txBody>
      </p:sp>
      <p:sp>
        <p:nvSpPr>
          <p:cNvPr id="17422" name="Line 14"/>
          <p:cNvSpPr>
            <a:spLocks noChangeShapeType="1"/>
          </p:cNvSpPr>
          <p:nvPr/>
        </p:nvSpPr>
        <p:spPr bwMode="auto">
          <a:xfrm flipV="1">
            <a:off x="5540375" y="3673475"/>
            <a:ext cx="895350" cy="939800"/>
          </a:xfrm>
          <a:prstGeom prst="line">
            <a:avLst/>
          </a:prstGeom>
          <a:noFill/>
          <a:ln w="28575">
            <a:solidFill>
              <a:srgbClr val="333399"/>
            </a:solidFill>
            <a:round/>
            <a:headEnd/>
            <a:tailEnd/>
          </a:ln>
          <a:effectLst/>
        </p:spPr>
        <p:txBody>
          <a:bodyPr/>
          <a:lstStyle/>
          <a:p>
            <a:endParaRPr lang="zh-CN" altLang="en-US"/>
          </a:p>
        </p:txBody>
      </p:sp>
      <p:sp>
        <p:nvSpPr>
          <p:cNvPr id="17423" name="Line 15"/>
          <p:cNvSpPr>
            <a:spLocks noChangeShapeType="1"/>
          </p:cNvSpPr>
          <p:nvPr/>
        </p:nvSpPr>
        <p:spPr bwMode="auto">
          <a:xfrm>
            <a:off x="4810125" y="2932113"/>
            <a:ext cx="627063" cy="1770062"/>
          </a:xfrm>
          <a:prstGeom prst="line">
            <a:avLst/>
          </a:prstGeom>
          <a:noFill/>
          <a:ln w="28575">
            <a:solidFill>
              <a:srgbClr val="333399"/>
            </a:solidFill>
            <a:round/>
            <a:headEnd/>
            <a:tailEnd/>
          </a:ln>
          <a:effectLst/>
        </p:spPr>
        <p:txBody>
          <a:bodyPr/>
          <a:lstStyle/>
          <a:p>
            <a:endParaRPr lang="zh-CN" altLang="en-US"/>
          </a:p>
        </p:txBody>
      </p:sp>
      <p:sp>
        <p:nvSpPr>
          <p:cNvPr id="17424" name="Line 16"/>
          <p:cNvSpPr>
            <a:spLocks noChangeShapeType="1"/>
          </p:cNvSpPr>
          <p:nvPr/>
        </p:nvSpPr>
        <p:spPr bwMode="auto">
          <a:xfrm flipH="1">
            <a:off x="4187825" y="2949575"/>
            <a:ext cx="487363" cy="1741488"/>
          </a:xfrm>
          <a:prstGeom prst="line">
            <a:avLst/>
          </a:prstGeom>
          <a:noFill/>
          <a:ln w="28575">
            <a:solidFill>
              <a:srgbClr val="333399"/>
            </a:solidFill>
            <a:round/>
            <a:headEnd/>
            <a:tailEnd/>
          </a:ln>
          <a:effectLst/>
        </p:spPr>
        <p:txBody>
          <a:bodyPr/>
          <a:lstStyle/>
          <a:p>
            <a:endParaRPr lang="zh-CN" altLang="en-US"/>
          </a:p>
        </p:txBody>
      </p:sp>
      <p:sp>
        <p:nvSpPr>
          <p:cNvPr id="17425" name="Line 17"/>
          <p:cNvSpPr>
            <a:spLocks noChangeShapeType="1"/>
          </p:cNvSpPr>
          <p:nvPr/>
        </p:nvSpPr>
        <p:spPr bwMode="auto">
          <a:xfrm>
            <a:off x="3400425" y="3670300"/>
            <a:ext cx="2982913" cy="0"/>
          </a:xfrm>
          <a:prstGeom prst="line">
            <a:avLst/>
          </a:prstGeom>
          <a:noFill/>
          <a:ln w="28575">
            <a:solidFill>
              <a:srgbClr val="333399"/>
            </a:solidFill>
            <a:round/>
            <a:headEnd/>
            <a:tailEnd/>
          </a:ln>
          <a:effectLst/>
        </p:spPr>
        <p:txBody>
          <a:bodyPr/>
          <a:lstStyle/>
          <a:p>
            <a:endParaRPr lang="zh-CN" altLang="en-US"/>
          </a:p>
        </p:txBody>
      </p:sp>
      <p:sp>
        <p:nvSpPr>
          <p:cNvPr id="17426" name="Line 18"/>
          <p:cNvSpPr>
            <a:spLocks noChangeShapeType="1"/>
          </p:cNvSpPr>
          <p:nvPr/>
        </p:nvSpPr>
        <p:spPr bwMode="auto">
          <a:xfrm>
            <a:off x="3233738" y="3673475"/>
            <a:ext cx="2203450" cy="1009650"/>
          </a:xfrm>
          <a:prstGeom prst="line">
            <a:avLst/>
          </a:prstGeom>
          <a:noFill/>
          <a:ln w="28575">
            <a:solidFill>
              <a:srgbClr val="333399"/>
            </a:solidFill>
            <a:round/>
            <a:headEnd/>
            <a:tailEnd/>
          </a:ln>
          <a:effectLst/>
        </p:spPr>
        <p:txBody>
          <a:bodyPr/>
          <a:lstStyle/>
          <a:p>
            <a:endParaRPr lang="zh-CN" altLang="en-US"/>
          </a:p>
        </p:txBody>
      </p:sp>
      <p:sp>
        <p:nvSpPr>
          <p:cNvPr id="17427" name="Line 19"/>
          <p:cNvSpPr>
            <a:spLocks noChangeShapeType="1"/>
          </p:cNvSpPr>
          <p:nvPr/>
        </p:nvSpPr>
        <p:spPr bwMode="auto">
          <a:xfrm flipV="1">
            <a:off x="4235450" y="3721100"/>
            <a:ext cx="2125663" cy="966788"/>
          </a:xfrm>
          <a:prstGeom prst="line">
            <a:avLst/>
          </a:prstGeom>
          <a:noFill/>
          <a:ln w="28575">
            <a:solidFill>
              <a:srgbClr val="333399"/>
            </a:solidFill>
            <a:round/>
            <a:headEnd/>
            <a:tailEnd/>
          </a:ln>
          <a:effec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300"/>
                                  </p:stCondLst>
                                  <p:childTnLst>
                                    <p:set>
                                      <p:cBhvr>
                                        <p:cTn id="13" dur="1" fill="hold">
                                          <p:stCondLst>
                                            <p:cond delay="0"/>
                                          </p:stCondLst>
                                        </p:cTn>
                                        <p:tgtEl>
                                          <p:spTgt spid="17418"/>
                                        </p:tgtEl>
                                        <p:attrNameLst>
                                          <p:attrName>style.visibility</p:attrName>
                                        </p:attrNameLst>
                                      </p:cBhvr>
                                      <p:to>
                                        <p:strVal val="visible"/>
                                      </p:to>
                                    </p:set>
                                  </p:childTnLst>
                                </p:cTn>
                              </p:par>
                            </p:childTnLst>
                          </p:cTn>
                        </p:par>
                        <p:par>
                          <p:cTn id="14" fill="hold">
                            <p:stCondLst>
                              <p:cond delay="300"/>
                            </p:stCondLst>
                            <p:childTnLst>
                              <p:par>
                                <p:cTn id="15" presetID="1" presetClass="entr" presetSubtype="0" fill="hold" grpId="0" nodeType="afterEffect">
                                  <p:stCondLst>
                                    <p:cond delay="300"/>
                                  </p:stCondLst>
                                  <p:childTnLst>
                                    <p:set>
                                      <p:cBhvr>
                                        <p:cTn id="16" dur="1" fill="hold">
                                          <p:stCondLst>
                                            <p:cond delay="0"/>
                                          </p:stCondLst>
                                        </p:cTn>
                                        <p:tgtEl>
                                          <p:spTgt spid="17425"/>
                                        </p:tgtEl>
                                        <p:attrNameLst>
                                          <p:attrName>style.visibility</p:attrName>
                                        </p:attrNameLst>
                                      </p:cBhvr>
                                      <p:to>
                                        <p:strVal val="visible"/>
                                      </p:to>
                                    </p:set>
                                  </p:childTnLst>
                                </p:cTn>
                              </p:par>
                            </p:childTnLst>
                          </p:cTn>
                        </p:par>
                        <p:par>
                          <p:cTn id="17" fill="hold">
                            <p:stCondLst>
                              <p:cond delay="600"/>
                            </p:stCondLst>
                            <p:childTnLst>
                              <p:par>
                                <p:cTn id="18" presetID="1" presetClass="entr" presetSubtype="0" fill="hold" grpId="0" nodeType="afterEffect">
                                  <p:stCondLst>
                                    <p:cond delay="300"/>
                                  </p:stCondLst>
                                  <p:childTnLst>
                                    <p:set>
                                      <p:cBhvr>
                                        <p:cTn id="19" dur="1" fill="hold">
                                          <p:stCondLst>
                                            <p:cond delay="0"/>
                                          </p:stCondLst>
                                        </p:cTn>
                                        <p:tgtEl>
                                          <p:spTgt spid="17426"/>
                                        </p:tgtEl>
                                        <p:attrNameLst>
                                          <p:attrName>style.visibility</p:attrName>
                                        </p:attrNameLst>
                                      </p:cBhvr>
                                      <p:to>
                                        <p:strVal val="visible"/>
                                      </p:to>
                                    </p:set>
                                  </p:childTnLst>
                                </p:cTn>
                              </p:par>
                            </p:childTnLst>
                          </p:cTn>
                        </p:par>
                        <p:par>
                          <p:cTn id="20" fill="hold">
                            <p:stCondLst>
                              <p:cond delay="900"/>
                            </p:stCondLst>
                            <p:childTnLst>
                              <p:par>
                                <p:cTn id="21" presetID="1" presetClass="entr" presetSubtype="0" fill="hold" grpId="0" nodeType="afterEffect">
                                  <p:stCondLst>
                                    <p:cond delay="300"/>
                                  </p:stCondLst>
                                  <p:childTnLst>
                                    <p:set>
                                      <p:cBhvr>
                                        <p:cTn id="22" dur="1" fill="hold">
                                          <p:stCondLst>
                                            <p:cond delay="0"/>
                                          </p:stCondLst>
                                        </p:cTn>
                                        <p:tgtEl>
                                          <p:spTgt spid="17420"/>
                                        </p:tgtEl>
                                        <p:attrNameLst>
                                          <p:attrName>style.visibility</p:attrName>
                                        </p:attrNameLst>
                                      </p:cBhvr>
                                      <p:to>
                                        <p:strVal val="visible"/>
                                      </p:to>
                                    </p:set>
                                  </p:childTnLst>
                                </p:cTn>
                              </p:par>
                            </p:childTnLst>
                          </p:cTn>
                        </p:par>
                        <p:par>
                          <p:cTn id="23" fill="hold">
                            <p:stCondLst>
                              <p:cond delay="1200"/>
                            </p:stCondLst>
                            <p:childTnLst>
                              <p:par>
                                <p:cTn id="24" presetID="1" presetClass="entr" presetSubtype="0" fill="hold" grpId="0" nodeType="afterEffect">
                                  <p:stCondLst>
                                    <p:cond delay="300"/>
                                  </p:stCondLst>
                                  <p:childTnLst>
                                    <p:set>
                                      <p:cBhvr>
                                        <p:cTn id="25" dur="1" fill="hold">
                                          <p:stCondLst>
                                            <p:cond delay="0"/>
                                          </p:stCondLst>
                                        </p:cTn>
                                        <p:tgtEl>
                                          <p:spTgt spid="17424"/>
                                        </p:tgtEl>
                                        <p:attrNameLst>
                                          <p:attrName>style.visibility</p:attrName>
                                        </p:attrNameLst>
                                      </p:cBhvr>
                                      <p:to>
                                        <p:strVal val="visible"/>
                                      </p:to>
                                    </p:set>
                                  </p:childTnLst>
                                </p:cTn>
                              </p:par>
                            </p:childTnLst>
                          </p:cTn>
                        </p:par>
                        <p:par>
                          <p:cTn id="26" fill="hold">
                            <p:stCondLst>
                              <p:cond delay="1500"/>
                            </p:stCondLst>
                            <p:childTnLst>
                              <p:par>
                                <p:cTn id="27" presetID="1" presetClass="entr" presetSubtype="0" fill="hold" grpId="0" nodeType="afterEffect">
                                  <p:stCondLst>
                                    <p:cond delay="300"/>
                                  </p:stCondLst>
                                  <p:childTnLst>
                                    <p:set>
                                      <p:cBhvr>
                                        <p:cTn id="28" dur="1" fill="hold">
                                          <p:stCondLst>
                                            <p:cond delay="0"/>
                                          </p:stCondLst>
                                        </p:cTn>
                                        <p:tgtEl>
                                          <p:spTgt spid="17423"/>
                                        </p:tgtEl>
                                        <p:attrNameLst>
                                          <p:attrName>style.visibility</p:attrName>
                                        </p:attrNameLst>
                                      </p:cBhvr>
                                      <p:to>
                                        <p:strVal val="visible"/>
                                      </p:to>
                                    </p:set>
                                  </p:childTnLst>
                                </p:cTn>
                              </p:par>
                            </p:childTnLst>
                          </p:cTn>
                        </p:par>
                        <p:par>
                          <p:cTn id="29" fill="hold">
                            <p:stCondLst>
                              <p:cond delay="1800"/>
                            </p:stCondLst>
                            <p:childTnLst>
                              <p:par>
                                <p:cTn id="30" presetID="1" presetClass="entr" presetSubtype="0" fill="hold" grpId="0" nodeType="afterEffect">
                                  <p:stCondLst>
                                    <p:cond delay="300"/>
                                  </p:stCondLst>
                                  <p:childTnLst>
                                    <p:set>
                                      <p:cBhvr>
                                        <p:cTn id="31" dur="1" fill="hold">
                                          <p:stCondLst>
                                            <p:cond delay="0"/>
                                          </p:stCondLst>
                                        </p:cTn>
                                        <p:tgtEl>
                                          <p:spTgt spid="17419"/>
                                        </p:tgtEl>
                                        <p:attrNameLst>
                                          <p:attrName>style.visibility</p:attrName>
                                        </p:attrNameLst>
                                      </p:cBhvr>
                                      <p:to>
                                        <p:strVal val="visible"/>
                                      </p:to>
                                    </p:set>
                                  </p:childTnLst>
                                </p:cTn>
                              </p:par>
                            </p:childTnLst>
                          </p:cTn>
                        </p:par>
                        <p:par>
                          <p:cTn id="32" fill="hold">
                            <p:stCondLst>
                              <p:cond delay="2100"/>
                            </p:stCondLst>
                            <p:childTnLst>
                              <p:par>
                                <p:cTn id="33" presetID="1" presetClass="entr" presetSubtype="0" fill="hold" grpId="0" nodeType="afterEffect">
                                  <p:stCondLst>
                                    <p:cond delay="300"/>
                                  </p:stCondLst>
                                  <p:childTnLst>
                                    <p:set>
                                      <p:cBhvr>
                                        <p:cTn id="34" dur="1" fill="hold">
                                          <p:stCondLst>
                                            <p:cond delay="0"/>
                                          </p:stCondLst>
                                        </p:cTn>
                                        <p:tgtEl>
                                          <p:spTgt spid="17427"/>
                                        </p:tgtEl>
                                        <p:attrNameLst>
                                          <p:attrName>style.visibility</p:attrName>
                                        </p:attrNameLst>
                                      </p:cBhvr>
                                      <p:to>
                                        <p:strVal val="visible"/>
                                      </p:to>
                                    </p:set>
                                  </p:childTnLst>
                                </p:cTn>
                              </p:par>
                            </p:childTnLst>
                          </p:cTn>
                        </p:par>
                        <p:par>
                          <p:cTn id="35" fill="hold">
                            <p:stCondLst>
                              <p:cond delay="2400"/>
                            </p:stCondLst>
                            <p:childTnLst>
                              <p:par>
                                <p:cTn id="36" presetID="1" presetClass="entr" presetSubtype="0" fill="hold" grpId="0" nodeType="afterEffect">
                                  <p:stCondLst>
                                    <p:cond delay="300"/>
                                  </p:stCondLst>
                                  <p:childTnLst>
                                    <p:set>
                                      <p:cBhvr>
                                        <p:cTn id="37" dur="1" fill="hold">
                                          <p:stCondLst>
                                            <p:cond delay="0"/>
                                          </p:stCondLst>
                                        </p:cTn>
                                        <p:tgtEl>
                                          <p:spTgt spid="17421"/>
                                        </p:tgtEl>
                                        <p:attrNameLst>
                                          <p:attrName>style.visibility</p:attrName>
                                        </p:attrNameLst>
                                      </p:cBhvr>
                                      <p:to>
                                        <p:strVal val="visible"/>
                                      </p:to>
                                    </p:set>
                                  </p:childTnLst>
                                </p:cTn>
                              </p:par>
                            </p:childTnLst>
                          </p:cTn>
                        </p:par>
                        <p:par>
                          <p:cTn id="38" fill="hold">
                            <p:stCondLst>
                              <p:cond delay="2700"/>
                            </p:stCondLst>
                            <p:childTnLst>
                              <p:par>
                                <p:cTn id="39" presetID="1" presetClass="entr" presetSubtype="0" fill="hold" grpId="0" nodeType="afterEffect">
                                  <p:stCondLst>
                                    <p:cond delay="300"/>
                                  </p:stCondLst>
                                  <p:childTnLst>
                                    <p:set>
                                      <p:cBhvr>
                                        <p:cTn id="40" dur="1" fill="hold">
                                          <p:stCondLst>
                                            <p:cond delay="0"/>
                                          </p:stCondLst>
                                        </p:cTn>
                                        <p:tgtEl>
                                          <p:spTgt spid="174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411">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74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P spid="17418" grpId="0" animBg="1"/>
      <p:bldP spid="17419" grpId="0" animBg="1"/>
      <p:bldP spid="17420" grpId="0" animBg="1"/>
      <p:bldP spid="17421" grpId="0" animBg="1"/>
      <p:bldP spid="17422" grpId="0" animBg="1"/>
      <p:bldP spid="17423" grpId="0" animBg="1"/>
      <p:bldP spid="17424" grpId="0" animBg="1"/>
      <p:bldP spid="17425" grpId="0" animBg="1"/>
      <p:bldP spid="17426" grpId="0" animBg="1"/>
      <p:bldP spid="174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a:t>使用交换机</a:t>
            </a:r>
          </a:p>
        </p:txBody>
      </p:sp>
      <p:sp>
        <p:nvSpPr>
          <p:cNvPr id="18435" name="Rectangle 3"/>
          <p:cNvSpPr>
            <a:spLocks noGrp="1" noChangeArrowheads="1"/>
          </p:cNvSpPr>
          <p:nvPr>
            <p:ph type="body" idx="1"/>
          </p:nvPr>
        </p:nvSpPr>
        <p:spPr>
          <a:xfrm>
            <a:off x="1042988" y="1978025"/>
            <a:ext cx="7772400" cy="4114800"/>
          </a:xfrm>
        </p:spPr>
        <p:txBody>
          <a:bodyPr/>
          <a:lstStyle/>
          <a:p>
            <a:r>
              <a:rPr lang="zh-CN" altLang="en-US"/>
              <a:t>当电话机的数量增多时，就要使用交换机来完成全网的交换任务。 </a:t>
            </a:r>
          </a:p>
        </p:txBody>
      </p:sp>
      <p:sp>
        <p:nvSpPr>
          <p:cNvPr id="18436" name="Text Box 4"/>
          <p:cNvSpPr txBox="1">
            <a:spLocks noChangeArrowheads="1"/>
          </p:cNvSpPr>
          <p:nvPr/>
        </p:nvSpPr>
        <p:spPr bwMode="auto">
          <a:xfrm rot="1458061">
            <a:off x="5221288" y="3213100"/>
            <a:ext cx="792162" cy="825500"/>
          </a:xfrm>
          <a:prstGeom prst="rect">
            <a:avLst/>
          </a:prstGeom>
          <a:noFill/>
          <a:ln w="9525">
            <a:noFill/>
            <a:miter lim="800000"/>
            <a:headEnd/>
            <a:tailEnd/>
          </a:ln>
          <a:effectLst/>
        </p:spPr>
        <p:txBody>
          <a:bodyPr wrap="none">
            <a:spAutoFit/>
          </a:bodyPr>
          <a:lstStyle/>
          <a:p>
            <a:r>
              <a:rPr kumimoji="1" lang="en-US" altLang="zh-CN" sz="4800" b="1">
                <a:solidFill>
                  <a:srgbClr val="333399"/>
                </a:solidFill>
                <a:latin typeface="Times New Roman" pitchFamily="18" charset="0"/>
              </a:rPr>
              <a:t>…</a:t>
            </a:r>
          </a:p>
        </p:txBody>
      </p:sp>
      <p:sp>
        <p:nvSpPr>
          <p:cNvPr id="18437" name="Line 5"/>
          <p:cNvSpPr>
            <a:spLocks noChangeShapeType="1"/>
          </p:cNvSpPr>
          <p:nvPr/>
        </p:nvSpPr>
        <p:spPr bwMode="auto">
          <a:xfrm flipH="1" flipV="1">
            <a:off x="4787900" y="4868863"/>
            <a:ext cx="1265238" cy="493712"/>
          </a:xfrm>
          <a:prstGeom prst="line">
            <a:avLst/>
          </a:prstGeom>
          <a:noFill/>
          <a:ln w="28575">
            <a:solidFill>
              <a:schemeClr val="tx1"/>
            </a:solidFill>
            <a:round/>
            <a:headEnd/>
            <a:tailEnd/>
          </a:ln>
          <a:effectLst/>
        </p:spPr>
        <p:txBody>
          <a:bodyPr/>
          <a:lstStyle/>
          <a:p>
            <a:endParaRPr lang="zh-CN" altLang="en-US"/>
          </a:p>
        </p:txBody>
      </p:sp>
      <p:sp>
        <p:nvSpPr>
          <p:cNvPr id="18438" name="Line 6"/>
          <p:cNvSpPr>
            <a:spLocks noChangeShapeType="1"/>
          </p:cNvSpPr>
          <p:nvPr/>
        </p:nvSpPr>
        <p:spPr bwMode="auto">
          <a:xfrm flipV="1">
            <a:off x="4427538" y="4868863"/>
            <a:ext cx="73025" cy="1006475"/>
          </a:xfrm>
          <a:prstGeom prst="line">
            <a:avLst/>
          </a:prstGeom>
          <a:noFill/>
          <a:ln w="28575">
            <a:solidFill>
              <a:schemeClr val="tx1"/>
            </a:solidFill>
            <a:round/>
            <a:headEnd/>
            <a:tailEnd/>
          </a:ln>
          <a:effectLst/>
        </p:spPr>
        <p:txBody>
          <a:bodyPr/>
          <a:lstStyle/>
          <a:p>
            <a:endParaRPr lang="zh-CN" altLang="en-US"/>
          </a:p>
        </p:txBody>
      </p:sp>
      <p:sp>
        <p:nvSpPr>
          <p:cNvPr id="18439" name="Line 7"/>
          <p:cNvSpPr>
            <a:spLocks noChangeShapeType="1"/>
          </p:cNvSpPr>
          <p:nvPr/>
        </p:nvSpPr>
        <p:spPr bwMode="auto">
          <a:xfrm flipV="1">
            <a:off x="2700338" y="4868863"/>
            <a:ext cx="1584325" cy="260350"/>
          </a:xfrm>
          <a:prstGeom prst="line">
            <a:avLst/>
          </a:prstGeom>
          <a:noFill/>
          <a:ln w="28575">
            <a:solidFill>
              <a:schemeClr val="tx1"/>
            </a:solidFill>
            <a:round/>
            <a:headEnd/>
            <a:tailEnd/>
          </a:ln>
          <a:effectLst/>
        </p:spPr>
        <p:txBody>
          <a:bodyPr/>
          <a:lstStyle/>
          <a:p>
            <a:endParaRPr lang="zh-CN" altLang="en-US"/>
          </a:p>
        </p:txBody>
      </p:sp>
      <p:sp>
        <p:nvSpPr>
          <p:cNvPr id="18440" name="Line 8"/>
          <p:cNvSpPr>
            <a:spLocks noChangeShapeType="1"/>
          </p:cNvSpPr>
          <p:nvPr/>
        </p:nvSpPr>
        <p:spPr bwMode="auto">
          <a:xfrm>
            <a:off x="3563938" y="3573463"/>
            <a:ext cx="615950" cy="908050"/>
          </a:xfrm>
          <a:prstGeom prst="line">
            <a:avLst/>
          </a:prstGeom>
          <a:noFill/>
          <a:ln w="28575">
            <a:solidFill>
              <a:schemeClr val="tx1"/>
            </a:solidFill>
            <a:round/>
            <a:headEnd/>
            <a:tailEnd/>
          </a:ln>
          <a:effectLst/>
        </p:spPr>
        <p:txBody>
          <a:bodyPr/>
          <a:lstStyle/>
          <a:p>
            <a:endParaRPr lang="zh-CN" altLang="en-US"/>
          </a:p>
        </p:txBody>
      </p:sp>
      <p:sp>
        <p:nvSpPr>
          <p:cNvPr id="18441" name="Text Box 9"/>
          <p:cNvSpPr txBox="1">
            <a:spLocks noChangeArrowheads="1"/>
          </p:cNvSpPr>
          <p:nvPr/>
        </p:nvSpPr>
        <p:spPr bwMode="auto">
          <a:xfrm>
            <a:off x="4246563" y="3086100"/>
            <a:ext cx="793750" cy="641350"/>
          </a:xfrm>
          <a:prstGeom prst="rect">
            <a:avLst/>
          </a:prstGeom>
          <a:noFill/>
          <a:ln w="952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8442" name="Text Box 10"/>
          <p:cNvSpPr txBox="1">
            <a:spLocks noChangeArrowheads="1"/>
          </p:cNvSpPr>
          <p:nvPr/>
        </p:nvSpPr>
        <p:spPr bwMode="auto">
          <a:xfrm>
            <a:off x="2381250" y="3789363"/>
            <a:ext cx="793750" cy="641350"/>
          </a:xfrm>
          <a:prstGeom prst="rect">
            <a:avLst/>
          </a:prstGeom>
          <a:noFill/>
          <a:ln w="952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8443" name="Text Box 11"/>
          <p:cNvSpPr txBox="1">
            <a:spLocks noChangeArrowheads="1"/>
          </p:cNvSpPr>
          <p:nvPr/>
        </p:nvSpPr>
        <p:spPr bwMode="auto">
          <a:xfrm>
            <a:off x="3044825" y="5372100"/>
            <a:ext cx="793750" cy="641350"/>
          </a:xfrm>
          <a:prstGeom prst="rect">
            <a:avLst/>
          </a:prstGeom>
          <a:noFill/>
          <a:ln w="952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8444" name="Text Box 12"/>
          <p:cNvSpPr txBox="1">
            <a:spLocks noChangeArrowheads="1"/>
          </p:cNvSpPr>
          <p:nvPr/>
        </p:nvSpPr>
        <p:spPr bwMode="auto">
          <a:xfrm>
            <a:off x="6018213" y="4068763"/>
            <a:ext cx="793750" cy="641350"/>
          </a:xfrm>
          <a:prstGeom prst="rect">
            <a:avLst/>
          </a:prstGeom>
          <a:noFill/>
          <a:ln w="952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8445" name="Text Box 13"/>
          <p:cNvSpPr txBox="1">
            <a:spLocks noChangeArrowheads="1"/>
          </p:cNvSpPr>
          <p:nvPr/>
        </p:nvSpPr>
        <p:spPr bwMode="auto">
          <a:xfrm>
            <a:off x="5003800" y="5308600"/>
            <a:ext cx="793750" cy="641350"/>
          </a:xfrm>
          <a:prstGeom prst="rect">
            <a:avLst/>
          </a:prstGeom>
          <a:noFill/>
          <a:ln w="952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8446" name="Line 14"/>
          <p:cNvSpPr>
            <a:spLocks noChangeShapeType="1"/>
          </p:cNvSpPr>
          <p:nvPr/>
        </p:nvSpPr>
        <p:spPr bwMode="auto">
          <a:xfrm flipH="1" flipV="1">
            <a:off x="4572000" y="3429000"/>
            <a:ext cx="12700" cy="1155700"/>
          </a:xfrm>
          <a:prstGeom prst="line">
            <a:avLst/>
          </a:prstGeom>
          <a:noFill/>
          <a:ln w="28575">
            <a:solidFill>
              <a:schemeClr val="tx1"/>
            </a:solidFill>
            <a:round/>
            <a:headEnd/>
            <a:tailEnd/>
          </a:ln>
          <a:effectLst/>
        </p:spPr>
        <p:txBody>
          <a:bodyPr/>
          <a:lstStyle/>
          <a:p>
            <a:endParaRPr lang="zh-CN" altLang="en-US"/>
          </a:p>
        </p:txBody>
      </p:sp>
      <p:sp>
        <p:nvSpPr>
          <p:cNvPr id="18447" name="Line 15"/>
          <p:cNvSpPr>
            <a:spLocks noChangeShapeType="1"/>
          </p:cNvSpPr>
          <p:nvPr/>
        </p:nvSpPr>
        <p:spPr bwMode="auto">
          <a:xfrm flipV="1">
            <a:off x="4932363" y="4437063"/>
            <a:ext cx="1425575" cy="257175"/>
          </a:xfrm>
          <a:prstGeom prst="line">
            <a:avLst/>
          </a:prstGeom>
          <a:noFill/>
          <a:ln w="28575">
            <a:solidFill>
              <a:schemeClr val="tx1"/>
            </a:solidFill>
            <a:round/>
            <a:headEnd/>
            <a:tailEnd/>
          </a:ln>
          <a:effectLst/>
        </p:spPr>
        <p:txBody>
          <a:bodyPr/>
          <a:lstStyle/>
          <a:p>
            <a:endParaRPr lang="zh-CN" altLang="en-US"/>
          </a:p>
        </p:txBody>
      </p:sp>
      <p:sp>
        <p:nvSpPr>
          <p:cNvPr id="18448" name="Line 16"/>
          <p:cNvSpPr>
            <a:spLocks noChangeShapeType="1"/>
          </p:cNvSpPr>
          <p:nvPr/>
        </p:nvSpPr>
        <p:spPr bwMode="auto">
          <a:xfrm>
            <a:off x="2771775" y="4221163"/>
            <a:ext cx="1466850" cy="461962"/>
          </a:xfrm>
          <a:prstGeom prst="line">
            <a:avLst/>
          </a:prstGeom>
          <a:noFill/>
          <a:ln w="28575">
            <a:solidFill>
              <a:schemeClr val="tx1"/>
            </a:solidFill>
            <a:round/>
            <a:headEnd/>
            <a:tailEnd/>
          </a:ln>
          <a:effectLst/>
        </p:spPr>
        <p:txBody>
          <a:bodyPr/>
          <a:lstStyle/>
          <a:p>
            <a:endParaRPr lang="zh-CN" altLang="en-US"/>
          </a:p>
        </p:txBody>
      </p:sp>
      <p:sp>
        <p:nvSpPr>
          <p:cNvPr id="18449" name="Line 17"/>
          <p:cNvSpPr>
            <a:spLocks noChangeShapeType="1"/>
          </p:cNvSpPr>
          <p:nvPr/>
        </p:nvSpPr>
        <p:spPr bwMode="auto">
          <a:xfrm flipV="1">
            <a:off x="3419475" y="4941888"/>
            <a:ext cx="936625" cy="863600"/>
          </a:xfrm>
          <a:prstGeom prst="line">
            <a:avLst/>
          </a:prstGeom>
          <a:noFill/>
          <a:ln w="28575">
            <a:solidFill>
              <a:schemeClr val="tx1"/>
            </a:solidFill>
            <a:round/>
            <a:headEnd/>
            <a:tailEnd/>
          </a:ln>
          <a:effectLst/>
        </p:spPr>
        <p:txBody>
          <a:bodyPr/>
          <a:lstStyle/>
          <a:p>
            <a:endParaRPr lang="zh-CN" altLang="en-US"/>
          </a:p>
        </p:txBody>
      </p:sp>
      <p:sp>
        <p:nvSpPr>
          <p:cNvPr id="18450" name="Line 18"/>
          <p:cNvSpPr>
            <a:spLocks noChangeShapeType="1"/>
          </p:cNvSpPr>
          <p:nvPr/>
        </p:nvSpPr>
        <p:spPr bwMode="auto">
          <a:xfrm flipH="1" flipV="1">
            <a:off x="4500563" y="4724400"/>
            <a:ext cx="850900" cy="935038"/>
          </a:xfrm>
          <a:prstGeom prst="line">
            <a:avLst/>
          </a:prstGeom>
          <a:noFill/>
          <a:ln w="28575">
            <a:solidFill>
              <a:schemeClr val="tx1"/>
            </a:solidFill>
            <a:round/>
            <a:headEnd/>
            <a:tailEnd/>
          </a:ln>
          <a:effectLst/>
        </p:spPr>
        <p:txBody>
          <a:bodyPr/>
          <a:lstStyle/>
          <a:p>
            <a:endParaRPr lang="zh-CN" altLang="en-US"/>
          </a:p>
        </p:txBody>
      </p:sp>
      <p:sp>
        <p:nvSpPr>
          <p:cNvPr id="18451" name="Text Box 19"/>
          <p:cNvSpPr txBox="1">
            <a:spLocks noChangeArrowheads="1"/>
          </p:cNvSpPr>
          <p:nvPr/>
        </p:nvSpPr>
        <p:spPr bwMode="auto">
          <a:xfrm>
            <a:off x="2268538" y="4708525"/>
            <a:ext cx="793750" cy="641350"/>
          </a:xfrm>
          <a:prstGeom prst="rect">
            <a:avLst/>
          </a:prstGeom>
          <a:noFill/>
          <a:ln w="952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8452" name="Text Box 20"/>
          <p:cNvSpPr txBox="1">
            <a:spLocks noChangeArrowheads="1"/>
          </p:cNvSpPr>
          <p:nvPr/>
        </p:nvSpPr>
        <p:spPr bwMode="auto">
          <a:xfrm>
            <a:off x="3249613" y="3227388"/>
            <a:ext cx="793750" cy="641350"/>
          </a:xfrm>
          <a:prstGeom prst="rect">
            <a:avLst/>
          </a:prstGeom>
          <a:noFill/>
          <a:ln w="952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8453" name="Text Box 21"/>
          <p:cNvSpPr txBox="1">
            <a:spLocks noChangeArrowheads="1"/>
          </p:cNvSpPr>
          <p:nvPr/>
        </p:nvSpPr>
        <p:spPr bwMode="auto">
          <a:xfrm>
            <a:off x="4057650" y="5497513"/>
            <a:ext cx="793750" cy="641350"/>
          </a:xfrm>
          <a:prstGeom prst="rect">
            <a:avLst/>
          </a:prstGeom>
          <a:noFill/>
          <a:ln w="952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8454" name="Text Box 22"/>
          <p:cNvSpPr txBox="1">
            <a:spLocks noChangeArrowheads="1"/>
          </p:cNvSpPr>
          <p:nvPr/>
        </p:nvSpPr>
        <p:spPr bwMode="auto">
          <a:xfrm>
            <a:off x="5686425" y="4973638"/>
            <a:ext cx="793750" cy="641350"/>
          </a:xfrm>
          <a:prstGeom prst="rect">
            <a:avLst/>
          </a:prstGeom>
          <a:noFill/>
          <a:ln w="9525">
            <a:noFill/>
            <a:miter lim="800000"/>
            <a:headEnd/>
            <a:tailEnd/>
          </a:ln>
          <a:effec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8455" name="AutoShape 23"/>
          <p:cNvSpPr>
            <a:spLocks noChangeArrowheads="1"/>
          </p:cNvSpPr>
          <p:nvPr/>
        </p:nvSpPr>
        <p:spPr bwMode="auto">
          <a:xfrm>
            <a:off x="4033838" y="4292600"/>
            <a:ext cx="1185862" cy="730250"/>
          </a:xfrm>
          <a:prstGeom prst="cube">
            <a:avLst>
              <a:gd name="adj" fmla="val 25000"/>
            </a:avLst>
          </a:prstGeom>
          <a:solidFill>
            <a:schemeClr val="accent2"/>
          </a:solidFill>
          <a:ln w="9525">
            <a:solidFill>
              <a:schemeClr val="tx1"/>
            </a:solidFill>
            <a:miter lim="800000"/>
            <a:headEnd/>
            <a:tailEnd/>
          </a:ln>
          <a:effectLst/>
        </p:spPr>
        <p:txBody>
          <a:bodyPr wrap="none" anchor="ctr"/>
          <a:lstStyle/>
          <a:p>
            <a:pPr algn="ctr"/>
            <a:endParaRPr kumimoji="1" lang="zh-CN" altLang="zh-CN" sz="2400">
              <a:solidFill>
                <a:srgbClr val="333399"/>
              </a:solidFill>
              <a:latin typeface="Times New Roman" pitchFamily="18" charset="0"/>
            </a:endParaRPr>
          </a:p>
        </p:txBody>
      </p:sp>
      <p:sp>
        <p:nvSpPr>
          <p:cNvPr id="18456" name="Text Box 24"/>
          <p:cNvSpPr txBox="1">
            <a:spLocks noChangeArrowheads="1"/>
          </p:cNvSpPr>
          <p:nvPr/>
        </p:nvSpPr>
        <p:spPr bwMode="auto">
          <a:xfrm>
            <a:off x="4021138" y="4486275"/>
            <a:ext cx="1098550" cy="457200"/>
          </a:xfrm>
          <a:prstGeom prst="rect">
            <a:avLst/>
          </a:prstGeom>
          <a:noFill/>
          <a:ln w="9525">
            <a:noFill/>
            <a:miter lim="800000"/>
            <a:headEnd/>
            <a:tailEnd/>
          </a:ln>
          <a:effectLst/>
        </p:spPr>
        <p:txBody>
          <a:bodyPr wrap="none">
            <a:spAutoFit/>
          </a:bodyPr>
          <a:lstStyle/>
          <a:p>
            <a:r>
              <a:rPr kumimoji="1" lang="zh-CN" altLang="en-US" sz="2400">
                <a:solidFill>
                  <a:srgbClr val="333399"/>
                </a:solidFill>
                <a:latin typeface="Times New Roman" pitchFamily="18" charset="0"/>
                <a:ea typeface="黑体" pitchFamily="49" charset="-122"/>
              </a:rPr>
              <a:t>交换机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300"/>
                                  </p:stCondLst>
                                  <p:childTnLst>
                                    <p:set>
                                      <p:cBhvr>
                                        <p:cTn id="6" dur="1" fill="hold">
                                          <p:stCondLst>
                                            <p:cond delay="0"/>
                                          </p:stCondLst>
                                        </p:cTn>
                                        <p:tgtEl>
                                          <p:spTgt spid="18446"/>
                                        </p:tgtEl>
                                        <p:attrNameLst>
                                          <p:attrName>style.visibility</p:attrName>
                                        </p:attrNameLst>
                                      </p:cBhvr>
                                      <p:to>
                                        <p:strVal val="visible"/>
                                      </p:to>
                                    </p:set>
                                  </p:childTnLst>
                                </p:cTn>
                              </p:par>
                            </p:childTnLst>
                          </p:cTn>
                        </p:par>
                        <p:par>
                          <p:cTn id="7" fill="hold">
                            <p:stCondLst>
                              <p:cond delay="300"/>
                            </p:stCondLst>
                            <p:childTnLst>
                              <p:par>
                                <p:cTn id="8" presetID="1" presetClass="entr" presetSubtype="0" fill="hold" grpId="0" nodeType="afterEffect">
                                  <p:stCondLst>
                                    <p:cond delay="300"/>
                                  </p:stCondLst>
                                  <p:childTnLst>
                                    <p:set>
                                      <p:cBhvr>
                                        <p:cTn id="9" dur="1" fill="hold">
                                          <p:stCondLst>
                                            <p:cond delay="0"/>
                                          </p:stCondLst>
                                        </p:cTn>
                                        <p:tgtEl>
                                          <p:spTgt spid="18440"/>
                                        </p:tgtEl>
                                        <p:attrNameLst>
                                          <p:attrName>style.visibility</p:attrName>
                                        </p:attrNameLst>
                                      </p:cBhvr>
                                      <p:to>
                                        <p:strVal val="visible"/>
                                      </p:to>
                                    </p:set>
                                  </p:childTnLst>
                                </p:cTn>
                              </p:par>
                            </p:childTnLst>
                          </p:cTn>
                        </p:par>
                        <p:par>
                          <p:cTn id="10" fill="hold">
                            <p:stCondLst>
                              <p:cond delay="600"/>
                            </p:stCondLst>
                            <p:childTnLst>
                              <p:par>
                                <p:cTn id="11" presetID="1" presetClass="entr" presetSubtype="0" fill="hold" grpId="0" nodeType="afterEffect">
                                  <p:stCondLst>
                                    <p:cond delay="300"/>
                                  </p:stCondLst>
                                  <p:childTnLst>
                                    <p:set>
                                      <p:cBhvr>
                                        <p:cTn id="12" dur="1" fill="hold">
                                          <p:stCondLst>
                                            <p:cond delay="0"/>
                                          </p:stCondLst>
                                        </p:cTn>
                                        <p:tgtEl>
                                          <p:spTgt spid="18448"/>
                                        </p:tgtEl>
                                        <p:attrNameLst>
                                          <p:attrName>style.visibility</p:attrName>
                                        </p:attrNameLst>
                                      </p:cBhvr>
                                      <p:to>
                                        <p:strVal val="visible"/>
                                      </p:to>
                                    </p:set>
                                  </p:childTnLst>
                                </p:cTn>
                              </p:par>
                            </p:childTnLst>
                          </p:cTn>
                        </p:par>
                        <p:par>
                          <p:cTn id="13" fill="hold">
                            <p:stCondLst>
                              <p:cond delay="900"/>
                            </p:stCondLst>
                            <p:childTnLst>
                              <p:par>
                                <p:cTn id="14" presetID="1" presetClass="entr" presetSubtype="0" fill="hold" grpId="0" nodeType="afterEffect">
                                  <p:stCondLst>
                                    <p:cond delay="300"/>
                                  </p:stCondLst>
                                  <p:childTnLst>
                                    <p:set>
                                      <p:cBhvr>
                                        <p:cTn id="15" dur="1" fill="hold">
                                          <p:stCondLst>
                                            <p:cond delay="0"/>
                                          </p:stCondLst>
                                        </p:cTn>
                                        <p:tgtEl>
                                          <p:spTgt spid="18439"/>
                                        </p:tgtEl>
                                        <p:attrNameLst>
                                          <p:attrName>style.visibility</p:attrName>
                                        </p:attrNameLst>
                                      </p:cBhvr>
                                      <p:to>
                                        <p:strVal val="visible"/>
                                      </p:to>
                                    </p:set>
                                  </p:childTnLst>
                                </p:cTn>
                              </p:par>
                            </p:childTnLst>
                          </p:cTn>
                        </p:par>
                        <p:par>
                          <p:cTn id="16" fill="hold">
                            <p:stCondLst>
                              <p:cond delay="1200"/>
                            </p:stCondLst>
                            <p:childTnLst>
                              <p:par>
                                <p:cTn id="17" presetID="1" presetClass="entr" presetSubtype="0" fill="hold" grpId="0" nodeType="afterEffect">
                                  <p:stCondLst>
                                    <p:cond delay="300"/>
                                  </p:stCondLst>
                                  <p:childTnLst>
                                    <p:set>
                                      <p:cBhvr>
                                        <p:cTn id="18" dur="1" fill="hold">
                                          <p:stCondLst>
                                            <p:cond delay="0"/>
                                          </p:stCondLst>
                                        </p:cTn>
                                        <p:tgtEl>
                                          <p:spTgt spid="18449"/>
                                        </p:tgtEl>
                                        <p:attrNameLst>
                                          <p:attrName>style.visibility</p:attrName>
                                        </p:attrNameLst>
                                      </p:cBhvr>
                                      <p:to>
                                        <p:strVal val="visible"/>
                                      </p:to>
                                    </p:set>
                                  </p:childTnLst>
                                </p:cTn>
                              </p:par>
                            </p:childTnLst>
                          </p:cTn>
                        </p:par>
                        <p:par>
                          <p:cTn id="19" fill="hold">
                            <p:stCondLst>
                              <p:cond delay="1500"/>
                            </p:stCondLst>
                            <p:childTnLst>
                              <p:par>
                                <p:cTn id="20" presetID="1" presetClass="entr" presetSubtype="0" fill="hold" grpId="0" nodeType="afterEffect">
                                  <p:stCondLst>
                                    <p:cond delay="300"/>
                                  </p:stCondLst>
                                  <p:childTnLst>
                                    <p:set>
                                      <p:cBhvr>
                                        <p:cTn id="21" dur="1" fill="hold">
                                          <p:stCondLst>
                                            <p:cond delay="0"/>
                                          </p:stCondLst>
                                        </p:cTn>
                                        <p:tgtEl>
                                          <p:spTgt spid="18438"/>
                                        </p:tgtEl>
                                        <p:attrNameLst>
                                          <p:attrName>style.visibility</p:attrName>
                                        </p:attrNameLst>
                                      </p:cBhvr>
                                      <p:to>
                                        <p:strVal val="visible"/>
                                      </p:to>
                                    </p:set>
                                  </p:childTnLst>
                                </p:cTn>
                              </p:par>
                            </p:childTnLst>
                          </p:cTn>
                        </p:par>
                        <p:par>
                          <p:cTn id="22" fill="hold">
                            <p:stCondLst>
                              <p:cond delay="1800"/>
                            </p:stCondLst>
                            <p:childTnLst>
                              <p:par>
                                <p:cTn id="23" presetID="1" presetClass="entr" presetSubtype="0" fill="hold" grpId="0" nodeType="afterEffect">
                                  <p:stCondLst>
                                    <p:cond delay="300"/>
                                  </p:stCondLst>
                                  <p:childTnLst>
                                    <p:set>
                                      <p:cBhvr>
                                        <p:cTn id="24" dur="1" fill="hold">
                                          <p:stCondLst>
                                            <p:cond delay="0"/>
                                          </p:stCondLst>
                                        </p:cTn>
                                        <p:tgtEl>
                                          <p:spTgt spid="18450"/>
                                        </p:tgtEl>
                                        <p:attrNameLst>
                                          <p:attrName>style.visibility</p:attrName>
                                        </p:attrNameLst>
                                      </p:cBhvr>
                                      <p:to>
                                        <p:strVal val="visible"/>
                                      </p:to>
                                    </p:set>
                                  </p:childTnLst>
                                </p:cTn>
                              </p:par>
                            </p:childTnLst>
                          </p:cTn>
                        </p:par>
                        <p:par>
                          <p:cTn id="25" fill="hold">
                            <p:stCondLst>
                              <p:cond delay="2100"/>
                            </p:stCondLst>
                            <p:childTnLst>
                              <p:par>
                                <p:cTn id="26" presetID="1" presetClass="entr" presetSubtype="0" fill="hold" grpId="0" nodeType="afterEffect">
                                  <p:stCondLst>
                                    <p:cond delay="300"/>
                                  </p:stCondLst>
                                  <p:childTnLst>
                                    <p:set>
                                      <p:cBhvr>
                                        <p:cTn id="27" dur="1" fill="hold">
                                          <p:stCondLst>
                                            <p:cond delay="0"/>
                                          </p:stCondLst>
                                        </p:cTn>
                                        <p:tgtEl>
                                          <p:spTgt spid="18437"/>
                                        </p:tgtEl>
                                        <p:attrNameLst>
                                          <p:attrName>style.visibility</p:attrName>
                                        </p:attrNameLst>
                                      </p:cBhvr>
                                      <p:to>
                                        <p:strVal val="visible"/>
                                      </p:to>
                                    </p:set>
                                  </p:childTnLst>
                                </p:cTn>
                              </p:par>
                            </p:childTnLst>
                          </p:cTn>
                        </p:par>
                        <p:par>
                          <p:cTn id="28" fill="hold">
                            <p:stCondLst>
                              <p:cond delay="2400"/>
                            </p:stCondLst>
                            <p:childTnLst>
                              <p:par>
                                <p:cTn id="29" presetID="1" presetClass="entr" presetSubtype="0" fill="hold" grpId="0" nodeType="afterEffect">
                                  <p:stCondLst>
                                    <p:cond delay="300"/>
                                  </p:stCondLst>
                                  <p:childTnLst>
                                    <p:set>
                                      <p:cBhvr>
                                        <p:cTn id="30" dur="1" fill="hold">
                                          <p:stCondLst>
                                            <p:cond delay="0"/>
                                          </p:stCondLst>
                                        </p:cTn>
                                        <p:tgtEl>
                                          <p:spTgt spid="184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animBg="1"/>
      <p:bldP spid="18438" grpId="0" animBg="1"/>
      <p:bldP spid="18439" grpId="0" animBg="1"/>
      <p:bldP spid="18440" grpId="0" animBg="1"/>
      <p:bldP spid="18446" grpId="0" animBg="1"/>
      <p:bldP spid="18447" grpId="0" animBg="1"/>
      <p:bldP spid="18448" grpId="0" animBg="1"/>
      <p:bldP spid="18449" grpId="0" animBg="1"/>
      <p:bldP spid="1845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en-US"/>
              <a:t>电路交换的特点</a:t>
            </a:r>
          </a:p>
        </p:txBody>
      </p:sp>
      <p:sp>
        <p:nvSpPr>
          <p:cNvPr id="19459" name="Rectangle 3"/>
          <p:cNvSpPr>
            <a:spLocks noGrp="1" noChangeArrowheads="1"/>
          </p:cNvSpPr>
          <p:nvPr>
            <p:ph type="body" idx="1"/>
          </p:nvPr>
        </p:nvSpPr>
        <p:spPr/>
        <p:txBody>
          <a:bodyPr/>
          <a:lstStyle/>
          <a:p>
            <a:r>
              <a:rPr lang="zh-CN" altLang="en-US"/>
              <a:t>电路交换必定是面向连接的。 </a:t>
            </a:r>
          </a:p>
          <a:p>
            <a:r>
              <a:rPr lang="zh-CN" altLang="en-US"/>
              <a:t>电路交换的三个阶段：</a:t>
            </a:r>
          </a:p>
          <a:p>
            <a:pPr lvl="1"/>
            <a:r>
              <a:rPr lang="zh-CN" altLang="en-US">
                <a:solidFill>
                  <a:srgbClr val="333399"/>
                </a:solidFill>
                <a:ea typeface="黑体" pitchFamily="49" charset="-122"/>
              </a:rPr>
              <a:t>建立连接</a:t>
            </a:r>
          </a:p>
          <a:p>
            <a:pPr lvl="1"/>
            <a:r>
              <a:rPr lang="zh-CN" altLang="en-US">
                <a:solidFill>
                  <a:srgbClr val="333399"/>
                </a:solidFill>
                <a:ea typeface="黑体" pitchFamily="49" charset="-122"/>
              </a:rPr>
              <a:t>通信</a:t>
            </a:r>
          </a:p>
          <a:p>
            <a:pPr lvl="1"/>
            <a:r>
              <a:rPr lang="zh-CN" altLang="en-US">
                <a:solidFill>
                  <a:srgbClr val="333399"/>
                </a:solidFill>
                <a:ea typeface="黑体" pitchFamily="49" charset="-122"/>
              </a:rPr>
              <a:t>释放连接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5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zh-CN" altLang="en-US"/>
              <a:t>电路交换举例</a:t>
            </a:r>
          </a:p>
        </p:txBody>
      </p:sp>
      <p:sp>
        <p:nvSpPr>
          <p:cNvPr id="20483" name="Rectangle 3"/>
          <p:cNvSpPr>
            <a:spLocks noGrp="1" noChangeArrowheads="1"/>
          </p:cNvSpPr>
          <p:nvPr>
            <p:ph type="body" idx="1"/>
          </p:nvPr>
        </p:nvSpPr>
        <p:spPr/>
        <p:txBody>
          <a:bodyPr/>
          <a:lstStyle/>
          <a:p>
            <a:r>
              <a:rPr lang="en-US" altLang="zh-CN"/>
              <a:t>A </a:t>
            </a:r>
            <a:r>
              <a:rPr lang="zh-CN" altLang="en-US"/>
              <a:t>和 </a:t>
            </a:r>
            <a:r>
              <a:rPr lang="en-US" altLang="zh-CN"/>
              <a:t>B </a:t>
            </a:r>
            <a:r>
              <a:rPr lang="zh-CN" altLang="en-US"/>
              <a:t>通话经过四个交换机</a:t>
            </a:r>
          </a:p>
          <a:p>
            <a:r>
              <a:rPr lang="zh-CN" altLang="en-US"/>
              <a:t>通话在 </a:t>
            </a:r>
            <a:r>
              <a:rPr lang="en-US" altLang="zh-CN"/>
              <a:t>A </a:t>
            </a:r>
            <a:r>
              <a:rPr lang="zh-CN" altLang="en-US"/>
              <a:t>到 </a:t>
            </a:r>
            <a:r>
              <a:rPr lang="en-US" altLang="zh-CN"/>
              <a:t>B </a:t>
            </a:r>
            <a:r>
              <a:rPr lang="zh-CN" altLang="en-US"/>
              <a:t>的连接上进行</a:t>
            </a:r>
          </a:p>
        </p:txBody>
      </p:sp>
      <p:sp>
        <p:nvSpPr>
          <p:cNvPr id="20484" name="Freeform 4"/>
          <p:cNvSpPr>
            <a:spLocks/>
          </p:cNvSpPr>
          <p:nvPr/>
        </p:nvSpPr>
        <p:spPr bwMode="auto">
          <a:xfrm>
            <a:off x="1593850" y="4960938"/>
            <a:ext cx="212725" cy="325437"/>
          </a:xfrm>
          <a:custGeom>
            <a:avLst/>
            <a:gdLst/>
            <a:ahLst/>
            <a:cxnLst>
              <a:cxn ang="0">
                <a:pos x="9" y="0"/>
              </a:cxn>
              <a:cxn ang="0">
                <a:pos x="57" y="6"/>
              </a:cxn>
              <a:cxn ang="0">
                <a:pos x="99" y="27"/>
              </a:cxn>
              <a:cxn ang="0">
                <a:pos x="129" y="63"/>
              </a:cxn>
              <a:cxn ang="0">
                <a:pos x="132" y="114"/>
              </a:cxn>
              <a:cxn ang="0">
                <a:pos x="102" y="168"/>
              </a:cxn>
              <a:cxn ang="0">
                <a:pos x="51" y="198"/>
              </a:cxn>
              <a:cxn ang="0">
                <a:pos x="0" y="210"/>
              </a:cxn>
            </a:cxnLst>
            <a:rect l="0" t="0" r="r" b="b"/>
            <a:pathLst>
              <a:path w="136" h="210">
                <a:moveTo>
                  <a:pt x="9" y="0"/>
                </a:moveTo>
                <a:cubicBezTo>
                  <a:pt x="17" y="1"/>
                  <a:pt x="42" y="2"/>
                  <a:pt x="57" y="6"/>
                </a:cubicBezTo>
                <a:cubicBezTo>
                  <a:pt x="72" y="10"/>
                  <a:pt x="87" y="18"/>
                  <a:pt x="99" y="27"/>
                </a:cubicBezTo>
                <a:cubicBezTo>
                  <a:pt x="111" y="36"/>
                  <a:pt x="124" y="49"/>
                  <a:pt x="129" y="63"/>
                </a:cubicBezTo>
                <a:cubicBezTo>
                  <a:pt x="134" y="77"/>
                  <a:pt x="136" y="97"/>
                  <a:pt x="132" y="114"/>
                </a:cubicBezTo>
                <a:cubicBezTo>
                  <a:pt x="128" y="131"/>
                  <a:pt x="115" y="154"/>
                  <a:pt x="102" y="168"/>
                </a:cubicBezTo>
                <a:cubicBezTo>
                  <a:pt x="89" y="182"/>
                  <a:pt x="68" y="191"/>
                  <a:pt x="51" y="198"/>
                </a:cubicBezTo>
                <a:cubicBezTo>
                  <a:pt x="34" y="205"/>
                  <a:pt x="11" y="208"/>
                  <a:pt x="0" y="210"/>
                </a:cubicBezTo>
              </a:path>
            </a:pathLst>
          </a:custGeom>
          <a:noFill/>
          <a:ln w="38100" cmpd="sng">
            <a:solidFill>
              <a:schemeClr val="tx1"/>
            </a:solidFill>
            <a:round/>
            <a:headEnd/>
            <a:tailEnd/>
          </a:ln>
          <a:effectLst/>
        </p:spPr>
        <p:txBody>
          <a:bodyPr/>
          <a:lstStyle/>
          <a:p>
            <a:endParaRPr lang="zh-CN" altLang="en-US"/>
          </a:p>
        </p:txBody>
      </p:sp>
      <p:sp>
        <p:nvSpPr>
          <p:cNvPr id="20485" name="Line 5"/>
          <p:cNvSpPr>
            <a:spLocks noChangeShapeType="1"/>
          </p:cNvSpPr>
          <p:nvPr/>
        </p:nvSpPr>
        <p:spPr bwMode="auto">
          <a:xfrm flipV="1">
            <a:off x="873125" y="5286375"/>
            <a:ext cx="711200" cy="488950"/>
          </a:xfrm>
          <a:prstGeom prst="line">
            <a:avLst/>
          </a:prstGeom>
          <a:noFill/>
          <a:ln w="9525">
            <a:solidFill>
              <a:schemeClr val="tx1"/>
            </a:solidFill>
            <a:round/>
            <a:headEnd/>
            <a:tailEnd/>
          </a:ln>
          <a:effectLst/>
        </p:spPr>
        <p:txBody>
          <a:bodyPr/>
          <a:lstStyle/>
          <a:p>
            <a:endParaRPr lang="zh-CN" altLang="en-US"/>
          </a:p>
        </p:txBody>
      </p:sp>
      <p:sp>
        <p:nvSpPr>
          <p:cNvPr id="20486" name="Line 6"/>
          <p:cNvSpPr>
            <a:spLocks noChangeShapeType="1"/>
          </p:cNvSpPr>
          <p:nvPr/>
        </p:nvSpPr>
        <p:spPr bwMode="auto">
          <a:xfrm flipV="1">
            <a:off x="877888" y="4964113"/>
            <a:ext cx="711200" cy="139700"/>
          </a:xfrm>
          <a:prstGeom prst="line">
            <a:avLst/>
          </a:prstGeom>
          <a:noFill/>
          <a:ln w="9525">
            <a:solidFill>
              <a:schemeClr val="tx1"/>
            </a:solidFill>
            <a:round/>
            <a:headEnd/>
            <a:tailEnd/>
          </a:ln>
          <a:effectLst/>
        </p:spPr>
        <p:txBody>
          <a:bodyPr/>
          <a:lstStyle/>
          <a:p>
            <a:endParaRPr lang="zh-CN" altLang="en-US"/>
          </a:p>
        </p:txBody>
      </p:sp>
      <p:sp>
        <p:nvSpPr>
          <p:cNvPr id="20487" name="Line 7"/>
          <p:cNvSpPr>
            <a:spLocks noChangeShapeType="1"/>
          </p:cNvSpPr>
          <p:nvPr/>
        </p:nvSpPr>
        <p:spPr bwMode="auto">
          <a:xfrm flipV="1">
            <a:off x="7473950" y="4570413"/>
            <a:ext cx="927100" cy="285750"/>
          </a:xfrm>
          <a:prstGeom prst="line">
            <a:avLst/>
          </a:prstGeom>
          <a:noFill/>
          <a:ln w="9525">
            <a:solidFill>
              <a:schemeClr val="tx1"/>
            </a:solidFill>
            <a:round/>
            <a:headEnd/>
            <a:tailEnd/>
          </a:ln>
          <a:effectLst/>
        </p:spPr>
        <p:txBody>
          <a:bodyPr/>
          <a:lstStyle/>
          <a:p>
            <a:endParaRPr lang="zh-CN" altLang="en-US"/>
          </a:p>
        </p:txBody>
      </p:sp>
      <p:sp>
        <p:nvSpPr>
          <p:cNvPr id="20488" name="Line 8"/>
          <p:cNvSpPr>
            <a:spLocks noChangeShapeType="1"/>
          </p:cNvSpPr>
          <p:nvPr/>
        </p:nvSpPr>
        <p:spPr bwMode="auto">
          <a:xfrm>
            <a:off x="731838" y="4456113"/>
            <a:ext cx="847725" cy="169862"/>
          </a:xfrm>
          <a:prstGeom prst="line">
            <a:avLst/>
          </a:prstGeom>
          <a:noFill/>
          <a:ln w="9525">
            <a:solidFill>
              <a:schemeClr val="tx1"/>
            </a:solidFill>
            <a:round/>
            <a:headEnd/>
            <a:tailEnd/>
          </a:ln>
          <a:effectLst/>
        </p:spPr>
        <p:txBody>
          <a:bodyPr/>
          <a:lstStyle/>
          <a:p>
            <a:endParaRPr lang="zh-CN" altLang="en-US"/>
          </a:p>
        </p:txBody>
      </p:sp>
      <p:sp>
        <p:nvSpPr>
          <p:cNvPr id="20489" name="Freeform 9"/>
          <p:cNvSpPr>
            <a:spLocks/>
          </p:cNvSpPr>
          <p:nvPr/>
        </p:nvSpPr>
        <p:spPr bwMode="auto">
          <a:xfrm>
            <a:off x="1565275" y="3894138"/>
            <a:ext cx="5930900" cy="1524000"/>
          </a:xfrm>
          <a:custGeom>
            <a:avLst/>
            <a:gdLst/>
            <a:ahLst/>
            <a:cxnLst>
              <a:cxn ang="0">
                <a:pos x="0" y="462"/>
              </a:cxn>
              <a:cxn ang="0">
                <a:pos x="3" y="463"/>
              </a:cxn>
              <a:cxn ang="0">
                <a:pos x="558" y="690"/>
              </a:cxn>
              <a:cxn ang="0">
                <a:pos x="1167" y="0"/>
              </a:cxn>
              <a:cxn ang="0">
                <a:pos x="1712" y="209"/>
              </a:cxn>
              <a:cxn ang="0">
                <a:pos x="2167" y="754"/>
              </a:cxn>
              <a:cxn ang="0">
                <a:pos x="2712" y="981"/>
              </a:cxn>
              <a:cxn ang="0">
                <a:pos x="3230" y="500"/>
              </a:cxn>
              <a:cxn ang="0">
                <a:pos x="3776" y="618"/>
              </a:cxn>
              <a:cxn ang="0">
                <a:pos x="3766" y="608"/>
              </a:cxn>
            </a:cxnLst>
            <a:rect l="0" t="0" r="r" b="b"/>
            <a:pathLst>
              <a:path w="3776" h="981">
                <a:moveTo>
                  <a:pt x="0" y="462"/>
                </a:moveTo>
                <a:lnTo>
                  <a:pt x="3" y="463"/>
                </a:lnTo>
                <a:lnTo>
                  <a:pt x="558" y="690"/>
                </a:lnTo>
                <a:lnTo>
                  <a:pt x="1167" y="0"/>
                </a:lnTo>
                <a:lnTo>
                  <a:pt x="1712" y="209"/>
                </a:lnTo>
                <a:lnTo>
                  <a:pt x="2167" y="754"/>
                </a:lnTo>
                <a:lnTo>
                  <a:pt x="2712" y="981"/>
                </a:lnTo>
                <a:lnTo>
                  <a:pt x="3230" y="500"/>
                </a:lnTo>
                <a:lnTo>
                  <a:pt x="3776" y="618"/>
                </a:lnTo>
                <a:lnTo>
                  <a:pt x="3766" y="608"/>
                </a:lnTo>
              </a:path>
            </a:pathLst>
          </a:custGeom>
          <a:noFill/>
          <a:ln w="38100" cmpd="sng">
            <a:solidFill>
              <a:schemeClr val="tx1"/>
            </a:solidFill>
            <a:round/>
            <a:headEnd/>
            <a:tailEnd/>
          </a:ln>
          <a:effectLst/>
        </p:spPr>
        <p:txBody>
          <a:bodyPr wrap="none" anchor="ctr"/>
          <a:lstStyle/>
          <a:p>
            <a:endParaRPr lang="zh-CN" altLang="en-US"/>
          </a:p>
        </p:txBody>
      </p:sp>
      <p:sp>
        <p:nvSpPr>
          <p:cNvPr id="20490" name="Rectangle 10"/>
          <p:cNvSpPr>
            <a:spLocks noChangeArrowheads="1"/>
          </p:cNvSpPr>
          <p:nvPr/>
        </p:nvSpPr>
        <p:spPr bwMode="auto">
          <a:xfrm>
            <a:off x="1627188" y="4438650"/>
            <a:ext cx="754062" cy="1042988"/>
          </a:xfrm>
          <a:prstGeom prst="rect">
            <a:avLst/>
          </a:prstGeom>
          <a:noFill/>
          <a:ln w="12700">
            <a:solidFill>
              <a:schemeClr val="tx1"/>
            </a:solidFill>
            <a:miter lim="800000"/>
            <a:headEnd/>
            <a:tailEnd/>
          </a:ln>
          <a:effectLst/>
        </p:spPr>
        <p:txBody>
          <a:bodyPr wrap="none" anchor="ctr"/>
          <a:lstStyle/>
          <a:p>
            <a:endParaRPr lang="zh-CN" altLang="en-US"/>
          </a:p>
        </p:txBody>
      </p:sp>
      <p:sp>
        <p:nvSpPr>
          <p:cNvPr id="20491" name="Oval 11"/>
          <p:cNvSpPr>
            <a:spLocks noChangeArrowheads="1"/>
          </p:cNvSpPr>
          <p:nvPr/>
        </p:nvSpPr>
        <p:spPr bwMode="auto">
          <a:xfrm>
            <a:off x="1533525" y="4568825"/>
            <a:ext cx="93663" cy="93663"/>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492" name="Oval 12"/>
          <p:cNvSpPr>
            <a:spLocks noChangeArrowheads="1"/>
          </p:cNvSpPr>
          <p:nvPr/>
        </p:nvSpPr>
        <p:spPr bwMode="auto">
          <a:xfrm>
            <a:off x="1533525" y="4737100"/>
            <a:ext cx="93663"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493" name="Oval 13"/>
          <p:cNvSpPr>
            <a:spLocks noChangeArrowheads="1"/>
          </p:cNvSpPr>
          <p:nvPr/>
        </p:nvSpPr>
        <p:spPr bwMode="auto">
          <a:xfrm>
            <a:off x="1533525" y="4913313"/>
            <a:ext cx="93663"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494" name="Oval 14"/>
          <p:cNvSpPr>
            <a:spLocks noChangeArrowheads="1"/>
          </p:cNvSpPr>
          <p:nvPr/>
        </p:nvSpPr>
        <p:spPr bwMode="auto">
          <a:xfrm>
            <a:off x="1533525" y="5070475"/>
            <a:ext cx="93663"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495" name="Oval 15"/>
          <p:cNvSpPr>
            <a:spLocks noChangeArrowheads="1"/>
          </p:cNvSpPr>
          <p:nvPr/>
        </p:nvSpPr>
        <p:spPr bwMode="auto">
          <a:xfrm>
            <a:off x="1533525" y="5238750"/>
            <a:ext cx="93663"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496" name="Oval 16"/>
          <p:cNvSpPr>
            <a:spLocks noChangeArrowheads="1"/>
          </p:cNvSpPr>
          <p:nvPr/>
        </p:nvSpPr>
        <p:spPr bwMode="auto">
          <a:xfrm>
            <a:off x="2381250" y="4568825"/>
            <a:ext cx="93663" cy="93663"/>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497" name="Oval 17"/>
          <p:cNvSpPr>
            <a:spLocks noChangeArrowheads="1"/>
          </p:cNvSpPr>
          <p:nvPr/>
        </p:nvSpPr>
        <p:spPr bwMode="auto">
          <a:xfrm>
            <a:off x="2381250" y="4737100"/>
            <a:ext cx="93663"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498" name="Oval 18"/>
          <p:cNvSpPr>
            <a:spLocks noChangeArrowheads="1"/>
          </p:cNvSpPr>
          <p:nvPr/>
        </p:nvSpPr>
        <p:spPr bwMode="auto">
          <a:xfrm>
            <a:off x="2381250" y="4913313"/>
            <a:ext cx="93663"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499" name="Oval 19"/>
          <p:cNvSpPr>
            <a:spLocks noChangeArrowheads="1"/>
          </p:cNvSpPr>
          <p:nvPr/>
        </p:nvSpPr>
        <p:spPr bwMode="auto">
          <a:xfrm>
            <a:off x="2381250" y="5070475"/>
            <a:ext cx="93663"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00" name="Oval 20"/>
          <p:cNvSpPr>
            <a:spLocks noChangeArrowheads="1"/>
          </p:cNvSpPr>
          <p:nvPr/>
        </p:nvSpPr>
        <p:spPr bwMode="auto">
          <a:xfrm>
            <a:off x="2381250" y="5238750"/>
            <a:ext cx="93663"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01" name="Rectangle 21"/>
          <p:cNvSpPr>
            <a:spLocks noChangeArrowheads="1"/>
          </p:cNvSpPr>
          <p:nvPr/>
        </p:nvSpPr>
        <p:spPr bwMode="auto">
          <a:xfrm>
            <a:off x="3436938" y="3541713"/>
            <a:ext cx="752475" cy="1044575"/>
          </a:xfrm>
          <a:prstGeom prst="rect">
            <a:avLst/>
          </a:prstGeom>
          <a:noFill/>
          <a:ln w="12700">
            <a:solidFill>
              <a:schemeClr val="tx1"/>
            </a:solidFill>
            <a:miter lim="800000"/>
            <a:headEnd/>
            <a:tailEnd/>
          </a:ln>
          <a:effectLst/>
        </p:spPr>
        <p:txBody>
          <a:bodyPr wrap="none" anchor="ctr"/>
          <a:lstStyle/>
          <a:p>
            <a:endParaRPr lang="zh-CN" altLang="en-US"/>
          </a:p>
        </p:txBody>
      </p:sp>
      <p:sp>
        <p:nvSpPr>
          <p:cNvPr id="20502" name="Oval 22"/>
          <p:cNvSpPr>
            <a:spLocks noChangeArrowheads="1"/>
          </p:cNvSpPr>
          <p:nvPr/>
        </p:nvSpPr>
        <p:spPr bwMode="auto">
          <a:xfrm>
            <a:off x="3341688" y="3673475"/>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03" name="Oval 23"/>
          <p:cNvSpPr>
            <a:spLocks noChangeArrowheads="1"/>
          </p:cNvSpPr>
          <p:nvPr/>
        </p:nvSpPr>
        <p:spPr bwMode="auto">
          <a:xfrm>
            <a:off x="3341688" y="3841750"/>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04" name="Oval 24"/>
          <p:cNvSpPr>
            <a:spLocks noChangeArrowheads="1"/>
          </p:cNvSpPr>
          <p:nvPr/>
        </p:nvSpPr>
        <p:spPr bwMode="auto">
          <a:xfrm>
            <a:off x="3341688" y="4019550"/>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05" name="Oval 25"/>
          <p:cNvSpPr>
            <a:spLocks noChangeArrowheads="1"/>
          </p:cNvSpPr>
          <p:nvPr/>
        </p:nvSpPr>
        <p:spPr bwMode="auto">
          <a:xfrm>
            <a:off x="3341688" y="4176713"/>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06" name="Oval 26"/>
          <p:cNvSpPr>
            <a:spLocks noChangeArrowheads="1"/>
          </p:cNvSpPr>
          <p:nvPr/>
        </p:nvSpPr>
        <p:spPr bwMode="auto">
          <a:xfrm>
            <a:off x="3341688" y="4344988"/>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07" name="Oval 27"/>
          <p:cNvSpPr>
            <a:spLocks noChangeArrowheads="1"/>
          </p:cNvSpPr>
          <p:nvPr/>
        </p:nvSpPr>
        <p:spPr bwMode="auto">
          <a:xfrm>
            <a:off x="4189413" y="3673475"/>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08" name="Oval 28"/>
          <p:cNvSpPr>
            <a:spLocks noChangeArrowheads="1"/>
          </p:cNvSpPr>
          <p:nvPr/>
        </p:nvSpPr>
        <p:spPr bwMode="auto">
          <a:xfrm>
            <a:off x="4189413" y="3841750"/>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09" name="Oval 29"/>
          <p:cNvSpPr>
            <a:spLocks noChangeArrowheads="1"/>
          </p:cNvSpPr>
          <p:nvPr/>
        </p:nvSpPr>
        <p:spPr bwMode="auto">
          <a:xfrm>
            <a:off x="4189413" y="4019550"/>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10" name="Oval 30"/>
          <p:cNvSpPr>
            <a:spLocks noChangeArrowheads="1"/>
          </p:cNvSpPr>
          <p:nvPr/>
        </p:nvSpPr>
        <p:spPr bwMode="auto">
          <a:xfrm>
            <a:off x="4189413" y="4176713"/>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11" name="Oval 31"/>
          <p:cNvSpPr>
            <a:spLocks noChangeArrowheads="1"/>
          </p:cNvSpPr>
          <p:nvPr/>
        </p:nvSpPr>
        <p:spPr bwMode="auto">
          <a:xfrm>
            <a:off x="4189413" y="4344988"/>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12" name="Rectangle 32"/>
          <p:cNvSpPr>
            <a:spLocks noChangeArrowheads="1"/>
          </p:cNvSpPr>
          <p:nvPr/>
        </p:nvSpPr>
        <p:spPr bwMode="auto">
          <a:xfrm>
            <a:off x="5019675" y="4886325"/>
            <a:ext cx="754063" cy="1042988"/>
          </a:xfrm>
          <a:prstGeom prst="rect">
            <a:avLst/>
          </a:prstGeom>
          <a:noFill/>
          <a:ln w="12700">
            <a:solidFill>
              <a:schemeClr val="tx1"/>
            </a:solidFill>
            <a:miter lim="800000"/>
            <a:headEnd/>
            <a:tailEnd/>
          </a:ln>
          <a:effectLst/>
        </p:spPr>
        <p:txBody>
          <a:bodyPr wrap="none" anchor="ctr"/>
          <a:lstStyle/>
          <a:p>
            <a:endParaRPr lang="zh-CN" altLang="en-US"/>
          </a:p>
        </p:txBody>
      </p:sp>
      <p:sp>
        <p:nvSpPr>
          <p:cNvPr id="20513" name="Oval 33"/>
          <p:cNvSpPr>
            <a:spLocks noChangeArrowheads="1"/>
          </p:cNvSpPr>
          <p:nvPr/>
        </p:nvSpPr>
        <p:spPr bwMode="auto">
          <a:xfrm>
            <a:off x="4924425" y="5016500"/>
            <a:ext cx="95250" cy="93663"/>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14" name="Oval 34"/>
          <p:cNvSpPr>
            <a:spLocks noChangeArrowheads="1"/>
          </p:cNvSpPr>
          <p:nvPr/>
        </p:nvSpPr>
        <p:spPr bwMode="auto">
          <a:xfrm>
            <a:off x="4924425" y="5183188"/>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15" name="Oval 35"/>
          <p:cNvSpPr>
            <a:spLocks noChangeArrowheads="1"/>
          </p:cNvSpPr>
          <p:nvPr/>
        </p:nvSpPr>
        <p:spPr bwMode="auto">
          <a:xfrm>
            <a:off x="4924425" y="5360988"/>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16" name="Oval 36"/>
          <p:cNvSpPr>
            <a:spLocks noChangeArrowheads="1"/>
          </p:cNvSpPr>
          <p:nvPr/>
        </p:nvSpPr>
        <p:spPr bwMode="auto">
          <a:xfrm>
            <a:off x="4924425" y="5518150"/>
            <a:ext cx="95250"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17" name="Oval 37"/>
          <p:cNvSpPr>
            <a:spLocks noChangeArrowheads="1"/>
          </p:cNvSpPr>
          <p:nvPr/>
        </p:nvSpPr>
        <p:spPr bwMode="auto">
          <a:xfrm>
            <a:off x="4924425" y="5686425"/>
            <a:ext cx="95250"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18" name="Oval 38"/>
          <p:cNvSpPr>
            <a:spLocks noChangeArrowheads="1"/>
          </p:cNvSpPr>
          <p:nvPr/>
        </p:nvSpPr>
        <p:spPr bwMode="auto">
          <a:xfrm>
            <a:off x="5773738" y="5016500"/>
            <a:ext cx="93662" cy="93663"/>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19" name="Oval 39"/>
          <p:cNvSpPr>
            <a:spLocks noChangeArrowheads="1"/>
          </p:cNvSpPr>
          <p:nvPr/>
        </p:nvSpPr>
        <p:spPr bwMode="auto">
          <a:xfrm>
            <a:off x="5773738" y="5183188"/>
            <a:ext cx="93662"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20" name="Oval 40"/>
          <p:cNvSpPr>
            <a:spLocks noChangeArrowheads="1"/>
          </p:cNvSpPr>
          <p:nvPr/>
        </p:nvSpPr>
        <p:spPr bwMode="auto">
          <a:xfrm>
            <a:off x="5773738" y="5360988"/>
            <a:ext cx="93662"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21" name="Oval 41"/>
          <p:cNvSpPr>
            <a:spLocks noChangeArrowheads="1"/>
          </p:cNvSpPr>
          <p:nvPr/>
        </p:nvSpPr>
        <p:spPr bwMode="auto">
          <a:xfrm>
            <a:off x="5773738" y="5518150"/>
            <a:ext cx="93662"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22" name="Oval 42"/>
          <p:cNvSpPr>
            <a:spLocks noChangeArrowheads="1"/>
          </p:cNvSpPr>
          <p:nvPr/>
        </p:nvSpPr>
        <p:spPr bwMode="auto">
          <a:xfrm>
            <a:off x="5773738" y="5686425"/>
            <a:ext cx="93662"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23" name="Text Box 43"/>
          <p:cNvSpPr txBox="1">
            <a:spLocks noChangeArrowheads="1"/>
          </p:cNvSpPr>
          <p:nvPr/>
        </p:nvSpPr>
        <p:spPr bwMode="auto">
          <a:xfrm>
            <a:off x="325438" y="3989388"/>
            <a:ext cx="790575" cy="762000"/>
          </a:xfrm>
          <a:prstGeom prst="rect">
            <a:avLst/>
          </a:prstGeom>
          <a:noFill/>
          <a:ln w="9525">
            <a:noFill/>
            <a:miter lim="800000"/>
            <a:headEnd/>
            <a:tailEnd/>
          </a:ln>
          <a:effectLst/>
        </p:spPr>
        <p:txBody>
          <a:bodyPr wrap="none">
            <a:spAutoFit/>
          </a:bodyPr>
          <a:lstStyle/>
          <a:p>
            <a:r>
              <a:rPr kumimoji="1" lang="en-US" altLang="zh-CN" sz="4400">
                <a:latin typeface="Wingdings" pitchFamily="2" charset="2"/>
              </a:rPr>
              <a:t>(</a:t>
            </a:r>
          </a:p>
        </p:txBody>
      </p:sp>
      <p:sp>
        <p:nvSpPr>
          <p:cNvPr id="20524" name="Text Box 44"/>
          <p:cNvSpPr txBox="1">
            <a:spLocks noChangeArrowheads="1"/>
          </p:cNvSpPr>
          <p:nvPr/>
        </p:nvSpPr>
        <p:spPr bwMode="auto">
          <a:xfrm>
            <a:off x="8169275" y="4065588"/>
            <a:ext cx="788988" cy="762000"/>
          </a:xfrm>
          <a:prstGeom prst="rect">
            <a:avLst/>
          </a:prstGeom>
          <a:noFill/>
          <a:ln w="9525">
            <a:noFill/>
            <a:miter lim="800000"/>
            <a:headEnd/>
            <a:tailEnd/>
          </a:ln>
          <a:effectLst/>
        </p:spPr>
        <p:txBody>
          <a:bodyPr wrap="none">
            <a:spAutoFit/>
          </a:bodyPr>
          <a:lstStyle/>
          <a:p>
            <a:r>
              <a:rPr kumimoji="1" lang="en-US" altLang="zh-CN" sz="4400">
                <a:latin typeface="Wingdings" pitchFamily="2" charset="2"/>
              </a:rPr>
              <a:t>(</a:t>
            </a:r>
          </a:p>
        </p:txBody>
      </p:sp>
      <p:sp>
        <p:nvSpPr>
          <p:cNvPr id="20525" name="Rectangle 45"/>
          <p:cNvSpPr>
            <a:spLocks noChangeArrowheads="1"/>
          </p:cNvSpPr>
          <p:nvPr/>
        </p:nvSpPr>
        <p:spPr bwMode="auto">
          <a:xfrm>
            <a:off x="6678613" y="3989388"/>
            <a:ext cx="754062" cy="1044575"/>
          </a:xfrm>
          <a:prstGeom prst="rect">
            <a:avLst/>
          </a:prstGeom>
          <a:noFill/>
          <a:ln w="12700">
            <a:solidFill>
              <a:schemeClr val="tx1"/>
            </a:solidFill>
            <a:miter lim="800000"/>
            <a:headEnd/>
            <a:tailEnd/>
          </a:ln>
          <a:effectLst/>
        </p:spPr>
        <p:txBody>
          <a:bodyPr wrap="none" anchor="ctr"/>
          <a:lstStyle/>
          <a:p>
            <a:endParaRPr lang="zh-CN" altLang="en-US"/>
          </a:p>
        </p:txBody>
      </p:sp>
      <p:sp>
        <p:nvSpPr>
          <p:cNvPr id="20526" name="Oval 46"/>
          <p:cNvSpPr>
            <a:spLocks noChangeArrowheads="1"/>
          </p:cNvSpPr>
          <p:nvPr/>
        </p:nvSpPr>
        <p:spPr bwMode="auto">
          <a:xfrm>
            <a:off x="6583363" y="4121150"/>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27" name="Oval 47"/>
          <p:cNvSpPr>
            <a:spLocks noChangeArrowheads="1"/>
          </p:cNvSpPr>
          <p:nvPr/>
        </p:nvSpPr>
        <p:spPr bwMode="auto">
          <a:xfrm>
            <a:off x="6583363" y="4289425"/>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28" name="Oval 48"/>
          <p:cNvSpPr>
            <a:spLocks noChangeArrowheads="1"/>
          </p:cNvSpPr>
          <p:nvPr/>
        </p:nvSpPr>
        <p:spPr bwMode="auto">
          <a:xfrm>
            <a:off x="6583363" y="4467225"/>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29" name="Oval 49"/>
          <p:cNvSpPr>
            <a:spLocks noChangeArrowheads="1"/>
          </p:cNvSpPr>
          <p:nvPr/>
        </p:nvSpPr>
        <p:spPr bwMode="auto">
          <a:xfrm>
            <a:off x="6583363" y="4624388"/>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30" name="Oval 50"/>
          <p:cNvSpPr>
            <a:spLocks noChangeArrowheads="1"/>
          </p:cNvSpPr>
          <p:nvPr/>
        </p:nvSpPr>
        <p:spPr bwMode="auto">
          <a:xfrm>
            <a:off x="6583363" y="4792663"/>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31" name="Oval 51"/>
          <p:cNvSpPr>
            <a:spLocks noChangeArrowheads="1"/>
          </p:cNvSpPr>
          <p:nvPr/>
        </p:nvSpPr>
        <p:spPr bwMode="auto">
          <a:xfrm>
            <a:off x="7432675" y="4121150"/>
            <a:ext cx="93663"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32" name="Oval 52"/>
          <p:cNvSpPr>
            <a:spLocks noChangeArrowheads="1"/>
          </p:cNvSpPr>
          <p:nvPr/>
        </p:nvSpPr>
        <p:spPr bwMode="auto">
          <a:xfrm>
            <a:off x="7432675" y="4289425"/>
            <a:ext cx="93663"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33" name="Oval 53"/>
          <p:cNvSpPr>
            <a:spLocks noChangeArrowheads="1"/>
          </p:cNvSpPr>
          <p:nvPr/>
        </p:nvSpPr>
        <p:spPr bwMode="auto">
          <a:xfrm>
            <a:off x="7432675" y="4467225"/>
            <a:ext cx="93663"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34" name="Oval 54"/>
          <p:cNvSpPr>
            <a:spLocks noChangeArrowheads="1"/>
          </p:cNvSpPr>
          <p:nvPr/>
        </p:nvSpPr>
        <p:spPr bwMode="auto">
          <a:xfrm>
            <a:off x="7432675" y="4624388"/>
            <a:ext cx="93663"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35" name="Oval 55"/>
          <p:cNvSpPr>
            <a:spLocks noChangeArrowheads="1"/>
          </p:cNvSpPr>
          <p:nvPr/>
        </p:nvSpPr>
        <p:spPr bwMode="auto">
          <a:xfrm>
            <a:off x="7432675" y="4792663"/>
            <a:ext cx="93663"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0536" name="Line 56"/>
          <p:cNvSpPr>
            <a:spLocks noChangeShapeType="1"/>
          </p:cNvSpPr>
          <p:nvPr/>
        </p:nvSpPr>
        <p:spPr bwMode="auto">
          <a:xfrm flipH="1">
            <a:off x="1220788" y="4000500"/>
            <a:ext cx="127000" cy="561975"/>
          </a:xfrm>
          <a:prstGeom prst="line">
            <a:avLst/>
          </a:prstGeom>
          <a:noFill/>
          <a:ln w="9525">
            <a:solidFill>
              <a:schemeClr val="tx1"/>
            </a:solidFill>
            <a:round/>
            <a:headEnd/>
            <a:tailEnd type="triangle" w="sm" len="lg"/>
          </a:ln>
          <a:effectLst/>
        </p:spPr>
        <p:txBody>
          <a:bodyPr wrap="none" anchor="ctr"/>
          <a:lstStyle/>
          <a:p>
            <a:endParaRPr lang="zh-CN" altLang="en-US"/>
          </a:p>
        </p:txBody>
      </p:sp>
      <p:sp>
        <p:nvSpPr>
          <p:cNvPr id="20537" name="Line 57"/>
          <p:cNvSpPr>
            <a:spLocks noChangeShapeType="1"/>
          </p:cNvSpPr>
          <p:nvPr/>
        </p:nvSpPr>
        <p:spPr bwMode="auto">
          <a:xfrm flipH="1" flipV="1">
            <a:off x="7940675" y="4737100"/>
            <a:ext cx="184150" cy="484188"/>
          </a:xfrm>
          <a:prstGeom prst="line">
            <a:avLst/>
          </a:prstGeom>
          <a:noFill/>
          <a:ln w="9525">
            <a:solidFill>
              <a:schemeClr val="tx1"/>
            </a:solidFill>
            <a:round/>
            <a:headEnd/>
            <a:tailEnd type="triangle" w="sm" len="lg"/>
          </a:ln>
          <a:effectLst/>
        </p:spPr>
        <p:txBody>
          <a:bodyPr wrap="none" anchor="ctr"/>
          <a:lstStyle/>
          <a:p>
            <a:endParaRPr lang="zh-CN" altLang="en-US"/>
          </a:p>
        </p:txBody>
      </p:sp>
      <p:sp>
        <p:nvSpPr>
          <p:cNvPr id="20538" name="Line 58"/>
          <p:cNvSpPr>
            <a:spLocks noChangeShapeType="1"/>
          </p:cNvSpPr>
          <p:nvPr/>
        </p:nvSpPr>
        <p:spPr bwMode="auto">
          <a:xfrm flipH="1">
            <a:off x="4699000" y="4065588"/>
            <a:ext cx="677863" cy="596900"/>
          </a:xfrm>
          <a:prstGeom prst="line">
            <a:avLst/>
          </a:prstGeom>
          <a:noFill/>
          <a:ln w="9525">
            <a:solidFill>
              <a:schemeClr val="tx1"/>
            </a:solidFill>
            <a:round/>
            <a:headEnd/>
            <a:tailEnd type="triangle" w="sm" len="lg"/>
          </a:ln>
          <a:effectLst/>
        </p:spPr>
        <p:txBody>
          <a:bodyPr wrap="none" anchor="ctr"/>
          <a:lstStyle/>
          <a:p>
            <a:endParaRPr lang="zh-CN" altLang="en-US"/>
          </a:p>
        </p:txBody>
      </p:sp>
      <p:sp>
        <p:nvSpPr>
          <p:cNvPr id="20539" name="Line 59"/>
          <p:cNvSpPr>
            <a:spLocks noChangeShapeType="1"/>
          </p:cNvSpPr>
          <p:nvPr/>
        </p:nvSpPr>
        <p:spPr bwMode="auto">
          <a:xfrm>
            <a:off x="5754688" y="4065588"/>
            <a:ext cx="468312" cy="936625"/>
          </a:xfrm>
          <a:prstGeom prst="line">
            <a:avLst/>
          </a:prstGeom>
          <a:noFill/>
          <a:ln w="9525">
            <a:solidFill>
              <a:schemeClr val="tx1"/>
            </a:solidFill>
            <a:round/>
            <a:headEnd/>
            <a:tailEnd type="triangle" w="sm" len="lg"/>
          </a:ln>
          <a:effectLst/>
        </p:spPr>
        <p:txBody>
          <a:bodyPr wrap="none" anchor="ctr"/>
          <a:lstStyle/>
          <a:p>
            <a:endParaRPr lang="zh-CN" altLang="en-US"/>
          </a:p>
        </p:txBody>
      </p:sp>
      <p:sp>
        <p:nvSpPr>
          <p:cNvPr id="20540" name="Line 60"/>
          <p:cNvSpPr>
            <a:spLocks noChangeShapeType="1"/>
          </p:cNvSpPr>
          <p:nvPr/>
        </p:nvSpPr>
        <p:spPr bwMode="auto">
          <a:xfrm>
            <a:off x="2663825" y="3692525"/>
            <a:ext cx="161925" cy="765175"/>
          </a:xfrm>
          <a:prstGeom prst="line">
            <a:avLst/>
          </a:prstGeom>
          <a:noFill/>
          <a:ln w="9525">
            <a:solidFill>
              <a:schemeClr val="tx1"/>
            </a:solidFill>
            <a:round/>
            <a:headEnd/>
            <a:tailEnd type="triangle" w="sm" len="lg"/>
          </a:ln>
          <a:effectLst/>
        </p:spPr>
        <p:txBody>
          <a:bodyPr wrap="none" anchor="ctr"/>
          <a:lstStyle/>
          <a:p>
            <a:endParaRPr lang="zh-CN" altLang="en-US"/>
          </a:p>
        </p:txBody>
      </p:sp>
      <p:sp>
        <p:nvSpPr>
          <p:cNvPr id="20541" name="Text Box 61"/>
          <p:cNvSpPr txBox="1">
            <a:spLocks noChangeArrowheads="1"/>
          </p:cNvSpPr>
          <p:nvPr/>
        </p:nvSpPr>
        <p:spPr bwMode="auto">
          <a:xfrm>
            <a:off x="449263" y="4586288"/>
            <a:ext cx="790575" cy="762000"/>
          </a:xfrm>
          <a:prstGeom prst="rect">
            <a:avLst/>
          </a:prstGeom>
          <a:noFill/>
          <a:ln w="9525">
            <a:noFill/>
            <a:miter lim="800000"/>
            <a:headEnd/>
            <a:tailEnd/>
          </a:ln>
          <a:effectLst/>
        </p:spPr>
        <p:txBody>
          <a:bodyPr wrap="none">
            <a:spAutoFit/>
          </a:bodyPr>
          <a:lstStyle/>
          <a:p>
            <a:r>
              <a:rPr kumimoji="1" lang="en-US" altLang="zh-CN" sz="4400">
                <a:latin typeface="Wingdings" pitchFamily="2" charset="2"/>
              </a:rPr>
              <a:t>(</a:t>
            </a:r>
          </a:p>
        </p:txBody>
      </p:sp>
      <p:sp>
        <p:nvSpPr>
          <p:cNvPr id="20542" name="Text Box 62"/>
          <p:cNvSpPr txBox="1">
            <a:spLocks noChangeArrowheads="1"/>
          </p:cNvSpPr>
          <p:nvPr/>
        </p:nvSpPr>
        <p:spPr bwMode="auto">
          <a:xfrm>
            <a:off x="449263" y="5259388"/>
            <a:ext cx="790575" cy="762000"/>
          </a:xfrm>
          <a:prstGeom prst="rect">
            <a:avLst/>
          </a:prstGeom>
          <a:noFill/>
          <a:ln w="9525">
            <a:noFill/>
            <a:miter lim="800000"/>
            <a:headEnd/>
            <a:tailEnd/>
          </a:ln>
          <a:effectLst/>
        </p:spPr>
        <p:txBody>
          <a:bodyPr wrap="none">
            <a:spAutoFit/>
          </a:bodyPr>
          <a:lstStyle/>
          <a:p>
            <a:r>
              <a:rPr kumimoji="1" lang="en-US" altLang="zh-CN" sz="4400">
                <a:latin typeface="Wingdings" pitchFamily="2" charset="2"/>
              </a:rPr>
              <a:t>(</a:t>
            </a:r>
          </a:p>
        </p:txBody>
      </p:sp>
      <p:sp>
        <p:nvSpPr>
          <p:cNvPr id="20543" name="Text Box 63"/>
          <p:cNvSpPr txBox="1">
            <a:spLocks noChangeArrowheads="1"/>
          </p:cNvSpPr>
          <p:nvPr/>
        </p:nvSpPr>
        <p:spPr bwMode="auto">
          <a:xfrm>
            <a:off x="1555750" y="4013200"/>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交换机</a:t>
            </a:r>
          </a:p>
        </p:txBody>
      </p:sp>
      <p:sp>
        <p:nvSpPr>
          <p:cNvPr id="20544" name="Text Box 64"/>
          <p:cNvSpPr txBox="1">
            <a:spLocks noChangeArrowheads="1"/>
          </p:cNvSpPr>
          <p:nvPr/>
        </p:nvSpPr>
        <p:spPr bwMode="auto">
          <a:xfrm>
            <a:off x="3348038" y="3132138"/>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交换机</a:t>
            </a:r>
          </a:p>
        </p:txBody>
      </p:sp>
      <p:sp>
        <p:nvSpPr>
          <p:cNvPr id="20545" name="Text Box 65"/>
          <p:cNvSpPr txBox="1">
            <a:spLocks noChangeArrowheads="1"/>
          </p:cNvSpPr>
          <p:nvPr/>
        </p:nvSpPr>
        <p:spPr bwMode="auto">
          <a:xfrm>
            <a:off x="4949825" y="4471988"/>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交换机</a:t>
            </a:r>
          </a:p>
        </p:txBody>
      </p:sp>
      <p:sp>
        <p:nvSpPr>
          <p:cNvPr id="20546" name="Text Box 66"/>
          <p:cNvSpPr txBox="1">
            <a:spLocks noChangeArrowheads="1"/>
          </p:cNvSpPr>
          <p:nvPr/>
        </p:nvSpPr>
        <p:spPr bwMode="auto">
          <a:xfrm>
            <a:off x="6554788" y="3560763"/>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交换机</a:t>
            </a:r>
          </a:p>
        </p:txBody>
      </p:sp>
      <p:sp>
        <p:nvSpPr>
          <p:cNvPr id="20547" name="Text Box 67"/>
          <p:cNvSpPr txBox="1">
            <a:spLocks noChangeArrowheads="1"/>
          </p:cNvSpPr>
          <p:nvPr/>
        </p:nvSpPr>
        <p:spPr bwMode="auto">
          <a:xfrm>
            <a:off x="977900" y="3606800"/>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用户线</a:t>
            </a:r>
          </a:p>
        </p:txBody>
      </p:sp>
      <p:sp>
        <p:nvSpPr>
          <p:cNvPr id="20548" name="Text Box 68"/>
          <p:cNvSpPr txBox="1">
            <a:spLocks noChangeArrowheads="1"/>
          </p:cNvSpPr>
          <p:nvPr/>
        </p:nvSpPr>
        <p:spPr bwMode="auto">
          <a:xfrm>
            <a:off x="7716838" y="5156200"/>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用户线</a:t>
            </a:r>
          </a:p>
        </p:txBody>
      </p:sp>
      <p:sp>
        <p:nvSpPr>
          <p:cNvPr id="20549" name="Text Box 69"/>
          <p:cNvSpPr txBox="1">
            <a:spLocks noChangeArrowheads="1"/>
          </p:cNvSpPr>
          <p:nvPr/>
        </p:nvSpPr>
        <p:spPr bwMode="auto">
          <a:xfrm>
            <a:off x="5227638" y="3665538"/>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中继线</a:t>
            </a:r>
          </a:p>
        </p:txBody>
      </p:sp>
      <p:sp>
        <p:nvSpPr>
          <p:cNvPr id="20550" name="Text Box 70"/>
          <p:cNvSpPr txBox="1">
            <a:spLocks noChangeArrowheads="1"/>
          </p:cNvSpPr>
          <p:nvPr/>
        </p:nvSpPr>
        <p:spPr bwMode="auto">
          <a:xfrm>
            <a:off x="2211388" y="3294063"/>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中继线</a:t>
            </a:r>
          </a:p>
        </p:txBody>
      </p:sp>
      <p:sp>
        <p:nvSpPr>
          <p:cNvPr id="20551" name="Text Box 71"/>
          <p:cNvSpPr txBox="1">
            <a:spLocks noChangeArrowheads="1"/>
          </p:cNvSpPr>
          <p:nvPr/>
        </p:nvSpPr>
        <p:spPr bwMode="auto">
          <a:xfrm>
            <a:off x="8362950" y="3829050"/>
            <a:ext cx="354013"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B</a:t>
            </a:r>
          </a:p>
        </p:txBody>
      </p:sp>
      <p:sp>
        <p:nvSpPr>
          <p:cNvPr id="20552" name="Text Box 72"/>
          <p:cNvSpPr txBox="1">
            <a:spLocks noChangeArrowheads="1"/>
          </p:cNvSpPr>
          <p:nvPr/>
        </p:nvSpPr>
        <p:spPr bwMode="auto">
          <a:xfrm>
            <a:off x="282575" y="5399088"/>
            <a:ext cx="368300"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D</a:t>
            </a:r>
          </a:p>
        </p:txBody>
      </p:sp>
      <p:sp>
        <p:nvSpPr>
          <p:cNvPr id="20553" name="Text Box 73"/>
          <p:cNvSpPr txBox="1">
            <a:spLocks noChangeArrowheads="1"/>
          </p:cNvSpPr>
          <p:nvPr/>
        </p:nvSpPr>
        <p:spPr bwMode="auto">
          <a:xfrm>
            <a:off x="250825" y="4702175"/>
            <a:ext cx="368300"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C</a:t>
            </a:r>
          </a:p>
        </p:txBody>
      </p:sp>
      <p:sp>
        <p:nvSpPr>
          <p:cNvPr id="20554" name="Text Box 74"/>
          <p:cNvSpPr txBox="1">
            <a:spLocks noChangeArrowheads="1"/>
          </p:cNvSpPr>
          <p:nvPr/>
        </p:nvSpPr>
        <p:spPr bwMode="auto">
          <a:xfrm>
            <a:off x="574675" y="3756025"/>
            <a:ext cx="354013"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A</a:t>
            </a:r>
          </a:p>
        </p:txBody>
      </p:sp>
      <p:sp>
        <p:nvSpPr>
          <p:cNvPr id="20555" name="Freeform 75"/>
          <p:cNvSpPr>
            <a:spLocks/>
          </p:cNvSpPr>
          <p:nvPr/>
        </p:nvSpPr>
        <p:spPr bwMode="auto">
          <a:xfrm>
            <a:off x="827088" y="3889375"/>
            <a:ext cx="7561262" cy="1524000"/>
          </a:xfrm>
          <a:custGeom>
            <a:avLst/>
            <a:gdLst/>
            <a:ahLst/>
            <a:cxnLst>
              <a:cxn ang="0">
                <a:pos x="0" y="345"/>
              </a:cxn>
              <a:cxn ang="0">
                <a:pos x="476" y="448"/>
              </a:cxn>
              <a:cxn ang="0">
                <a:pos x="1006" y="686"/>
              </a:cxn>
              <a:cxn ang="0">
                <a:pos x="1609" y="0"/>
              </a:cxn>
              <a:cxn ang="0">
                <a:pos x="2158" y="211"/>
              </a:cxn>
              <a:cxn ang="0">
                <a:pos x="2606" y="750"/>
              </a:cxn>
              <a:cxn ang="0">
                <a:pos x="3145" y="960"/>
              </a:cxn>
              <a:cxn ang="0">
                <a:pos x="3657" y="485"/>
              </a:cxn>
              <a:cxn ang="0">
                <a:pos x="4197" y="604"/>
              </a:cxn>
              <a:cxn ang="0">
                <a:pos x="4763" y="436"/>
              </a:cxn>
            </a:cxnLst>
            <a:rect l="0" t="0" r="r" b="b"/>
            <a:pathLst>
              <a:path w="4763" h="960">
                <a:moveTo>
                  <a:pt x="0" y="345"/>
                </a:moveTo>
                <a:lnTo>
                  <a:pt x="476" y="448"/>
                </a:lnTo>
                <a:lnTo>
                  <a:pt x="1006" y="686"/>
                </a:lnTo>
                <a:lnTo>
                  <a:pt x="1609" y="0"/>
                </a:lnTo>
                <a:lnTo>
                  <a:pt x="2158" y="211"/>
                </a:lnTo>
                <a:lnTo>
                  <a:pt x="2606" y="750"/>
                </a:lnTo>
                <a:lnTo>
                  <a:pt x="3145" y="960"/>
                </a:lnTo>
                <a:lnTo>
                  <a:pt x="3657" y="485"/>
                </a:lnTo>
                <a:lnTo>
                  <a:pt x="4197" y="604"/>
                </a:lnTo>
                <a:lnTo>
                  <a:pt x="4763" y="436"/>
                </a:lnTo>
              </a:path>
            </a:pathLst>
          </a:custGeom>
          <a:noFill/>
          <a:ln w="76200" cmpd="sng">
            <a:solidFill>
              <a:schemeClr val="hlink"/>
            </a:solidFill>
            <a:round/>
            <a:headEnd/>
            <a:tailEnd/>
          </a:ln>
          <a:effec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0555"/>
                                        </p:tgtEl>
                                        <p:attrNameLst>
                                          <p:attrName>style.visibility</p:attrName>
                                        </p:attrNameLst>
                                      </p:cBhvr>
                                      <p:to>
                                        <p:strVal val="visible"/>
                                      </p:to>
                                    </p:set>
                                    <p:animEffect transition="in" filter="wipe(left)">
                                      <p:cBhvr>
                                        <p:cTn id="15" dur="2000"/>
                                        <p:tgtEl>
                                          <p:spTgt spid="20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P spid="2055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zh-CN" altLang="en-US"/>
              <a:t>电路交换举例</a:t>
            </a:r>
          </a:p>
        </p:txBody>
      </p:sp>
      <p:sp>
        <p:nvSpPr>
          <p:cNvPr id="21507" name="Rectangle 3"/>
          <p:cNvSpPr>
            <a:spLocks noGrp="1" noChangeArrowheads="1"/>
          </p:cNvSpPr>
          <p:nvPr>
            <p:ph type="body" idx="1"/>
          </p:nvPr>
        </p:nvSpPr>
        <p:spPr/>
        <p:txBody>
          <a:bodyPr/>
          <a:lstStyle/>
          <a:p>
            <a:r>
              <a:rPr lang="en-US" altLang="zh-CN"/>
              <a:t>C </a:t>
            </a:r>
            <a:r>
              <a:rPr lang="zh-CN" altLang="en-US"/>
              <a:t>和 </a:t>
            </a:r>
            <a:r>
              <a:rPr lang="en-US" altLang="zh-CN"/>
              <a:t>D </a:t>
            </a:r>
            <a:r>
              <a:rPr lang="zh-CN" altLang="en-US"/>
              <a:t>通话只经过一个本地交换机</a:t>
            </a:r>
          </a:p>
          <a:p>
            <a:r>
              <a:rPr lang="zh-CN" altLang="en-US"/>
              <a:t>通话在 </a:t>
            </a:r>
            <a:r>
              <a:rPr lang="en-US" altLang="zh-CN"/>
              <a:t>C </a:t>
            </a:r>
            <a:r>
              <a:rPr lang="zh-CN" altLang="en-US"/>
              <a:t>到 </a:t>
            </a:r>
            <a:r>
              <a:rPr lang="en-US" altLang="zh-CN"/>
              <a:t>D </a:t>
            </a:r>
            <a:r>
              <a:rPr lang="zh-CN" altLang="en-US"/>
              <a:t>的连接上进行</a:t>
            </a:r>
          </a:p>
        </p:txBody>
      </p:sp>
      <p:sp>
        <p:nvSpPr>
          <p:cNvPr id="21508" name="Freeform 4"/>
          <p:cNvSpPr>
            <a:spLocks/>
          </p:cNvSpPr>
          <p:nvPr/>
        </p:nvSpPr>
        <p:spPr bwMode="auto">
          <a:xfrm>
            <a:off x="1593850" y="4960938"/>
            <a:ext cx="212725" cy="325437"/>
          </a:xfrm>
          <a:custGeom>
            <a:avLst/>
            <a:gdLst/>
            <a:ahLst/>
            <a:cxnLst>
              <a:cxn ang="0">
                <a:pos x="9" y="0"/>
              </a:cxn>
              <a:cxn ang="0">
                <a:pos x="57" y="6"/>
              </a:cxn>
              <a:cxn ang="0">
                <a:pos x="99" y="27"/>
              </a:cxn>
              <a:cxn ang="0">
                <a:pos x="129" y="63"/>
              </a:cxn>
              <a:cxn ang="0">
                <a:pos x="132" y="114"/>
              </a:cxn>
              <a:cxn ang="0">
                <a:pos x="102" y="168"/>
              </a:cxn>
              <a:cxn ang="0">
                <a:pos x="51" y="198"/>
              </a:cxn>
              <a:cxn ang="0">
                <a:pos x="0" y="210"/>
              </a:cxn>
            </a:cxnLst>
            <a:rect l="0" t="0" r="r" b="b"/>
            <a:pathLst>
              <a:path w="136" h="210">
                <a:moveTo>
                  <a:pt x="9" y="0"/>
                </a:moveTo>
                <a:cubicBezTo>
                  <a:pt x="17" y="1"/>
                  <a:pt x="42" y="2"/>
                  <a:pt x="57" y="6"/>
                </a:cubicBezTo>
                <a:cubicBezTo>
                  <a:pt x="72" y="10"/>
                  <a:pt x="87" y="18"/>
                  <a:pt x="99" y="27"/>
                </a:cubicBezTo>
                <a:cubicBezTo>
                  <a:pt x="111" y="36"/>
                  <a:pt x="124" y="49"/>
                  <a:pt x="129" y="63"/>
                </a:cubicBezTo>
                <a:cubicBezTo>
                  <a:pt x="134" y="77"/>
                  <a:pt x="136" y="97"/>
                  <a:pt x="132" y="114"/>
                </a:cubicBezTo>
                <a:cubicBezTo>
                  <a:pt x="128" y="131"/>
                  <a:pt x="115" y="154"/>
                  <a:pt x="102" y="168"/>
                </a:cubicBezTo>
                <a:cubicBezTo>
                  <a:pt x="89" y="182"/>
                  <a:pt x="68" y="191"/>
                  <a:pt x="51" y="198"/>
                </a:cubicBezTo>
                <a:cubicBezTo>
                  <a:pt x="34" y="205"/>
                  <a:pt x="11" y="208"/>
                  <a:pt x="0" y="210"/>
                </a:cubicBezTo>
              </a:path>
            </a:pathLst>
          </a:custGeom>
          <a:noFill/>
          <a:ln w="38100" cmpd="sng">
            <a:solidFill>
              <a:schemeClr val="tx1"/>
            </a:solidFill>
            <a:round/>
            <a:headEnd/>
            <a:tailEnd/>
          </a:ln>
          <a:effectLst/>
        </p:spPr>
        <p:txBody>
          <a:bodyPr/>
          <a:lstStyle/>
          <a:p>
            <a:endParaRPr lang="zh-CN" altLang="en-US"/>
          </a:p>
        </p:txBody>
      </p:sp>
      <p:sp>
        <p:nvSpPr>
          <p:cNvPr id="21509" name="Line 5"/>
          <p:cNvSpPr>
            <a:spLocks noChangeShapeType="1"/>
          </p:cNvSpPr>
          <p:nvPr/>
        </p:nvSpPr>
        <p:spPr bwMode="auto">
          <a:xfrm flipV="1">
            <a:off x="873125" y="5286375"/>
            <a:ext cx="711200" cy="488950"/>
          </a:xfrm>
          <a:prstGeom prst="line">
            <a:avLst/>
          </a:prstGeom>
          <a:noFill/>
          <a:ln w="9525">
            <a:solidFill>
              <a:schemeClr val="tx1"/>
            </a:solidFill>
            <a:round/>
            <a:headEnd/>
            <a:tailEnd/>
          </a:ln>
          <a:effectLst/>
        </p:spPr>
        <p:txBody>
          <a:bodyPr/>
          <a:lstStyle/>
          <a:p>
            <a:endParaRPr lang="zh-CN" altLang="en-US"/>
          </a:p>
        </p:txBody>
      </p:sp>
      <p:sp>
        <p:nvSpPr>
          <p:cNvPr id="21510" name="Line 6"/>
          <p:cNvSpPr>
            <a:spLocks noChangeShapeType="1"/>
          </p:cNvSpPr>
          <p:nvPr/>
        </p:nvSpPr>
        <p:spPr bwMode="auto">
          <a:xfrm flipV="1">
            <a:off x="877888" y="4964113"/>
            <a:ext cx="711200" cy="139700"/>
          </a:xfrm>
          <a:prstGeom prst="line">
            <a:avLst/>
          </a:prstGeom>
          <a:noFill/>
          <a:ln w="9525">
            <a:solidFill>
              <a:schemeClr val="tx1"/>
            </a:solidFill>
            <a:round/>
            <a:headEnd/>
            <a:tailEnd/>
          </a:ln>
          <a:effectLst/>
        </p:spPr>
        <p:txBody>
          <a:bodyPr/>
          <a:lstStyle/>
          <a:p>
            <a:endParaRPr lang="zh-CN" altLang="en-US"/>
          </a:p>
        </p:txBody>
      </p:sp>
      <p:sp>
        <p:nvSpPr>
          <p:cNvPr id="21511" name="Line 7"/>
          <p:cNvSpPr>
            <a:spLocks noChangeShapeType="1"/>
          </p:cNvSpPr>
          <p:nvPr/>
        </p:nvSpPr>
        <p:spPr bwMode="auto">
          <a:xfrm flipV="1">
            <a:off x="7473950" y="4570413"/>
            <a:ext cx="927100" cy="285750"/>
          </a:xfrm>
          <a:prstGeom prst="line">
            <a:avLst/>
          </a:prstGeom>
          <a:noFill/>
          <a:ln w="9525">
            <a:solidFill>
              <a:schemeClr val="tx1"/>
            </a:solidFill>
            <a:round/>
            <a:headEnd/>
            <a:tailEnd/>
          </a:ln>
          <a:effectLst/>
        </p:spPr>
        <p:txBody>
          <a:bodyPr/>
          <a:lstStyle/>
          <a:p>
            <a:endParaRPr lang="zh-CN" altLang="en-US"/>
          </a:p>
        </p:txBody>
      </p:sp>
      <p:sp>
        <p:nvSpPr>
          <p:cNvPr id="21512" name="Line 8"/>
          <p:cNvSpPr>
            <a:spLocks noChangeShapeType="1"/>
          </p:cNvSpPr>
          <p:nvPr/>
        </p:nvSpPr>
        <p:spPr bwMode="auto">
          <a:xfrm>
            <a:off x="731838" y="4456113"/>
            <a:ext cx="847725" cy="169862"/>
          </a:xfrm>
          <a:prstGeom prst="line">
            <a:avLst/>
          </a:prstGeom>
          <a:noFill/>
          <a:ln w="9525">
            <a:solidFill>
              <a:schemeClr val="tx1"/>
            </a:solidFill>
            <a:round/>
            <a:headEnd/>
            <a:tailEnd/>
          </a:ln>
          <a:effectLst/>
        </p:spPr>
        <p:txBody>
          <a:bodyPr/>
          <a:lstStyle/>
          <a:p>
            <a:endParaRPr lang="zh-CN" altLang="en-US"/>
          </a:p>
        </p:txBody>
      </p:sp>
      <p:sp>
        <p:nvSpPr>
          <p:cNvPr id="21513" name="Freeform 9"/>
          <p:cNvSpPr>
            <a:spLocks/>
          </p:cNvSpPr>
          <p:nvPr/>
        </p:nvSpPr>
        <p:spPr bwMode="auto">
          <a:xfrm>
            <a:off x="1565275" y="3894138"/>
            <a:ext cx="5930900" cy="1524000"/>
          </a:xfrm>
          <a:custGeom>
            <a:avLst/>
            <a:gdLst/>
            <a:ahLst/>
            <a:cxnLst>
              <a:cxn ang="0">
                <a:pos x="0" y="462"/>
              </a:cxn>
              <a:cxn ang="0">
                <a:pos x="3" y="463"/>
              </a:cxn>
              <a:cxn ang="0">
                <a:pos x="558" y="690"/>
              </a:cxn>
              <a:cxn ang="0">
                <a:pos x="1167" y="0"/>
              </a:cxn>
              <a:cxn ang="0">
                <a:pos x="1712" y="209"/>
              </a:cxn>
              <a:cxn ang="0">
                <a:pos x="2167" y="754"/>
              </a:cxn>
              <a:cxn ang="0">
                <a:pos x="2712" y="981"/>
              </a:cxn>
              <a:cxn ang="0">
                <a:pos x="3230" y="500"/>
              </a:cxn>
              <a:cxn ang="0">
                <a:pos x="3776" y="618"/>
              </a:cxn>
              <a:cxn ang="0">
                <a:pos x="3766" y="608"/>
              </a:cxn>
            </a:cxnLst>
            <a:rect l="0" t="0" r="r" b="b"/>
            <a:pathLst>
              <a:path w="3776" h="981">
                <a:moveTo>
                  <a:pt x="0" y="462"/>
                </a:moveTo>
                <a:lnTo>
                  <a:pt x="3" y="463"/>
                </a:lnTo>
                <a:lnTo>
                  <a:pt x="558" y="690"/>
                </a:lnTo>
                <a:lnTo>
                  <a:pt x="1167" y="0"/>
                </a:lnTo>
                <a:lnTo>
                  <a:pt x="1712" y="209"/>
                </a:lnTo>
                <a:lnTo>
                  <a:pt x="2167" y="754"/>
                </a:lnTo>
                <a:lnTo>
                  <a:pt x="2712" y="981"/>
                </a:lnTo>
                <a:lnTo>
                  <a:pt x="3230" y="500"/>
                </a:lnTo>
                <a:lnTo>
                  <a:pt x="3776" y="618"/>
                </a:lnTo>
                <a:lnTo>
                  <a:pt x="3766" y="608"/>
                </a:lnTo>
              </a:path>
            </a:pathLst>
          </a:custGeom>
          <a:noFill/>
          <a:ln w="38100" cmpd="sng">
            <a:solidFill>
              <a:schemeClr val="tx1"/>
            </a:solidFill>
            <a:round/>
            <a:headEnd/>
            <a:tailEnd/>
          </a:ln>
          <a:effectLst/>
        </p:spPr>
        <p:txBody>
          <a:bodyPr wrap="none" anchor="ctr"/>
          <a:lstStyle/>
          <a:p>
            <a:endParaRPr lang="zh-CN" altLang="en-US"/>
          </a:p>
        </p:txBody>
      </p:sp>
      <p:sp>
        <p:nvSpPr>
          <p:cNvPr id="21514" name="Rectangle 10"/>
          <p:cNvSpPr>
            <a:spLocks noChangeArrowheads="1"/>
          </p:cNvSpPr>
          <p:nvPr/>
        </p:nvSpPr>
        <p:spPr bwMode="auto">
          <a:xfrm>
            <a:off x="1627188" y="4438650"/>
            <a:ext cx="754062" cy="1042988"/>
          </a:xfrm>
          <a:prstGeom prst="rect">
            <a:avLst/>
          </a:prstGeom>
          <a:noFill/>
          <a:ln w="12700">
            <a:solidFill>
              <a:schemeClr val="tx1"/>
            </a:solidFill>
            <a:miter lim="800000"/>
            <a:headEnd/>
            <a:tailEnd/>
          </a:ln>
          <a:effectLst/>
        </p:spPr>
        <p:txBody>
          <a:bodyPr wrap="none" anchor="ctr"/>
          <a:lstStyle/>
          <a:p>
            <a:endParaRPr lang="zh-CN" altLang="en-US"/>
          </a:p>
        </p:txBody>
      </p:sp>
      <p:sp>
        <p:nvSpPr>
          <p:cNvPr id="21515" name="Oval 11"/>
          <p:cNvSpPr>
            <a:spLocks noChangeArrowheads="1"/>
          </p:cNvSpPr>
          <p:nvPr/>
        </p:nvSpPr>
        <p:spPr bwMode="auto">
          <a:xfrm>
            <a:off x="1533525" y="4568825"/>
            <a:ext cx="93663" cy="93663"/>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16" name="Oval 12"/>
          <p:cNvSpPr>
            <a:spLocks noChangeArrowheads="1"/>
          </p:cNvSpPr>
          <p:nvPr/>
        </p:nvSpPr>
        <p:spPr bwMode="auto">
          <a:xfrm>
            <a:off x="1533525" y="4737100"/>
            <a:ext cx="93663"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17" name="Oval 13"/>
          <p:cNvSpPr>
            <a:spLocks noChangeArrowheads="1"/>
          </p:cNvSpPr>
          <p:nvPr/>
        </p:nvSpPr>
        <p:spPr bwMode="auto">
          <a:xfrm>
            <a:off x="1533525" y="4913313"/>
            <a:ext cx="93663"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18" name="Oval 14"/>
          <p:cNvSpPr>
            <a:spLocks noChangeArrowheads="1"/>
          </p:cNvSpPr>
          <p:nvPr/>
        </p:nvSpPr>
        <p:spPr bwMode="auto">
          <a:xfrm>
            <a:off x="1533525" y="5070475"/>
            <a:ext cx="93663"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19" name="Oval 15"/>
          <p:cNvSpPr>
            <a:spLocks noChangeArrowheads="1"/>
          </p:cNvSpPr>
          <p:nvPr/>
        </p:nvSpPr>
        <p:spPr bwMode="auto">
          <a:xfrm>
            <a:off x="1533525" y="5238750"/>
            <a:ext cx="93663"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20" name="Oval 16"/>
          <p:cNvSpPr>
            <a:spLocks noChangeArrowheads="1"/>
          </p:cNvSpPr>
          <p:nvPr/>
        </p:nvSpPr>
        <p:spPr bwMode="auto">
          <a:xfrm>
            <a:off x="2381250" y="4568825"/>
            <a:ext cx="93663" cy="93663"/>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21" name="Oval 17"/>
          <p:cNvSpPr>
            <a:spLocks noChangeArrowheads="1"/>
          </p:cNvSpPr>
          <p:nvPr/>
        </p:nvSpPr>
        <p:spPr bwMode="auto">
          <a:xfrm>
            <a:off x="2381250" y="4737100"/>
            <a:ext cx="93663"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22" name="Oval 18"/>
          <p:cNvSpPr>
            <a:spLocks noChangeArrowheads="1"/>
          </p:cNvSpPr>
          <p:nvPr/>
        </p:nvSpPr>
        <p:spPr bwMode="auto">
          <a:xfrm>
            <a:off x="2381250" y="4913313"/>
            <a:ext cx="93663"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23" name="Oval 19"/>
          <p:cNvSpPr>
            <a:spLocks noChangeArrowheads="1"/>
          </p:cNvSpPr>
          <p:nvPr/>
        </p:nvSpPr>
        <p:spPr bwMode="auto">
          <a:xfrm>
            <a:off x="2381250" y="5070475"/>
            <a:ext cx="93663"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24" name="Oval 20"/>
          <p:cNvSpPr>
            <a:spLocks noChangeArrowheads="1"/>
          </p:cNvSpPr>
          <p:nvPr/>
        </p:nvSpPr>
        <p:spPr bwMode="auto">
          <a:xfrm>
            <a:off x="2381250" y="5238750"/>
            <a:ext cx="93663"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25" name="Rectangle 21"/>
          <p:cNvSpPr>
            <a:spLocks noChangeArrowheads="1"/>
          </p:cNvSpPr>
          <p:nvPr/>
        </p:nvSpPr>
        <p:spPr bwMode="auto">
          <a:xfrm>
            <a:off x="3436938" y="3541713"/>
            <a:ext cx="752475" cy="1044575"/>
          </a:xfrm>
          <a:prstGeom prst="rect">
            <a:avLst/>
          </a:prstGeom>
          <a:noFill/>
          <a:ln w="12700">
            <a:solidFill>
              <a:schemeClr val="tx1"/>
            </a:solidFill>
            <a:miter lim="800000"/>
            <a:headEnd/>
            <a:tailEnd/>
          </a:ln>
          <a:effectLst/>
        </p:spPr>
        <p:txBody>
          <a:bodyPr wrap="none" anchor="ctr"/>
          <a:lstStyle/>
          <a:p>
            <a:endParaRPr lang="zh-CN" altLang="en-US"/>
          </a:p>
        </p:txBody>
      </p:sp>
      <p:sp>
        <p:nvSpPr>
          <p:cNvPr id="21526" name="Oval 22"/>
          <p:cNvSpPr>
            <a:spLocks noChangeArrowheads="1"/>
          </p:cNvSpPr>
          <p:nvPr/>
        </p:nvSpPr>
        <p:spPr bwMode="auto">
          <a:xfrm>
            <a:off x="3341688" y="3673475"/>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27" name="Oval 23"/>
          <p:cNvSpPr>
            <a:spLocks noChangeArrowheads="1"/>
          </p:cNvSpPr>
          <p:nvPr/>
        </p:nvSpPr>
        <p:spPr bwMode="auto">
          <a:xfrm>
            <a:off x="3341688" y="3841750"/>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28" name="Oval 24"/>
          <p:cNvSpPr>
            <a:spLocks noChangeArrowheads="1"/>
          </p:cNvSpPr>
          <p:nvPr/>
        </p:nvSpPr>
        <p:spPr bwMode="auto">
          <a:xfrm>
            <a:off x="3341688" y="4019550"/>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29" name="Oval 25"/>
          <p:cNvSpPr>
            <a:spLocks noChangeArrowheads="1"/>
          </p:cNvSpPr>
          <p:nvPr/>
        </p:nvSpPr>
        <p:spPr bwMode="auto">
          <a:xfrm>
            <a:off x="3341688" y="4176713"/>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30" name="Oval 26"/>
          <p:cNvSpPr>
            <a:spLocks noChangeArrowheads="1"/>
          </p:cNvSpPr>
          <p:nvPr/>
        </p:nvSpPr>
        <p:spPr bwMode="auto">
          <a:xfrm>
            <a:off x="3341688" y="4344988"/>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31" name="Oval 27"/>
          <p:cNvSpPr>
            <a:spLocks noChangeArrowheads="1"/>
          </p:cNvSpPr>
          <p:nvPr/>
        </p:nvSpPr>
        <p:spPr bwMode="auto">
          <a:xfrm>
            <a:off x="4189413" y="3673475"/>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32" name="Oval 28"/>
          <p:cNvSpPr>
            <a:spLocks noChangeArrowheads="1"/>
          </p:cNvSpPr>
          <p:nvPr/>
        </p:nvSpPr>
        <p:spPr bwMode="auto">
          <a:xfrm>
            <a:off x="4189413" y="3841750"/>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33" name="Oval 29"/>
          <p:cNvSpPr>
            <a:spLocks noChangeArrowheads="1"/>
          </p:cNvSpPr>
          <p:nvPr/>
        </p:nvSpPr>
        <p:spPr bwMode="auto">
          <a:xfrm>
            <a:off x="4189413" y="4019550"/>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34" name="Oval 30"/>
          <p:cNvSpPr>
            <a:spLocks noChangeArrowheads="1"/>
          </p:cNvSpPr>
          <p:nvPr/>
        </p:nvSpPr>
        <p:spPr bwMode="auto">
          <a:xfrm>
            <a:off x="4189413" y="4176713"/>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35" name="Oval 31"/>
          <p:cNvSpPr>
            <a:spLocks noChangeArrowheads="1"/>
          </p:cNvSpPr>
          <p:nvPr/>
        </p:nvSpPr>
        <p:spPr bwMode="auto">
          <a:xfrm>
            <a:off x="4189413" y="4344988"/>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36" name="Rectangle 32"/>
          <p:cNvSpPr>
            <a:spLocks noChangeArrowheads="1"/>
          </p:cNvSpPr>
          <p:nvPr/>
        </p:nvSpPr>
        <p:spPr bwMode="auto">
          <a:xfrm>
            <a:off x="5019675" y="4886325"/>
            <a:ext cx="754063" cy="1042988"/>
          </a:xfrm>
          <a:prstGeom prst="rect">
            <a:avLst/>
          </a:prstGeom>
          <a:noFill/>
          <a:ln w="12700">
            <a:solidFill>
              <a:schemeClr val="tx1"/>
            </a:solidFill>
            <a:miter lim="800000"/>
            <a:headEnd/>
            <a:tailEnd/>
          </a:ln>
          <a:effectLst/>
        </p:spPr>
        <p:txBody>
          <a:bodyPr wrap="none" anchor="ctr"/>
          <a:lstStyle/>
          <a:p>
            <a:endParaRPr lang="zh-CN" altLang="en-US"/>
          </a:p>
        </p:txBody>
      </p:sp>
      <p:sp>
        <p:nvSpPr>
          <p:cNvPr id="21537" name="Oval 33"/>
          <p:cNvSpPr>
            <a:spLocks noChangeArrowheads="1"/>
          </p:cNvSpPr>
          <p:nvPr/>
        </p:nvSpPr>
        <p:spPr bwMode="auto">
          <a:xfrm>
            <a:off x="4924425" y="5016500"/>
            <a:ext cx="95250" cy="93663"/>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38" name="Oval 34"/>
          <p:cNvSpPr>
            <a:spLocks noChangeArrowheads="1"/>
          </p:cNvSpPr>
          <p:nvPr/>
        </p:nvSpPr>
        <p:spPr bwMode="auto">
          <a:xfrm>
            <a:off x="4924425" y="5183188"/>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39" name="Oval 35"/>
          <p:cNvSpPr>
            <a:spLocks noChangeArrowheads="1"/>
          </p:cNvSpPr>
          <p:nvPr/>
        </p:nvSpPr>
        <p:spPr bwMode="auto">
          <a:xfrm>
            <a:off x="4924425" y="5360988"/>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40" name="Oval 36"/>
          <p:cNvSpPr>
            <a:spLocks noChangeArrowheads="1"/>
          </p:cNvSpPr>
          <p:nvPr/>
        </p:nvSpPr>
        <p:spPr bwMode="auto">
          <a:xfrm>
            <a:off x="4924425" y="5518150"/>
            <a:ext cx="95250"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41" name="Oval 37"/>
          <p:cNvSpPr>
            <a:spLocks noChangeArrowheads="1"/>
          </p:cNvSpPr>
          <p:nvPr/>
        </p:nvSpPr>
        <p:spPr bwMode="auto">
          <a:xfrm>
            <a:off x="4924425" y="5686425"/>
            <a:ext cx="95250"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42" name="Oval 38"/>
          <p:cNvSpPr>
            <a:spLocks noChangeArrowheads="1"/>
          </p:cNvSpPr>
          <p:nvPr/>
        </p:nvSpPr>
        <p:spPr bwMode="auto">
          <a:xfrm>
            <a:off x="5773738" y="5016500"/>
            <a:ext cx="93662" cy="93663"/>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43" name="Oval 39"/>
          <p:cNvSpPr>
            <a:spLocks noChangeArrowheads="1"/>
          </p:cNvSpPr>
          <p:nvPr/>
        </p:nvSpPr>
        <p:spPr bwMode="auto">
          <a:xfrm>
            <a:off x="5773738" y="5183188"/>
            <a:ext cx="93662"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44" name="Oval 40"/>
          <p:cNvSpPr>
            <a:spLocks noChangeArrowheads="1"/>
          </p:cNvSpPr>
          <p:nvPr/>
        </p:nvSpPr>
        <p:spPr bwMode="auto">
          <a:xfrm>
            <a:off x="5773738" y="5360988"/>
            <a:ext cx="93662"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45" name="Oval 41"/>
          <p:cNvSpPr>
            <a:spLocks noChangeArrowheads="1"/>
          </p:cNvSpPr>
          <p:nvPr/>
        </p:nvSpPr>
        <p:spPr bwMode="auto">
          <a:xfrm>
            <a:off x="5773738" y="5518150"/>
            <a:ext cx="93662"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46" name="Oval 42"/>
          <p:cNvSpPr>
            <a:spLocks noChangeArrowheads="1"/>
          </p:cNvSpPr>
          <p:nvPr/>
        </p:nvSpPr>
        <p:spPr bwMode="auto">
          <a:xfrm>
            <a:off x="5773738" y="5686425"/>
            <a:ext cx="93662" cy="95250"/>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47" name="Text Box 43"/>
          <p:cNvSpPr txBox="1">
            <a:spLocks noChangeArrowheads="1"/>
          </p:cNvSpPr>
          <p:nvPr/>
        </p:nvSpPr>
        <p:spPr bwMode="auto">
          <a:xfrm>
            <a:off x="325438" y="3989388"/>
            <a:ext cx="790575" cy="762000"/>
          </a:xfrm>
          <a:prstGeom prst="rect">
            <a:avLst/>
          </a:prstGeom>
          <a:noFill/>
          <a:ln w="9525">
            <a:noFill/>
            <a:miter lim="800000"/>
            <a:headEnd/>
            <a:tailEnd/>
          </a:ln>
          <a:effectLst/>
        </p:spPr>
        <p:txBody>
          <a:bodyPr wrap="none">
            <a:spAutoFit/>
          </a:bodyPr>
          <a:lstStyle/>
          <a:p>
            <a:r>
              <a:rPr kumimoji="1" lang="en-US" altLang="zh-CN" sz="4400">
                <a:latin typeface="Wingdings" pitchFamily="2" charset="2"/>
              </a:rPr>
              <a:t>(</a:t>
            </a:r>
          </a:p>
        </p:txBody>
      </p:sp>
      <p:sp>
        <p:nvSpPr>
          <p:cNvPr id="21548" name="Text Box 44"/>
          <p:cNvSpPr txBox="1">
            <a:spLocks noChangeArrowheads="1"/>
          </p:cNvSpPr>
          <p:nvPr/>
        </p:nvSpPr>
        <p:spPr bwMode="auto">
          <a:xfrm>
            <a:off x="8169275" y="4065588"/>
            <a:ext cx="788988" cy="762000"/>
          </a:xfrm>
          <a:prstGeom prst="rect">
            <a:avLst/>
          </a:prstGeom>
          <a:noFill/>
          <a:ln w="9525">
            <a:noFill/>
            <a:miter lim="800000"/>
            <a:headEnd/>
            <a:tailEnd/>
          </a:ln>
          <a:effectLst/>
        </p:spPr>
        <p:txBody>
          <a:bodyPr wrap="none">
            <a:spAutoFit/>
          </a:bodyPr>
          <a:lstStyle/>
          <a:p>
            <a:r>
              <a:rPr kumimoji="1" lang="en-US" altLang="zh-CN" sz="4400">
                <a:latin typeface="Wingdings" pitchFamily="2" charset="2"/>
              </a:rPr>
              <a:t>(</a:t>
            </a:r>
          </a:p>
        </p:txBody>
      </p:sp>
      <p:sp>
        <p:nvSpPr>
          <p:cNvPr id="21549" name="Rectangle 45"/>
          <p:cNvSpPr>
            <a:spLocks noChangeArrowheads="1"/>
          </p:cNvSpPr>
          <p:nvPr/>
        </p:nvSpPr>
        <p:spPr bwMode="auto">
          <a:xfrm>
            <a:off x="6678613" y="3989388"/>
            <a:ext cx="754062" cy="1044575"/>
          </a:xfrm>
          <a:prstGeom prst="rect">
            <a:avLst/>
          </a:prstGeom>
          <a:noFill/>
          <a:ln w="12700">
            <a:solidFill>
              <a:schemeClr val="tx1"/>
            </a:solidFill>
            <a:miter lim="800000"/>
            <a:headEnd/>
            <a:tailEnd/>
          </a:ln>
          <a:effectLst/>
        </p:spPr>
        <p:txBody>
          <a:bodyPr wrap="none" anchor="ctr"/>
          <a:lstStyle/>
          <a:p>
            <a:endParaRPr lang="zh-CN" altLang="en-US"/>
          </a:p>
        </p:txBody>
      </p:sp>
      <p:sp>
        <p:nvSpPr>
          <p:cNvPr id="21550" name="Oval 46"/>
          <p:cNvSpPr>
            <a:spLocks noChangeArrowheads="1"/>
          </p:cNvSpPr>
          <p:nvPr/>
        </p:nvSpPr>
        <p:spPr bwMode="auto">
          <a:xfrm>
            <a:off x="6583363" y="4121150"/>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51" name="Oval 47"/>
          <p:cNvSpPr>
            <a:spLocks noChangeArrowheads="1"/>
          </p:cNvSpPr>
          <p:nvPr/>
        </p:nvSpPr>
        <p:spPr bwMode="auto">
          <a:xfrm>
            <a:off x="6583363" y="4289425"/>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52" name="Oval 48"/>
          <p:cNvSpPr>
            <a:spLocks noChangeArrowheads="1"/>
          </p:cNvSpPr>
          <p:nvPr/>
        </p:nvSpPr>
        <p:spPr bwMode="auto">
          <a:xfrm>
            <a:off x="6583363" y="4467225"/>
            <a:ext cx="95250"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53" name="Oval 49"/>
          <p:cNvSpPr>
            <a:spLocks noChangeArrowheads="1"/>
          </p:cNvSpPr>
          <p:nvPr/>
        </p:nvSpPr>
        <p:spPr bwMode="auto">
          <a:xfrm>
            <a:off x="6583363" y="4624388"/>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54" name="Oval 50"/>
          <p:cNvSpPr>
            <a:spLocks noChangeArrowheads="1"/>
          </p:cNvSpPr>
          <p:nvPr/>
        </p:nvSpPr>
        <p:spPr bwMode="auto">
          <a:xfrm>
            <a:off x="6583363" y="4792663"/>
            <a:ext cx="95250"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55" name="Oval 51"/>
          <p:cNvSpPr>
            <a:spLocks noChangeArrowheads="1"/>
          </p:cNvSpPr>
          <p:nvPr/>
        </p:nvSpPr>
        <p:spPr bwMode="auto">
          <a:xfrm>
            <a:off x="7432675" y="4121150"/>
            <a:ext cx="93663"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56" name="Oval 52"/>
          <p:cNvSpPr>
            <a:spLocks noChangeArrowheads="1"/>
          </p:cNvSpPr>
          <p:nvPr/>
        </p:nvSpPr>
        <p:spPr bwMode="auto">
          <a:xfrm>
            <a:off x="7432675" y="4289425"/>
            <a:ext cx="93663"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57" name="Oval 53"/>
          <p:cNvSpPr>
            <a:spLocks noChangeArrowheads="1"/>
          </p:cNvSpPr>
          <p:nvPr/>
        </p:nvSpPr>
        <p:spPr bwMode="auto">
          <a:xfrm>
            <a:off x="7432675" y="4467225"/>
            <a:ext cx="93663" cy="92075"/>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58" name="Oval 54"/>
          <p:cNvSpPr>
            <a:spLocks noChangeArrowheads="1"/>
          </p:cNvSpPr>
          <p:nvPr/>
        </p:nvSpPr>
        <p:spPr bwMode="auto">
          <a:xfrm>
            <a:off x="7432675" y="4624388"/>
            <a:ext cx="93663"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59" name="Oval 55"/>
          <p:cNvSpPr>
            <a:spLocks noChangeArrowheads="1"/>
          </p:cNvSpPr>
          <p:nvPr/>
        </p:nvSpPr>
        <p:spPr bwMode="auto">
          <a:xfrm>
            <a:off x="7432675" y="4792663"/>
            <a:ext cx="93663" cy="93662"/>
          </a:xfrm>
          <a:prstGeom prst="ellipse">
            <a:avLst/>
          </a:prstGeom>
          <a:solidFill>
            <a:schemeClr val="bg1"/>
          </a:solidFill>
          <a:ln w="12700">
            <a:solidFill>
              <a:schemeClr val="tx1"/>
            </a:solidFill>
            <a:round/>
            <a:headEnd/>
            <a:tailEnd/>
          </a:ln>
          <a:effectLst/>
        </p:spPr>
        <p:txBody>
          <a:bodyPr wrap="none" anchor="ctr"/>
          <a:lstStyle/>
          <a:p>
            <a:endParaRPr lang="zh-CN" altLang="en-US"/>
          </a:p>
        </p:txBody>
      </p:sp>
      <p:sp>
        <p:nvSpPr>
          <p:cNvPr id="21560" name="Line 56"/>
          <p:cNvSpPr>
            <a:spLocks noChangeShapeType="1"/>
          </p:cNvSpPr>
          <p:nvPr/>
        </p:nvSpPr>
        <p:spPr bwMode="auto">
          <a:xfrm flipH="1">
            <a:off x="1220788" y="4000500"/>
            <a:ext cx="127000" cy="561975"/>
          </a:xfrm>
          <a:prstGeom prst="line">
            <a:avLst/>
          </a:prstGeom>
          <a:noFill/>
          <a:ln w="9525">
            <a:solidFill>
              <a:schemeClr val="tx1"/>
            </a:solidFill>
            <a:round/>
            <a:headEnd/>
            <a:tailEnd type="triangle" w="sm" len="lg"/>
          </a:ln>
          <a:effectLst/>
        </p:spPr>
        <p:txBody>
          <a:bodyPr wrap="none" anchor="ctr"/>
          <a:lstStyle/>
          <a:p>
            <a:endParaRPr lang="zh-CN" altLang="en-US"/>
          </a:p>
        </p:txBody>
      </p:sp>
      <p:sp>
        <p:nvSpPr>
          <p:cNvPr id="21561" name="Line 57"/>
          <p:cNvSpPr>
            <a:spLocks noChangeShapeType="1"/>
          </p:cNvSpPr>
          <p:nvPr/>
        </p:nvSpPr>
        <p:spPr bwMode="auto">
          <a:xfrm flipH="1" flipV="1">
            <a:off x="7940675" y="4737100"/>
            <a:ext cx="184150" cy="484188"/>
          </a:xfrm>
          <a:prstGeom prst="line">
            <a:avLst/>
          </a:prstGeom>
          <a:noFill/>
          <a:ln w="9525">
            <a:solidFill>
              <a:schemeClr val="tx1"/>
            </a:solidFill>
            <a:round/>
            <a:headEnd/>
            <a:tailEnd type="triangle" w="sm" len="lg"/>
          </a:ln>
          <a:effectLst/>
        </p:spPr>
        <p:txBody>
          <a:bodyPr wrap="none" anchor="ctr"/>
          <a:lstStyle/>
          <a:p>
            <a:endParaRPr lang="zh-CN" altLang="en-US"/>
          </a:p>
        </p:txBody>
      </p:sp>
      <p:sp>
        <p:nvSpPr>
          <p:cNvPr id="21562" name="Line 58"/>
          <p:cNvSpPr>
            <a:spLocks noChangeShapeType="1"/>
          </p:cNvSpPr>
          <p:nvPr/>
        </p:nvSpPr>
        <p:spPr bwMode="auto">
          <a:xfrm flipH="1">
            <a:off x="4699000" y="4065588"/>
            <a:ext cx="677863" cy="596900"/>
          </a:xfrm>
          <a:prstGeom prst="line">
            <a:avLst/>
          </a:prstGeom>
          <a:noFill/>
          <a:ln w="9525">
            <a:solidFill>
              <a:schemeClr val="tx1"/>
            </a:solidFill>
            <a:round/>
            <a:headEnd/>
            <a:tailEnd type="triangle" w="sm" len="lg"/>
          </a:ln>
          <a:effectLst/>
        </p:spPr>
        <p:txBody>
          <a:bodyPr wrap="none" anchor="ctr"/>
          <a:lstStyle/>
          <a:p>
            <a:endParaRPr lang="zh-CN" altLang="en-US"/>
          </a:p>
        </p:txBody>
      </p:sp>
      <p:sp>
        <p:nvSpPr>
          <p:cNvPr id="21563" name="Line 59"/>
          <p:cNvSpPr>
            <a:spLocks noChangeShapeType="1"/>
          </p:cNvSpPr>
          <p:nvPr/>
        </p:nvSpPr>
        <p:spPr bwMode="auto">
          <a:xfrm>
            <a:off x="5754688" y="4065588"/>
            <a:ext cx="468312" cy="936625"/>
          </a:xfrm>
          <a:prstGeom prst="line">
            <a:avLst/>
          </a:prstGeom>
          <a:noFill/>
          <a:ln w="9525">
            <a:solidFill>
              <a:schemeClr val="tx1"/>
            </a:solidFill>
            <a:round/>
            <a:headEnd/>
            <a:tailEnd type="triangle" w="sm" len="lg"/>
          </a:ln>
          <a:effectLst/>
        </p:spPr>
        <p:txBody>
          <a:bodyPr wrap="none" anchor="ctr"/>
          <a:lstStyle/>
          <a:p>
            <a:endParaRPr lang="zh-CN" altLang="en-US"/>
          </a:p>
        </p:txBody>
      </p:sp>
      <p:sp>
        <p:nvSpPr>
          <p:cNvPr id="21564" name="Line 60"/>
          <p:cNvSpPr>
            <a:spLocks noChangeShapeType="1"/>
          </p:cNvSpPr>
          <p:nvPr/>
        </p:nvSpPr>
        <p:spPr bwMode="auto">
          <a:xfrm>
            <a:off x="2663825" y="3692525"/>
            <a:ext cx="161925" cy="765175"/>
          </a:xfrm>
          <a:prstGeom prst="line">
            <a:avLst/>
          </a:prstGeom>
          <a:noFill/>
          <a:ln w="9525">
            <a:solidFill>
              <a:schemeClr val="tx1"/>
            </a:solidFill>
            <a:round/>
            <a:headEnd/>
            <a:tailEnd type="triangle" w="sm" len="lg"/>
          </a:ln>
          <a:effectLst/>
        </p:spPr>
        <p:txBody>
          <a:bodyPr wrap="none" anchor="ctr"/>
          <a:lstStyle/>
          <a:p>
            <a:endParaRPr lang="zh-CN" altLang="en-US"/>
          </a:p>
        </p:txBody>
      </p:sp>
      <p:sp>
        <p:nvSpPr>
          <p:cNvPr id="21565" name="Text Box 61"/>
          <p:cNvSpPr txBox="1">
            <a:spLocks noChangeArrowheads="1"/>
          </p:cNvSpPr>
          <p:nvPr/>
        </p:nvSpPr>
        <p:spPr bwMode="auto">
          <a:xfrm>
            <a:off x="449263" y="4586288"/>
            <a:ext cx="790575" cy="762000"/>
          </a:xfrm>
          <a:prstGeom prst="rect">
            <a:avLst/>
          </a:prstGeom>
          <a:noFill/>
          <a:ln w="9525">
            <a:noFill/>
            <a:miter lim="800000"/>
            <a:headEnd/>
            <a:tailEnd/>
          </a:ln>
          <a:effectLst/>
        </p:spPr>
        <p:txBody>
          <a:bodyPr wrap="none">
            <a:spAutoFit/>
          </a:bodyPr>
          <a:lstStyle/>
          <a:p>
            <a:r>
              <a:rPr kumimoji="1" lang="en-US" altLang="zh-CN" sz="4400">
                <a:latin typeface="Wingdings" pitchFamily="2" charset="2"/>
              </a:rPr>
              <a:t>(</a:t>
            </a:r>
          </a:p>
        </p:txBody>
      </p:sp>
      <p:sp>
        <p:nvSpPr>
          <p:cNvPr id="21566" name="Text Box 62"/>
          <p:cNvSpPr txBox="1">
            <a:spLocks noChangeArrowheads="1"/>
          </p:cNvSpPr>
          <p:nvPr/>
        </p:nvSpPr>
        <p:spPr bwMode="auto">
          <a:xfrm>
            <a:off x="449263" y="5259388"/>
            <a:ext cx="790575" cy="762000"/>
          </a:xfrm>
          <a:prstGeom prst="rect">
            <a:avLst/>
          </a:prstGeom>
          <a:noFill/>
          <a:ln w="9525">
            <a:noFill/>
            <a:miter lim="800000"/>
            <a:headEnd/>
            <a:tailEnd/>
          </a:ln>
          <a:effectLst/>
        </p:spPr>
        <p:txBody>
          <a:bodyPr wrap="none">
            <a:spAutoFit/>
          </a:bodyPr>
          <a:lstStyle/>
          <a:p>
            <a:r>
              <a:rPr kumimoji="1" lang="en-US" altLang="zh-CN" sz="4400">
                <a:latin typeface="Wingdings" pitchFamily="2" charset="2"/>
              </a:rPr>
              <a:t>(</a:t>
            </a:r>
          </a:p>
        </p:txBody>
      </p:sp>
      <p:sp>
        <p:nvSpPr>
          <p:cNvPr id="21567" name="Text Box 63"/>
          <p:cNvSpPr txBox="1">
            <a:spLocks noChangeArrowheads="1"/>
          </p:cNvSpPr>
          <p:nvPr/>
        </p:nvSpPr>
        <p:spPr bwMode="auto">
          <a:xfrm>
            <a:off x="1555750" y="4013200"/>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交换机</a:t>
            </a:r>
          </a:p>
        </p:txBody>
      </p:sp>
      <p:sp>
        <p:nvSpPr>
          <p:cNvPr id="21568" name="Text Box 64"/>
          <p:cNvSpPr txBox="1">
            <a:spLocks noChangeArrowheads="1"/>
          </p:cNvSpPr>
          <p:nvPr/>
        </p:nvSpPr>
        <p:spPr bwMode="auto">
          <a:xfrm>
            <a:off x="3348038" y="3132138"/>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交换机</a:t>
            </a:r>
          </a:p>
        </p:txBody>
      </p:sp>
      <p:sp>
        <p:nvSpPr>
          <p:cNvPr id="21569" name="Text Box 65"/>
          <p:cNvSpPr txBox="1">
            <a:spLocks noChangeArrowheads="1"/>
          </p:cNvSpPr>
          <p:nvPr/>
        </p:nvSpPr>
        <p:spPr bwMode="auto">
          <a:xfrm>
            <a:off x="4949825" y="4471988"/>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交换机</a:t>
            </a:r>
          </a:p>
        </p:txBody>
      </p:sp>
      <p:sp>
        <p:nvSpPr>
          <p:cNvPr id="21570" name="Text Box 66"/>
          <p:cNvSpPr txBox="1">
            <a:spLocks noChangeArrowheads="1"/>
          </p:cNvSpPr>
          <p:nvPr/>
        </p:nvSpPr>
        <p:spPr bwMode="auto">
          <a:xfrm>
            <a:off x="6554788" y="3560763"/>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交换机</a:t>
            </a:r>
          </a:p>
        </p:txBody>
      </p:sp>
      <p:sp>
        <p:nvSpPr>
          <p:cNvPr id="21571" name="Text Box 67"/>
          <p:cNvSpPr txBox="1">
            <a:spLocks noChangeArrowheads="1"/>
          </p:cNvSpPr>
          <p:nvPr/>
        </p:nvSpPr>
        <p:spPr bwMode="auto">
          <a:xfrm>
            <a:off x="977900" y="3606800"/>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用户线</a:t>
            </a:r>
          </a:p>
        </p:txBody>
      </p:sp>
      <p:sp>
        <p:nvSpPr>
          <p:cNvPr id="21572" name="Text Box 68"/>
          <p:cNvSpPr txBox="1">
            <a:spLocks noChangeArrowheads="1"/>
          </p:cNvSpPr>
          <p:nvPr/>
        </p:nvSpPr>
        <p:spPr bwMode="auto">
          <a:xfrm>
            <a:off x="7716838" y="5156200"/>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用户线</a:t>
            </a:r>
          </a:p>
        </p:txBody>
      </p:sp>
      <p:sp>
        <p:nvSpPr>
          <p:cNvPr id="21573" name="Text Box 69"/>
          <p:cNvSpPr txBox="1">
            <a:spLocks noChangeArrowheads="1"/>
          </p:cNvSpPr>
          <p:nvPr/>
        </p:nvSpPr>
        <p:spPr bwMode="auto">
          <a:xfrm>
            <a:off x="5227638" y="3665538"/>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中继线</a:t>
            </a:r>
          </a:p>
        </p:txBody>
      </p:sp>
      <p:sp>
        <p:nvSpPr>
          <p:cNvPr id="21574" name="Text Box 70"/>
          <p:cNvSpPr txBox="1">
            <a:spLocks noChangeArrowheads="1"/>
          </p:cNvSpPr>
          <p:nvPr/>
        </p:nvSpPr>
        <p:spPr bwMode="auto">
          <a:xfrm>
            <a:off x="2211388" y="3294063"/>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中继线</a:t>
            </a:r>
          </a:p>
        </p:txBody>
      </p:sp>
      <p:sp>
        <p:nvSpPr>
          <p:cNvPr id="21575" name="Text Box 71"/>
          <p:cNvSpPr txBox="1">
            <a:spLocks noChangeArrowheads="1"/>
          </p:cNvSpPr>
          <p:nvPr/>
        </p:nvSpPr>
        <p:spPr bwMode="auto">
          <a:xfrm>
            <a:off x="8362950" y="3829050"/>
            <a:ext cx="354013"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B</a:t>
            </a:r>
          </a:p>
        </p:txBody>
      </p:sp>
      <p:sp>
        <p:nvSpPr>
          <p:cNvPr id="21576" name="Text Box 72"/>
          <p:cNvSpPr txBox="1">
            <a:spLocks noChangeArrowheads="1"/>
          </p:cNvSpPr>
          <p:nvPr/>
        </p:nvSpPr>
        <p:spPr bwMode="auto">
          <a:xfrm>
            <a:off x="282575" y="5399088"/>
            <a:ext cx="368300"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D</a:t>
            </a:r>
          </a:p>
        </p:txBody>
      </p:sp>
      <p:sp>
        <p:nvSpPr>
          <p:cNvPr id="21577" name="Text Box 73"/>
          <p:cNvSpPr txBox="1">
            <a:spLocks noChangeArrowheads="1"/>
          </p:cNvSpPr>
          <p:nvPr/>
        </p:nvSpPr>
        <p:spPr bwMode="auto">
          <a:xfrm>
            <a:off x="250825" y="4702175"/>
            <a:ext cx="368300"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C</a:t>
            </a:r>
          </a:p>
        </p:txBody>
      </p:sp>
      <p:sp>
        <p:nvSpPr>
          <p:cNvPr id="21578" name="Text Box 74"/>
          <p:cNvSpPr txBox="1">
            <a:spLocks noChangeArrowheads="1"/>
          </p:cNvSpPr>
          <p:nvPr/>
        </p:nvSpPr>
        <p:spPr bwMode="auto">
          <a:xfrm>
            <a:off x="574675" y="3756025"/>
            <a:ext cx="354013"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A</a:t>
            </a:r>
          </a:p>
        </p:txBody>
      </p:sp>
      <p:grpSp>
        <p:nvGrpSpPr>
          <p:cNvPr id="21579" name="Group 75"/>
          <p:cNvGrpSpPr>
            <a:grpSpLocks/>
          </p:cNvGrpSpPr>
          <p:nvPr/>
        </p:nvGrpSpPr>
        <p:grpSpPr bwMode="auto">
          <a:xfrm>
            <a:off x="971550" y="4940300"/>
            <a:ext cx="849313" cy="720725"/>
            <a:chOff x="612" y="3112"/>
            <a:chExt cx="535" cy="454"/>
          </a:xfrm>
        </p:grpSpPr>
        <p:sp>
          <p:nvSpPr>
            <p:cNvPr id="21580" name="Freeform 76"/>
            <p:cNvSpPr>
              <a:spLocks/>
            </p:cNvSpPr>
            <p:nvPr/>
          </p:nvSpPr>
          <p:spPr bwMode="auto">
            <a:xfrm>
              <a:off x="1014" y="3112"/>
              <a:ext cx="133" cy="227"/>
            </a:xfrm>
            <a:custGeom>
              <a:avLst/>
              <a:gdLst/>
              <a:ahLst/>
              <a:cxnLst>
                <a:cxn ang="0">
                  <a:pos x="0" y="2"/>
                </a:cxn>
                <a:cxn ang="0">
                  <a:pos x="54" y="5"/>
                </a:cxn>
                <a:cxn ang="0">
                  <a:pos x="97" y="30"/>
                </a:cxn>
                <a:cxn ang="0">
                  <a:pos x="126" y="66"/>
                </a:cxn>
                <a:cxn ang="0">
                  <a:pos x="129" y="115"/>
                </a:cxn>
                <a:cxn ang="0">
                  <a:pos x="100" y="168"/>
                </a:cxn>
                <a:cxn ang="0">
                  <a:pos x="66" y="194"/>
                </a:cxn>
                <a:cxn ang="0">
                  <a:pos x="9" y="227"/>
                </a:cxn>
              </a:cxnLst>
              <a:rect l="0" t="0" r="r" b="b"/>
              <a:pathLst>
                <a:path w="133" h="227">
                  <a:moveTo>
                    <a:pt x="0" y="2"/>
                  </a:moveTo>
                  <a:cubicBezTo>
                    <a:pt x="9" y="2"/>
                    <a:pt x="38" y="0"/>
                    <a:pt x="54" y="5"/>
                  </a:cubicBezTo>
                  <a:cubicBezTo>
                    <a:pt x="70" y="10"/>
                    <a:pt x="85" y="20"/>
                    <a:pt x="97" y="30"/>
                  </a:cubicBezTo>
                  <a:cubicBezTo>
                    <a:pt x="109" y="40"/>
                    <a:pt x="121" y="52"/>
                    <a:pt x="126" y="66"/>
                  </a:cubicBezTo>
                  <a:cubicBezTo>
                    <a:pt x="131" y="79"/>
                    <a:pt x="133" y="99"/>
                    <a:pt x="129" y="115"/>
                  </a:cubicBezTo>
                  <a:cubicBezTo>
                    <a:pt x="125" y="132"/>
                    <a:pt x="110" y="155"/>
                    <a:pt x="100" y="168"/>
                  </a:cubicBezTo>
                  <a:cubicBezTo>
                    <a:pt x="90" y="181"/>
                    <a:pt x="81" y="184"/>
                    <a:pt x="66" y="194"/>
                  </a:cubicBezTo>
                  <a:cubicBezTo>
                    <a:pt x="51" y="204"/>
                    <a:pt x="21" y="220"/>
                    <a:pt x="9" y="227"/>
                  </a:cubicBezTo>
                </a:path>
              </a:pathLst>
            </a:custGeom>
            <a:noFill/>
            <a:ln w="76200" cmpd="sng">
              <a:solidFill>
                <a:schemeClr val="hlink"/>
              </a:solidFill>
              <a:round/>
              <a:headEnd/>
              <a:tailEnd/>
            </a:ln>
            <a:effectLst/>
          </p:spPr>
          <p:txBody>
            <a:bodyPr/>
            <a:lstStyle/>
            <a:p>
              <a:endParaRPr lang="zh-CN" altLang="en-US"/>
            </a:p>
          </p:txBody>
        </p:sp>
        <p:sp>
          <p:nvSpPr>
            <p:cNvPr id="21581" name="Line 77"/>
            <p:cNvSpPr>
              <a:spLocks noChangeShapeType="1"/>
            </p:cNvSpPr>
            <p:nvPr/>
          </p:nvSpPr>
          <p:spPr bwMode="auto">
            <a:xfrm flipV="1">
              <a:off x="612" y="3113"/>
              <a:ext cx="408" cy="90"/>
            </a:xfrm>
            <a:prstGeom prst="line">
              <a:avLst/>
            </a:prstGeom>
            <a:noFill/>
            <a:ln w="76200">
              <a:solidFill>
                <a:schemeClr val="hlink"/>
              </a:solidFill>
              <a:round/>
              <a:headEnd/>
              <a:tailEnd/>
            </a:ln>
            <a:effectLst/>
          </p:spPr>
          <p:txBody>
            <a:bodyPr/>
            <a:lstStyle/>
            <a:p>
              <a:endParaRPr lang="zh-CN" altLang="en-US"/>
            </a:p>
          </p:txBody>
        </p:sp>
        <p:sp>
          <p:nvSpPr>
            <p:cNvPr id="21582" name="Line 78"/>
            <p:cNvSpPr>
              <a:spLocks noChangeShapeType="1"/>
            </p:cNvSpPr>
            <p:nvPr/>
          </p:nvSpPr>
          <p:spPr bwMode="auto">
            <a:xfrm flipV="1">
              <a:off x="612" y="3333"/>
              <a:ext cx="420" cy="233"/>
            </a:xfrm>
            <a:prstGeom prst="line">
              <a:avLst/>
            </a:prstGeom>
            <a:noFill/>
            <a:ln w="76200">
              <a:solidFill>
                <a:schemeClr val="hlink"/>
              </a:solidFill>
              <a:round/>
              <a:headEnd/>
              <a:tailEnd/>
            </a:ln>
            <a:effec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00113" y="214313"/>
            <a:ext cx="8243887" cy="1462087"/>
          </a:xfrm>
        </p:spPr>
        <p:txBody>
          <a:bodyPr/>
          <a:lstStyle/>
          <a:p>
            <a:r>
              <a:rPr lang="zh-CN" altLang="en-US"/>
              <a:t>电路交换传送计算机数据效率低</a:t>
            </a:r>
          </a:p>
        </p:txBody>
      </p:sp>
      <p:sp>
        <p:nvSpPr>
          <p:cNvPr id="22531" name="Rectangle 3"/>
          <p:cNvSpPr>
            <a:spLocks noGrp="1" noChangeArrowheads="1"/>
          </p:cNvSpPr>
          <p:nvPr>
            <p:ph type="body" idx="1"/>
          </p:nvPr>
        </p:nvSpPr>
        <p:spPr>
          <a:xfrm>
            <a:off x="971550" y="1989138"/>
            <a:ext cx="7772400" cy="2663825"/>
          </a:xfrm>
        </p:spPr>
        <p:txBody>
          <a:bodyPr/>
          <a:lstStyle/>
          <a:p>
            <a:r>
              <a:rPr lang="zh-CN" altLang="en-US"/>
              <a:t>计算机数据具有突发性。</a:t>
            </a:r>
          </a:p>
          <a:p>
            <a:pPr>
              <a:buFontTx/>
              <a:buNone/>
            </a:pPr>
            <a:r>
              <a:rPr lang="zh-CN" altLang="en-US"/>
              <a:t>这导致通信线路的利用率很低。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en-US"/>
              <a:t>新型网络的基本特点</a:t>
            </a:r>
          </a:p>
        </p:txBody>
      </p:sp>
      <p:sp>
        <p:nvSpPr>
          <p:cNvPr id="15363" name="Rectangle 3"/>
          <p:cNvSpPr>
            <a:spLocks noGrp="1" noChangeArrowheads="1"/>
          </p:cNvSpPr>
          <p:nvPr>
            <p:ph type="body" idx="1"/>
          </p:nvPr>
        </p:nvSpPr>
        <p:spPr>
          <a:xfrm>
            <a:off x="1042988" y="1557338"/>
            <a:ext cx="7772400" cy="4114800"/>
          </a:xfrm>
        </p:spPr>
        <p:txBody>
          <a:bodyPr/>
          <a:lstStyle/>
          <a:p>
            <a:pPr>
              <a:lnSpc>
                <a:spcPct val="90000"/>
              </a:lnSpc>
            </a:pPr>
            <a:r>
              <a:rPr lang="zh-CN" altLang="en-US" sz="2800"/>
              <a:t>网络用于计算机之间的数据传送，而不是为了打电话。</a:t>
            </a:r>
          </a:p>
          <a:p>
            <a:pPr>
              <a:lnSpc>
                <a:spcPct val="90000"/>
              </a:lnSpc>
            </a:pPr>
            <a:r>
              <a:rPr lang="zh-CN" altLang="en-US" sz="2800"/>
              <a:t>网络能够连接不同类型的计算机，不局限于单一类型的计算机。</a:t>
            </a:r>
          </a:p>
          <a:p>
            <a:pPr>
              <a:lnSpc>
                <a:spcPct val="90000"/>
              </a:lnSpc>
            </a:pPr>
            <a:r>
              <a:rPr lang="zh-CN" altLang="en-US" sz="2800"/>
              <a:t>所有的网络结点都同等重要，因而大大提高网络的生存性。</a:t>
            </a:r>
          </a:p>
          <a:p>
            <a:pPr>
              <a:lnSpc>
                <a:spcPct val="90000"/>
              </a:lnSpc>
            </a:pPr>
            <a:r>
              <a:rPr lang="zh-CN" altLang="en-US" sz="2800"/>
              <a:t>计算机在进行通信时，必须有冗余的路由。</a:t>
            </a:r>
          </a:p>
          <a:p>
            <a:pPr>
              <a:lnSpc>
                <a:spcPct val="90000"/>
              </a:lnSpc>
            </a:pPr>
            <a:r>
              <a:rPr lang="zh-CN" altLang="en-US" sz="2800"/>
              <a:t>网络的结构应当尽可能地简单，同时还能够非常可靠地传送数据。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Line 2"/>
          <p:cNvSpPr>
            <a:spLocks noChangeShapeType="1"/>
          </p:cNvSpPr>
          <p:nvPr/>
        </p:nvSpPr>
        <p:spPr bwMode="auto">
          <a:xfrm>
            <a:off x="1979613" y="3286125"/>
            <a:ext cx="5184775" cy="0"/>
          </a:xfrm>
          <a:prstGeom prst="line">
            <a:avLst/>
          </a:prstGeom>
          <a:noFill/>
          <a:ln w="9525">
            <a:solidFill>
              <a:schemeClr val="tx1"/>
            </a:solidFill>
            <a:round/>
            <a:headEnd type="triangle" w="sm" len="lg"/>
            <a:tailEnd type="triangle" w="sm" len="lg"/>
          </a:ln>
          <a:effectLst/>
        </p:spPr>
        <p:txBody>
          <a:bodyPr wrap="none" anchor="ctr"/>
          <a:lstStyle/>
          <a:p>
            <a:endParaRPr lang="zh-CN" altLang="en-US"/>
          </a:p>
        </p:txBody>
      </p:sp>
      <p:sp>
        <p:nvSpPr>
          <p:cNvPr id="23555" name="Text Box 3"/>
          <p:cNvSpPr txBox="1">
            <a:spLocks noChangeArrowheads="1"/>
          </p:cNvSpPr>
          <p:nvPr/>
        </p:nvSpPr>
        <p:spPr bwMode="auto">
          <a:xfrm>
            <a:off x="4284663" y="3046413"/>
            <a:ext cx="692150" cy="396875"/>
          </a:xfrm>
          <a:prstGeom prst="rect">
            <a:avLst/>
          </a:prstGeom>
          <a:solidFill>
            <a:schemeClr val="bg1"/>
          </a:solid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报文</a:t>
            </a:r>
          </a:p>
        </p:txBody>
      </p:sp>
      <p:sp>
        <p:nvSpPr>
          <p:cNvPr id="23556" name="Rectangle 4"/>
          <p:cNvSpPr>
            <a:spLocks noGrp="1" noChangeArrowheads="1"/>
          </p:cNvSpPr>
          <p:nvPr>
            <p:ph type="title"/>
          </p:nvPr>
        </p:nvSpPr>
        <p:spPr/>
        <p:txBody>
          <a:bodyPr/>
          <a:lstStyle/>
          <a:p>
            <a:r>
              <a:rPr lang="zh-CN" altLang="en-US"/>
              <a:t>分组交换的主要特点</a:t>
            </a:r>
          </a:p>
        </p:txBody>
      </p:sp>
      <p:sp>
        <p:nvSpPr>
          <p:cNvPr id="23557" name="Rectangle 5"/>
          <p:cNvSpPr>
            <a:spLocks noGrp="1" noChangeArrowheads="1"/>
          </p:cNvSpPr>
          <p:nvPr>
            <p:ph type="body" idx="1"/>
          </p:nvPr>
        </p:nvSpPr>
        <p:spPr>
          <a:xfrm>
            <a:off x="1042988" y="1906588"/>
            <a:ext cx="7772400" cy="4114800"/>
          </a:xfrm>
        </p:spPr>
        <p:txBody>
          <a:bodyPr/>
          <a:lstStyle/>
          <a:p>
            <a:r>
              <a:rPr lang="zh-CN" altLang="en-US"/>
              <a:t>在发送端，先把较长的报文</a:t>
            </a:r>
            <a:r>
              <a:rPr lang="zh-CN" altLang="en-US">
                <a:solidFill>
                  <a:schemeClr val="hlink"/>
                </a:solidFill>
              </a:rPr>
              <a:t>划分成较短的、固定长度的数据段</a:t>
            </a:r>
            <a:r>
              <a:rPr lang="zh-CN" altLang="en-US"/>
              <a:t>。 </a:t>
            </a:r>
          </a:p>
        </p:txBody>
      </p:sp>
      <p:grpSp>
        <p:nvGrpSpPr>
          <p:cNvPr id="23558" name="Group 6"/>
          <p:cNvGrpSpPr>
            <a:grpSpLocks/>
          </p:cNvGrpSpPr>
          <p:nvPr/>
        </p:nvGrpSpPr>
        <p:grpSpPr bwMode="auto">
          <a:xfrm>
            <a:off x="1908175" y="3502025"/>
            <a:ext cx="5264150" cy="431800"/>
            <a:chOff x="1202" y="2206"/>
            <a:chExt cx="3316" cy="272"/>
          </a:xfrm>
        </p:grpSpPr>
        <p:grpSp>
          <p:nvGrpSpPr>
            <p:cNvPr id="23559" name="Group 7"/>
            <p:cNvGrpSpPr>
              <a:grpSpLocks/>
            </p:cNvGrpSpPr>
            <p:nvPr/>
          </p:nvGrpSpPr>
          <p:grpSpPr bwMode="auto">
            <a:xfrm>
              <a:off x="1247" y="2206"/>
              <a:ext cx="3266" cy="272"/>
              <a:chOff x="1247" y="2931"/>
              <a:chExt cx="3266" cy="272"/>
            </a:xfrm>
          </p:grpSpPr>
          <p:sp>
            <p:nvSpPr>
              <p:cNvPr id="23560" name="Rectangle 8"/>
              <p:cNvSpPr>
                <a:spLocks noChangeArrowheads="1"/>
              </p:cNvSpPr>
              <p:nvPr/>
            </p:nvSpPr>
            <p:spPr bwMode="auto">
              <a:xfrm>
                <a:off x="1248" y="2931"/>
                <a:ext cx="1088" cy="272"/>
              </a:xfrm>
              <a:prstGeom prst="rect">
                <a:avLst/>
              </a:prstGeom>
              <a:solidFill>
                <a:srgbClr val="CCECFF"/>
              </a:solidFill>
              <a:ln w="28575">
                <a:noFill/>
                <a:miter lim="800000"/>
                <a:headEnd/>
                <a:tailEnd/>
              </a:ln>
              <a:effectLst/>
            </p:spPr>
            <p:txBody>
              <a:bodyPr wrap="none" anchor="ctr"/>
              <a:lstStyle/>
              <a:p>
                <a:pPr algn="ctr"/>
                <a:endParaRPr lang="zh-CN" altLang="zh-CN" sz="2000">
                  <a:solidFill>
                    <a:srgbClr val="333399"/>
                  </a:solidFill>
                  <a:ea typeface="黑体" pitchFamily="49" charset="-122"/>
                </a:endParaRPr>
              </a:p>
            </p:txBody>
          </p:sp>
          <p:sp>
            <p:nvSpPr>
              <p:cNvPr id="23561" name="Rectangle 9"/>
              <p:cNvSpPr>
                <a:spLocks noChangeArrowheads="1"/>
              </p:cNvSpPr>
              <p:nvPr/>
            </p:nvSpPr>
            <p:spPr bwMode="auto">
              <a:xfrm>
                <a:off x="2336" y="2931"/>
                <a:ext cx="1088" cy="272"/>
              </a:xfrm>
              <a:prstGeom prst="rect">
                <a:avLst/>
              </a:prstGeom>
              <a:solidFill>
                <a:srgbClr val="CCECFF"/>
              </a:solidFill>
              <a:ln w="28575">
                <a:noFill/>
                <a:miter lim="800000"/>
                <a:headEnd/>
                <a:tailEnd/>
              </a:ln>
              <a:effectLst/>
            </p:spPr>
            <p:txBody>
              <a:bodyPr wrap="none" anchor="ctr"/>
              <a:lstStyle/>
              <a:p>
                <a:pPr algn="ctr"/>
                <a:endParaRPr lang="zh-CN" altLang="zh-CN" sz="2000">
                  <a:solidFill>
                    <a:srgbClr val="333399"/>
                  </a:solidFill>
                  <a:latin typeface="Tahoma" pitchFamily="34" charset="0"/>
                  <a:ea typeface="黑体" pitchFamily="49" charset="-122"/>
                </a:endParaRPr>
              </a:p>
            </p:txBody>
          </p:sp>
          <p:sp>
            <p:nvSpPr>
              <p:cNvPr id="23562" name="Rectangle 10"/>
              <p:cNvSpPr>
                <a:spLocks noChangeArrowheads="1"/>
              </p:cNvSpPr>
              <p:nvPr/>
            </p:nvSpPr>
            <p:spPr bwMode="auto">
              <a:xfrm>
                <a:off x="3425" y="2931"/>
                <a:ext cx="1088" cy="272"/>
              </a:xfrm>
              <a:prstGeom prst="rect">
                <a:avLst/>
              </a:prstGeom>
              <a:solidFill>
                <a:srgbClr val="CCECFF"/>
              </a:solidFill>
              <a:ln w="28575">
                <a:noFill/>
                <a:miter lim="800000"/>
                <a:headEnd/>
                <a:tailEnd/>
              </a:ln>
              <a:effectLst/>
            </p:spPr>
            <p:txBody>
              <a:bodyPr wrap="none" anchor="ctr"/>
              <a:lstStyle/>
              <a:p>
                <a:pPr algn="ctr"/>
                <a:endParaRPr lang="zh-CN" altLang="zh-CN" sz="2000">
                  <a:solidFill>
                    <a:srgbClr val="333399"/>
                  </a:solidFill>
                  <a:ea typeface="黑体" pitchFamily="49" charset="-122"/>
                </a:endParaRPr>
              </a:p>
            </p:txBody>
          </p:sp>
          <p:sp>
            <p:nvSpPr>
              <p:cNvPr id="23563" name="Rectangle 11"/>
              <p:cNvSpPr>
                <a:spLocks noChangeArrowheads="1"/>
              </p:cNvSpPr>
              <p:nvPr/>
            </p:nvSpPr>
            <p:spPr bwMode="auto">
              <a:xfrm>
                <a:off x="1247" y="2931"/>
                <a:ext cx="3266" cy="272"/>
              </a:xfrm>
              <a:prstGeom prst="rect">
                <a:avLst/>
              </a:prstGeom>
              <a:noFill/>
              <a:ln w="28575">
                <a:solidFill>
                  <a:schemeClr val="tx1"/>
                </a:solidFill>
                <a:miter lim="800000"/>
                <a:headEnd/>
                <a:tailEnd/>
              </a:ln>
              <a:effectLst/>
            </p:spPr>
            <p:txBody>
              <a:bodyPr wrap="none" anchor="ctr"/>
              <a:lstStyle/>
              <a:p>
                <a:endParaRPr lang="zh-CN" altLang="en-US"/>
              </a:p>
            </p:txBody>
          </p:sp>
        </p:grpSp>
        <p:sp>
          <p:nvSpPr>
            <p:cNvPr id="23564" name="Text Box 12"/>
            <p:cNvSpPr txBox="1">
              <a:spLocks noChangeArrowheads="1"/>
            </p:cNvSpPr>
            <p:nvPr/>
          </p:nvSpPr>
          <p:spPr bwMode="auto">
            <a:xfrm>
              <a:off x="1202" y="2219"/>
              <a:ext cx="3316" cy="231"/>
            </a:xfrm>
            <a:prstGeom prst="rect">
              <a:avLst/>
            </a:prstGeom>
            <a:noFill/>
            <a:ln w="9525">
              <a:noFill/>
              <a:miter lim="800000"/>
              <a:headEnd/>
              <a:tailEnd/>
            </a:ln>
            <a:effectLst/>
          </p:spPr>
          <p:txBody>
            <a:bodyPr wrap="none">
              <a:spAutoFit/>
            </a:bodyPr>
            <a:lstStyle/>
            <a:p>
              <a:r>
                <a:rPr lang="en-US" altLang="zh-CN">
                  <a:solidFill>
                    <a:srgbClr val="333399"/>
                  </a:solidFill>
                </a:rPr>
                <a:t>1101000110101010110101011100010011010010</a:t>
              </a:r>
            </a:p>
          </p:txBody>
        </p:sp>
      </p:grpSp>
      <p:grpSp>
        <p:nvGrpSpPr>
          <p:cNvPr id="23565" name="Group 13"/>
          <p:cNvGrpSpPr>
            <a:grpSpLocks/>
          </p:cNvGrpSpPr>
          <p:nvPr/>
        </p:nvGrpSpPr>
        <p:grpSpPr bwMode="auto">
          <a:xfrm>
            <a:off x="3025775" y="3933825"/>
            <a:ext cx="3028950" cy="1416050"/>
            <a:chOff x="1906" y="2478"/>
            <a:chExt cx="1908" cy="892"/>
          </a:xfrm>
        </p:grpSpPr>
        <p:sp>
          <p:nvSpPr>
            <p:cNvPr id="23566" name="Text Box 14"/>
            <p:cNvSpPr txBox="1">
              <a:spLocks noChangeArrowheads="1"/>
            </p:cNvSpPr>
            <p:nvPr/>
          </p:nvSpPr>
          <p:spPr bwMode="auto">
            <a:xfrm>
              <a:off x="1906" y="2774"/>
              <a:ext cx="1908" cy="596"/>
            </a:xfrm>
            <a:prstGeom prst="rect">
              <a:avLst/>
            </a:prstGeom>
            <a:noFill/>
            <a:ln w="9525">
              <a:noFill/>
              <a:miter lim="800000"/>
              <a:headEnd/>
              <a:tailEnd/>
            </a:ln>
            <a:effectLst/>
          </p:spPr>
          <p:txBody>
            <a:bodyPr wrap="none">
              <a:spAutoFit/>
            </a:bodyPr>
            <a:lstStyle/>
            <a:p>
              <a:pPr algn="ctr"/>
              <a:r>
                <a:rPr lang="zh-CN" altLang="en-US" sz="2800">
                  <a:solidFill>
                    <a:srgbClr val="333399"/>
                  </a:solidFill>
                  <a:latin typeface="Tahoma" pitchFamily="34" charset="0"/>
                  <a:ea typeface="黑体" pitchFamily="49" charset="-122"/>
                </a:rPr>
                <a:t>假定这个报文较长</a:t>
              </a:r>
            </a:p>
            <a:p>
              <a:pPr algn="ctr"/>
              <a:r>
                <a:rPr lang="zh-CN" altLang="en-US" sz="2800">
                  <a:solidFill>
                    <a:srgbClr val="333399"/>
                  </a:solidFill>
                  <a:latin typeface="Tahoma" pitchFamily="34" charset="0"/>
                  <a:ea typeface="黑体" pitchFamily="49" charset="-122"/>
                </a:rPr>
                <a:t>不便于传输</a:t>
              </a:r>
            </a:p>
          </p:txBody>
        </p:sp>
        <p:sp>
          <p:nvSpPr>
            <p:cNvPr id="23567" name="Line 15"/>
            <p:cNvSpPr>
              <a:spLocks noChangeShapeType="1"/>
            </p:cNvSpPr>
            <p:nvPr/>
          </p:nvSpPr>
          <p:spPr bwMode="auto">
            <a:xfrm flipV="1">
              <a:off x="2789" y="2478"/>
              <a:ext cx="91" cy="362"/>
            </a:xfrm>
            <a:prstGeom prst="line">
              <a:avLst/>
            </a:prstGeom>
            <a:noFill/>
            <a:ln w="28575">
              <a:solidFill>
                <a:srgbClr val="333399"/>
              </a:solidFill>
              <a:round/>
              <a:headEnd/>
              <a:tailEnd type="triangle" w="med" len="med"/>
            </a:ln>
            <a:effec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1979613" y="2947988"/>
            <a:ext cx="1727200" cy="431800"/>
          </a:xfrm>
          <a:prstGeom prst="rect">
            <a:avLst/>
          </a:prstGeom>
          <a:solidFill>
            <a:srgbClr val="CCECFF"/>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24579" name="Rectangle 3"/>
          <p:cNvSpPr>
            <a:spLocks noChangeArrowheads="1"/>
          </p:cNvSpPr>
          <p:nvPr/>
        </p:nvSpPr>
        <p:spPr bwMode="auto">
          <a:xfrm>
            <a:off x="3708400" y="2947988"/>
            <a:ext cx="1727200" cy="431800"/>
          </a:xfrm>
          <a:prstGeom prst="rect">
            <a:avLst/>
          </a:prstGeom>
          <a:solidFill>
            <a:srgbClr val="CCECFF"/>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24580" name="Rectangle 4"/>
          <p:cNvSpPr>
            <a:spLocks noChangeArrowheads="1"/>
          </p:cNvSpPr>
          <p:nvPr/>
        </p:nvSpPr>
        <p:spPr bwMode="auto">
          <a:xfrm>
            <a:off x="5437188" y="2947988"/>
            <a:ext cx="1727200" cy="431800"/>
          </a:xfrm>
          <a:prstGeom prst="rect">
            <a:avLst/>
          </a:prstGeom>
          <a:solidFill>
            <a:srgbClr val="CCECFF"/>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数     据</a:t>
            </a:r>
          </a:p>
        </p:txBody>
      </p:sp>
      <p:grpSp>
        <p:nvGrpSpPr>
          <p:cNvPr id="24581" name="Group 5"/>
          <p:cNvGrpSpPr>
            <a:grpSpLocks/>
          </p:cNvGrpSpPr>
          <p:nvPr/>
        </p:nvGrpSpPr>
        <p:grpSpPr bwMode="auto">
          <a:xfrm>
            <a:off x="1979613" y="2492375"/>
            <a:ext cx="5184775" cy="396875"/>
            <a:chOff x="1247" y="1737"/>
            <a:chExt cx="3266" cy="250"/>
          </a:xfrm>
        </p:grpSpPr>
        <p:sp>
          <p:nvSpPr>
            <p:cNvPr id="24582" name="Line 6"/>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ffectLst/>
          </p:spPr>
          <p:txBody>
            <a:bodyPr wrap="none" anchor="ctr"/>
            <a:lstStyle/>
            <a:p>
              <a:endParaRPr lang="zh-CN" altLang="en-US"/>
            </a:p>
          </p:txBody>
        </p:sp>
        <p:sp>
          <p:nvSpPr>
            <p:cNvPr id="24583" name="Text Box 7"/>
            <p:cNvSpPr txBox="1">
              <a:spLocks noChangeArrowheads="1"/>
            </p:cNvSpPr>
            <p:nvPr/>
          </p:nvSpPr>
          <p:spPr bwMode="auto">
            <a:xfrm>
              <a:off x="2699" y="1737"/>
              <a:ext cx="436" cy="250"/>
            </a:xfrm>
            <a:prstGeom prst="rect">
              <a:avLst/>
            </a:prstGeom>
            <a:solidFill>
              <a:schemeClr val="bg1"/>
            </a:solid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报文</a:t>
              </a:r>
            </a:p>
          </p:txBody>
        </p:sp>
      </p:grpSp>
      <p:sp>
        <p:nvSpPr>
          <p:cNvPr id="24584" name="Rectangle 8"/>
          <p:cNvSpPr>
            <a:spLocks noGrp="1" noChangeArrowheads="1"/>
          </p:cNvSpPr>
          <p:nvPr>
            <p:ph type="title"/>
          </p:nvPr>
        </p:nvSpPr>
        <p:spPr/>
        <p:txBody>
          <a:bodyPr/>
          <a:lstStyle/>
          <a:p>
            <a:r>
              <a:rPr lang="zh-CN" altLang="en-US"/>
              <a:t>分组交换的主要特点</a:t>
            </a:r>
          </a:p>
        </p:txBody>
      </p:sp>
      <p:sp>
        <p:nvSpPr>
          <p:cNvPr id="24585" name="Rectangle 9"/>
          <p:cNvSpPr>
            <a:spLocks noGrp="1" noChangeArrowheads="1"/>
          </p:cNvSpPr>
          <p:nvPr>
            <p:ph type="body" idx="1"/>
          </p:nvPr>
        </p:nvSpPr>
        <p:spPr>
          <a:xfrm>
            <a:off x="900113" y="1906588"/>
            <a:ext cx="7915275" cy="4114800"/>
          </a:xfrm>
        </p:spPr>
        <p:txBody>
          <a:bodyPr/>
          <a:lstStyle/>
          <a:p>
            <a:r>
              <a:rPr lang="zh-CN" altLang="en-US"/>
              <a:t>每一个数据段前面添加上</a:t>
            </a:r>
            <a:r>
              <a:rPr lang="zh-CN" altLang="en-US">
                <a:solidFill>
                  <a:schemeClr val="hlink"/>
                </a:solidFill>
              </a:rPr>
              <a:t>首部</a:t>
            </a:r>
            <a:r>
              <a:rPr lang="zh-CN" altLang="en-US"/>
              <a:t>构成分组。</a:t>
            </a:r>
          </a:p>
        </p:txBody>
      </p:sp>
      <p:sp>
        <p:nvSpPr>
          <p:cNvPr id="24586" name="Rectangle 10"/>
          <p:cNvSpPr>
            <a:spLocks noChangeArrowheads="1"/>
          </p:cNvSpPr>
          <p:nvPr/>
        </p:nvSpPr>
        <p:spPr bwMode="auto">
          <a:xfrm>
            <a:off x="1403350" y="3595688"/>
            <a:ext cx="576263" cy="431800"/>
          </a:xfrm>
          <a:prstGeom prst="rect">
            <a:avLst/>
          </a:prstGeom>
          <a:solidFill>
            <a:schemeClr val="accent2"/>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首部</a:t>
            </a:r>
          </a:p>
        </p:txBody>
      </p:sp>
      <p:sp>
        <p:nvSpPr>
          <p:cNvPr id="24587" name="Rectangle 11"/>
          <p:cNvSpPr>
            <a:spLocks noChangeArrowheads="1"/>
          </p:cNvSpPr>
          <p:nvPr/>
        </p:nvSpPr>
        <p:spPr bwMode="auto">
          <a:xfrm>
            <a:off x="3132138" y="4460875"/>
            <a:ext cx="576262" cy="431800"/>
          </a:xfrm>
          <a:prstGeom prst="rect">
            <a:avLst/>
          </a:prstGeom>
          <a:solidFill>
            <a:schemeClr val="accent2"/>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首部</a:t>
            </a:r>
          </a:p>
        </p:txBody>
      </p:sp>
      <p:sp>
        <p:nvSpPr>
          <p:cNvPr id="24588" name="Rectangle 12"/>
          <p:cNvSpPr>
            <a:spLocks noChangeArrowheads="1"/>
          </p:cNvSpPr>
          <p:nvPr/>
        </p:nvSpPr>
        <p:spPr bwMode="auto">
          <a:xfrm>
            <a:off x="4859338" y="5310188"/>
            <a:ext cx="576262" cy="431800"/>
          </a:xfrm>
          <a:prstGeom prst="rect">
            <a:avLst/>
          </a:prstGeom>
          <a:solidFill>
            <a:schemeClr val="accent2"/>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24589" name="Group 13"/>
          <p:cNvGrpSpPr>
            <a:grpSpLocks/>
          </p:cNvGrpSpPr>
          <p:nvPr/>
        </p:nvGrpSpPr>
        <p:grpSpPr bwMode="auto">
          <a:xfrm>
            <a:off x="1404938" y="3033713"/>
            <a:ext cx="2303462" cy="488950"/>
            <a:chOff x="1973" y="2532"/>
            <a:chExt cx="1451" cy="308"/>
          </a:xfrm>
        </p:grpSpPr>
        <p:sp>
          <p:nvSpPr>
            <p:cNvPr id="24590" name="AutoShape 14"/>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p:spPr>
          <p:txBody>
            <a:bodyPr wrap="none" anchor="ctr"/>
            <a:lstStyle/>
            <a:p>
              <a:endParaRPr lang="zh-CN" altLang="en-US"/>
            </a:p>
          </p:txBody>
        </p:sp>
        <p:sp>
          <p:nvSpPr>
            <p:cNvPr id="24591" name="Text Box 15"/>
            <p:cNvSpPr txBox="1">
              <a:spLocks noChangeArrowheads="1"/>
            </p:cNvSpPr>
            <p:nvPr/>
          </p:nvSpPr>
          <p:spPr bwMode="auto">
            <a:xfrm>
              <a:off x="2489" y="2532"/>
              <a:ext cx="547" cy="250"/>
            </a:xfrm>
            <a:prstGeom prst="rect">
              <a:avLst/>
            </a:prstGeom>
            <a:noFill/>
            <a:ln w="9525">
              <a:noFill/>
              <a:miter lim="800000"/>
              <a:headEnd/>
              <a:tailEnd/>
            </a:ln>
            <a:effectLst/>
          </p:spPr>
          <p:txBody>
            <a:bodyPr wrap="none">
              <a:spAutoFit/>
            </a:bodyPr>
            <a:lstStyle/>
            <a:p>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1</a:t>
              </a:r>
            </a:p>
          </p:txBody>
        </p:sp>
      </p:grpSp>
      <p:grpSp>
        <p:nvGrpSpPr>
          <p:cNvPr id="24592" name="Group 16"/>
          <p:cNvGrpSpPr>
            <a:grpSpLocks/>
          </p:cNvGrpSpPr>
          <p:nvPr/>
        </p:nvGrpSpPr>
        <p:grpSpPr bwMode="auto">
          <a:xfrm>
            <a:off x="3132138" y="3898900"/>
            <a:ext cx="2303462" cy="488950"/>
            <a:chOff x="1973" y="2532"/>
            <a:chExt cx="1451" cy="308"/>
          </a:xfrm>
        </p:grpSpPr>
        <p:sp>
          <p:nvSpPr>
            <p:cNvPr id="24593" name="AutoShape 17"/>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p:spPr>
          <p:txBody>
            <a:bodyPr wrap="none" anchor="ctr"/>
            <a:lstStyle/>
            <a:p>
              <a:endParaRPr lang="zh-CN" altLang="en-US"/>
            </a:p>
          </p:txBody>
        </p:sp>
        <p:sp>
          <p:nvSpPr>
            <p:cNvPr id="24594" name="Text Box 18"/>
            <p:cNvSpPr txBox="1">
              <a:spLocks noChangeArrowheads="1"/>
            </p:cNvSpPr>
            <p:nvPr/>
          </p:nvSpPr>
          <p:spPr bwMode="auto">
            <a:xfrm>
              <a:off x="2489" y="2532"/>
              <a:ext cx="547" cy="250"/>
            </a:xfrm>
            <a:prstGeom prst="rect">
              <a:avLst/>
            </a:prstGeom>
            <a:noFill/>
            <a:ln w="9525">
              <a:noFill/>
              <a:miter lim="800000"/>
              <a:headEnd/>
              <a:tailEnd/>
            </a:ln>
            <a:effectLst/>
          </p:spPr>
          <p:txBody>
            <a:bodyPr wrap="none">
              <a:spAutoFit/>
            </a:bodyPr>
            <a:lstStyle/>
            <a:p>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2</a:t>
              </a:r>
            </a:p>
          </p:txBody>
        </p:sp>
      </p:grpSp>
      <p:grpSp>
        <p:nvGrpSpPr>
          <p:cNvPr id="24595" name="Group 19"/>
          <p:cNvGrpSpPr>
            <a:grpSpLocks/>
          </p:cNvGrpSpPr>
          <p:nvPr/>
        </p:nvGrpSpPr>
        <p:grpSpPr bwMode="auto">
          <a:xfrm>
            <a:off x="4859338" y="4762500"/>
            <a:ext cx="2303462" cy="488950"/>
            <a:chOff x="1973" y="2532"/>
            <a:chExt cx="1451" cy="308"/>
          </a:xfrm>
        </p:grpSpPr>
        <p:sp>
          <p:nvSpPr>
            <p:cNvPr id="24596" name="AutoShape 20"/>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p:spPr>
          <p:txBody>
            <a:bodyPr wrap="none" anchor="ctr"/>
            <a:lstStyle/>
            <a:p>
              <a:endParaRPr lang="zh-CN" altLang="en-US"/>
            </a:p>
          </p:txBody>
        </p:sp>
        <p:sp>
          <p:nvSpPr>
            <p:cNvPr id="24597" name="Text Box 21"/>
            <p:cNvSpPr txBox="1">
              <a:spLocks noChangeArrowheads="1"/>
            </p:cNvSpPr>
            <p:nvPr/>
          </p:nvSpPr>
          <p:spPr bwMode="auto">
            <a:xfrm>
              <a:off x="2489" y="2532"/>
              <a:ext cx="547" cy="250"/>
            </a:xfrm>
            <a:prstGeom prst="rect">
              <a:avLst/>
            </a:prstGeom>
            <a:noFill/>
            <a:ln w="9525">
              <a:noFill/>
              <a:miter lim="800000"/>
              <a:headEnd/>
              <a:tailEnd/>
            </a:ln>
            <a:effectLst/>
          </p:spPr>
          <p:txBody>
            <a:bodyPr wrap="none">
              <a:spAutoFit/>
            </a:bodyPr>
            <a:lstStyle/>
            <a:p>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3</a:t>
              </a:r>
            </a:p>
          </p:txBody>
        </p:sp>
      </p:grpSp>
      <p:sp>
        <p:nvSpPr>
          <p:cNvPr id="24598" name="Text Box 22"/>
          <p:cNvSpPr txBox="1">
            <a:spLocks noChangeArrowheads="1"/>
          </p:cNvSpPr>
          <p:nvPr/>
        </p:nvSpPr>
        <p:spPr bwMode="auto">
          <a:xfrm>
            <a:off x="1042988" y="5949950"/>
            <a:ext cx="4333875" cy="519113"/>
          </a:xfrm>
          <a:prstGeom prst="rect">
            <a:avLst/>
          </a:prstGeom>
          <a:noFill/>
          <a:ln w="9525">
            <a:noFill/>
            <a:miter lim="800000"/>
            <a:headEnd/>
            <a:tailEnd/>
          </a:ln>
          <a:effectLst/>
        </p:spPr>
        <p:txBody>
          <a:bodyPr wrap="none">
            <a:spAutoFit/>
          </a:bodyPr>
          <a:lstStyle/>
          <a:p>
            <a:r>
              <a:rPr lang="zh-CN" altLang="en-US" sz="2800">
                <a:solidFill>
                  <a:schemeClr val="hlink"/>
                </a:solidFill>
                <a:latin typeface="Tahoma" pitchFamily="34" charset="0"/>
                <a:ea typeface="黑体" pitchFamily="49" charset="-122"/>
              </a:rPr>
              <a:t>请注意：现在左边是</a:t>
            </a:r>
            <a:r>
              <a:rPr lang="zh-CN" altLang="en-US" sz="2800">
                <a:solidFill>
                  <a:schemeClr val="hlink"/>
                </a:solidFill>
                <a:latin typeface="Arial"/>
                <a:ea typeface="黑体" pitchFamily="49" charset="-122"/>
              </a:rPr>
              <a:t>“</a:t>
            </a:r>
            <a:r>
              <a:rPr lang="zh-CN" altLang="en-US" sz="2800">
                <a:solidFill>
                  <a:schemeClr val="hlink"/>
                </a:solidFill>
                <a:latin typeface="Tahoma" pitchFamily="34" charset="0"/>
                <a:ea typeface="黑体" pitchFamily="49" charset="-122"/>
              </a:rPr>
              <a:t>前面</a:t>
            </a:r>
            <a:r>
              <a:rPr lang="zh-CN" altLang="en-US" sz="2800">
                <a:solidFill>
                  <a:schemeClr val="hlink"/>
                </a:solidFill>
                <a:latin typeface="Arial"/>
                <a:ea typeface="黑体" pitchFamily="49" charset="-122"/>
              </a:rPr>
              <a:t>”</a:t>
            </a:r>
            <a:endParaRPr lang="zh-CN" altLang="en-US" sz="2800">
              <a:solidFill>
                <a:schemeClr val="hlink"/>
              </a:solidFill>
              <a:latin typeface="Tahoma" pitchFamily="34" charset="0"/>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4581"/>
                                        </p:tgtEl>
                                        <p:attrNameLst>
                                          <p:attrName>style.visibility</p:attrName>
                                        </p:attrNameLst>
                                      </p:cBhvr>
                                      <p:to>
                                        <p:strVal val="hidden"/>
                                      </p:to>
                                    </p:set>
                                  </p:childTnLst>
                                </p:cTn>
                              </p:par>
                            </p:childTnLst>
                          </p:cTn>
                        </p:par>
                        <p:par>
                          <p:cTn id="7" fill="hold">
                            <p:stCondLst>
                              <p:cond delay="0"/>
                            </p:stCondLst>
                            <p:childTnLst>
                              <p:par>
                                <p:cTn id="8" presetID="42" presetClass="path" presetSubtype="0" accel="50000" decel="50000" fill="hold" grpId="0" nodeType="afterEffect">
                                  <p:stCondLst>
                                    <p:cond delay="0"/>
                                  </p:stCondLst>
                                  <p:childTnLst>
                                    <p:animMotion origin="layout" path="M 2.5E-6 0.0 L 2.5E-6 0.09653 " pathEditMode="relative" rAng="0" ptsTypes="AA">
                                      <p:cBhvr>
                                        <p:cTn id="9" dur="1000" fill="hold"/>
                                        <p:tgtEl>
                                          <p:spTgt spid="24578"/>
                                        </p:tgtEl>
                                        <p:attrNameLst>
                                          <p:attrName>ppt_x</p:attrName>
                                          <p:attrName>ppt_y</p:attrName>
                                        </p:attrNameLst>
                                      </p:cBhvr>
                                      <p:rCtr x="0" y="48"/>
                                    </p:animMotion>
                                  </p:childTnLst>
                                </p:cTn>
                              </p:par>
                            </p:childTnLst>
                          </p:cTn>
                        </p:par>
                        <p:par>
                          <p:cTn id="10" fill="hold">
                            <p:stCondLst>
                              <p:cond delay="1000"/>
                            </p:stCondLst>
                            <p:childTnLst>
                              <p:par>
                                <p:cTn id="11" presetID="1" presetClass="entr" presetSubtype="0" fill="hold" grpId="0" nodeType="afterEffect">
                                  <p:stCondLst>
                                    <p:cond delay="500"/>
                                  </p:stCondLst>
                                  <p:childTnLst>
                                    <p:set>
                                      <p:cBhvr>
                                        <p:cTn id="12" dur="1" fill="hold">
                                          <p:stCondLst>
                                            <p:cond delay="0"/>
                                          </p:stCondLst>
                                        </p:cTn>
                                        <p:tgtEl>
                                          <p:spTgt spid="24586"/>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500"/>
                                  </p:stCondLst>
                                  <p:childTnLst>
                                    <p:set>
                                      <p:cBhvr>
                                        <p:cTn id="15" dur="1" fill="hold">
                                          <p:stCondLst>
                                            <p:cond delay="0"/>
                                          </p:stCondLst>
                                        </p:cTn>
                                        <p:tgtEl>
                                          <p:spTgt spid="24589"/>
                                        </p:tgtEl>
                                        <p:attrNameLst>
                                          <p:attrName>style.visibility</p:attrName>
                                        </p:attrNameLst>
                                      </p:cBhvr>
                                      <p:to>
                                        <p:strVal val="visible"/>
                                      </p:to>
                                    </p:set>
                                  </p:childTnLst>
                                </p:cTn>
                              </p:par>
                            </p:childTnLst>
                          </p:cTn>
                        </p:par>
                        <p:par>
                          <p:cTn id="16" fill="hold">
                            <p:stCondLst>
                              <p:cond delay="2000"/>
                            </p:stCondLst>
                            <p:childTnLst>
                              <p:par>
                                <p:cTn id="17" presetID="42" presetClass="path" presetSubtype="0" accel="50000" decel="50000" fill="hold" grpId="0" nodeType="afterEffect">
                                  <p:stCondLst>
                                    <p:cond delay="500"/>
                                  </p:stCondLst>
                                  <p:childTnLst>
                                    <p:animMotion origin="layout" path="M 0.0 -1.96532E-6 L 0.0 0.22035 " pathEditMode="relative" rAng="0" ptsTypes="AA">
                                      <p:cBhvr>
                                        <p:cTn id="18" dur="1000" fill="hold"/>
                                        <p:tgtEl>
                                          <p:spTgt spid="24579"/>
                                        </p:tgtEl>
                                        <p:attrNameLst>
                                          <p:attrName>ppt_x</p:attrName>
                                          <p:attrName>ppt_y</p:attrName>
                                        </p:attrNameLst>
                                      </p:cBhvr>
                                      <p:rCtr x="0" y="110"/>
                                    </p:animMotion>
                                  </p:childTnLst>
                                </p:cTn>
                              </p:par>
                            </p:childTnLst>
                          </p:cTn>
                        </p:par>
                        <p:par>
                          <p:cTn id="19" fill="hold">
                            <p:stCondLst>
                              <p:cond delay="3500"/>
                            </p:stCondLst>
                            <p:childTnLst>
                              <p:par>
                                <p:cTn id="20" presetID="1" presetClass="entr" presetSubtype="0" fill="hold" grpId="0" nodeType="afterEffect">
                                  <p:stCondLst>
                                    <p:cond delay="500"/>
                                  </p:stCondLst>
                                  <p:childTnLst>
                                    <p:set>
                                      <p:cBhvr>
                                        <p:cTn id="21" dur="1" fill="hold">
                                          <p:stCondLst>
                                            <p:cond delay="0"/>
                                          </p:stCondLst>
                                        </p:cTn>
                                        <p:tgtEl>
                                          <p:spTgt spid="24587"/>
                                        </p:tgtEl>
                                        <p:attrNameLst>
                                          <p:attrName>style.visibility</p:attrName>
                                        </p:attrNameLst>
                                      </p:cBhvr>
                                      <p:to>
                                        <p:strVal val="visible"/>
                                      </p:to>
                                    </p:set>
                                  </p:childTnLst>
                                </p:cTn>
                              </p:par>
                            </p:childTnLst>
                          </p:cTn>
                        </p:par>
                        <p:par>
                          <p:cTn id="22" fill="hold">
                            <p:stCondLst>
                              <p:cond delay="4000"/>
                            </p:stCondLst>
                            <p:childTnLst>
                              <p:par>
                                <p:cTn id="23" presetID="1" presetClass="entr" presetSubtype="0" fill="hold" nodeType="afterEffect">
                                  <p:stCondLst>
                                    <p:cond delay="500"/>
                                  </p:stCondLst>
                                  <p:childTnLst>
                                    <p:set>
                                      <p:cBhvr>
                                        <p:cTn id="24" dur="1" fill="hold">
                                          <p:stCondLst>
                                            <p:cond delay="0"/>
                                          </p:stCondLst>
                                        </p:cTn>
                                        <p:tgtEl>
                                          <p:spTgt spid="24592"/>
                                        </p:tgtEl>
                                        <p:attrNameLst>
                                          <p:attrName>style.visibility</p:attrName>
                                        </p:attrNameLst>
                                      </p:cBhvr>
                                      <p:to>
                                        <p:strVal val="visible"/>
                                      </p:to>
                                    </p:set>
                                  </p:childTnLst>
                                </p:cTn>
                              </p:par>
                            </p:childTnLst>
                          </p:cTn>
                        </p:par>
                        <p:par>
                          <p:cTn id="25" fill="hold">
                            <p:stCondLst>
                              <p:cond delay="4500"/>
                            </p:stCondLst>
                            <p:childTnLst>
                              <p:par>
                                <p:cTn id="26" presetID="42" presetClass="path" presetSubtype="0" accel="50000" decel="50000" fill="hold" grpId="0" nodeType="afterEffect">
                                  <p:stCondLst>
                                    <p:cond delay="500"/>
                                  </p:stCondLst>
                                  <p:childTnLst>
                                    <p:animMotion origin="layout" path="M -2.5E-6 -1.96532E-6 L -2.5E-6 0.34613 " pathEditMode="relative" rAng="0" ptsTypes="AA">
                                      <p:cBhvr>
                                        <p:cTn id="27" dur="1000" fill="hold"/>
                                        <p:tgtEl>
                                          <p:spTgt spid="24580"/>
                                        </p:tgtEl>
                                        <p:attrNameLst>
                                          <p:attrName>ppt_x</p:attrName>
                                          <p:attrName>ppt_y</p:attrName>
                                        </p:attrNameLst>
                                      </p:cBhvr>
                                      <p:rCtr x="0" y="173"/>
                                    </p:animMotion>
                                  </p:childTnLst>
                                </p:cTn>
                              </p:par>
                            </p:childTnLst>
                          </p:cTn>
                        </p:par>
                        <p:par>
                          <p:cTn id="28" fill="hold">
                            <p:stCondLst>
                              <p:cond delay="6000"/>
                            </p:stCondLst>
                            <p:childTnLst>
                              <p:par>
                                <p:cTn id="29" presetID="1" presetClass="entr" presetSubtype="0" fill="hold" grpId="0" nodeType="afterEffect">
                                  <p:stCondLst>
                                    <p:cond delay="500"/>
                                  </p:stCondLst>
                                  <p:childTnLst>
                                    <p:set>
                                      <p:cBhvr>
                                        <p:cTn id="30" dur="1" fill="hold">
                                          <p:stCondLst>
                                            <p:cond delay="0"/>
                                          </p:stCondLst>
                                        </p:cTn>
                                        <p:tgtEl>
                                          <p:spTgt spid="24588"/>
                                        </p:tgtEl>
                                        <p:attrNameLst>
                                          <p:attrName>style.visibility</p:attrName>
                                        </p:attrNameLst>
                                      </p:cBhvr>
                                      <p:to>
                                        <p:strVal val="visible"/>
                                      </p:to>
                                    </p:set>
                                  </p:childTnLst>
                                </p:cTn>
                              </p:par>
                            </p:childTnLst>
                          </p:cTn>
                        </p:par>
                        <p:par>
                          <p:cTn id="31" fill="hold">
                            <p:stCondLst>
                              <p:cond delay="6500"/>
                            </p:stCondLst>
                            <p:childTnLst>
                              <p:par>
                                <p:cTn id="32" presetID="1" presetClass="entr" presetSubtype="0" fill="hold" nodeType="afterEffect">
                                  <p:stCondLst>
                                    <p:cond delay="500"/>
                                  </p:stCondLst>
                                  <p:childTnLst>
                                    <p:set>
                                      <p:cBhvr>
                                        <p:cTn id="33" dur="1" fill="hold">
                                          <p:stCondLst>
                                            <p:cond delay="0"/>
                                          </p:stCondLst>
                                        </p:cTn>
                                        <p:tgtEl>
                                          <p:spTgt spid="24595"/>
                                        </p:tgtEl>
                                        <p:attrNameLst>
                                          <p:attrName>style.visibility</p:attrName>
                                        </p:attrNameLst>
                                      </p:cBhvr>
                                      <p:to>
                                        <p:strVal val="visible"/>
                                      </p:to>
                                    </p:set>
                                  </p:childTnLst>
                                </p:cTn>
                              </p:par>
                            </p:childTnLst>
                          </p:cTn>
                        </p:par>
                        <p:par>
                          <p:cTn id="34" fill="hold">
                            <p:stCondLst>
                              <p:cond delay="7000"/>
                            </p:stCondLst>
                            <p:childTnLst>
                              <p:par>
                                <p:cTn id="35" presetID="1" presetClass="entr" presetSubtype="0" fill="hold" grpId="0" nodeType="afterEffect">
                                  <p:stCondLst>
                                    <p:cond delay="0"/>
                                  </p:stCondLst>
                                  <p:childTnLst>
                                    <p:set>
                                      <p:cBhvr>
                                        <p:cTn id="36" dur="1" fill="hold">
                                          <p:stCondLst>
                                            <p:cond delay="0"/>
                                          </p:stCondLst>
                                        </p:cTn>
                                        <p:tgtEl>
                                          <p:spTgt spid="24598"/>
                                        </p:tgtEl>
                                        <p:attrNameLst>
                                          <p:attrName>style.visibility</p:attrName>
                                        </p:attrNameLst>
                                      </p:cBhvr>
                                      <p:to>
                                        <p:strVal val="visible"/>
                                      </p:to>
                                    </p:set>
                                  </p:childTnLst>
                                </p:cTn>
                              </p:par>
                            </p:childTnLst>
                          </p:cTn>
                        </p:par>
                        <p:par>
                          <p:cTn id="37" fill="hold">
                            <p:stCondLst>
                              <p:cond delay="7000"/>
                            </p:stCondLst>
                            <p:childTnLst>
                              <p:par>
                                <p:cTn id="38" presetID="35" presetClass="emph" presetSubtype="0" repeatCount="3000" fill="hold" grpId="1" nodeType="afterEffect">
                                  <p:stCondLst>
                                    <p:cond delay="0"/>
                                  </p:stCondLst>
                                  <p:childTnLst>
                                    <p:anim calcmode="discrete" valueType="str">
                                      <p:cBhvr>
                                        <p:cTn id="39" dur="1000" fill="hold"/>
                                        <p:tgtEl>
                                          <p:spTgt spid="2459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nimBg="1"/>
      <p:bldP spid="24579" grpId="0" animBg="1"/>
      <p:bldP spid="24580" grpId="0" animBg="1"/>
      <p:bldP spid="24586" grpId="0" animBg="1"/>
      <p:bldP spid="24587" grpId="0" animBg="1"/>
      <p:bldP spid="24588" grpId="0" animBg="1"/>
      <p:bldP spid="24598" grpId="0"/>
      <p:bldP spid="24598"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zh-CN" altLang="en-US"/>
              <a:t>分组交换的主要特点</a:t>
            </a:r>
          </a:p>
        </p:txBody>
      </p:sp>
      <p:sp>
        <p:nvSpPr>
          <p:cNvPr id="25603" name="Rectangle 3"/>
          <p:cNvSpPr>
            <a:spLocks noGrp="1" noChangeArrowheads="1"/>
          </p:cNvSpPr>
          <p:nvPr>
            <p:ph type="body" idx="1"/>
          </p:nvPr>
        </p:nvSpPr>
        <p:spPr>
          <a:xfrm>
            <a:off x="1116013" y="1916113"/>
            <a:ext cx="7772400" cy="4321175"/>
          </a:xfrm>
        </p:spPr>
        <p:txBody>
          <a:bodyPr/>
          <a:lstStyle/>
          <a:p>
            <a:pPr>
              <a:spcBef>
                <a:spcPct val="10000"/>
              </a:spcBef>
            </a:pPr>
            <a:r>
              <a:rPr lang="zh-CN" altLang="en-US"/>
              <a:t>分组交换网以“</a:t>
            </a:r>
            <a:r>
              <a:rPr lang="zh-CN" altLang="en-US">
                <a:solidFill>
                  <a:schemeClr val="hlink"/>
                </a:solidFill>
              </a:rPr>
              <a:t>分组</a:t>
            </a:r>
            <a:r>
              <a:rPr lang="zh-CN" altLang="en-US"/>
              <a:t>”作为数据传输单元。</a:t>
            </a:r>
          </a:p>
          <a:p>
            <a:pPr>
              <a:spcBef>
                <a:spcPct val="10000"/>
              </a:spcBef>
            </a:pPr>
            <a:r>
              <a:rPr lang="zh-CN" altLang="en-US">
                <a:solidFill>
                  <a:schemeClr val="hlink"/>
                </a:solidFill>
              </a:rPr>
              <a:t>依次</a:t>
            </a:r>
            <a:r>
              <a:rPr lang="zh-CN" altLang="en-US"/>
              <a:t>把各分组发送到接收端（假定接收端在左边）。</a:t>
            </a:r>
          </a:p>
        </p:txBody>
      </p:sp>
      <p:grpSp>
        <p:nvGrpSpPr>
          <p:cNvPr id="25604" name="Group 4"/>
          <p:cNvGrpSpPr>
            <a:grpSpLocks/>
          </p:cNvGrpSpPr>
          <p:nvPr/>
        </p:nvGrpSpPr>
        <p:grpSpPr bwMode="auto">
          <a:xfrm>
            <a:off x="1403350" y="3598863"/>
            <a:ext cx="2305050" cy="993775"/>
            <a:chOff x="884" y="2078"/>
            <a:chExt cx="1452" cy="626"/>
          </a:xfrm>
        </p:grpSpPr>
        <p:sp>
          <p:nvSpPr>
            <p:cNvPr id="25605" name="Rectangle 5"/>
            <p:cNvSpPr>
              <a:spLocks noChangeArrowheads="1"/>
            </p:cNvSpPr>
            <p:nvPr/>
          </p:nvSpPr>
          <p:spPr bwMode="auto">
            <a:xfrm>
              <a:off x="1247" y="2432"/>
              <a:ext cx="1088" cy="272"/>
            </a:xfrm>
            <a:prstGeom prst="rect">
              <a:avLst/>
            </a:prstGeom>
            <a:solidFill>
              <a:srgbClr val="CCECFF"/>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25606" name="Rectangle 6"/>
            <p:cNvSpPr>
              <a:spLocks noChangeArrowheads="1"/>
            </p:cNvSpPr>
            <p:nvPr/>
          </p:nvSpPr>
          <p:spPr bwMode="auto">
            <a:xfrm>
              <a:off x="884" y="2432"/>
              <a:ext cx="363" cy="272"/>
            </a:xfrm>
            <a:prstGeom prst="rect">
              <a:avLst/>
            </a:prstGeom>
            <a:solidFill>
              <a:schemeClr val="accent2"/>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25607" name="Group 7"/>
            <p:cNvGrpSpPr>
              <a:grpSpLocks/>
            </p:cNvGrpSpPr>
            <p:nvPr/>
          </p:nvGrpSpPr>
          <p:grpSpPr bwMode="auto">
            <a:xfrm>
              <a:off x="885" y="2078"/>
              <a:ext cx="1451" cy="308"/>
              <a:chOff x="1973" y="2532"/>
              <a:chExt cx="1451" cy="308"/>
            </a:xfrm>
          </p:grpSpPr>
          <p:sp>
            <p:nvSpPr>
              <p:cNvPr id="25608" name="AutoShape 8"/>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p:spPr>
            <p:txBody>
              <a:bodyPr wrap="none" anchor="ctr"/>
              <a:lstStyle/>
              <a:p>
                <a:endParaRPr lang="zh-CN" altLang="en-US"/>
              </a:p>
            </p:txBody>
          </p:sp>
          <p:sp>
            <p:nvSpPr>
              <p:cNvPr id="25609" name="Text Box 9"/>
              <p:cNvSpPr txBox="1">
                <a:spLocks noChangeArrowheads="1"/>
              </p:cNvSpPr>
              <p:nvPr/>
            </p:nvSpPr>
            <p:spPr bwMode="auto">
              <a:xfrm>
                <a:off x="2489" y="2532"/>
                <a:ext cx="560" cy="250"/>
              </a:xfrm>
              <a:prstGeom prst="rect">
                <a:avLst/>
              </a:prstGeom>
              <a:noFill/>
              <a:ln w="9525">
                <a:noFill/>
                <a:miter lim="800000"/>
                <a:headEnd/>
                <a:tailEnd/>
              </a:ln>
              <a:effectLst/>
            </p:spPr>
            <p:txBody>
              <a:bodyPr wrap="none">
                <a:spAutoFit/>
              </a:bodyPr>
              <a:lstStyle/>
              <a:p>
                <a:r>
                  <a:rPr lang="zh-CN" altLang="en-US" sz="2000">
                    <a:solidFill>
                      <a:srgbClr val="333399"/>
                    </a:solidFill>
                    <a:latin typeface="Tahoma" pitchFamily="34" charset="0"/>
                    <a:ea typeface="黑体" pitchFamily="49" charset="-122"/>
                  </a:rPr>
                  <a:t>分组</a:t>
                </a:r>
                <a:r>
                  <a:rPr lang="zh-CN" altLang="en-US" sz="1400">
                    <a:solidFill>
                      <a:srgbClr val="333399"/>
                    </a:solidFill>
                    <a:latin typeface="Tahoma" pitchFamily="34" charset="0"/>
                    <a:ea typeface="黑体" pitchFamily="49" charset="-122"/>
                  </a:rPr>
                  <a:t> </a:t>
                </a:r>
                <a:r>
                  <a:rPr lang="en-US" altLang="zh-CN" sz="2000">
                    <a:solidFill>
                      <a:srgbClr val="333399"/>
                    </a:solidFill>
                    <a:ea typeface="黑体" pitchFamily="49" charset="-122"/>
                  </a:rPr>
                  <a:t>1</a:t>
                </a:r>
              </a:p>
            </p:txBody>
          </p:sp>
        </p:grpSp>
      </p:grpSp>
      <p:grpSp>
        <p:nvGrpSpPr>
          <p:cNvPr id="25610" name="Group 10"/>
          <p:cNvGrpSpPr>
            <a:grpSpLocks/>
          </p:cNvGrpSpPr>
          <p:nvPr/>
        </p:nvGrpSpPr>
        <p:grpSpPr bwMode="auto">
          <a:xfrm>
            <a:off x="3132138" y="4464050"/>
            <a:ext cx="2303462" cy="993775"/>
            <a:chOff x="1973" y="2623"/>
            <a:chExt cx="1451" cy="626"/>
          </a:xfrm>
        </p:grpSpPr>
        <p:sp>
          <p:nvSpPr>
            <p:cNvPr id="25611" name="Rectangle 11"/>
            <p:cNvSpPr>
              <a:spLocks noChangeArrowheads="1"/>
            </p:cNvSpPr>
            <p:nvPr/>
          </p:nvSpPr>
          <p:spPr bwMode="auto">
            <a:xfrm>
              <a:off x="2336" y="2977"/>
              <a:ext cx="1088" cy="272"/>
            </a:xfrm>
            <a:prstGeom prst="rect">
              <a:avLst/>
            </a:prstGeom>
            <a:solidFill>
              <a:srgbClr val="CCECFF"/>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25612" name="Rectangle 12"/>
            <p:cNvSpPr>
              <a:spLocks noChangeArrowheads="1"/>
            </p:cNvSpPr>
            <p:nvPr/>
          </p:nvSpPr>
          <p:spPr bwMode="auto">
            <a:xfrm>
              <a:off x="1973" y="2977"/>
              <a:ext cx="363" cy="272"/>
            </a:xfrm>
            <a:prstGeom prst="rect">
              <a:avLst/>
            </a:prstGeom>
            <a:solidFill>
              <a:schemeClr val="accent2"/>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25613" name="Group 13"/>
            <p:cNvGrpSpPr>
              <a:grpSpLocks/>
            </p:cNvGrpSpPr>
            <p:nvPr/>
          </p:nvGrpSpPr>
          <p:grpSpPr bwMode="auto">
            <a:xfrm>
              <a:off x="1973" y="2623"/>
              <a:ext cx="1451" cy="308"/>
              <a:chOff x="1973" y="2532"/>
              <a:chExt cx="1451" cy="308"/>
            </a:xfrm>
          </p:grpSpPr>
          <p:sp>
            <p:nvSpPr>
              <p:cNvPr id="25614" name="AutoShape 14"/>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p:spPr>
            <p:txBody>
              <a:bodyPr wrap="none" anchor="ctr"/>
              <a:lstStyle/>
              <a:p>
                <a:endParaRPr lang="zh-CN" altLang="en-US"/>
              </a:p>
            </p:txBody>
          </p:sp>
          <p:sp>
            <p:nvSpPr>
              <p:cNvPr id="25615" name="Text Box 15"/>
              <p:cNvSpPr txBox="1">
                <a:spLocks noChangeArrowheads="1"/>
              </p:cNvSpPr>
              <p:nvPr/>
            </p:nvSpPr>
            <p:spPr bwMode="auto">
              <a:xfrm>
                <a:off x="2489" y="2532"/>
                <a:ext cx="547" cy="250"/>
              </a:xfrm>
              <a:prstGeom prst="rect">
                <a:avLst/>
              </a:prstGeom>
              <a:noFill/>
              <a:ln w="9525">
                <a:noFill/>
                <a:miter lim="800000"/>
                <a:headEnd/>
                <a:tailEnd/>
              </a:ln>
              <a:effectLst/>
            </p:spPr>
            <p:txBody>
              <a:bodyPr wrap="none">
                <a:spAutoFit/>
              </a:bodyPr>
              <a:lstStyle/>
              <a:p>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2</a:t>
                </a:r>
              </a:p>
            </p:txBody>
          </p:sp>
        </p:grpSp>
      </p:grpSp>
      <p:grpSp>
        <p:nvGrpSpPr>
          <p:cNvPr id="25616" name="Group 16"/>
          <p:cNvGrpSpPr>
            <a:grpSpLocks/>
          </p:cNvGrpSpPr>
          <p:nvPr/>
        </p:nvGrpSpPr>
        <p:grpSpPr bwMode="auto">
          <a:xfrm>
            <a:off x="4859338" y="5327650"/>
            <a:ext cx="2309812" cy="981075"/>
            <a:chOff x="3061" y="3167"/>
            <a:chExt cx="1455" cy="618"/>
          </a:xfrm>
        </p:grpSpPr>
        <p:sp>
          <p:nvSpPr>
            <p:cNvPr id="25617" name="Rectangle 17"/>
            <p:cNvSpPr>
              <a:spLocks noChangeArrowheads="1"/>
            </p:cNvSpPr>
            <p:nvPr/>
          </p:nvSpPr>
          <p:spPr bwMode="auto">
            <a:xfrm>
              <a:off x="3428" y="3513"/>
              <a:ext cx="1088" cy="272"/>
            </a:xfrm>
            <a:prstGeom prst="rect">
              <a:avLst/>
            </a:prstGeom>
            <a:solidFill>
              <a:srgbClr val="CCECFF"/>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25618" name="Rectangle 18"/>
            <p:cNvSpPr>
              <a:spLocks noChangeArrowheads="1"/>
            </p:cNvSpPr>
            <p:nvPr/>
          </p:nvSpPr>
          <p:spPr bwMode="auto">
            <a:xfrm>
              <a:off x="3061" y="3512"/>
              <a:ext cx="363" cy="272"/>
            </a:xfrm>
            <a:prstGeom prst="rect">
              <a:avLst/>
            </a:prstGeom>
            <a:solidFill>
              <a:schemeClr val="accent2"/>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25619" name="Group 19"/>
            <p:cNvGrpSpPr>
              <a:grpSpLocks/>
            </p:cNvGrpSpPr>
            <p:nvPr/>
          </p:nvGrpSpPr>
          <p:grpSpPr bwMode="auto">
            <a:xfrm>
              <a:off x="3061" y="3167"/>
              <a:ext cx="1451" cy="308"/>
              <a:chOff x="1973" y="2532"/>
              <a:chExt cx="1451" cy="308"/>
            </a:xfrm>
          </p:grpSpPr>
          <p:sp>
            <p:nvSpPr>
              <p:cNvPr id="25620" name="AutoShape 20"/>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p:spPr>
            <p:txBody>
              <a:bodyPr wrap="none" anchor="ctr"/>
              <a:lstStyle/>
              <a:p>
                <a:endParaRPr lang="zh-CN" altLang="en-US"/>
              </a:p>
            </p:txBody>
          </p:sp>
          <p:sp>
            <p:nvSpPr>
              <p:cNvPr id="25621" name="Text Box 21"/>
              <p:cNvSpPr txBox="1">
                <a:spLocks noChangeArrowheads="1"/>
              </p:cNvSpPr>
              <p:nvPr/>
            </p:nvSpPr>
            <p:spPr bwMode="auto">
              <a:xfrm>
                <a:off x="2489" y="2532"/>
                <a:ext cx="552" cy="250"/>
              </a:xfrm>
              <a:prstGeom prst="rect">
                <a:avLst/>
              </a:prstGeom>
              <a:noFill/>
              <a:ln w="9525">
                <a:noFill/>
                <a:miter lim="800000"/>
                <a:headEnd/>
                <a:tailEnd/>
              </a:ln>
              <a:effectLst/>
            </p:spPr>
            <p:txBody>
              <a:bodyPr wrap="none">
                <a:spAutoFit/>
              </a:bodyPr>
              <a:lstStyle/>
              <a:p>
                <a:r>
                  <a:rPr lang="zh-CN" altLang="en-US" sz="2000">
                    <a:solidFill>
                      <a:srgbClr val="333399"/>
                    </a:solidFill>
                    <a:latin typeface="Tahoma" pitchFamily="34" charset="0"/>
                    <a:ea typeface="黑体" pitchFamily="49" charset="-122"/>
                  </a:rPr>
                  <a:t>分组</a:t>
                </a:r>
                <a:r>
                  <a:rPr lang="zh-CN" altLang="en-US" sz="1200">
                    <a:solidFill>
                      <a:srgbClr val="333399"/>
                    </a:solidFill>
                    <a:ea typeface="黑体" pitchFamily="49" charset="-122"/>
                  </a:rPr>
                  <a:t> </a:t>
                </a:r>
                <a:r>
                  <a:rPr lang="en-US" altLang="zh-CN" sz="2000">
                    <a:solidFill>
                      <a:srgbClr val="333399"/>
                    </a:solidFill>
                    <a:ea typeface="黑体" pitchFamily="49" charset="-122"/>
                  </a:rPr>
                  <a:t>3</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25610"/>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500"/>
                                  </p:stCondLst>
                                  <p:childTnLst>
                                    <p:set>
                                      <p:cBhvr>
                                        <p:cTn id="12" dur="1" fill="hold">
                                          <p:stCondLst>
                                            <p:cond delay="0"/>
                                          </p:stCondLst>
                                        </p:cTn>
                                        <p:tgtEl>
                                          <p:spTgt spid="256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603">
                                            <p:txEl>
                                              <p:pRg st="1" end="1"/>
                                            </p:txEl>
                                          </p:spTgt>
                                        </p:tgtEl>
                                        <p:attrNameLst>
                                          <p:attrName>style.visibility</p:attrName>
                                        </p:attrNameLst>
                                      </p:cBhvr>
                                      <p:to>
                                        <p:strVal val="visible"/>
                                      </p:to>
                                    </p:set>
                                  </p:childTnLst>
                                </p:cTn>
                              </p:par>
                            </p:childTnLst>
                          </p:cTn>
                        </p:par>
                        <p:par>
                          <p:cTn id="17" fill="hold">
                            <p:stCondLst>
                              <p:cond delay="0"/>
                            </p:stCondLst>
                            <p:childTnLst>
                              <p:par>
                                <p:cTn id="18" presetID="2" presetClass="exit" presetSubtype="8" fill="hold" nodeType="afterEffect">
                                  <p:stCondLst>
                                    <p:cond delay="500"/>
                                  </p:stCondLst>
                                  <p:childTnLst>
                                    <p:anim calcmode="lin" valueType="num">
                                      <p:cBhvr additive="base">
                                        <p:cTn id="19" dur="2000"/>
                                        <p:tgtEl>
                                          <p:spTgt spid="25604"/>
                                        </p:tgtEl>
                                        <p:attrNameLst>
                                          <p:attrName>ppt_x</p:attrName>
                                        </p:attrNameLst>
                                      </p:cBhvr>
                                      <p:tavLst>
                                        <p:tav tm="0">
                                          <p:val>
                                            <p:strVal val="ppt_x"/>
                                          </p:val>
                                        </p:tav>
                                        <p:tav tm="100000">
                                          <p:val>
                                            <p:strVal val="0-ppt_w/2"/>
                                          </p:val>
                                        </p:tav>
                                      </p:tavLst>
                                    </p:anim>
                                    <p:anim calcmode="lin" valueType="num">
                                      <p:cBhvr additive="base">
                                        <p:cTn id="20" dur="2000"/>
                                        <p:tgtEl>
                                          <p:spTgt spid="25604"/>
                                        </p:tgtEl>
                                        <p:attrNameLst>
                                          <p:attrName>ppt_y</p:attrName>
                                        </p:attrNameLst>
                                      </p:cBhvr>
                                      <p:tavLst>
                                        <p:tav tm="0">
                                          <p:val>
                                            <p:strVal val="ppt_y"/>
                                          </p:val>
                                        </p:tav>
                                        <p:tav tm="100000">
                                          <p:val>
                                            <p:strVal val="ppt_y"/>
                                          </p:val>
                                        </p:tav>
                                      </p:tavLst>
                                    </p:anim>
                                    <p:set>
                                      <p:cBhvr>
                                        <p:cTn id="21" dur="1" fill="hold">
                                          <p:stCondLst>
                                            <p:cond delay="1999"/>
                                          </p:stCondLst>
                                        </p:cTn>
                                        <p:tgtEl>
                                          <p:spTgt spid="25604"/>
                                        </p:tgtEl>
                                        <p:attrNameLst>
                                          <p:attrName>style.visibility</p:attrName>
                                        </p:attrNameLst>
                                      </p:cBhvr>
                                      <p:to>
                                        <p:strVal val="hidden"/>
                                      </p:to>
                                    </p:set>
                                  </p:childTnLst>
                                </p:cTn>
                              </p:par>
                            </p:childTnLst>
                          </p:cTn>
                        </p:par>
                        <p:par>
                          <p:cTn id="22" fill="hold">
                            <p:stCondLst>
                              <p:cond delay="2500"/>
                            </p:stCondLst>
                            <p:childTnLst>
                              <p:par>
                                <p:cTn id="23" presetID="2" presetClass="exit" presetSubtype="8" fill="hold" nodeType="afterEffect">
                                  <p:stCondLst>
                                    <p:cond delay="500"/>
                                  </p:stCondLst>
                                  <p:childTnLst>
                                    <p:anim calcmode="lin" valueType="num">
                                      <p:cBhvr additive="base">
                                        <p:cTn id="24" dur="2000"/>
                                        <p:tgtEl>
                                          <p:spTgt spid="25610"/>
                                        </p:tgtEl>
                                        <p:attrNameLst>
                                          <p:attrName>ppt_x</p:attrName>
                                        </p:attrNameLst>
                                      </p:cBhvr>
                                      <p:tavLst>
                                        <p:tav tm="0">
                                          <p:val>
                                            <p:strVal val="ppt_x"/>
                                          </p:val>
                                        </p:tav>
                                        <p:tav tm="100000">
                                          <p:val>
                                            <p:strVal val="0-ppt_w/2"/>
                                          </p:val>
                                        </p:tav>
                                      </p:tavLst>
                                    </p:anim>
                                    <p:anim calcmode="lin" valueType="num">
                                      <p:cBhvr additive="base">
                                        <p:cTn id="25" dur="2000"/>
                                        <p:tgtEl>
                                          <p:spTgt spid="25610"/>
                                        </p:tgtEl>
                                        <p:attrNameLst>
                                          <p:attrName>ppt_y</p:attrName>
                                        </p:attrNameLst>
                                      </p:cBhvr>
                                      <p:tavLst>
                                        <p:tav tm="0">
                                          <p:val>
                                            <p:strVal val="ppt_y"/>
                                          </p:val>
                                        </p:tav>
                                        <p:tav tm="100000">
                                          <p:val>
                                            <p:strVal val="ppt_y"/>
                                          </p:val>
                                        </p:tav>
                                      </p:tavLst>
                                    </p:anim>
                                    <p:set>
                                      <p:cBhvr>
                                        <p:cTn id="26" dur="1" fill="hold">
                                          <p:stCondLst>
                                            <p:cond delay="1999"/>
                                          </p:stCondLst>
                                        </p:cTn>
                                        <p:tgtEl>
                                          <p:spTgt spid="25610"/>
                                        </p:tgtEl>
                                        <p:attrNameLst>
                                          <p:attrName>style.visibility</p:attrName>
                                        </p:attrNameLst>
                                      </p:cBhvr>
                                      <p:to>
                                        <p:strVal val="hidden"/>
                                      </p:to>
                                    </p:set>
                                  </p:childTnLst>
                                </p:cTn>
                              </p:par>
                            </p:childTnLst>
                          </p:cTn>
                        </p:par>
                        <p:par>
                          <p:cTn id="27" fill="hold">
                            <p:stCondLst>
                              <p:cond delay="5000"/>
                            </p:stCondLst>
                            <p:childTnLst>
                              <p:par>
                                <p:cTn id="28" presetID="2" presetClass="exit" presetSubtype="8" fill="hold" nodeType="afterEffect">
                                  <p:stCondLst>
                                    <p:cond delay="500"/>
                                  </p:stCondLst>
                                  <p:childTnLst>
                                    <p:anim calcmode="lin" valueType="num">
                                      <p:cBhvr additive="base">
                                        <p:cTn id="29" dur="2000"/>
                                        <p:tgtEl>
                                          <p:spTgt spid="25616"/>
                                        </p:tgtEl>
                                        <p:attrNameLst>
                                          <p:attrName>ppt_x</p:attrName>
                                        </p:attrNameLst>
                                      </p:cBhvr>
                                      <p:tavLst>
                                        <p:tav tm="0">
                                          <p:val>
                                            <p:strVal val="ppt_x"/>
                                          </p:val>
                                        </p:tav>
                                        <p:tav tm="100000">
                                          <p:val>
                                            <p:strVal val="0-ppt_w/2"/>
                                          </p:val>
                                        </p:tav>
                                      </p:tavLst>
                                    </p:anim>
                                    <p:anim calcmode="lin" valueType="num">
                                      <p:cBhvr additive="base">
                                        <p:cTn id="30" dur="2000"/>
                                        <p:tgtEl>
                                          <p:spTgt spid="25616"/>
                                        </p:tgtEl>
                                        <p:attrNameLst>
                                          <p:attrName>ppt_y</p:attrName>
                                        </p:attrNameLst>
                                      </p:cBhvr>
                                      <p:tavLst>
                                        <p:tav tm="0">
                                          <p:val>
                                            <p:strVal val="ppt_y"/>
                                          </p:val>
                                        </p:tav>
                                        <p:tav tm="100000">
                                          <p:val>
                                            <p:strVal val="ppt_y"/>
                                          </p:val>
                                        </p:tav>
                                      </p:tavLst>
                                    </p:anim>
                                    <p:set>
                                      <p:cBhvr>
                                        <p:cTn id="31" dur="1" fill="hold">
                                          <p:stCondLst>
                                            <p:cond delay="1999"/>
                                          </p:stCondLst>
                                        </p:cTn>
                                        <p:tgtEl>
                                          <p:spTgt spid="256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274638"/>
            <a:ext cx="8229600" cy="418058"/>
          </a:xfrm>
        </p:spPr>
        <p:txBody>
          <a:bodyPr/>
          <a:lstStyle/>
          <a:p>
            <a:r>
              <a:rPr lang="zh-CN" altLang="en-US" sz="3200" dirty="0"/>
              <a:t>分组首部的重要性</a:t>
            </a:r>
          </a:p>
        </p:txBody>
      </p:sp>
      <p:sp>
        <p:nvSpPr>
          <p:cNvPr id="26627" name="Rectangle 3"/>
          <p:cNvSpPr>
            <a:spLocks noGrp="1" noChangeArrowheads="1"/>
          </p:cNvSpPr>
          <p:nvPr>
            <p:ph type="body" idx="1"/>
          </p:nvPr>
        </p:nvSpPr>
        <p:spPr>
          <a:xfrm>
            <a:off x="457200" y="828662"/>
            <a:ext cx="8214719" cy="4321175"/>
          </a:xfrm>
        </p:spPr>
        <p:txBody>
          <a:bodyPr/>
          <a:lstStyle/>
          <a:p>
            <a:r>
              <a:rPr lang="zh-CN" altLang="en-US" sz="2800" dirty="0">
                <a:solidFill>
                  <a:schemeClr val="hlink"/>
                </a:solidFill>
              </a:rPr>
              <a:t>每一个</a:t>
            </a:r>
            <a:r>
              <a:rPr lang="zh-CN" altLang="en-US" sz="2800" dirty="0"/>
              <a:t>分组的首部都含有</a:t>
            </a:r>
            <a:r>
              <a:rPr lang="zh-CN" altLang="en-US" sz="2800" dirty="0">
                <a:solidFill>
                  <a:schemeClr val="hlink"/>
                </a:solidFill>
              </a:rPr>
              <a:t>地址</a:t>
            </a:r>
            <a:r>
              <a:rPr lang="zh-CN" altLang="en-US" sz="2800" dirty="0"/>
              <a:t>等控制信息。</a:t>
            </a:r>
          </a:p>
          <a:p>
            <a:r>
              <a:rPr lang="zh-CN" altLang="en-US" sz="2800" dirty="0"/>
              <a:t>分组交换网中的路由器根据收到的分组的首部中的</a:t>
            </a:r>
            <a:r>
              <a:rPr lang="zh-CN" altLang="en-US" sz="2800" dirty="0">
                <a:solidFill>
                  <a:schemeClr val="hlink"/>
                </a:solidFill>
              </a:rPr>
              <a:t>地址信息</a:t>
            </a:r>
            <a:r>
              <a:rPr lang="zh-CN" altLang="en-US" sz="2800" dirty="0"/>
              <a:t>，把分组</a:t>
            </a:r>
            <a:r>
              <a:rPr lang="zh-CN" altLang="en-US" sz="2800" dirty="0">
                <a:solidFill>
                  <a:schemeClr val="hlink"/>
                </a:solidFill>
              </a:rPr>
              <a:t>转发</a:t>
            </a:r>
            <a:r>
              <a:rPr lang="zh-CN" altLang="en-US" sz="2800" dirty="0"/>
              <a:t>到下一个路由器。</a:t>
            </a:r>
          </a:p>
          <a:p>
            <a:r>
              <a:rPr lang="zh-CN" altLang="en-US" sz="2800" dirty="0"/>
              <a:t>用这样的</a:t>
            </a:r>
            <a:r>
              <a:rPr lang="zh-CN" altLang="en-US" sz="2800" dirty="0">
                <a:solidFill>
                  <a:schemeClr val="hlink"/>
                </a:solidFill>
              </a:rPr>
              <a:t>存储转发</a:t>
            </a:r>
            <a:r>
              <a:rPr lang="zh-CN" altLang="en-US" sz="2800" dirty="0"/>
              <a:t>方式，最后分组就能到达</a:t>
            </a:r>
            <a:r>
              <a:rPr lang="zh-CN" altLang="en-US" sz="2800" dirty="0">
                <a:solidFill>
                  <a:schemeClr val="hlink"/>
                </a:solidFill>
              </a:rPr>
              <a:t>最终目的地</a:t>
            </a:r>
            <a:r>
              <a:rPr lang="zh-CN" altLang="en-US" sz="2800" dirty="0"/>
              <a:t>。</a:t>
            </a:r>
          </a:p>
        </p:txBody>
      </p:sp>
      <p:pic>
        <p:nvPicPr>
          <p:cNvPr id="2" name="图片 1"/>
          <p:cNvPicPr>
            <a:picLocks noChangeAspect="1"/>
          </p:cNvPicPr>
          <p:nvPr/>
        </p:nvPicPr>
        <p:blipFill>
          <a:blip r:embed="rId2"/>
          <a:stretch>
            <a:fillRect/>
          </a:stretch>
        </p:blipFill>
        <p:spPr>
          <a:xfrm>
            <a:off x="2339752" y="3212976"/>
            <a:ext cx="5956308" cy="3499407"/>
          </a:xfrm>
          <a:prstGeom prst="rect">
            <a:avLst/>
          </a:prstGeom>
        </p:spPr>
      </p:pic>
      <p:pic>
        <p:nvPicPr>
          <p:cNvPr id="3" name="图片 2"/>
          <p:cNvPicPr>
            <a:picLocks noChangeAspect="1"/>
          </p:cNvPicPr>
          <p:nvPr/>
        </p:nvPicPr>
        <p:blipFill>
          <a:blip r:embed="rId3"/>
          <a:stretch>
            <a:fillRect/>
          </a:stretch>
        </p:blipFill>
        <p:spPr>
          <a:xfrm>
            <a:off x="4564559" y="3560811"/>
            <a:ext cx="1015553" cy="4534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a:t>分组交换的主要特点</a:t>
            </a:r>
          </a:p>
        </p:txBody>
      </p:sp>
      <p:sp>
        <p:nvSpPr>
          <p:cNvPr id="27651" name="Rectangle 3"/>
          <p:cNvSpPr>
            <a:spLocks noGrp="1" noChangeArrowheads="1"/>
          </p:cNvSpPr>
          <p:nvPr>
            <p:ph type="body" idx="1"/>
          </p:nvPr>
        </p:nvSpPr>
        <p:spPr>
          <a:xfrm>
            <a:off x="1042988" y="1916113"/>
            <a:ext cx="7850187" cy="1008062"/>
          </a:xfrm>
        </p:spPr>
        <p:txBody>
          <a:bodyPr/>
          <a:lstStyle/>
          <a:p>
            <a:r>
              <a:rPr lang="zh-CN" altLang="en-US"/>
              <a:t>接收端收到分组后剥去首部还原成报文。</a:t>
            </a:r>
          </a:p>
        </p:txBody>
      </p:sp>
      <p:sp>
        <p:nvSpPr>
          <p:cNvPr id="27652" name="Rectangle 4"/>
          <p:cNvSpPr>
            <a:spLocks noChangeArrowheads="1"/>
          </p:cNvSpPr>
          <p:nvPr/>
        </p:nvSpPr>
        <p:spPr bwMode="auto">
          <a:xfrm>
            <a:off x="2695575" y="3068638"/>
            <a:ext cx="1727200" cy="431800"/>
          </a:xfrm>
          <a:prstGeom prst="rect">
            <a:avLst/>
          </a:prstGeom>
          <a:solidFill>
            <a:srgbClr val="CCECFF"/>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27653" name="Rectangle 5"/>
          <p:cNvSpPr>
            <a:spLocks noChangeArrowheads="1"/>
          </p:cNvSpPr>
          <p:nvPr/>
        </p:nvSpPr>
        <p:spPr bwMode="auto">
          <a:xfrm>
            <a:off x="2119313" y="3068638"/>
            <a:ext cx="576262" cy="431800"/>
          </a:xfrm>
          <a:prstGeom prst="rect">
            <a:avLst/>
          </a:prstGeom>
          <a:solidFill>
            <a:schemeClr val="accent2"/>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27654" name="Group 6"/>
          <p:cNvGrpSpPr>
            <a:grpSpLocks/>
          </p:cNvGrpSpPr>
          <p:nvPr/>
        </p:nvGrpSpPr>
        <p:grpSpPr bwMode="auto">
          <a:xfrm>
            <a:off x="2120900" y="2506663"/>
            <a:ext cx="2303463" cy="488950"/>
            <a:chOff x="1973" y="2532"/>
            <a:chExt cx="1451" cy="308"/>
          </a:xfrm>
        </p:grpSpPr>
        <p:sp>
          <p:nvSpPr>
            <p:cNvPr id="27655" name="AutoShape 7"/>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p:spPr>
          <p:txBody>
            <a:bodyPr wrap="none" anchor="ctr"/>
            <a:lstStyle/>
            <a:p>
              <a:endParaRPr lang="zh-CN" altLang="en-US"/>
            </a:p>
          </p:txBody>
        </p:sp>
        <p:sp>
          <p:nvSpPr>
            <p:cNvPr id="27656" name="Text Box 8"/>
            <p:cNvSpPr txBox="1">
              <a:spLocks noChangeArrowheads="1"/>
            </p:cNvSpPr>
            <p:nvPr/>
          </p:nvSpPr>
          <p:spPr bwMode="auto">
            <a:xfrm>
              <a:off x="2489" y="2532"/>
              <a:ext cx="547" cy="250"/>
            </a:xfrm>
            <a:prstGeom prst="rect">
              <a:avLst/>
            </a:prstGeom>
            <a:noFill/>
            <a:ln w="9525">
              <a:noFill/>
              <a:miter lim="800000"/>
              <a:headEnd/>
              <a:tailEnd/>
            </a:ln>
            <a:effectLst/>
          </p:spPr>
          <p:txBody>
            <a:bodyPr wrap="none">
              <a:spAutoFit/>
            </a:bodyPr>
            <a:lstStyle/>
            <a:p>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1</a:t>
              </a:r>
            </a:p>
          </p:txBody>
        </p:sp>
      </p:grpSp>
      <p:sp>
        <p:nvSpPr>
          <p:cNvPr id="27657" name="Rectangle 9"/>
          <p:cNvSpPr>
            <a:spLocks noChangeArrowheads="1"/>
          </p:cNvSpPr>
          <p:nvPr/>
        </p:nvSpPr>
        <p:spPr bwMode="auto">
          <a:xfrm>
            <a:off x="4424363" y="3933825"/>
            <a:ext cx="1727200" cy="431800"/>
          </a:xfrm>
          <a:prstGeom prst="rect">
            <a:avLst/>
          </a:prstGeom>
          <a:solidFill>
            <a:srgbClr val="CCECFF"/>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27658" name="Rectangle 10"/>
          <p:cNvSpPr>
            <a:spLocks noChangeArrowheads="1"/>
          </p:cNvSpPr>
          <p:nvPr/>
        </p:nvSpPr>
        <p:spPr bwMode="auto">
          <a:xfrm>
            <a:off x="3848100" y="3933825"/>
            <a:ext cx="576263" cy="431800"/>
          </a:xfrm>
          <a:prstGeom prst="rect">
            <a:avLst/>
          </a:prstGeom>
          <a:solidFill>
            <a:schemeClr val="accent2"/>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27659" name="Group 11"/>
          <p:cNvGrpSpPr>
            <a:grpSpLocks/>
          </p:cNvGrpSpPr>
          <p:nvPr/>
        </p:nvGrpSpPr>
        <p:grpSpPr bwMode="auto">
          <a:xfrm>
            <a:off x="3848100" y="3371850"/>
            <a:ext cx="2303463" cy="488950"/>
            <a:chOff x="1973" y="2532"/>
            <a:chExt cx="1451" cy="308"/>
          </a:xfrm>
        </p:grpSpPr>
        <p:sp>
          <p:nvSpPr>
            <p:cNvPr id="27660" name="AutoShape 12"/>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p:spPr>
          <p:txBody>
            <a:bodyPr wrap="none" anchor="ctr"/>
            <a:lstStyle/>
            <a:p>
              <a:endParaRPr lang="zh-CN" altLang="en-US"/>
            </a:p>
          </p:txBody>
        </p:sp>
        <p:sp>
          <p:nvSpPr>
            <p:cNvPr id="27661" name="Text Box 13"/>
            <p:cNvSpPr txBox="1">
              <a:spLocks noChangeArrowheads="1"/>
            </p:cNvSpPr>
            <p:nvPr/>
          </p:nvSpPr>
          <p:spPr bwMode="auto">
            <a:xfrm>
              <a:off x="2489" y="2532"/>
              <a:ext cx="547" cy="250"/>
            </a:xfrm>
            <a:prstGeom prst="rect">
              <a:avLst/>
            </a:prstGeom>
            <a:noFill/>
            <a:ln w="9525">
              <a:noFill/>
              <a:miter lim="800000"/>
              <a:headEnd/>
              <a:tailEnd/>
            </a:ln>
            <a:effectLst/>
          </p:spPr>
          <p:txBody>
            <a:bodyPr wrap="none">
              <a:spAutoFit/>
            </a:bodyPr>
            <a:lstStyle/>
            <a:p>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2</a:t>
              </a:r>
            </a:p>
          </p:txBody>
        </p:sp>
      </p:grpSp>
      <p:sp>
        <p:nvSpPr>
          <p:cNvPr id="27662" name="Rectangle 14"/>
          <p:cNvSpPr>
            <a:spLocks noChangeArrowheads="1"/>
          </p:cNvSpPr>
          <p:nvPr/>
        </p:nvSpPr>
        <p:spPr bwMode="auto">
          <a:xfrm>
            <a:off x="6157913" y="4784725"/>
            <a:ext cx="1727200" cy="431800"/>
          </a:xfrm>
          <a:prstGeom prst="rect">
            <a:avLst/>
          </a:prstGeom>
          <a:solidFill>
            <a:srgbClr val="CCECFF"/>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27663" name="Rectangle 15"/>
          <p:cNvSpPr>
            <a:spLocks noChangeArrowheads="1"/>
          </p:cNvSpPr>
          <p:nvPr/>
        </p:nvSpPr>
        <p:spPr bwMode="auto">
          <a:xfrm>
            <a:off x="5575300" y="4783138"/>
            <a:ext cx="576263" cy="431800"/>
          </a:xfrm>
          <a:prstGeom prst="rect">
            <a:avLst/>
          </a:prstGeom>
          <a:solidFill>
            <a:schemeClr val="accent2"/>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27664" name="Group 16"/>
          <p:cNvGrpSpPr>
            <a:grpSpLocks/>
          </p:cNvGrpSpPr>
          <p:nvPr/>
        </p:nvGrpSpPr>
        <p:grpSpPr bwMode="auto">
          <a:xfrm>
            <a:off x="5575300" y="4235450"/>
            <a:ext cx="2303463" cy="488950"/>
            <a:chOff x="3061" y="2668"/>
            <a:chExt cx="1451" cy="308"/>
          </a:xfrm>
        </p:grpSpPr>
        <p:sp>
          <p:nvSpPr>
            <p:cNvPr id="27665" name="AutoShape 17"/>
            <p:cNvSpPr>
              <a:spLocks/>
            </p:cNvSpPr>
            <p:nvPr/>
          </p:nvSpPr>
          <p:spPr bwMode="auto">
            <a:xfrm rot="5400000">
              <a:off x="3742" y="2205"/>
              <a:ext cx="90" cy="1451"/>
            </a:xfrm>
            <a:prstGeom prst="leftBrace">
              <a:avLst>
                <a:gd name="adj1" fmla="val 134352"/>
                <a:gd name="adj2" fmla="val 50000"/>
              </a:avLst>
            </a:prstGeom>
            <a:noFill/>
            <a:ln w="9525">
              <a:solidFill>
                <a:schemeClr val="tx1"/>
              </a:solidFill>
              <a:round/>
              <a:headEnd/>
              <a:tailEnd/>
            </a:ln>
            <a:effectLst/>
          </p:spPr>
          <p:txBody>
            <a:bodyPr wrap="none" anchor="ctr"/>
            <a:lstStyle/>
            <a:p>
              <a:endParaRPr lang="zh-CN" altLang="en-US"/>
            </a:p>
          </p:txBody>
        </p:sp>
        <p:sp>
          <p:nvSpPr>
            <p:cNvPr id="27666" name="Text Box 18"/>
            <p:cNvSpPr txBox="1">
              <a:spLocks noChangeArrowheads="1"/>
            </p:cNvSpPr>
            <p:nvPr/>
          </p:nvSpPr>
          <p:spPr bwMode="auto">
            <a:xfrm>
              <a:off x="3577" y="2668"/>
              <a:ext cx="547" cy="250"/>
            </a:xfrm>
            <a:prstGeom prst="rect">
              <a:avLst/>
            </a:prstGeom>
            <a:noFill/>
            <a:ln w="9525">
              <a:noFill/>
              <a:miter lim="800000"/>
              <a:headEnd/>
              <a:tailEnd/>
            </a:ln>
            <a:effectLst/>
          </p:spPr>
          <p:txBody>
            <a:bodyPr wrap="none">
              <a:spAutoFit/>
            </a:bodyPr>
            <a:lstStyle/>
            <a:p>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3</a:t>
              </a:r>
            </a:p>
          </p:txBody>
        </p:sp>
      </p:grpSp>
      <p:sp>
        <p:nvSpPr>
          <p:cNvPr id="27667" name="Text Box 19"/>
          <p:cNvSpPr txBox="1">
            <a:spLocks noChangeArrowheads="1"/>
          </p:cNvSpPr>
          <p:nvPr/>
        </p:nvSpPr>
        <p:spPr bwMode="auto">
          <a:xfrm>
            <a:off x="250825" y="5589588"/>
            <a:ext cx="2016125" cy="519112"/>
          </a:xfrm>
          <a:prstGeom prst="rect">
            <a:avLst/>
          </a:prstGeom>
          <a:noFill/>
          <a:ln w="9525">
            <a:noFill/>
            <a:miter lim="800000"/>
            <a:headEnd/>
            <a:tailEnd/>
          </a:ln>
          <a:effectLst/>
        </p:spPr>
        <p:txBody>
          <a:bodyPr>
            <a:spAutoFit/>
          </a:bodyPr>
          <a:lstStyle/>
          <a:p>
            <a:pPr>
              <a:spcBef>
                <a:spcPct val="50000"/>
              </a:spcBef>
            </a:pPr>
            <a:r>
              <a:rPr lang="zh-CN" altLang="en-US" sz="2800">
                <a:solidFill>
                  <a:srgbClr val="333399"/>
                </a:solidFill>
                <a:latin typeface="Tahoma" pitchFamily="34" charset="0"/>
                <a:ea typeface="黑体" pitchFamily="49" charset="-122"/>
              </a:rPr>
              <a:t>收到的数据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7654"/>
                                        </p:tgtEl>
                                        <p:attrNameLst>
                                          <p:attrName>style.visibility</p:attrName>
                                        </p:attrNameLst>
                                      </p:cBhvr>
                                      <p:to>
                                        <p:strVal val="hidden"/>
                                      </p:to>
                                    </p:set>
                                  </p:childTnLst>
                                </p:cTn>
                              </p:par>
                            </p:childTnLst>
                          </p:cTn>
                        </p:par>
                        <p:par>
                          <p:cTn id="7" fill="hold">
                            <p:stCondLst>
                              <p:cond delay="0"/>
                            </p:stCondLst>
                            <p:childTnLst>
                              <p:par>
                                <p:cTn id="8" presetID="29" presetClass="exit" presetSubtype="0" fill="hold" grpId="0" nodeType="afterEffect">
                                  <p:stCondLst>
                                    <p:cond delay="500"/>
                                  </p:stCondLst>
                                  <p:childTnLst>
                                    <p:anim calcmode="lin" valueType="num">
                                      <p:cBhvr>
                                        <p:cTn id="9" dur="1000"/>
                                        <p:tgtEl>
                                          <p:spTgt spid="27653"/>
                                        </p:tgtEl>
                                        <p:attrNameLst>
                                          <p:attrName>ppt_x</p:attrName>
                                        </p:attrNameLst>
                                      </p:cBhvr>
                                      <p:tavLst>
                                        <p:tav tm="0">
                                          <p:val>
                                            <p:strVal val="ppt_x"/>
                                          </p:val>
                                        </p:tav>
                                        <p:tav tm="100000">
                                          <p:val>
                                            <p:strVal val="ppt_x-.2"/>
                                          </p:val>
                                        </p:tav>
                                      </p:tavLst>
                                    </p:anim>
                                    <p:anim calcmode="lin" valueType="num">
                                      <p:cBhvr>
                                        <p:cTn id="10" dur="1000"/>
                                        <p:tgtEl>
                                          <p:spTgt spid="27653"/>
                                        </p:tgtEl>
                                        <p:attrNameLst>
                                          <p:attrName>ppt_y</p:attrName>
                                        </p:attrNameLst>
                                      </p:cBhvr>
                                      <p:tavLst>
                                        <p:tav tm="0">
                                          <p:val>
                                            <p:strVal val="ppt_y"/>
                                          </p:val>
                                        </p:tav>
                                        <p:tav tm="100000">
                                          <p:val>
                                            <p:strVal val="ppt_y"/>
                                          </p:val>
                                        </p:tav>
                                      </p:tavLst>
                                    </p:anim>
                                    <p:animEffect transition="out" filter="fade">
                                      <p:cBhvr>
                                        <p:cTn id="11" dur="1000"/>
                                        <p:tgtEl>
                                          <p:spTgt spid="27653"/>
                                        </p:tgtEl>
                                      </p:cBhvr>
                                    </p:animEffect>
                                    <p:set>
                                      <p:cBhvr>
                                        <p:cTn id="12" dur="1" fill="hold">
                                          <p:stCondLst>
                                            <p:cond delay="999"/>
                                          </p:stCondLst>
                                        </p:cTn>
                                        <p:tgtEl>
                                          <p:spTgt spid="27653"/>
                                        </p:tgtEl>
                                        <p:attrNameLst>
                                          <p:attrName>style.visibility</p:attrName>
                                        </p:attrNameLst>
                                      </p:cBhvr>
                                      <p:to>
                                        <p:strVal val="hidden"/>
                                      </p:to>
                                    </p:set>
                                  </p:childTnLst>
                                </p:cTn>
                              </p:par>
                            </p:childTnLst>
                          </p:cTn>
                        </p:par>
                        <p:par>
                          <p:cTn id="13" fill="hold">
                            <p:stCondLst>
                              <p:cond delay="1500"/>
                            </p:stCondLst>
                            <p:childTnLst>
                              <p:par>
                                <p:cTn id="14" presetID="42" presetClass="path" presetSubtype="0" accel="50000" decel="50000" fill="hold" grpId="0" nodeType="afterEffect">
                                  <p:stCondLst>
                                    <p:cond delay="0"/>
                                  </p:stCondLst>
                                  <p:childTnLst>
                                    <p:animMotion origin="layout" path="M 2.5E-6 -1.50289E-6 L 2.5E-6 0.37757 " pathEditMode="relative" rAng="0" ptsTypes="AA">
                                      <p:cBhvr>
                                        <p:cTn id="15" dur="1000" fill="hold"/>
                                        <p:tgtEl>
                                          <p:spTgt spid="27652"/>
                                        </p:tgtEl>
                                        <p:attrNameLst>
                                          <p:attrName>ppt_x</p:attrName>
                                          <p:attrName>ppt_y</p:attrName>
                                        </p:attrNameLst>
                                      </p:cBhvr>
                                      <p:rCtr x="0" y="189"/>
                                    </p:animMotion>
                                  </p:childTnLst>
                                </p:cTn>
                              </p:par>
                            </p:childTnLst>
                          </p:cTn>
                        </p:par>
                        <p:par>
                          <p:cTn id="16" fill="hold">
                            <p:stCondLst>
                              <p:cond delay="2500"/>
                            </p:stCondLst>
                            <p:childTnLst>
                              <p:par>
                                <p:cTn id="17" presetID="1" presetClass="exit" presetSubtype="0" fill="hold" nodeType="afterEffect">
                                  <p:stCondLst>
                                    <p:cond delay="500"/>
                                  </p:stCondLst>
                                  <p:childTnLst>
                                    <p:set>
                                      <p:cBhvr>
                                        <p:cTn id="18" dur="1" fill="hold">
                                          <p:stCondLst>
                                            <p:cond delay="0"/>
                                          </p:stCondLst>
                                        </p:cTn>
                                        <p:tgtEl>
                                          <p:spTgt spid="27659"/>
                                        </p:tgtEl>
                                        <p:attrNameLst>
                                          <p:attrName>style.visibility</p:attrName>
                                        </p:attrNameLst>
                                      </p:cBhvr>
                                      <p:to>
                                        <p:strVal val="hidden"/>
                                      </p:to>
                                    </p:set>
                                  </p:childTnLst>
                                </p:cTn>
                              </p:par>
                            </p:childTnLst>
                          </p:cTn>
                        </p:par>
                        <p:par>
                          <p:cTn id="19" fill="hold">
                            <p:stCondLst>
                              <p:cond delay="3000"/>
                            </p:stCondLst>
                            <p:childTnLst>
                              <p:par>
                                <p:cTn id="20" presetID="29" presetClass="exit" presetSubtype="0" fill="hold" grpId="0" nodeType="afterEffect">
                                  <p:stCondLst>
                                    <p:cond delay="500"/>
                                  </p:stCondLst>
                                  <p:childTnLst>
                                    <p:anim calcmode="lin" valueType="num">
                                      <p:cBhvr>
                                        <p:cTn id="21" dur="500"/>
                                        <p:tgtEl>
                                          <p:spTgt spid="27658"/>
                                        </p:tgtEl>
                                        <p:attrNameLst>
                                          <p:attrName>ppt_x</p:attrName>
                                        </p:attrNameLst>
                                      </p:cBhvr>
                                      <p:tavLst>
                                        <p:tav tm="0">
                                          <p:val>
                                            <p:strVal val="ppt_x"/>
                                          </p:val>
                                        </p:tav>
                                        <p:tav tm="100000">
                                          <p:val>
                                            <p:strVal val="ppt_x-.2"/>
                                          </p:val>
                                        </p:tav>
                                      </p:tavLst>
                                    </p:anim>
                                    <p:anim calcmode="lin" valueType="num">
                                      <p:cBhvr>
                                        <p:cTn id="22" dur="500"/>
                                        <p:tgtEl>
                                          <p:spTgt spid="27658"/>
                                        </p:tgtEl>
                                        <p:attrNameLst>
                                          <p:attrName>ppt_y</p:attrName>
                                        </p:attrNameLst>
                                      </p:cBhvr>
                                      <p:tavLst>
                                        <p:tav tm="0">
                                          <p:val>
                                            <p:strVal val="ppt_y"/>
                                          </p:val>
                                        </p:tav>
                                        <p:tav tm="100000">
                                          <p:val>
                                            <p:strVal val="ppt_y"/>
                                          </p:val>
                                        </p:tav>
                                      </p:tavLst>
                                    </p:anim>
                                    <p:animEffect transition="out" filter="fade">
                                      <p:cBhvr>
                                        <p:cTn id="23" dur="500"/>
                                        <p:tgtEl>
                                          <p:spTgt spid="27658"/>
                                        </p:tgtEl>
                                      </p:cBhvr>
                                    </p:animEffect>
                                    <p:set>
                                      <p:cBhvr>
                                        <p:cTn id="24" dur="1" fill="hold">
                                          <p:stCondLst>
                                            <p:cond delay="499"/>
                                          </p:stCondLst>
                                        </p:cTn>
                                        <p:tgtEl>
                                          <p:spTgt spid="27658"/>
                                        </p:tgtEl>
                                        <p:attrNameLst>
                                          <p:attrName>style.visibility</p:attrName>
                                        </p:attrNameLst>
                                      </p:cBhvr>
                                      <p:to>
                                        <p:strVal val="hidden"/>
                                      </p:to>
                                    </p:set>
                                  </p:childTnLst>
                                </p:cTn>
                              </p:par>
                            </p:childTnLst>
                          </p:cTn>
                        </p:par>
                        <p:par>
                          <p:cTn id="25" fill="hold">
                            <p:stCondLst>
                              <p:cond delay="4000"/>
                            </p:stCondLst>
                            <p:childTnLst>
                              <p:par>
                                <p:cTn id="26" presetID="42" presetClass="path" presetSubtype="0" accel="50000" decel="50000" fill="hold" grpId="0" nodeType="afterEffect">
                                  <p:stCondLst>
                                    <p:cond delay="0"/>
                                  </p:stCondLst>
                                  <p:childTnLst>
                                    <p:animMotion origin="layout" path="M 0.0 -3.06358E-6 L 0.0 0.25156 " pathEditMode="relative" rAng="0" ptsTypes="AA">
                                      <p:cBhvr>
                                        <p:cTn id="27" dur="1000" fill="hold"/>
                                        <p:tgtEl>
                                          <p:spTgt spid="27657"/>
                                        </p:tgtEl>
                                        <p:attrNameLst>
                                          <p:attrName>ppt_x</p:attrName>
                                          <p:attrName>ppt_y</p:attrName>
                                        </p:attrNameLst>
                                      </p:cBhvr>
                                      <p:rCtr x="0" y="126"/>
                                    </p:animMotion>
                                  </p:childTnLst>
                                </p:cTn>
                              </p:par>
                            </p:childTnLst>
                          </p:cTn>
                        </p:par>
                        <p:par>
                          <p:cTn id="28" fill="hold">
                            <p:stCondLst>
                              <p:cond delay="5000"/>
                            </p:stCondLst>
                            <p:childTnLst>
                              <p:par>
                                <p:cTn id="29" presetID="1" presetClass="exit" presetSubtype="0" fill="hold" nodeType="afterEffect">
                                  <p:stCondLst>
                                    <p:cond delay="500"/>
                                  </p:stCondLst>
                                  <p:childTnLst>
                                    <p:set>
                                      <p:cBhvr>
                                        <p:cTn id="30" dur="1" fill="hold">
                                          <p:stCondLst>
                                            <p:cond delay="0"/>
                                          </p:stCondLst>
                                        </p:cTn>
                                        <p:tgtEl>
                                          <p:spTgt spid="27664"/>
                                        </p:tgtEl>
                                        <p:attrNameLst>
                                          <p:attrName>style.visibility</p:attrName>
                                        </p:attrNameLst>
                                      </p:cBhvr>
                                      <p:to>
                                        <p:strVal val="hidden"/>
                                      </p:to>
                                    </p:set>
                                  </p:childTnLst>
                                </p:cTn>
                              </p:par>
                            </p:childTnLst>
                          </p:cTn>
                        </p:par>
                        <p:par>
                          <p:cTn id="31" fill="hold">
                            <p:stCondLst>
                              <p:cond delay="5500"/>
                            </p:stCondLst>
                            <p:childTnLst>
                              <p:par>
                                <p:cTn id="32" presetID="29" presetClass="exit" presetSubtype="0" fill="hold" grpId="0" nodeType="afterEffect">
                                  <p:stCondLst>
                                    <p:cond delay="500"/>
                                  </p:stCondLst>
                                  <p:childTnLst>
                                    <p:anim calcmode="lin" valueType="num">
                                      <p:cBhvr>
                                        <p:cTn id="33" dur="500"/>
                                        <p:tgtEl>
                                          <p:spTgt spid="27663"/>
                                        </p:tgtEl>
                                        <p:attrNameLst>
                                          <p:attrName>ppt_x</p:attrName>
                                        </p:attrNameLst>
                                      </p:cBhvr>
                                      <p:tavLst>
                                        <p:tav tm="0">
                                          <p:val>
                                            <p:strVal val="ppt_x"/>
                                          </p:val>
                                        </p:tav>
                                        <p:tav tm="100000">
                                          <p:val>
                                            <p:strVal val="ppt_x-.2"/>
                                          </p:val>
                                        </p:tav>
                                      </p:tavLst>
                                    </p:anim>
                                    <p:anim calcmode="lin" valueType="num">
                                      <p:cBhvr>
                                        <p:cTn id="34" dur="500"/>
                                        <p:tgtEl>
                                          <p:spTgt spid="27663"/>
                                        </p:tgtEl>
                                        <p:attrNameLst>
                                          <p:attrName>ppt_y</p:attrName>
                                        </p:attrNameLst>
                                      </p:cBhvr>
                                      <p:tavLst>
                                        <p:tav tm="0">
                                          <p:val>
                                            <p:strVal val="ppt_y"/>
                                          </p:val>
                                        </p:tav>
                                        <p:tav tm="100000">
                                          <p:val>
                                            <p:strVal val="ppt_y"/>
                                          </p:val>
                                        </p:tav>
                                      </p:tavLst>
                                    </p:anim>
                                    <p:animEffect transition="out" filter="fade">
                                      <p:cBhvr>
                                        <p:cTn id="35" dur="500"/>
                                        <p:tgtEl>
                                          <p:spTgt spid="27663"/>
                                        </p:tgtEl>
                                      </p:cBhvr>
                                    </p:animEffect>
                                    <p:set>
                                      <p:cBhvr>
                                        <p:cTn id="36" dur="1" fill="hold">
                                          <p:stCondLst>
                                            <p:cond delay="499"/>
                                          </p:stCondLst>
                                        </p:cTn>
                                        <p:tgtEl>
                                          <p:spTgt spid="27663"/>
                                        </p:tgtEl>
                                        <p:attrNameLst>
                                          <p:attrName>style.visibility</p:attrName>
                                        </p:attrNameLst>
                                      </p:cBhvr>
                                      <p:to>
                                        <p:strVal val="hidden"/>
                                      </p:to>
                                    </p:set>
                                  </p:childTnLst>
                                </p:cTn>
                              </p:par>
                            </p:childTnLst>
                          </p:cTn>
                        </p:par>
                        <p:par>
                          <p:cTn id="37" fill="hold">
                            <p:stCondLst>
                              <p:cond delay="6500"/>
                            </p:stCondLst>
                            <p:childTnLst>
                              <p:par>
                                <p:cTn id="38" presetID="42" presetClass="path" presetSubtype="0" accel="50000" decel="50000" fill="hold" grpId="0" nodeType="afterEffect">
                                  <p:stCondLst>
                                    <p:cond delay="0"/>
                                  </p:stCondLst>
                                  <p:childTnLst>
                                    <p:animMotion origin="layout" path="M -3.33333E-6 -3.69942E-6 L -0.00052 0.12763 " pathEditMode="relative" rAng="0" ptsTypes="AA">
                                      <p:cBhvr>
                                        <p:cTn id="39" dur="1000" fill="hold"/>
                                        <p:tgtEl>
                                          <p:spTgt spid="27662"/>
                                        </p:tgtEl>
                                        <p:attrNameLst>
                                          <p:attrName>ppt_x</p:attrName>
                                          <p:attrName>ppt_y</p:attrName>
                                        </p:attrNameLst>
                                      </p:cBhvr>
                                      <p:rCtr x="0" y="64"/>
                                    </p:animMotion>
                                  </p:childTnLst>
                                </p:cTn>
                              </p:par>
                            </p:childTnLst>
                          </p:cTn>
                        </p:par>
                        <p:par>
                          <p:cTn id="40" fill="hold">
                            <p:stCondLst>
                              <p:cond delay="7500"/>
                            </p:stCondLst>
                            <p:childTnLst>
                              <p:par>
                                <p:cTn id="41" presetID="1" presetClass="entr" presetSubtype="0" fill="hold" grpId="0" nodeType="afterEffect">
                                  <p:stCondLst>
                                    <p:cond delay="0"/>
                                  </p:stCondLst>
                                  <p:childTnLst>
                                    <p:set>
                                      <p:cBhvr>
                                        <p:cTn id="42" dur="1" fill="hold">
                                          <p:stCondLst>
                                            <p:cond delay="0"/>
                                          </p:stCondLst>
                                        </p:cTn>
                                        <p:tgtEl>
                                          <p:spTgt spid="276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nimBg="1"/>
      <p:bldP spid="27653" grpId="0" animBg="1"/>
      <p:bldP spid="27657" grpId="0" animBg="1"/>
      <p:bldP spid="27658" grpId="0" animBg="1"/>
      <p:bldP spid="27662" grpId="0" animBg="1"/>
      <p:bldP spid="27663" grpId="0" animBg="1"/>
      <p:bldP spid="2766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1979613" y="3502025"/>
            <a:ext cx="1727200" cy="431800"/>
          </a:xfrm>
          <a:prstGeom prst="rect">
            <a:avLst/>
          </a:prstGeom>
          <a:solidFill>
            <a:srgbClr val="CCECFF"/>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28675" name="Rectangle 3"/>
          <p:cNvSpPr>
            <a:spLocks noChangeArrowheads="1"/>
          </p:cNvSpPr>
          <p:nvPr/>
        </p:nvSpPr>
        <p:spPr bwMode="auto">
          <a:xfrm>
            <a:off x="3708400" y="3502025"/>
            <a:ext cx="1727200" cy="431800"/>
          </a:xfrm>
          <a:prstGeom prst="rect">
            <a:avLst/>
          </a:prstGeom>
          <a:solidFill>
            <a:srgbClr val="CCECFF"/>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28676" name="Rectangle 4"/>
          <p:cNvSpPr>
            <a:spLocks noChangeArrowheads="1"/>
          </p:cNvSpPr>
          <p:nvPr/>
        </p:nvSpPr>
        <p:spPr bwMode="auto">
          <a:xfrm>
            <a:off x="5437188" y="3502025"/>
            <a:ext cx="1727200" cy="431800"/>
          </a:xfrm>
          <a:prstGeom prst="rect">
            <a:avLst/>
          </a:prstGeom>
          <a:solidFill>
            <a:srgbClr val="CCECFF"/>
          </a:solidFill>
          <a:ln w="28575">
            <a:solidFill>
              <a:schemeClr val="tx1"/>
            </a:solidFill>
            <a:miter lim="800000"/>
            <a:headEnd/>
            <a:tailEnd/>
          </a:ln>
          <a:effec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28677" name="Rectangle 5"/>
          <p:cNvSpPr>
            <a:spLocks noGrp="1" noChangeArrowheads="1"/>
          </p:cNvSpPr>
          <p:nvPr>
            <p:ph type="title"/>
          </p:nvPr>
        </p:nvSpPr>
        <p:spPr/>
        <p:txBody>
          <a:bodyPr/>
          <a:lstStyle/>
          <a:p>
            <a:r>
              <a:rPr lang="zh-CN" altLang="en-US"/>
              <a:t>分组交换的主要特点</a:t>
            </a:r>
          </a:p>
        </p:txBody>
      </p:sp>
      <p:sp>
        <p:nvSpPr>
          <p:cNvPr id="28678" name="Rectangle 6"/>
          <p:cNvSpPr>
            <a:spLocks noGrp="1" noChangeArrowheads="1"/>
          </p:cNvSpPr>
          <p:nvPr>
            <p:ph type="body" idx="1"/>
          </p:nvPr>
        </p:nvSpPr>
        <p:spPr>
          <a:xfrm>
            <a:off x="1042988" y="1906588"/>
            <a:ext cx="7772400" cy="4114800"/>
          </a:xfrm>
        </p:spPr>
        <p:txBody>
          <a:bodyPr/>
          <a:lstStyle/>
          <a:p>
            <a:r>
              <a:rPr lang="zh-CN" altLang="en-US"/>
              <a:t>最后，在接收端把收到的数据</a:t>
            </a:r>
            <a:r>
              <a:rPr lang="zh-CN" altLang="en-US">
                <a:solidFill>
                  <a:schemeClr val="hlink"/>
                </a:solidFill>
              </a:rPr>
              <a:t>恢复成为原来的报文</a:t>
            </a:r>
            <a:r>
              <a:rPr lang="zh-CN" altLang="en-US"/>
              <a:t>。</a:t>
            </a:r>
          </a:p>
          <a:p>
            <a:endParaRPr lang="zh-CN" altLang="en-US"/>
          </a:p>
          <a:p>
            <a:endParaRPr lang="zh-CN" altLang="en-US"/>
          </a:p>
          <a:p>
            <a:r>
              <a:rPr lang="zh-CN" altLang="en-US"/>
              <a:t>这里我们假定分组在传输过程中没有出现差错，在转发时也没有被丢弃。</a:t>
            </a:r>
          </a:p>
        </p:txBody>
      </p:sp>
      <p:grpSp>
        <p:nvGrpSpPr>
          <p:cNvPr id="28679" name="Group 7"/>
          <p:cNvGrpSpPr>
            <a:grpSpLocks/>
          </p:cNvGrpSpPr>
          <p:nvPr/>
        </p:nvGrpSpPr>
        <p:grpSpPr bwMode="auto">
          <a:xfrm>
            <a:off x="1908175" y="3046413"/>
            <a:ext cx="5264150" cy="887412"/>
            <a:chOff x="1202" y="1919"/>
            <a:chExt cx="3316" cy="559"/>
          </a:xfrm>
        </p:grpSpPr>
        <p:grpSp>
          <p:nvGrpSpPr>
            <p:cNvPr id="28680" name="Group 8"/>
            <p:cNvGrpSpPr>
              <a:grpSpLocks/>
            </p:cNvGrpSpPr>
            <p:nvPr/>
          </p:nvGrpSpPr>
          <p:grpSpPr bwMode="auto">
            <a:xfrm>
              <a:off x="1247" y="1919"/>
              <a:ext cx="3266" cy="250"/>
              <a:chOff x="1247" y="1737"/>
              <a:chExt cx="3266" cy="250"/>
            </a:xfrm>
          </p:grpSpPr>
          <p:sp>
            <p:nvSpPr>
              <p:cNvPr id="28681" name="Line 9"/>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ffectLst/>
            </p:spPr>
            <p:txBody>
              <a:bodyPr wrap="none" anchor="ctr"/>
              <a:lstStyle/>
              <a:p>
                <a:endParaRPr lang="zh-CN" altLang="en-US"/>
              </a:p>
            </p:txBody>
          </p:sp>
          <p:sp>
            <p:nvSpPr>
              <p:cNvPr id="28682" name="Text Box 10"/>
              <p:cNvSpPr txBox="1">
                <a:spLocks noChangeArrowheads="1"/>
              </p:cNvSpPr>
              <p:nvPr/>
            </p:nvSpPr>
            <p:spPr bwMode="auto">
              <a:xfrm>
                <a:off x="2699" y="1737"/>
                <a:ext cx="436" cy="250"/>
              </a:xfrm>
              <a:prstGeom prst="rect">
                <a:avLst/>
              </a:prstGeom>
              <a:solidFill>
                <a:schemeClr val="bg1"/>
              </a:solid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报文</a:t>
                </a:r>
              </a:p>
            </p:txBody>
          </p:sp>
        </p:grpSp>
        <p:grpSp>
          <p:nvGrpSpPr>
            <p:cNvPr id="28683" name="Group 11"/>
            <p:cNvGrpSpPr>
              <a:grpSpLocks/>
            </p:cNvGrpSpPr>
            <p:nvPr/>
          </p:nvGrpSpPr>
          <p:grpSpPr bwMode="auto">
            <a:xfrm>
              <a:off x="1202" y="2206"/>
              <a:ext cx="3316" cy="272"/>
              <a:chOff x="1202" y="2206"/>
              <a:chExt cx="3316" cy="272"/>
            </a:xfrm>
          </p:grpSpPr>
          <p:grpSp>
            <p:nvGrpSpPr>
              <p:cNvPr id="28684" name="Group 12"/>
              <p:cNvGrpSpPr>
                <a:grpSpLocks/>
              </p:cNvGrpSpPr>
              <p:nvPr/>
            </p:nvGrpSpPr>
            <p:grpSpPr bwMode="auto">
              <a:xfrm>
                <a:off x="1247" y="2206"/>
                <a:ext cx="3266" cy="272"/>
                <a:chOff x="1247" y="2931"/>
                <a:chExt cx="3266" cy="272"/>
              </a:xfrm>
            </p:grpSpPr>
            <p:sp>
              <p:nvSpPr>
                <p:cNvPr id="28685" name="Rectangle 13"/>
                <p:cNvSpPr>
                  <a:spLocks noChangeArrowheads="1"/>
                </p:cNvSpPr>
                <p:nvPr/>
              </p:nvSpPr>
              <p:spPr bwMode="auto">
                <a:xfrm>
                  <a:off x="1248" y="2931"/>
                  <a:ext cx="1088" cy="272"/>
                </a:xfrm>
                <a:prstGeom prst="rect">
                  <a:avLst/>
                </a:prstGeom>
                <a:solidFill>
                  <a:srgbClr val="CCECFF"/>
                </a:solidFill>
                <a:ln w="28575">
                  <a:noFill/>
                  <a:miter lim="800000"/>
                  <a:headEnd/>
                  <a:tailEnd/>
                </a:ln>
                <a:effectLst/>
              </p:spPr>
              <p:txBody>
                <a:bodyPr wrap="none" anchor="ctr"/>
                <a:lstStyle/>
                <a:p>
                  <a:pPr algn="ctr"/>
                  <a:endParaRPr lang="zh-CN" altLang="zh-CN" sz="2000">
                    <a:solidFill>
                      <a:srgbClr val="333399"/>
                    </a:solidFill>
                    <a:ea typeface="黑体" pitchFamily="49" charset="-122"/>
                  </a:endParaRPr>
                </a:p>
              </p:txBody>
            </p:sp>
            <p:sp>
              <p:nvSpPr>
                <p:cNvPr id="28686" name="Rectangle 14"/>
                <p:cNvSpPr>
                  <a:spLocks noChangeArrowheads="1"/>
                </p:cNvSpPr>
                <p:nvPr/>
              </p:nvSpPr>
              <p:spPr bwMode="auto">
                <a:xfrm>
                  <a:off x="2336" y="2931"/>
                  <a:ext cx="1088" cy="272"/>
                </a:xfrm>
                <a:prstGeom prst="rect">
                  <a:avLst/>
                </a:prstGeom>
                <a:solidFill>
                  <a:srgbClr val="CCECFF"/>
                </a:solidFill>
                <a:ln w="28575">
                  <a:noFill/>
                  <a:miter lim="800000"/>
                  <a:headEnd/>
                  <a:tailEnd/>
                </a:ln>
                <a:effectLst/>
              </p:spPr>
              <p:txBody>
                <a:bodyPr wrap="none" anchor="ctr"/>
                <a:lstStyle/>
                <a:p>
                  <a:pPr algn="ctr"/>
                  <a:endParaRPr lang="zh-CN" altLang="zh-CN" sz="2000">
                    <a:solidFill>
                      <a:srgbClr val="333399"/>
                    </a:solidFill>
                    <a:latin typeface="Tahoma" pitchFamily="34" charset="0"/>
                    <a:ea typeface="黑体" pitchFamily="49" charset="-122"/>
                  </a:endParaRPr>
                </a:p>
              </p:txBody>
            </p:sp>
            <p:sp>
              <p:nvSpPr>
                <p:cNvPr id="28687" name="Rectangle 15"/>
                <p:cNvSpPr>
                  <a:spLocks noChangeArrowheads="1"/>
                </p:cNvSpPr>
                <p:nvPr/>
              </p:nvSpPr>
              <p:spPr bwMode="auto">
                <a:xfrm>
                  <a:off x="3425" y="2931"/>
                  <a:ext cx="1088" cy="272"/>
                </a:xfrm>
                <a:prstGeom prst="rect">
                  <a:avLst/>
                </a:prstGeom>
                <a:solidFill>
                  <a:srgbClr val="CCECFF"/>
                </a:solidFill>
                <a:ln w="28575">
                  <a:noFill/>
                  <a:miter lim="800000"/>
                  <a:headEnd/>
                  <a:tailEnd/>
                </a:ln>
                <a:effectLst/>
              </p:spPr>
              <p:txBody>
                <a:bodyPr wrap="none" anchor="ctr"/>
                <a:lstStyle/>
                <a:p>
                  <a:pPr algn="ctr"/>
                  <a:endParaRPr lang="zh-CN" altLang="zh-CN" sz="2000">
                    <a:solidFill>
                      <a:srgbClr val="333399"/>
                    </a:solidFill>
                    <a:ea typeface="黑体" pitchFamily="49" charset="-122"/>
                  </a:endParaRPr>
                </a:p>
              </p:txBody>
            </p:sp>
            <p:sp>
              <p:nvSpPr>
                <p:cNvPr id="28688" name="Rectangle 16"/>
                <p:cNvSpPr>
                  <a:spLocks noChangeArrowheads="1"/>
                </p:cNvSpPr>
                <p:nvPr/>
              </p:nvSpPr>
              <p:spPr bwMode="auto">
                <a:xfrm>
                  <a:off x="1247" y="2931"/>
                  <a:ext cx="3266" cy="272"/>
                </a:xfrm>
                <a:prstGeom prst="rect">
                  <a:avLst/>
                </a:prstGeom>
                <a:noFill/>
                <a:ln w="28575">
                  <a:solidFill>
                    <a:schemeClr val="tx1"/>
                  </a:solidFill>
                  <a:miter lim="800000"/>
                  <a:headEnd/>
                  <a:tailEnd/>
                </a:ln>
                <a:effectLst/>
              </p:spPr>
              <p:txBody>
                <a:bodyPr wrap="none" anchor="ctr"/>
                <a:lstStyle/>
                <a:p>
                  <a:endParaRPr lang="zh-CN" altLang="en-US"/>
                </a:p>
              </p:txBody>
            </p:sp>
          </p:grpSp>
          <p:sp>
            <p:nvSpPr>
              <p:cNvPr id="28689" name="Text Box 17"/>
              <p:cNvSpPr txBox="1">
                <a:spLocks noChangeArrowheads="1"/>
              </p:cNvSpPr>
              <p:nvPr/>
            </p:nvSpPr>
            <p:spPr bwMode="auto">
              <a:xfrm>
                <a:off x="1202" y="2219"/>
                <a:ext cx="3316" cy="231"/>
              </a:xfrm>
              <a:prstGeom prst="rect">
                <a:avLst/>
              </a:prstGeom>
              <a:noFill/>
              <a:ln w="9525">
                <a:noFill/>
                <a:miter lim="800000"/>
                <a:headEnd/>
                <a:tailEnd/>
              </a:ln>
              <a:effectLst/>
            </p:spPr>
            <p:txBody>
              <a:bodyPr wrap="none">
                <a:spAutoFit/>
              </a:bodyPr>
              <a:lstStyle/>
              <a:p>
                <a:r>
                  <a:rPr lang="en-US" altLang="zh-CN">
                    <a:solidFill>
                      <a:srgbClr val="333399"/>
                    </a:solidFill>
                  </a:rPr>
                  <a:t>1101000110101010110101011100010011010010</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86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8679"/>
                                        </p:tgtEl>
                                        <p:attrNameLst>
                                          <p:attrName>style.visibility</p:attrName>
                                        </p:attrNameLst>
                                      </p:cBhvr>
                                      <p:to>
                                        <p:strVal val="visible"/>
                                      </p:to>
                                    </p:set>
                                    <p:animEffect transition="in" filter="fade">
                                      <p:cBhvr>
                                        <p:cTn id="11" dur="1000"/>
                                        <p:tgtEl>
                                          <p:spTgt spid="2867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867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zh-CN" altLang="en-US"/>
              <a:t>分组交换网的示意图</a:t>
            </a:r>
          </a:p>
        </p:txBody>
      </p:sp>
      <p:grpSp>
        <p:nvGrpSpPr>
          <p:cNvPr id="29699" name="Group 3"/>
          <p:cNvGrpSpPr>
            <a:grpSpLocks/>
          </p:cNvGrpSpPr>
          <p:nvPr/>
        </p:nvGrpSpPr>
        <p:grpSpPr bwMode="auto">
          <a:xfrm>
            <a:off x="1528763" y="2536825"/>
            <a:ext cx="4090987" cy="3667125"/>
            <a:chOff x="2256" y="2386"/>
            <a:chExt cx="2147" cy="1919"/>
          </a:xfrm>
        </p:grpSpPr>
        <p:sp>
          <p:nvSpPr>
            <p:cNvPr id="29700" name="Oval 4"/>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29701" name="Oval 5"/>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29702" name="Oval 6"/>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29703" name="Oval 7"/>
            <p:cNvSpPr>
              <a:spLocks noChangeArrowheads="1"/>
            </p:cNvSpPr>
            <p:nvPr/>
          </p:nvSpPr>
          <p:spPr bwMode="auto">
            <a:xfrm rot="18365028">
              <a:off x="3754" y="3108"/>
              <a:ext cx="687" cy="610"/>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29704" name="Oval 8"/>
            <p:cNvSpPr>
              <a:spLocks noChangeArrowheads="1"/>
            </p:cNvSpPr>
            <p:nvPr/>
          </p:nvSpPr>
          <p:spPr bwMode="auto">
            <a:xfrm rot="-1674972">
              <a:off x="3052" y="3445"/>
              <a:ext cx="1110" cy="772"/>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29705" name="Oval 9"/>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29706" name="Oval 10"/>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29707" name="Oval 11"/>
            <p:cNvSpPr>
              <a:spLocks noChangeArrowheads="1"/>
            </p:cNvSpPr>
            <p:nvPr/>
          </p:nvSpPr>
          <p:spPr bwMode="auto">
            <a:xfrm rot="18065028">
              <a:off x="2160" y="3115"/>
              <a:ext cx="695" cy="504"/>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29708" name="Freeform 12"/>
            <p:cNvSpPr>
              <a:spLocks/>
            </p:cNvSpPr>
            <p:nvPr/>
          </p:nvSpPr>
          <p:spPr bwMode="auto">
            <a:xfrm>
              <a:off x="2358" y="2506"/>
              <a:ext cx="1931" cy="1684"/>
            </a:xfrm>
            <a:custGeom>
              <a:avLst/>
              <a:gdLst/>
              <a:ahLst/>
              <a:cxnLst>
                <a:cxn ang="0">
                  <a:pos x="579" y="263"/>
                </a:cxn>
                <a:cxn ang="0">
                  <a:pos x="632" y="168"/>
                </a:cxn>
                <a:cxn ang="0">
                  <a:pos x="695" y="126"/>
                </a:cxn>
                <a:cxn ang="0">
                  <a:pos x="916" y="115"/>
                </a:cxn>
                <a:cxn ang="0">
                  <a:pos x="1095" y="52"/>
                </a:cxn>
                <a:cxn ang="0">
                  <a:pos x="1158" y="21"/>
                </a:cxn>
                <a:cxn ang="0">
                  <a:pos x="1221" y="0"/>
                </a:cxn>
                <a:cxn ang="0">
                  <a:pos x="1337" y="42"/>
                </a:cxn>
                <a:cxn ang="0">
                  <a:pos x="1400" y="84"/>
                </a:cxn>
                <a:cxn ang="0">
                  <a:pos x="1432" y="105"/>
                </a:cxn>
                <a:cxn ang="0">
                  <a:pos x="1505" y="158"/>
                </a:cxn>
                <a:cxn ang="0">
                  <a:pos x="1526" y="189"/>
                </a:cxn>
                <a:cxn ang="0">
                  <a:pos x="1558" y="210"/>
                </a:cxn>
                <a:cxn ang="0">
                  <a:pos x="1653" y="294"/>
                </a:cxn>
                <a:cxn ang="0">
                  <a:pos x="1737" y="368"/>
                </a:cxn>
                <a:cxn ang="0">
                  <a:pos x="1800" y="389"/>
                </a:cxn>
                <a:cxn ang="0">
                  <a:pos x="1832" y="410"/>
                </a:cxn>
                <a:cxn ang="0">
                  <a:pos x="1916" y="589"/>
                </a:cxn>
                <a:cxn ang="0">
                  <a:pos x="1842" y="1084"/>
                </a:cxn>
                <a:cxn ang="0">
                  <a:pos x="1769" y="1168"/>
                </a:cxn>
                <a:cxn ang="0">
                  <a:pos x="1653" y="1284"/>
                </a:cxn>
                <a:cxn ang="0">
                  <a:pos x="1590" y="1347"/>
                </a:cxn>
                <a:cxn ang="0">
                  <a:pos x="1558" y="1368"/>
                </a:cxn>
                <a:cxn ang="0">
                  <a:pos x="1474" y="1431"/>
                </a:cxn>
                <a:cxn ang="0">
                  <a:pos x="1411" y="1453"/>
                </a:cxn>
                <a:cxn ang="0">
                  <a:pos x="1253" y="1579"/>
                </a:cxn>
                <a:cxn ang="0">
                  <a:pos x="1190" y="1621"/>
                </a:cxn>
                <a:cxn ang="0">
                  <a:pos x="1000" y="1684"/>
                </a:cxn>
                <a:cxn ang="0">
                  <a:pos x="432" y="1653"/>
                </a:cxn>
                <a:cxn ang="0">
                  <a:pos x="337" y="1621"/>
                </a:cxn>
                <a:cxn ang="0">
                  <a:pos x="242" y="1558"/>
                </a:cxn>
                <a:cxn ang="0">
                  <a:pos x="168" y="1463"/>
                </a:cxn>
                <a:cxn ang="0">
                  <a:pos x="126" y="1400"/>
                </a:cxn>
                <a:cxn ang="0">
                  <a:pos x="105" y="1368"/>
                </a:cxn>
                <a:cxn ang="0">
                  <a:pos x="21" y="1242"/>
                </a:cxn>
                <a:cxn ang="0">
                  <a:pos x="32" y="1031"/>
                </a:cxn>
                <a:cxn ang="0">
                  <a:pos x="42" y="821"/>
                </a:cxn>
                <a:cxn ang="0">
                  <a:pos x="84" y="631"/>
                </a:cxn>
                <a:cxn ang="0">
                  <a:pos x="200" y="337"/>
                </a:cxn>
                <a:cxn ang="0">
                  <a:pos x="242" y="263"/>
                </a:cxn>
                <a:cxn ang="0">
                  <a:pos x="305" y="252"/>
                </a:cxn>
                <a:cxn ang="0">
                  <a:pos x="326" y="189"/>
                </a:cxn>
                <a:cxn ang="0">
                  <a:pos x="400" y="147"/>
                </a:cxn>
                <a:cxn ang="0">
                  <a:pos x="432" y="168"/>
                </a:cxn>
                <a:cxn ang="0">
                  <a:pos x="453" y="200"/>
                </a:cxn>
                <a:cxn ang="0">
                  <a:pos x="537" y="210"/>
                </a:cxn>
                <a:cxn ang="0">
                  <a:pos x="558" y="242"/>
                </a:cxn>
                <a:cxn ang="0">
                  <a:pos x="579" y="263"/>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w="9525">
              <a:noFill/>
              <a:round/>
              <a:headEnd/>
              <a:tailEnd/>
            </a:ln>
            <a:effectLst/>
          </p:spPr>
          <p:txBody>
            <a:bodyPr wrap="none" anchor="ctr"/>
            <a:lstStyle/>
            <a:p>
              <a:endParaRPr lang="zh-CN" altLang="en-US"/>
            </a:p>
          </p:txBody>
        </p:sp>
      </p:grpSp>
      <p:sp>
        <p:nvSpPr>
          <p:cNvPr id="29709" name="Line 13"/>
          <p:cNvSpPr>
            <a:spLocks noChangeShapeType="1"/>
          </p:cNvSpPr>
          <p:nvPr/>
        </p:nvSpPr>
        <p:spPr bwMode="auto">
          <a:xfrm flipV="1">
            <a:off x="2660650" y="2771775"/>
            <a:ext cx="1281113" cy="555625"/>
          </a:xfrm>
          <a:prstGeom prst="line">
            <a:avLst/>
          </a:prstGeom>
          <a:noFill/>
          <a:ln w="28575">
            <a:solidFill>
              <a:schemeClr val="tx1"/>
            </a:solidFill>
            <a:round/>
            <a:headEnd/>
            <a:tailEnd/>
          </a:ln>
          <a:effectLst/>
        </p:spPr>
        <p:txBody>
          <a:bodyPr wrap="none" anchor="ctr"/>
          <a:lstStyle/>
          <a:p>
            <a:endParaRPr lang="zh-CN" altLang="en-US"/>
          </a:p>
        </p:txBody>
      </p:sp>
      <p:sp>
        <p:nvSpPr>
          <p:cNvPr id="29710" name="Line 14"/>
          <p:cNvSpPr>
            <a:spLocks noChangeShapeType="1"/>
          </p:cNvSpPr>
          <p:nvPr/>
        </p:nvSpPr>
        <p:spPr bwMode="auto">
          <a:xfrm>
            <a:off x="4098925" y="2846388"/>
            <a:ext cx="757238" cy="1398587"/>
          </a:xfrm>
          <a:prstGeom prst="line">
            <a:avLst/>
          </a:prstGeom>
          <a:noFill/>
          <a:ln w="28575">
            <a:solidFill>
              <a:schemeClr val="tx1"/>
            </a:solidFill>
            <a:round/>
            <a:headEnd/>
            <a:tailEnd/>
          </a:ln>
          <a:effectLst/>
        </p:spPr>
        <p:txBody>
          <a:bodyPr wrap="none" anchor="ctr"/>
          <a:lstStyle/>
          <a:p>
            <a:endParaRPr lang="zh-CN" altLang="en-US"/>
          </a:p>
        </p:txBody>
      </p:sp>
      <p:sp>
        <p:nvSpPr>
          <p:cNvPr id="29711" name="Line 15"/>
          <p:cNvSpPr>
            <a:spLocks noChangeShapeType="1"/>
          </p:cNvSpPr>
          <p:nvPr/>
        </p:nvSpPr>
        <p:spPr bwMode="auto">
          <a:xfrm flipH="1">
            <a:off x="1905000" y="3419475"/>
            <a:ext cx="665163" cy="1255713"/>
          </a:xfrm>
          <a:prstGeom prst="line">
            <a:avLst/>
          </a:prstGeom>
          <a:noFill/>
          <a:ln w="28575">
            <a:solidFill>
              <a:schemeClr val="tx1"/>
            </a:solidFill>
            <a:round/>
            <a:headEnd/>
            <a:tailEnd/>
          </a:ln>
          <a:effectLst/>
        </p:spPr>
        <p:txBody>
          <a:bodyPr wrap="none" anchor="ctr"/>
          <a:lstStyle/>
          <a:p>
            <a:endParaRPr lang="zh-CN" altLang="en-US"/>
          </a:p>
        </p:txBody>
      </p:sp>
      <p:sp>
        <p:nvSpPr>
          <p:cNvPr id="29712" name="Line 16"/>
          <p:cNvSpPr>
            <a:spLocks noChangeShapeType="1"/>
          </p:cNvSpPr>
          <p:nvPr/>
        </p:nvSpPr>
        <p:spPr bwMode="auto">
          <a:xfrm>
            <a:off x="1946275" y="4852988"/>
            <a:ext cx="1520825" cy="882650"/>
          </a:xfrm>
          <a:prstGeom prst="line">
            <a:avLst/>
          </a:prstGeom>
          <a:noFill/>
          <a:ln w="28575">
            <a:solidFill>
              <a:schemeClr val="tx1"/>
            </a:solidFill>
            <a:round/>
            <a:headEnd/>
            <a:tailEnd/>
          </a:ln>
          <a:effectLst/>
        </p:spPr>
        <p:txBody>
          <a:bodyPr wrap="none" anchor="ctr"/>
          <a:lstStyle/>
          <a:p>
            <a:endParaRPr lang="zh-CN" altLang="en-US"/>
          </a:p>
        </p:txBody>
      </p:sp>
      <p:sp>
        <p:nvSpPr>
          <p:cNvPr id="29713" name="Line 17"/>
          <p:cNvSpPr>
            <a:spLocks noChangeShapeType="1"/>
          </p:cNvSpPr>
          <p:nvPr/>
        </p:nvSpPr>
        <p:spPr bwMode="auto">
          <a:xfrm flipV="1">
            <a:off x="3530600" y="4521200"/>
            <a:ext cx="1325563" cy="1306513"/>
          </a:xfrm>
          <a:prstGeom prst="line">
            <a:avLst/>
          </a:prstGeom>
          <a:noFill/>
          <a:ln w="28575">
            <a:solidFill>
              <a:schemeClr val="tx1"/>
            </a:solidFill>
            <a:round/>
            <a:headEnd/>
            <a:tailEnd/>
          </a:ln>
          <a:effectLst/>
        </p:spPr>
        <p:txBody>
          <a:bodyPr wrap="none" anchor="ctr"/>
          <a:lstStyle/>
          <a:p>
            <a:endParaRPr lang="zh-CN" altLang="en-US"/>
          </a:p>
        </p:txBody>
      </p:sp>
      <p:sp>
        <p:nvSpPr>
          <p:cNvPr id="29714" name="Line 18"/>
          <p:cNvSpPr>
            <a:spLocks noChangeShapeType="1"/>
          </p:cNvSpPr>
          <p:nvPr/>
        </p:nvSpPr>
        <p:spPr bwMode="auto">
          <a:xfrm>
            <a:off x="2713038" y="3425825"/>
            <a:ext cx="2125662" cy="946150"/>
          </a:xfrm>
          <a:prstGeom prst="line">
            <a:avLst/>
          </a:prstGeom>
          <a:noFill/>
          <a:ln w="28575">
            <a:solidFill>
              <a:schemeClr val="tx1"/>
            </a:solidFill>
            <a:round/>
            <a:headEnd/>
            <a:tailEnd/>
          </a:ln>
          <a:effectLst/>
        </p:spPr>
        <p:txBody>
          <a:bodyPr wrap="none" anchor="ctr"/>
          <a:lstStyle/>
          <a:p>
            <a:endParaRPr lang="zh-CN" altLang="en-US"/>
          </a:p>
        </p:txBody>
      </p:sp>
      <p:sp>
        <p:nvSpPr>
          <p:cNvPr id="29715" name="Line 19"/>
          <p:cNvSpPr>
            <a:spLocks noChangeShapeType="1"/>
          </p:cNvSpPr>
          <p:nvPr/>
        </p:nvSpPr>
        <p:spPr bwMode="auto">
          <a:xfrm>
            <a:off x="2611438" y="3262313"/>
            <a:ext cx="1000125" cy="2471737"/>
          </a:xfrm>
          <a:prstGeom prst="line">
            <a:avLst/>
          </a:prstGeom>
          <a:noFill/>
          <a:ln w="28575">
            <a:solidFill>
              <a:schemeClr val="tx1"/>
            </a:solidFill>
            <a:round/>
            <a:headEnd/>
            <a:tailEnd/>
          </a:ln>
          <a:effectLst/>
        </p:spPr>
        <p:txBody>
          <a:bodyPr wrap="none" anchor="ctr"/>
          <a:lstStyle/>
          <a:p>
            <a:endParaRPr lang="zh-CN" altLang="en-US"/>
          </a:p>
        </p:txBody>
      </p:sp>
      <p:sp>
        <p:nvSpPr>
          <p:cNvPr id="29716" name="Line 20"/>
          <p:cNvSpPr>
            <a:spLocks noChangeShapeType="1"/>
          </p:cNvSpPr>
          <p:nvPr/>
        </p:nvSpPr>
        <p:spPr bwMode="auto">
          <a:xfrm flipV="1">
            <a:off x="2935288" y="5805488"/>
            <a:ext cx="639762" cy="549275"/>
          </a:xfrm>
          <a:prstGeom prst="line">
            <a:avLst/>
          </a:prstGeom>
          <a:noFill/>
          <a:ln w="19050">
            <a:solidFill>
              <a:schemeClr val="tx1"/>
            </a:solidFill>
            <a:round/>
            <a:headEnd/>
            <a:tailEnd/>
          </a:ln>
          <a:effectLst/>
        </p:spPr>
        <p:txBody>
          <a:bodyPr wrap="none" anchor="ctr"/>
          <a:lstStyle/>
          <a:p>
            <a:endParaRPr lang="zh-CN" altLang="en-US"/>
          </a:p>
        </p:txBody>
      </p:sp>
      <p:sp>
        <p:nvSpPr>
          <p:cNvPr id="29717" name="Line 21"/>
          <p:cNvSpPr>
            <a:spLocks noChangeShapeType="1"/>
          </p:cNvSpPr>
          <p:nvPr/>
        </p:nvSpPr>
        <p:spPr bwMode="auto">
          <a:xfrm rot="-5400000">
            <a:off x="3859213" y="2455863"/>
            <a:ext cx="336550" cy="0"/>
          </a:xfrm>
          <a:prstGeom prst="line">
            <a:avLst/>
          </a:prstGeom>
          <a:noFill/>
          <a:ln w="19050">
            <a:solidFill>
              <a:schemeClr val="tx1"/>
            </a:solidFill>
            <a:round/>
            <a:headEnd/>
            <a:tailEnd/>
          </a:ln>
          <a:effectLst/>
        </p:spPr>
        <p:txBody>
          <a:bodyPr wrap="none" anchor="ctr"/>
          <a:lstStyle/>
          <a:p>
            <a:endParaRPr lang="zh-CN" altLang="en-US"/>
          </a:p>
        </p:txBody>
      </p:sp>
      <p:sp>
        <p:nvSpPr>
          <p:cNvPr id="29718" name="Line 22"/>
          <p:cNvSpPr>
            <a:spLocks noChangeShapeType="1"/>
          </p:cNvSpPr>
          <p:nvPr/>
        </p:nvSpPr>
        <p:spPr bwMode="auto">
          <a:xfrm>
            <a:off x="4948238" y="4521200"/>
            <a:ext cx="639762" cy="1008063"/>
          </a:xfrm>
          <a:prstGeom prst="line">
            <a:avLst/>
          </a:prstGeom>
          <a:noFill/>
          <a:ln w="19050">
            <a:solidFill>
              <a:schemeClr val="tx1"/>
            </a:solidFill>
            <a:round/>
            <a:headEnd/>
            <a:tailEnd/>
          </a:ln>
          <a:effectLst/>
        </p:spPr>
        <p:txBody>
          <a:bodyPr wrap="none" anchor="ctr"/>
          <a:lstStyle/>
          <a:p>
            <a:endParaRPr lang="zh-CN" altLang="en-US"/>
          </a:p>
        </p:txBody>
      </p:sp>
      <p:sp>
        <p:nvSpPr>
          <p:cNvPr id="29719" name="Line 23"/>
          <p:cNvSpPr>
            <a:spLocks noChangeShapeType="1"/>
          </p:cNvSpPr>
          <p:nvPr/>
        </p:nvSpPr>
        <p:spPr bwMode="auto">
          <a:xfrm flipV="1">
            <a:off x="1027113" y="4778375"/>
            <a:ext cx="644525" cy="6350"/>
          </a:xfrm>
          <a:prstGeom prst="line">
            <a:avLst/>
          </a:prstGeom>
          <a:noFill/>
          <a:ln w="19050">
            <a:solidFill>
              <a:schemeClr val="tx1"/>
            </a:solidFill>
            <a:round/>
            <a:headEnd/>
            <a:tailEnd/>
          </a:ln>
          <a:effectLst/>
        </p:spPr>
        <p:txBody>
          <a:bodyPr wrap="none" anchor="ctr"/>
          <a:lstStyle/>
          <a:p>
            <a:endParaRPr lang="zh-CN" altLang="en-US"/>
          </a:p>
        </p:txBody>
      </p:sp>
      <p:sp>
        <p:nvSpPr>
          <p:cNvPr id="29720" name="Line 24"/>
          <p:cNvSpPr>
            <a:spLocks noChangeShapeType="1"/>
          </p:cNvSpPr>
          <p:nvPr/>
        </p:nvSpPr>
        <p:spPr bwMode="auto">
          <a:xfrm rot="5400000" flipH="1">
            <a:off x="2184400" y="2887663"/>
            <a:ext cx="773113" cy="1587"/>
          </a:xfrm>
          <a:prstGeom prst="line">
            <a:avLst/>
          </a:prstGeom>
          <a:noFill/>
          <a:ln w="19050">
            <a:solidFill>
              <a:schemeClr val="tx1"/>
            </a:solidFill>
            <a:round/>
            <a:headEnd/>
            <a:tailEnd/>
          </a:ln>
          <a:effectLst/>
        </p:spPr>
        <p:txBody>
          <a:bodyPr wrap="none" anchor="ctr"/>
          <a:lstStyle/>
          <a:p>
            <a:endParaRPr lang="zh-CN" altLang="en-US"/>
          </a:p>
        </p:txBody>
      </p:sp>
      <p:sp>
        <p:nvSpPr>
          <p:cNvPr id="29721" name="Text Box 25"/>
          <p:cNvSpPr txBox="1">
            <a:spLocks noChangeArrowheads="1"/>
          </p:cNvSpPr>
          <p:nvPr/>
        </p:nvSpPr>
        <p:spPr bwMode="auto">
          <a:xfrm>
            <a:off x="682625" y="4143375"/>
            <a:ext cx="4603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H</a:t>
            </a:r>
            <a:r>
              <a:rPr kumimoji="1" lang="en-US" altLang="zh-CN" sz="2000" baseline="-25000">
                <a:solidFill>
                  <a:srgbClr val="333399"/>
                </a:solidFill>
              </a:rPr>
              <a:t>1</a:t>
            </a:r>
            <a:endParaRPr kumimoji="1" lang="en-US" altLang="zh-CN" sz="2000">
              <a:solidFill>
                <a:srgbClr val="333399"/>
              </a:solidFill>
            </a:endParaRPr>
          </a:p>
        </p:txBody>
      </p:sp>
      <p:sp>
        <p:nvSpPr>
          <p:cNvPr id="29722" name="Oval 26"/>
          <p:cNvSpPr>
            <a:spLocks noChangeArrowheads="1"/>
          </p:cNvSpPr>
          <p:nvPr/>
        </p:nvSpPr>
        <p:spPr bwMode="auto">
          <a:xfrm>
            <a:off x="1655763" y="4521200"/>
            <a:ext cx="457200" cy="458788"/>
          </a:xfrm>
          <a:prstGeom prst="ellipse">
            <a:avLst/>
          </a:prstGeom>
          <a:solidFill>
            <a:srgbClr val="66FF33"/>
          </a:solidFill>
          <a:ln w="19050">
            <a:solidFill>
              <a:schemeClr val="tx1"/>
            </a:solidFill>
            <a:round/>
            <a:headEnd/>
            <a:tailEnd/>
          </a:ln>
          <a:effectLst/>
        </p:spPr>
        <p:txBody>
          <a:bodyPr wrap="none" anchor="ctr"/>
          <a:lstStyle/>
          <a:p>
            <a:pPr algn="ctr"/>
            <a:r>
              <a:rPr lang="en-US" altLang="zh-CN" sz="2000"/>
              <a:t>A</a:t>
            </a:r>
          </a:p>
        </p:txBody>
      </p:sp>
      <p:sp>
        <p:nvSpPr>
          <p:cNvPr id="29723" name="Line 27"/>
          <p:cNvSpPr>
            <a:spLocks noChangeShapeType="1"/>
          </p:cNvSpPr>
          <p:nvPr/>
        </p:nvSpPr>
        <p:spPr bwMode="auto">
          <a:xfrm flipV="1">
            <a:off x="4948238" y="3924300"/>
            <a:ext cx="806450" cy="412750"/>
          </a:xfrm>
          <a:prstGeom prst="line">
            <a:avLst/>
          </a:prstGeom>
          <a:noFill/>
          <a:ln w="19050">
            <a:solidFill>
              <a:schemeClr val="tx1"/>
            </a:solidFill>
            <a:round/>
            <a:headEnd/>
            <a:tailEnd/>
          </a:ln>
          <a:effectLst/>
        </p:spPr>
        <p:txBody>
          <a:bodyPr wrap="none" anchor="ctr"/>
          <a:lstStyle/>
          <a:p>
            <a:endParaRPr lang="zh-CN" altLang="en-US"/>
          </a:p>
        </p:txBody>
      </p:sp>
      <p:sp>
        <p:nvSpPr>
          <p:cNvPr id="29724" name="AutoShape 28"/>
          <p:cNvSpPr>
            <a:spLocks noChangeArrowheads="1"/>
          </p:cNvSpPr>
          <p:nvPr/>
        </p:nvSpPr>
        <p:spPr bwMode="auto">
          <a:xfrm flipV="1">
            <a:off x="4500563" y="6172200"/>
            <a:ext cx="1655762" cy="425450"/>
          </a:xfrm>
          <a:prstGeom prst="wedgeRoundRectCallout">
            <a:avLst>
              <a:gd name="adj1" fmla="val -60356"/>
              <a:gd name="adj2" fmla="val 115671"/>
              <a:gd name="adj3" fmla="val 16667"/>
            </a:avLst>
          </a:prstGeom>
          <a:solidFill>
            <a:schemeClr val="bg1"/>
          </a:solidFill>
          <a:ln w="9525">
            <a:solidFill>
              <a:schemeClr val="tx1"/>
            </a:solidFill>
            <a:miter lim="800000"/>
            <a:headEnd/>
            <a:tailEnd/>
          </a:ln>
          <a:effectLst/>
        </p:spPr>
        <p:txBody>
          <a:bodyPr rot="10800000" wrap="none" anchor="ctr"/>
          <a:lstStyle/>
          <a:p>
            <a:pPr algn="ctr"/>
            <a:endParaRPr kumimoji="1" lang="zh-CN" altLang="zh-CN" sz="2400">
              <a:latin typeface="Times New Roman" pitchFamily="18" charset="0"/>
            </a:endParaRPr>
          </a:p>
        </p:txBody>
      </p:sp>
      <p:sp>
        <p:nvSpPr>
          <p:cNvPr id="29725" name="Text Box 29"/>
          <p:cNvSpPr txBox="1">
            <a:spLocks noChangeArrowheads="1"/>
          </p:cNvSpPr>
          <p:nvPr/>
        </p:nvSpPr>
        <p:spPr bwMode="auto">
          <a:xfrm>
            <a:off x="4603750" y="6200775"/>
            <a:ext cx="1454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分组交换网</a:t>
            </a:r>
          </a:p>
        </p:txBody>
      </p:sp>
      <p:pic>
        <p:nvPicPr>
          <p:cNvPr id="29726" name="Picture 30"/>
          <p:cNvPicPr>
            <a:picLocks noChangeArrowheads="1"/>
          </p:cNvPicPr>
          <p:nvPr/>
        </p:nvPicPr>
        <p:blipFill>
          <a:blip r:embed="rId2"/>
          <a:srcRect/>
          <a:stretch>
            <a:fillRect/>
          </a:stretch>
        </p:blipFill>
        <p:spPr bwMode="auto">
          <a:xfrm>
            <a:off x="3713163" y="1844675"/>
            <a:ext cx="585787" cy="593725"/>
          </a:xfrm>
          <a:prstGeom prst="rect">
            <a:avLst/>
          </a:prstGeom>
          <a:noFill/>
          <a:ln w="9525">
            <a:noFill/>
            <a:miter lim="800000"/>
            <a:headEnd/>
            <a:tailEnd/>
          </a:ln>
          <a:effectLst/>
        </p:spPr>
      </p:pic>
      <p:pic>
        <p:nvPicPr>
          <p:cNvPr id="29727" name="Picture 31"/>
          <p:cNvPicPr>
            <a:picLocks noChangeArrowheads="1"/>
          </p:cNvPicPr>
          <p:nvPr/>
        </p:nvPicPr>
        <p:blipFill>
          <a:blip r:embed="rId2"/>
          <a:srcRect/>
          <a:stretch>
            <a:fillRect/>
          </a:stretch>
        </p:blipFill>
        <p:spPr bwMode="auto">
          <a:xfrm>
            <a:off x="5640388" y="3559175"/>
            <a:ext cx="587375" cy="593725"/>
          </a:xfrm>
          <a:prstGeom prst="rect">
            <a:avLst/>
          </a:prstGeom>
          <a:noFill/>
          <a:ln w="9525">
            <a:noFill/>
            <a:miter lim="800000"/>
            <a:headEnd/>
            <a:tailEnd/>
          </a:ln>
          <a:effectLst/>
        </p:spPr>
      </p:pic>
      <p:pic>
        <p:nvPicPr>
          <p:cNvPr id="29728" name="Picture 32"/>
          <p:cNvPicPr>
            <a:picLocks noChangeArrowheads="1"/>
          </p:cNvPicPr>
          <p:nvPr/>
        </p:nvPicPr>
        <p:blipFill>
          <a:blip r:embed="rId2"/>
          <a:srcRect/>
          <a:stretch>
            <a:fillRect/>
          </a:stretch>
        </p:blipFill>
        <p:spPr bwMode="auto">
          <a:xfrm>
            <a:off x="2570163" y="6264275"/>
            <a:ext cx="585787" cy="593725"/>
          </a:xfrm>
          <a:prstGeom prst="rect">
            <a:avLst/>
          </a:prstGeom>
          <a:noFill/>
          <a:ln w="9525">
            <a:noFill/>
            <a:miter lim="800000"/>
            <a:headEnd/>
            <a:tailEnd/>
          </a:ln>
          <a:effectLst/>
        </p:spPr>
      </p:pic>
      <p:pic>
        <p:nvPicPr>
          <p:cNvPr id="29729" name="Picture 33"/>
          <p:cNvPicPr>
            <a:picLocks noChangeArrowheads="1"/>
          </p:cNvPicPr>
          <p:nvPr/>
        </p:nvPicPr>
        <p:blipFill>
          <a:blip r:embed="rId2"/>
          <a:srcRect/>
          <a:stretch>
            <a:fillRect/>
          </a:stretch>
        </p:blipFill>
        <p:spPr bwMode="auto">
          <a:xfrm>
            <a:off x="5405438" y="5346700"/>
            <a:ext cx="585787" cy="593725"/>
          </a:xfrm>
          <a:prstGeom prst="rect">
            <a:avLst/>
          </a:prstGeom>
          <a:noFill/>
          <a:ln w="9525">
            <a:noFill/>
            <a:miter lim="800000"/>
            <a:headEnd/>
            <a:tailEnd/>
          </a:ln>
          <a:effectLst/>
        </p:spPr>
      </p:pic>
      <p:pic>
        <p:nvPicPr>
          <p:cNvPr id="29730" name="Picture 34"/>
          <p:cNvPicPr>
            <a:picLocks noChangeArrowheads="1"/>
          </p:cNvPicPr>
          <p:nvPr/>
        </p:nvPicPr>
        <p:blipFill>
          <a:blip r:embed="rId2"/>
          <a:srcRect/>
          <a:stretch>
            <a:fillRect/>
          </a:stretch>
        </p:blipFill>
        <p:spPr bwMode="auto">
          <a:xfrm>
            <a:off x="2295525" y="2043113"/>
            <a:ext cx="587375" cy="595312"/>
          </a:xfrm>
          <a:prstGeom prst="rect">
            <a:avLst/>
          </a:prstGeom>
          <a:noFill/>
          <a:ln w="9525">
            <a:noFill/>
            <a:miter lim="800000"/>
            <a:headEnd/>
            <a:tailEnd/>
          </a:ln>
          <a:effectLst/>
        </p:spPr>
      </p:pic>
      <p:sp>
        <p:nvSpPr>
          <p:cNvPr id="29731" name="Oval 35"/>
          <p:cNvSpPr>
            <a:spLocks noChangeArrowheads="1"/>
          </p:cNvSpPr>
          <p:nvPr/>
        </p:nvSpPr>
        <p:spPr bwMode="auto">
          <a:xfrm>
            <a:off x="2379663" y="3154363"/>
            <a:ext cx="457200" cy="458787"/>
          </a:xfrm>
          <a:prstGeom prst="ellipse">
            <a:avLst/>
          </a:prstGeom>
          <a:solidFill>
            <a:srgbClr val="66FF33"/>
          </a:solidFill>
          <a:ln w="19050">
            <a:solidFill>
              <a:schemeClr val="tx1"/>
            </a:solidFill>
            <a:round/>
            <a:headEnd/>
            <a:tailEnd/>
          </a:ln>
          <a:effectLst/>
        </p:spPr>
        <p:txBody>
          <a:bodyPr wrap="none" anchor="ctr"/>
          <a:lstStyle/>
          <a:p>
            <a:pPr algn="ctr"/>
            <a:r>
              <a:rPr lang="en-US" altLang="zh-CN" sz="2000"/>
              <a:t>B</a:t>
            </a:r>
          </a:p>
        </p:txBody>
      </p:sp>
      <p:sp>
        <p:nvSpPr>
          <p:cNvPr id="29732" name="Oval 36"/>
          <p:cNvSpPr>
            <a:spLocks noChangeArrowheads="1"/>
          </p:cNvSpPr>
          <p:nvPr/>
        </p:nvSpPr>
        <p:spPr bwMode="auto">
          <a:xfrm>
            <a:off x="3800475" y="2543175"/>
            <a:ext cx="457200" cy="458788"/>
          </a:xfrm>
          <a:prstGeom prst="ellipse">
            <a:avLst/>
          </a:prstGeom>
          <a:solidFill>
            <a:srgbClr val="66FF33"/>
          </a:solidFill>
          <a:ln w="19050">
            <a:solidFill>
              <a:schemeClr val="tx1"/>
            </a:solidFill>
            <a:round/>
            <a:headEnd/>
            <a:tailEnd/>
          </a:ln>
          <a:effectLst/>
        </p:spPr>
        <p:txBody>
          <a:bodyPr wrap="none" anchor="ctr"/>
          <a:lstStyle/>
          <a:p>
            <a:pPr algn="ctr"/>
            <a:r>
              <a:rPr lang="en-US" altLang="zh-CN" sz="2000"/>
              <a:t>D</a:t>
            </a:r>
          </a:p>
        </p:txBody>
      </p:sp>
      <p:sp>
        <p:nvSpPr>
          <p:cNvPr id="29733" name="Oval 37"/>
          <p:cNvSpPr>
            <a:spLocks noChangeArrowheads="1"/>
          </p:cNvSpPr>
          <p:nvPr/>
        </p:nvSpPr>
        <p:spPr bwMode="auto">
          <a:xfrm>
            <a:off x="4654550" y="4171950"/>
            <a:ext cx="457200" cy="458788"/>
          </a:xfrm>
          <a:prstGeom prst="ellipse">
            <a:avLst/>
          </a:prstGeom>
          <a:solidFill>
            <a:srgbClr val="66FF33"/>
          </a:solidFill>
          <a:ln w="19050">
            <a:solidFill>
              <a:schemeClr val="tx1"/>
            </a:solidFill>
            <a:round/>
            <a:headEnd/>
            <a:tailEnd/>
          </a:ln>
          <a:effectLst/>
        </p:spPr>
        <p:txBody>
          <a:bodyPr wrap="none" anchor="ctr"/>
          <a:lstStyle/>
          <a:p>
            <a:pPr algn="ctr"/>
            <a:r>
              <a:rPr lang="en-US" altLang="zh-CN" sz="2000"/>
              <a:t>E</a:t>
            </a:r>
          </a:p>
        </p:txBody>
      </p:sp>
      <p:sp>
        <p:nvSpPr>
          <p:cNvPr id="29734" name="Oval 38"/>
          <p:cNvSpPr>
            <a:spLocks noChangeArrowheads="1"/>
          </p:cNvSpPr>
          <p:nvPr/>
        </p:nvSpPr>
        <p:spPr bwMode="auto">
          <a:xfrm>
            <a:off x="3346450" y="5491163"/>
            <a:ext cx="457200" cy="458787"/>
          </a:xfrm>
          <a:prstGeom prst="ellipse">
            <a:avLst/>
          </a:prstGeom>
          <a:solidFill>
            <a:srgbClr val="66FF33"/>
          </a:solidFill>
          <a:ln w="19050">
            <a:solidFill>
              <a:schemeClr val="tx1"/>
            </a:solidFill>
            <a:round/>
            <a:headEnd/>
            <a:tailEnd/>
          </a:ln>
          <a:effectLst/>
        </p:spPr>
        <p:txBody>
          <a:bodyPr wrap="none" anchor="ctr"/>
          <a:lstStyle/>
          <a:p>
            <a:pPr algn="ctr"/>
            <a:r>
              <a:rPr lang="en-US" altLang="zh-CN" sz="2000"/>
              <a:t>C</a:t>
            </a:r>
          </a:p>
        </p:txBody>
      </p:sp>
      <p:sp>
        <p:nvSpPr>
          <p:cNvPr id="29735" name="Text Box 39"/>
          <p:cNvSpPr txBox="1">
            <a:spLocks noChangeArrowheads="1"/>
          </p:cNvSpPr>
          <p:nvPr/>
        </p:nvSpPr>
        <p:spPr bwMode="auto">
          <a:xfrm>
            <a:off x="5076825" y="5300663"/>
            <a:ext cx="4603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H</a:t>
            </a:r>
            <a:r>
              <a:rPr kumimoji="1" lang="en-US" altLang="zh-CN" sz="2000" baseline="-25000">
                <a:solidFill>
                  <a:srgbClr val="333399"/>
                </a:solidFill>
              </a:rPr>
              <a:t>5</a:t>
            </a:r>
            <a:endParaRPr kumimoji="1" lang="en-US" altLang="zh-CN" sz="2000">
              <a:solidFill>
                <a:srgbClr val="333399"/>
              </a:solidFill>
            </a:endParaRPr>
          </a:p>
        </p:txBody>
      </p:sp>
      <p:sp>
        <p:nvSpPr>
          <p:cNvPr id="29736" name="Text Box 40"/>
          <p:cNvSpPr txBox="1">
            <a:spLocks noChangeArrowheads="1"/>
          </p:cNvSpPr>
          <p:nvPr/>
        </p:nvSpPr>
        <p:spPr bwMode="auto">
          <a:xfrm>
            <a:off x="6084888" y="3500438"/>
            <a:ext cx="4603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H</a:t>
            </a:r>
            <a:r>
              <a:rPr kumimoji="1" lang="en-US" altLang="zh-CN" sz="2000" baseline="-25000">
                <a:solidFill>
                  <a:srgbClr val="333399"/>
                </a:solidFill>
              </a:rPr>
              <a:t>6</a:t>
            </a:r>
            <a:endParaRPr kumimoji="1" lang="en-US" altLang="zh-CN" sz="2000">
              <a:solidFill>
                <a:srgbClr val="333399"/>
              </a:solidFill>
            </a:endParaRPr>
          </a:p>
        </p:txBody>
      </p:sp>
      <p:sp>
        <p:nvSpPr>
          <p:cNvPr id="29737" name="Text Box 41"/>
          <p:cNvSpPr txBox="1">
            <a:spLocks noChangeArrowheads="1"/>
          </p:cNvSpPr>
          <p:nvPr/>
        </p:nvSpPr>
        <p:spPr bwMode="auto">
          <a:xfrm>
            <a:off x="3348038" y="1844675"/>
            <a:ext cx="4603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H</a:t>
            </a:r>
            <a:r>
              <a:rPr kumimoji="1" lang="en-US" altLang="zh-CN" sz="2000" baseline="-25000">
                <a:solidFill>
                  <a:srgbClr val="333399"/>
                </a:solidFill>
              </a:rPr>
              <a:t>4</a:t>
            </a:r>
            <a:endParaRPr kumimoji="1" lang="en-US" altLang="zh-CN" sz="2000">
              <a:solidFill>
                <a:srgbClr val="333399"/>
              </a:solidFill>
            </a:endParaRPr>
          </a:p>
        </p:txBody>
      </p:sp>
      <p:sp>
        <p:nvSpPr>
          <p:cNvPr id="29738" name="Text Box 42"/>
          <p:cNvSpPr txBox="1">
            <a:spLocks noChangeArrowheads="1"/>
          </p:cNvSpPr>
          <p:nvPr/>
        </p:nvSpPr>
        <p:spPr bwMode="auto">
          <a:xfrm>
            <a:off x="1979613" y="1989138"/>
            <a:ext cx="4603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H</a:t>
            </a:r>
            <a:r>
              <a:rPr kumimoji="1" lang="en-US" altLang="zh-CN" sz="2000" baseline="-25000">
                <a:solidFill>
                  <a:srgbClr val="333399"/>
                </a:solidFill>
              </a:rPr>
              <a:t>2</a:t>
            </a:r>
            <a:endParaRPr kumimoji="1" lang="en-US" altLang="zh-CN" sz="2000">
              <a:solidFill>
                <a:srgbClr val="333399"/>
              </a:solidFill>
            </a:endParaRPr>
          </a:p>
        </p:txBody>
      </p:sp>
      <p:sp>
        <p:nvSpPr>
          <p:cNvPr id="29739" name="Text Box 43"/>
          <p:cNvSpPr txBox="1">
            <a:spLocks noChangeArrowheads="1"/>
          </p:cNvSpPr>
          <p:nvPr/>
        </p:nvSpPr>
        <p:spPr bwMode="auto">
          <a:xfrm>
            <a:off x="2195513" y="6237288"/>
            <a:ext cx="4603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H</a:t>
            </a:r>
            <a:r>
              <a:rPr kumimoji="1" lang="en-US" altLang="zh-CN" sz="2000" baseline="-25000">
                <a:solidFill>
                  <a:srgbClr val="333399"/>
                </a:solidFill>
              </a:rPr>
              <a:t>3</a:t>
            </a:r>
            <a:endParaRPr kumimoji="1" lang="en-US" altLang="zh-CN" sz="2000">
              <a:solidFill>
                <a:srgbClr val="333399"/>
              </a:solidFill>
            </a:endParaRPr>
          </a:p>
        </p:txBody>
      </p:sp>
      <p:sp>
        <p:nvSpPr>
          <p:cNvPr id="29740" name="Rectangle 44"/>
          <p:cNvSpPr>
            <a:spLocks noChangeArrowheads="1"/>
          </p:cNvSpPr>
          <p:nvPr/>
        </p:nvSpPr>
        <p:spPr bwMode="auto">
          <a:xfrm>
            <a:off x="2484438" y="2205038"/>
            <a:ext cx="217487" cy="217487"/>
          </a:xfrm>
          <a:prstGeom prst="rect">
            <a:avLst/>
          </a:prstGeom>
          <a:solidFill>
            <a:srgbClr val="333399"/>
          </a:solidFill>
          <a:ln w="9525">
            <a:solidFill>
              <a:srgbClr val="333399"/>
            </a:solidFill>
            <a:miter lim="800000"/>
            <a:headEnd/>
            <a:tailEnd/>
          </a:ln>
          <a:effectLst/>
        </p:spPr>
        <p:txBody>
          <a:bodyPr wrap="none" anchor="ctr"/>
          <a:lstStyle/>
          <a:p>
            <a:endParaRPr lang="zh-CN" altLang="en-US"/>
          </a:p>
        </p:txBody>
      </p:sp>
      <p:pic>
        <p:nvPicPr>
          <p:cNvPr id="29741" name="Picture 45"/>
          <p:cNvPicPr>
            <a:picLocks noChangeArrowheads="1"/>
          </p:cNvPicPr>
          <p:nvPr/>
        </p:nvPicPr>
        <p:blipFill>
          <a:blip r:embed="rId2"/>
          <a:srcRect/>
          <a:stretch>
            <a:fillRect/>
          </a:stretch>
        </p:blipFill>
        <p:spPr bwMode="auto">
          <a:xfrm>
            <a:off x="611188" y="4521200"/>
            <a:ext cx="587375" cy="593725"/>
          </a:xfrm>
          <a:prstGeom prst="rect">
            <a:avLst/>
          </a:prstGeom>
          <a:noFill/>
          <a:ln w="9525">
            <a:noFill/>
            <a:miter lim="800000"/>
            <a:headEnd/>
            <a:tailEnd/>
          </a:ln>
          <a:effectLst/>
        </p:spPr>
      </p:pic>
      <p:sp>
        <p:nvSpPr>
          <p:cNvPr id="29742" name="Rectangle 46"/>
          <p:cNvSpPr>
            <a:spLocks noChangeArrowheads="1"/>
          </p:cNvSpPr>
          <p:nvPr/>
        </p:nvSpPr>
        <p:spPr bwMode="auto">
          <a:xfrm>
            <a:off x="827088" y="4652963"/>
            <a:ext cx="217487" cy="217487"/>
          </a:xfrm>
          <a:prstGeom prst="rect">
            <a:avLst/>
          </a:prstGeom>
          <a:solidFill>
            <a:schemeClr val="hlink"/>
          </a:solidFill>
          <a:ln w="9525">
            <a:solidFill>
              <a:schemeClr val="hlink"/>
            </a:solidFill>
            <a:miter lim="800000"/>
            <a:headEnd/>
            <a:tailEnd/>
          </a:ln>
          <a:effectLst/>
        </p:spPr>
        <p:txBody>
          <a:bodyPr wrap="none" anchor="ctr"/>
          <a:lstStyle/>
          <a:p>
            <a:endParaRPr lang="zh-CN" altLang="en-US"/>
          </a:p>
        </p:txBody>
      </p:sp>
      <p:sp>
        <p:nvSpPr>
          <p:cNvPr id="29743" name="Rectangle 47"/>
          <p:cNvSpPr>
            <a:spLocks noChangeArrowheads="1"/>
          </p:cNvSpPr>
          <p:nvPr/>
        </p:nvSpPr>
        <p:spPr bwMode="auto">
          <a:xfrm>
            <a:off x="827088" y="4652963"/>
            <a:ext cx="217487" cy="217487"/>
          </a:xfrm>
          <a:prstGeom prst="rect">
            <a:avLst/>
          </a:prstGeom>
          <a:solidFill>
            <a:schemeClr val="hlink"/>
          </a:solidFill>
          <a:ln w="9525">
            <a:solidFill>
              <a:schemeClr val="hlink"/>
            </a:solidFill>
            <a:miter lim="800000"/>
            <a:headEnd/>
            <a:tailEnd/>
          </a:ln>
          <a:effectLst/>
        </p:spPr>
        <p:txBody>
          <a:bodyPr wrap="none" anchor="ctr"/>
          <a:lstStyle/>
          <a:p>
            <a:endParaRPr lang="zh-CN" altLang="en-US"/>
          </a:p>
        </p:txBody>
      </p:sp>
      <p:sp>
        <p:nvSpPr>
          <p:cNvPr id="29744" name="Text Box 48"/>
          <p:cNvSpPr txBox="1">
            <a:spLocks noChangeArrowheads="1"/>
          </p:cNvSpPr>
          <p:nvPr/>
        </p:nvSpPr>
        <p:spPr bwMode="auto">
          <a:xfrm>
            <a:off x="6227763" y="5157788"/>
            <a:ext cx="2609850" cy="466725"/>
          </a:xfrm>
          <a:prstGeom prst="rect">
            <a:avLst/>
          </a:prstGeom>
          <a:noFill/>
          <a:ln w="9525">
            <a:solidFill>
              <a:schemeClr val="hlink"/>
            </a:solidFill>
            <a:miter lim="800000"/>
            <a:headEnd/>
            <a:tailEnd/>
          </a:ln>
          <a:effectLst/>
        </p:spPr>
        <p:txBody>
          <a:bodyPr wrap="none">
            <a:spAutoFit/>
          </a:bodyPr>
          <a:lstStyle/>
          <a:p>
            <a:r>
              <a:rPr kumimoji="1" lang="en-US" altLang="zh-CN" sz="2400">
                <a:solidFill>
                  <a:schemeClr val="hlink"/>
                </a:solidFill>
              </a:rPr>
              <a:t>H</a:t>
            </a:r>
            <a:r>
              <a:rPr kumimoji="1" lang="en-US" altLang="zh-CN" sz="2400" baseline="-25000">
                <a:solidFill>
                  <a:schemeClr val="hlink"/>
                </a:solidFill>
              </a:rPr>
              <a:t>1 </a:t>
            </a:r>
            <a:r>
              <a:rPr kumimoji="1" lang="zh-CN" altLang="en-US" sz="2400">
                <a:solidFill>
                  <a:schemeClr val="hlink"/>
                </a:solidFill>
                <a:ea typeface="黑体" pitchFamily="49" charset="-122"/>
              </a:rPr>
              <a:t>向 </a:t>
            </a:r>
            <a:r>
              <a:rPr kumimoji="1" lang="en-US" altLang="zh-CN" sz="2400">
                <a:solidFill>
                  <a:schemeClr val="hlink"/>
                </a:solidFill>
                <a:ea typeface="黑体" pitchFamily="49" charset="-122"/>
              </a:rPr>
              <a:t>H</a:t>
            </a:r>
            <a:r>
              <a:rPr kumimoji="1" lang="en-US" altLang="zh-CN" sz="2400" baseline="-25000">
                <a:solidFill>
                  <a:schemeClr val="hlink"/>
                </a:solidFill>
                <a:ea typeface="黑体" pitchFamily="49" charset="-122"/>
              </a:rPr>
              <a:t>5</a:t>
            </a:r>
            <a:r>
              <a:rPr kumimoji="1" lang="en-US" altLang="zh-CN" sz="2400">
                <a:solidFill>
                  <a:schemeClr val="hlink"/>
                </a:solidFill>
                <a:ea typeface="黑体" pitchFamily="49" charset="-122"/>
              </a:rPr>
              <a:t> </a:t>
            </a:r>
            <a:r>
              <a:rPr kumimoji="1" lang="zh-CN" altLang="en-US" sz="2400">
                <a:solidFill>
                  <a:schemeClr val="hlink"/>
                </a:solidFill>
                <a:ea typeface="黑体" pitchFamily="49" charset="-122"/>
              </a:rPr>
              <a:t>发送分组</a:t>
            </a:r>
          </a:p>
        </p:txBody>
      </p:sp>
      <p:sp>
        <p:nvSpPr>
          <p:cNvPr id="29745" name="Text Box 49"/>
          <p:cNvSpPr txBox="1">
            <a:spLocks noChangeArrowheads="1"/>
          </p:cNvSpPr>
          <p:nvPr/>
        </p:nvSpPr>
        <p:spPr bwMode="auto">
          <a:xfrm>
            <a:off x="6227763" y="4292600"/>
            <a:ext cx="2609850" cy="466725"/>
          </a:xfrm>
          <a:prstGeom prst="rect">
            <a:avLst/>
          </a:prstGeom>
          <a:noFill/>
          <a:ln w="9525">
            <a:solidFill>
              <a:srgbClr val="333399"/>
            </a:solidFill>
            <a:miter lim="800000"/>
            <a:headEnd/>
            <a:tailEnd/>
          </a:ln>
          <a:effectLst/>
        </p:spPr>
        <p:txBody>
          <a:bodyPr wrap="none">
            <a:spAutoFit/>
          </a:bodyPr>
          <a:lstStyle/>
          <a:p>
            <a:r>
              <a:rPr kumimoji="1" lang="en-US" altLang="zh-CN" sz="2400">
                <a:solidFill>
                  <a:srgbClr val="333399"/>
                </a:solidFill>
              </a:rPr>
              <a:t>H</a:t>
            </a:r>
            <a:r>
              <a:rPr kumimoji="1" lang="en-US" altLang="zh-CN" sz="2400" baseline="-25000">
                <a:solidFill>
                  <a:srgbClr val="333399"/>
                </a:solidFill>
              </a:rPr>
              <a:t>2 </a:t>
            </a:r>
            <a:r>
              <a:rPr kumimoji="1" lang="zh-CN" altLang="en-US" sz="2400">
                <a:solidFill>
                  <a:srgbClr val="333399"/>
                </a:solidFill>
                <a:ea typeface="黑体" pitchFamily="49" charset="-122"/>
              </a:rPr>
              <a:t>向 </a:t>
            </a:r>
            <a:r>
              <a:rPr kumimoji="1" lang="en-US" altLang="zh-CN" sz="2400">
                <a:solidFill>
                  <a:srgbClr val="333399"/>
                </a:solidFill>
                <a:ea typeface="黑体" pitchFamily="49" charset="-122"/>
              </a:rPr>
              <a:t>H</a:t>
            </a:r>
            <a:r>
              <a:rPr kumimoji="1" lang="en-US" altLang="zh-CN" sz="2400" baseline="-25000">
                <a:solidFill>
                  <a:srgbClr val="333399"/>
                </a:solidFill>
                <a:ea typeface="黑体" pitchFamily="49" charset="-122"/>
              </a:rPr>
              <a:t>6</a:t>
            </a:r>
            <a:r>
              <a:rPr kumimoji="1" lang="en-US" altLang="zh-CN" sz="2400">
                <a:solidFill>
                  <a:srgbClr val="333399"/>
                </a:solidFill>
                <a:ea typeface="黑体" pitchFamily="49" charset="-122"/>
              </a:rPr>
              <a:t> </a:t>
            </a:r>
            <a:r>
              <a:rPr kumimoji="1" lang="zh-CN" altLang="en-US" sz="2400">
                <a:solidFill>
                  <a:srgbClr val="333399"/>
                </a:solidFill>
                <a:ea typeface="黑体" pitchFamily="49" charset="-122"/>
              </a:rPr>
              <a:t>发送分组</a:t>
            </a:r>
          </a:p>
        </p:txBody>
      </p:sp>
      <p:sp>
        <p:nvSpPr>
          <p:cNvPr id="29746" name="Rectangle 50"/>
          <p:cNvSpPr>
            <a:spLocks noChangeArrowheads="1"/>
          </p:cNvSpPr>
          <p:nvPr/>
        </p:nvSpPr>
        <p:spPr bwMode="auto">
          <a:xfrm>
            <a:off x="827088" y="4652963"/>
            <a:ext cx="217487" cy="217487"/>
          </a:xfrm>
          <a:prstGeom prst="rect">
            <a:avLst/>
          </a:prstGeom>
          <a:solidFill>
            <a:schemeClr val="hlink"/>
          </a:solidFill>
          <a:ln w="9525">
            <a:solidFill>
              <a:schemeClr val="hlink"/>
            </a:solidFill>
            <a:miter lim="800000"/>
            <a:headEnd/>
            <a:tailEnd/>
          </a:ln>
          <a:effectLst/>
        </p:spPr>
        <p:txBody>
          <a:bodyPr wrap="none" anchor="ctr"/>
          <a:lstStyle/>
          <a:p>
            <a:endParaRPr lang="zh-CN" altLang="en-US"/>
          </a:p>
        </p:txBody>
      </p:sp>
      <p:sp>
        <p:nvSpPr>
          <p:cNvPr id="29747" name="Rectangle 51"/>
          <p:cNvSpPr>
            <a:spLocks noChangeArrowheads="1"/>
          </p:cNvSpPr>
          <p:nvPr/>
        </p:nvSpPr>
        <p:spPr bwMode="auto">
          <a:xfrm>
            <a:off x="2484438" y="2205038"/>
            <a:ext cx="217487" cy="217487"/>
          </a:xfrm>
          <a:prstGeom prst="rect">
            <a:avLst/>
          </a:prstGeom>
          <a:solidFill>
            <a:srgbClr val="333399"/>
          </a:solidFill>
          <a:ln w="9525">
            <a:solidFill>
              <a:srgbClr val="333399"/>
            </a:solidFill>
            <a:miter lim="800000"/>
            <a:headEnd/>
            <a:tailEnd/>
          </a:ln>
          <a:effectLst/>
        </p:spPr>
        <p:txBody>
          <a:bodyPr wrap="none" anchor="ctr"/>
          <a:lstStyle/>
          <a:p>
            <a:endParaRPr lang="zh-CN" altLang="en-US"/>
          </a:p>
        </p:txBody>
      </p:sp>
      <p:sp>
        <p:nvSpPr>
          <p:cNvPr id="29748" name="Rectangle 52"/>
          <p:cNvSpPr>
            <a:spLocks noChangeArrowheads="1"/>
          </p:cNvSpPr>
          <p:nvPr/>
        </p:nvSpPr>
        <p:spPr bwMode="auto">
          <a:xfrm>
            <a:off x="827088" y="4652963"/>
            <a:ext cx="217487" cy="217487"/>
          </a:xfrm>
          <a:prstGeom prst="rect">
            <a:avLst/>
          </a:prstGeom>
          <a:solidFill>
            <a:schemeClr val="hlink"/>
          </a:solidFill>
          <a:ln w="9525">
            <a:solidFill>
              <a:srgbClr val="333399"/>
            </a:solidFill>
            <a:miter lim="800000"/>
            <a:headEnd/>
            <a:tailEnd/>
          </a:ln>
          <a:effectLst/>
        </p:spPr>
        <p:txBody>
          <a:bodyPr wrap="none" anchor="ctr"/>
          <a:lstStyle/>
          <a:p>
            <a:endParaRPr lang="zh-CN" altLang="en-US"/>
          </a:p>
        </p:txBody>
      </p:sp>
      <p:sp>
        <p:nvSpPr>
          <p:cNvPr id="29749" name="Rectangle 53"/>
          <p:cNvSpPr>
            <a:spLocks noChangeArrowheads="1"/>
          </p:cNvSpPr>
          <p:nvPr/>
        </p:nvSpPr>
        <p:spPr bwMode="auto">
          <a:xfrm>
            <a:off x="2484438" y="2205038"/>
            <a:ext cx="217487" cy="217487"/>
          </a:xfrm>
          <a:prstGeom prst="rect">
            <a:avLst/>
          </a:prstGeom>
          <a:solidFill>
            <a:srgbClr val="333399"/>
          </a:solidFill>
          <a:ln w="9525">
            <a:solidFill>
              <a:srgbClr val="333399"/>
            </a:solidFill>
            <a:miter lim="800000"/>
            <a:headEnd/>
            <a:tailEnd/>
          </a:ln>
          <a:effectLst/>
        </p:spPr>
        <p:txBody>
          <a:bodyPr wrap="none" anchor="ctr"/>
          <a:lstStyle/>
          <a:p>
            <a:endParaRPr lang="zh-CN" altLang="en-US"/>
          </a:p>
        </p:txBody>
      </p:sp>
      <p:sp>
        <p:nvSpPr>
          <p:cNvPr id="29750" name="Text Box 54"/>
          <p:cNvSpPr txBox="1">
            <a:spLocks noChangeArrowheads="1"/>
          </p:cNvSpPr>
          <p:nvPr/>
        </p:nvSpPr>
        <p:spPr bwMode="auto">
          <a:xfrm>
            <a:off x="5076825" y="2257425"/>
            <a:ext cx="3816350" cy="595313"/>
          </a:xfrm>
          <a:prstGeom prst="rect">
            <a:avLst/>
          </a:prstGeom>
          <a:solidFill>
            <a:srgbClr val="FFFFCC"/>
          </a:solidFill>
          <a:ln w="76200" cmpd="tri">
            <a:solidFill>
              <a:srgbClr val="333399"/>
            </a:solidFill>
            <a:miter lim="800000"/>
            <a:headEnd/>
            <a:tailEnd/>
          </a:ln>
          <a:effectLst/>
        </p:spPr>
        <p:txBody>
          <a:bodyPr wrap="none">
            <a:spAutoFit/>
          </a:bodyPr>
          <a:lstStyle/>
          <a:p>
            <a:r>
              <a:rPr kumimoji="1" lang="zh-CN" altLang="en-US" sz="2800">
                <a:solidFill>
                  <a:srgbClr val="333399"/>
                </a:solidFill>
                <a:latin typeface="黑体" pitchFamily="49" charset="-122"/>
                <a:ea typeface="黑体" pitchFamily="49" charset="-122"/>
              </a:rPr>
              <a:t>注意分组路径的变化！</a:t>
            </a:r>
          </a:p>
        </p:txBody>
      </p:sp>
      <p:sp>
        <p:nvSpPr>
          <p:cNvPr id="29751" name="Text Box 55"/>
          <p:cNvSpPr txBox="1">
            <a:spLocks noChangeArrowheads="1"/>
          </p:cNvSpPr>
          <p:nvPr/>
        </p:nvSpPr>
        <p:spPr bwMode="auto">
          <a:xfrm>
            <a:off x="611188" y="2852738"/>
            <a:ext cx="946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路由器</a:t>
            </a:r>
          </a:p>
        </p:txBody>
      </p:sp>
      <p:sp>
        <p:nvSpPr>
          <p:cNvPr id="29752" name="Text Box 56"/>
          <p:cNvSpPr txBox="1">
            <a:spLocks noChangeArrowheads="1"/>
          </p:cNvSpPr>
          <p:nvPr/>
        </p:nvSpPr>
        <p:spPr bwMode="auto">
          <a:xfrm>
            <a:off x="0" y="3644900"/>
            <a:ext cx="692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主机</a:t>
            </a:r>
          </a:p>
        </p:txBody>
      </p:sp>
      <p:sp>
        <p:nvSpPr>
          <p:cNvPr id="29753" name="Line 57"/>
          <p:cNvSpPr>
            <a:spLocks noChangeShapeType="1"/>
          </p:cNvSpPr>
          <p:nvPr/>
        </p:nvSpPr>
        <p:spPr bwMode="auto">
          <a:xfrm>
            <a:off x="1619250" y="3068638"/>
            <a:ext cx="792163" cy="215900"/>
          </a:xfrm>
          <a:prstGeom prst="line">
            <a:avLst/>
          </a:prstGeom>
          <a:noFill/>
          <a:ln w="28575">
            <a:solidFill>
              <a:srgbClr val="333399"/>
            </a:solidFill>
            <a:round/>
            <a:headEnd/>
            <a:tailEnd type="triangle" w="med" len="lg"/>
          </a:ln>
          <a:effectLst/>
        </p:spPr>
        <p:txBody>
          <a:bodyPr/>
          <a:lstStyle/>
          <a:p>
            <a:endParaRPr lang="zh-CN" altLang="en-US"/>
          </a:p>
        </p:txBody>
      </p:sp>
      <p:sp>
        <p:nvSpPr>
          <p:cNvPr id="29754" name="Line 58"/>
          <p:cNvSpPr>
            <a:spLocks noChangeShapeType="1"/>
          </p:cNvSpPr>
          <p:nvPr/>
        </p:nvSpPr>
        <p:spPr bwMode="auto">
          <a:xfrm>
            <a:off x="395288" y="4005263"/>
            <a:ext cx="360362" cy="576262"/>
          </a:xfrm>
          <a:prstGeom prst="line">
            <a:avLst/>
          </a:prstGeom>
          <a:noFill/>
          <a:ln w="28575">
            <a:solidFill>
              <a:srgbClr val="333399"/>
            </a:solidFill>
            <a:round/>
            <a:headEnd/>
            <a:tailEnd type="triangle" w="med" len="lg"/>
          </a:ln>
          <a:effec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42"/>
                                        </p:tgtEl>
                                        <p:attrNameLst>
                                          <p:attrName>style.visibility</p:attrName>
                                        </p:attrNameLst>
                                      </p:cBhvr>
                                      <p:to>
                                        <p:strVal val="visible"/>
                                      </p:to>
                                    </p:set>
                                  </p:childTnLst>
                                </p:cTn>
                              </p:par>
                            </p:childTnLst>
                          </p:cTn>
                        </p:par>
                        <p:par>
                          <p:cTn id="7" fill="hold">
                            <p:stCondLst>
                              <p:cond delay="0"/>
                            </p:stCondLst>
                            <p:childTnLst>
                              <p:par>
                                <p:cTn id="8" presetID="0" presetClass="path" presetSubtype="0" accel="50000" decel="50000" fill="hold" grpId="1" nodeType="afterEffect">
                                  <p:stCondLst>
                                    <p:cond delay="0"/>
                                  </p:stCondLst>
                                  <p:childTnLst>
                                    <p:animMotion origin="layout" path="M 2.5E-6 -4.04624E-7 L 0.10468 -4.04624E-7 L 0.28889 0.15006 L 0.43802 -0.04439 L 0.52222 0.13318 " pathEditMode="relative" ptsTypes="AAAAA">
                                      <p:cBhvr>
                                        <p:cTn id="9" dur="2000" fill="hold"/>
                                        <p:tgtEl>
                                          <p:spTgt spid="29742"/>
                                        </p:tgtEl>
                                        <p:attrNameLst>
                                          <p:attrName>ppt_x</p:attrName>
                                          <p:attrName>ppt_y</p:attrName>
                                        </p:attrNameLst>
                                      </p:cBhvr>
                                    </p:animMotion>
                                  </p:childTnLst>
                                </p:cTn>
                              </p:par>
                            </p:childTnLst>
                          </p:cTn>
                        </p:par>
                        <p:par>
                          <p:cTn id="10" fill="hold">
                            <p:stCondLst>
                              <p:cond delay="2000"/>
                            </p:stCondLst>
                            <p:childTnLst>
                              <p:par>
                                <p:cTn id="11" presetID="1" presetClass="exit" presetSubtype="0" fill="hold" grpId="2" nodeType="afterEffect">
                                  <p:stCondLst>
                                    <p:cond delay="0"/>
                                  </p:stCondLst>
                                  <p:childTnLst>
                                    <p:set>
                                      <p:cBhvr>
                                        <p:cTn id="12" dur="1" fill="hold">
                                          <p:stCondLst>
                                            <p:cond delay="0"/>
                                          </p:stCondLst>
                                        </p:cTn>
                                        <p:tgtEl>
                                          <p:spTgt spid="29742"/>
                                        </p:tgtEl>
                                        <p:attrNameLst>
                                          <p:attrName>style.visibility</p:attrName>
                                        </p:attrNameLst>
                                      </p:cBhvr>
                                      <p:to>
                                        <p:strVal val="hidden"/>
                                      </p:to>
                                    </p:set>
                                  </p:childTnLst>
                                </p:cTn>
                              </p:par>
                            </p:childTnLst>
                          </p:cTn>
                        </p:par>
                        <p:par>
                          <p:cTn id="13" fill="hold">
                            <p:stCondLst>
                              <p:cond delay="2000"/>
                            </p:stCondLst>
                            <p:childTnLst>
                              <p:par>
                                <p:cTn id="14" presetID="1" presetClass="entr" presetSubtype="0" fill="hold" grpId="0" nodeType="afterEffect">
                                  <p:stCondLst>
                                    <p:cond delay="0"/>
                                  </p:stCondLst>
                                  <p:childTnLst>
                                    <p:set>
                                      <p:cBhvr>
                                        <p:cTn id="15" dur="1" fill="hold">
                                          <p:stCondLst>
                                            <p:cond delay="0"/>
                                          </p:stCondLst>
                                        </p:cTn>
                                        <p:tgtEl>
                                          <p:spTgt spid="29743"/>
                                        </p:tgtEl>
                                        <p:attrNameLst>
                                          <p:attrName>style.visibility</p:attrName>
                                        </p:attrNameLst>
                                      </p:cBhvr>
                                      <p:to>
                                        <p:strVal val="visible"/>
                                      </p:to>
                                    </p:set>
                                  </p:childTnLst>
                                </p:cTn>
                              </p:par>
                            </p:childTnLst>
                          </p:cTn>
                        </p:par>
                        <p:par>
                          <p:cTn id="16" fill="hold">
                            <p:stCondLst>
                              <p:cond delay="2000"/>
                            </p:stCondLst>
                            <p:childTnLst>
                              <p:par>
                                <p:cTn id="17" presetID="0" presetClass="path" presetSubtype="0" accel="50000" decel="50000" fill="hold" grpId="1" nodeType="afterEffect">
                                  <p:stCondLst>
                                    <p:cond delay="0"/>
                                  </p:stCondLst>
                                  <p:childTnLst>
                                    <p:animMotion origin="layout" path="M -2.5E-6 -4.04624E-7 L 0.10313 0.00208 L 0.17934 -0.20717 L 0.43021 -0.05503 L 0.52535 0.14382 " pathEditMode="relative" ptsTypes="AAAAA">
                                      <p:cBhvr>
                                        <p:cTn id="18" dur="2000" fill="hold"/>
                                        <p:tgtEl>
                                          <p:spTgt spid="29743"/>
                                        </p:tgtEl>
                                        <p:attrNameLst>
                                          <p:attrName>ppt_x</p:attrName>
                                          <p:attrName>ppt_y</p:attrName>
                                        </p:attrNameLst>
                                      </p:cBhvr>
                                    </p:animMotion>
                                  </p:childTnLst>
                                </p:cTn>
                              </p:par>
                            </p:childTnLst>
                          </p:cTn>
                        </p:par>
                        <p:par>
                          <p:cTn id="19" fill="hold">
                            <p:stCondLst>
                              <p:cond delay="4000"/>
                            </p:stCondLst>
                            <p:childTnLst>
                              <p:par>
                                <p:cTn id="20" presetID="1" presetClass="exit" presetSubtype="0" fill="hold" grpId="2" nodeType="afterEffect">
                                  <p:stCondLst>
                                    <p:cond delay="0"/>
                                  </p:stCondLst>
                                  <p:childTnLst>
                                    <p:set>
                                      <p:cBhvr>
                                        <p:cTn id="21" dur="1" fill="hold">
                                          <p:stCondLst>
                                            <p:cond delay="0"/>
                                          </p:stCondLst>
                                        </p:cTn>
                                        <p:tgtEl>
                                          <p:spTgt spid="29743"/>
                                        </p:tgtEl>
                                        <p:attrNameLst>
                                          <p:attrName>style.visibility</p:attrName>
                                        </p:attrNameLst>
                                      </p:cBhvr>
                                      <p:to>
                                        <p:strVal val="hidden"/>
                                      </p:to>
                                    </p:set>
                                  </p:childTnLst>
                                </p:cTn>
                              </p:par>
                            </p:childTnLst>
                          </p:cTn>
                        </p:par>
                        <p:par>
                          <p:cTn id="22" fill="hold">
                            <p:stCondLst>
                              <p:cond delay="4000"/>
                            </p:stCondLst>
                            <p:childTnLst>
                              <p:par>
                                <p:cTn id="23" presetID="1" presetClass="entr" presetSubtype="0" fill="hold" grpId="0" nodeType="afterEffect">
                                  <p:stCondLst>
                                    <p:cond delay="0"/>
                                  </p:stCondLst>
                                  <p:childTnLst>
                                    <p:set>
                                      <p:cBhvr>
                                        <p:cTn id="24" dur="1" fill="hold">
                                          <p:stCondLst>
                                            <p:cond delay="0"/>
                                          </p:stCondLst>
                                        </p:cTn>
                                        <p:tgtEl>
                                          <p:spTgt spid="29745"/>
                                        </p:tgtEl>
                                        <p:attrNameLst>
                                          <p:attrName>style.visibility</p:attrName>
                                        </p:attrNameLst>
                                      </p:cBhvr>
                                      <p:to>
                                        <p:strVal val="visible"/>
                                      </p:to>
                                    </p:set>
                                  </p:childTnLst>
                                </p:cTn>
                              </p:par>
                            </p:childTnLst>
                          </p:cTn>
                        </p:par>
                        <p:par>
                          <p:cTn id="25" fill="hold">
                            <p:stCondLst>
                              <p:cond delay="4000"/>
                            </p:stCondLst>
                            <p:childTnLst>
                              <p:par>
                                <p:cTn id="26" presetID="35" presetClass="emph" presetSubtype="0" repeatCount="3000" fill="hold" grpId="1" nodeType="afterEffect">
                                  <p:stCondLst>
                                    <p:cond delay="0"/>
                                  </p:stCondLst>
                                  <p:childTnLst>
                                    <p:anim calcmode="discrete" valueType="str">
                                      <p:cBhvr>
                                        <p:cTn id="27" dur="1000" fill="hold"/>
                                        <p:tgtEl>
                                          <p:spTgt spid="29745"/>
                                        </p:tgtEl>
                                        <p:attrNameLst>
                                          <p:attrName>style.visibility</p:attrName>
                                        </p:attrNameLst>
                                      </p:cBhvr>
                                      <p:tavLst>
                                        <p:tav tm="0">
                                          <p:val>
                                            <p:strVal val="hidden"/>
                                          </p:val>
                                        </p:tav>
                                        <p:tav tm="50000">
                                          <p:val>
                                            <p:strVal val="visible"/>
                                          </p:val>
                                        </p:tav>
                                      </p:tavLst>
                                    </p:anim>
                                  </p:childTnLst>
                                </p:cTn>
                              </p:par>
                            </p:childTnLst>
                          </p:cTn>
                        </p:par>
                        <p:par>
                          <p:cTn id="28" fill="hold">
                            <p:stCondLst>
                              <p:cond delay="7000"/>
                            </p:stCondLst>
                            <p:childTnLst>
                              <p:par>
                                <p:cTn id="29" presetID="1" presetClass="entr" presetSubtype="0" fill="hold" grpId="0" nodeType="afterEffect">
                                  <p:stCondLst>
                                    <p:cond delay="0"/>
                                  </p:stCondLst>
                                  <p:childTnLst>
                                    <p:set>
                                      <p:cBhvr>
                                        <p:cTn id="30" dur="1" fill="hold">
                                          <p:stCondLst>
                                            <p:cond delay="0"/>
                                          </p:stCondLst>
                                        </p:cTn>
                                        <p:tgtEl>
                                          <p:spTgt spid="29740"/>
                                        </p:tgtEl>
                                        <p:attrNameLst>
                                          <p:attrName>style.visibility</p:attrName>
                                        </p:attrNameLst>
                                      </p:cBhvr>
                                      <p:to>
                                        <p:strVal val="visible"/>
                                      </p:to>
                                    </p:set>
                                  </p:childTnLst>
                                </p:cTn>
                              </p:par>
                            </p:childTnLst>
                          </p:cTn>
                        </p:par>
                        <p:par>
                          <p:cTn id="31" fill="hold">
                            <p:stCondLst>
                              <p:cond delay="7000"/>
                            </p:stCondLst>
                            <p:childTnLst>
                              <p:par>
                                <p:cTn id="32" presetID="0" presetClass="path" presetSubtype="0" accel="50000" decel="50000" fill="hold" grpId="1" nodeType="afterEffect">
                                  <p:stCondLst>
                                    <p:cond delay="0"/>
                                  </p:stCondLst>
                                  <p:childTnLst>
                                    <p:animMotion origin="layout" path="M 2.22222E-6 1.79191E-6 L 0.00156 0.14381 L 0.25711 0.29803 L 0.36979 0.21572 " pathEditMode="relative" ptsTypes="AAAA">
                                      <p:cBhvr>
                                        <p:cTn id="33" dur="2000" fill="hold"/>
                                        <p:tgtEl>
                                          <p:spTgt spid="29740"/>
                                        </p:tgtEl>
                                        <p:attrNameLst>
                                          <p:attrName>ppt_x</p:attrName>
                                          <p:attrName>ppt_y</p:attrName>
                                        </p:attrNameLst>
                                      </p:cBhvr>
                                    </p:animMotion>
                                  </p:childTnLst>
                                </p:cTn>
                              </p:par>
                            </p:childTnLst>
                          </p:cTn>
                        </p:par>
                        <p:par>
                          <p:cTn id="34" fill="hold">
                            <p:stCondLst>
                              <p:cond delay="9000"/>
                            </p:stCondLst>
                            <p:childTnLst>
                              <p:par>
                                <p:cTn id="35" presetID="1" presetClass="exit" presetSubtype="0" fill="hold" grpId="2" nodeType="afterEffect">
                                  <p:stCondLst>
                                    <p:cond delay="0"/>
                                  </p:stCondLst>
                                  <p:childTnLst>
                                    <p:set>
                                      <p:cBhvr>
                                        <p:cTn id="36" dur="1" fill="hold">
                                          <p:stCondLst>
                                            <p:cond delay="0"/>
                                          </p:stCondLst>
                                        </p:cTn>
                                        <p:tgtEl>
                                          <p:spTgt spid="29740"/>
                                        </p:tgtEl>
                                        <p:attrNameLst>
                                          <p:attrName>style.visibility</p:attrName>
                                        </p:attrNameLst>
                                      </p:cBhvr>
                                      <p:to>
                                        <p:strVal val="hidden"/>
                                      </p:to>
                                    </p:set>
                                  </p:childTnLst>
                                </p:cTn>
                              </p:par>
                            </p:childTnLst>
                          </p:cTn>
                        </p:par>
                        <p:par>
                          <p:cTn id="37" fill="hold">
                            <p:stCondLst>
                              <p:cond delay="9000"/>
                            </p:stCondLst>
                            <p:childTnLst>
                              <p:par>
                                <p:cTn id="38" presetID="1" presetClass="entr" presetSubtype="0" fill="hold" grpId="0" nodeType="afterEffect">
                                  <p:stCondLst>
                                    <p:cond delay="0"/>
                                  </p:stCondLst>
                                  <p:childTnLst>
                                    <p:set>
                                      <p:cBhvr>
                                        <p:cTn id="39" dur="1" fill="hold">
                                          <p:stCondLst>
                                            <p:cond delay="0"/>
                                          </p:stCondLst>
                                        </p:cTn>
                                        <p:tgtEl>
                                          <p:spTgt spid="29750"/>
                                        </p:tgtEl>
                                        <p:attrNameLst>
                                          <p:attrName>style.visibility</p:attrName>
                                        </p:attrNameLst>
                                      </p:cBhvr>
                                      <p:to>
                                        <p:strVal val="visible"/>
                                      </p:to>
                                    </p:set>
                                  </p:childTnLst>
                                </p:cTn>
                              </p:par>
                            </p:childTnLst>
                          </p:cTn>
                        </p:par>
                        <p:par>
                          <p:cTn id="40" fill="hold">
                            <p:stCondLst>
                              <p:cond delay="9000"/>
                            </p:stCondLst>
                            <p:childTnLst>
                              <p:par>
                                <p:cTn id="41" presetID="35" presetClass="emph" presetSubtype="0" repeatCount="2000" fill="hold" grpId="1" nodeType="afterEffect">
                                  <p:stCondLst>
                                    <p:cond delay="0"/>
                                  </p:stCondLst>
                                  <p:childTnLst>
                                    <p:anim calcmode="discrete" valueType="str">
                                      <p:cBhvr>
                                        <p:cTn id="42" dur="1000" fill="hold"/>
                                        <p:tgtEl>
                                          <p:spTgt spid="29750"/>
                                        </p:tgtEl>
                                        <p:attrNameLst>
                                          <p:attrName>style.visibility</p:attrName>
                                        </p:attrNameLst>
                                      </p:cBhvr>
                                      <p:tavLst>
                                        <p:tav tm="0">
                                          <p:val>
                                            <p:strVal val="hidden"/>
                                          </p:val>
                                        </p:tav>
                                        <p:tav tm="50000">
                                          <p:val>
                                            <p:strVal val="visible"/>
                                          </p:val>
                                        </p:tav>
                                      </p:tavLst>
                                    </p:anim>
                                  </p:childTnLst>
                                </p:cTn>
                              </p:par>
                            </p:childTnLst>
                          </p:cTn>
                        </p:par>
                        <p:par>
                          <p:cTn id="43" fill="hold">
                            <p:stCondLst>
                              <p:cond delay="11000"/>
                            </p:stCondLst>
                            <p:childTnLst>
                              <p:par>
                                <p:cTn id="44" presetID="1" presetClass="entr" presetSubtype="0" fill="hold" grpId="0" nodeType="afterEffect">
                                  <p:stCondLst>
                                    <p:cond delay="0"/>
                                  </p:stCondLst>
                                  <p:childTnLst>
                                    <p:set>
                                      <p:cBhvr>
                                        <p:cTn id="45" dur="1" fill="hold">
                                          <p:stCondLst>
                                            <p:cond delay="0"/>
                                          </p:stCondLst>
                                        </p:cTn>
                                        <p:tgtEl>
                                          <p:spTgt spid="29746"/>
                                        </p:tgtEl>
                                        <p:attrNameLst>
                                          <p:attrName>style.visibility</p:attrName>
                                        </p:attrNameLst>
                                      </p:cBhvr>
                                      <p:to>
                                        <p:strVal val="visible"/>
                                      </p:to>
                                    </p:set>
                                  </p:childTnLst>
                                </p:cTn>
                              </p:par>
                            </p:childTnLst>
                          </p:cTn>
                        </p:par>
                        <p:par>
                          <p:cTn id="46" fill="hold">
                            <p:stCondLst>
                              <p:cond delay="11000"/>
                            </p:stCondLst>
                            <p:childTnLst>
                              <p:par>
                                <p:cTn id="47" presetID="0" presetClass="path" presetSubtype="0" accel="50000" decel="50000" fill="hold" grpId="1" nodeType="afterEffect">
                                  <p:stCondLst>
                                    <p:cond delay="0"/>
                                  </p:stCondLst>
                                  <p:childTnLst>
                                    <p:animMotion origin="layout" path="M -2.5E-6 -4.04624E-7 L 0.10313 0.00208 L 0.17934 -0.20717 L 0.43021 -0.05503 L 0.52535 0.14382 " pathEditMode="relative" ptsTypes="AAAAA">
                                      <p:cBhvr>
                                        <p:cTn id="48" dur="2000" fill="hold"/>
                                        <p:tgtEl>
                                          <p:spTgt spid="29746"/>
                                        </p:tgtEl>
                                        <p:attrNameLst>
                                          <p:attrName>ppt_x</p:attrName>
                                          <p:attrName>ppt_y</p:attrName>
                                        </p:attrNameLst>
                                      </p:cBhvr>
                                    </p:animMotion>
                                  </p:childTnLst>
                                </p:cTn>
                              </p:par>
                            </p:childTnLst>
                          </p:cTn>
                        </p:par>
                        <p:par>
                          <p:cTn id="49" fill="hold">
                            <p:stCondLst>
                              <p:cond delay="13000"/>
                            </p:stCondLst>
                            <p:childTnLst>
                              <p:par>
                                <p:cTn id="50" presetID="1" presetClass="exit" presetSubtype="0" fill="hold" grpId="2" nodeType="afterEffect">
                                  <p:stCondLst>
                                    <p:cond delay="0"/>
                                  </p:stCondLst>
                                  <p:childTnLst>
                                    <p:set>
                                      <p:cBhvr>
                                        <p:cTn id="51" dur="1" fill="hold">
                                          <p:stCondLst>
                                            <p:cond delay="0"/>
                                          </p:stCondLst>
                                        </p:cTn>
                                        <p:tgtEl>
                                          <p:spTgt spid="29746"/>
                                        </p:tgtEl>
                                        <p:attrNameLst>
                                          <p:attrName>style.visibility</p:attrName>
                                        </p:attrNameLst>
                                      </p:cBhvr>
                                      <p:to>
                                        <p:strVal val="hidden"/>
                                      </p:to>
                                    </p:set>
                                  </p:childTnLst>
                                </p:cTn>
                              </p:par>
                            </p:childTnLst>
                          </p:cTn>
                        </p:par>
                        <p:par>
                          <p:cTn id="52" fill="hold">
                            <p:stCondLst>
                              <p:cond delay="13000"/>
                            </p:stCondLst>
                            <p:childTnLst>
                              <p:par>
                                <p:cTn id="53" presetID="1" presetClass="entr" presetSubtype="0" fill="hold" grpId="0" nodeType="afterEffect">
                                  <p:stCondLst>
                                    <p:cond delay="0"/>
                                  </p:stCondLst>
                                  <p:childTnLst>
                                    <p:set>
                                      <p:cBhvr>
                                        <p:cTn id="54" dur="1" fill="hold">
                                          <p:stCondLst>
                                            <p:cond delay="0"/>
                                          </p:stCondLst>
                                        </p:cTn>
                                        <p:tgtEl>
                                          <p:spTgt spid="29747"/>
                                        </p:tgtEl>
                                        <p:attrNameLst>
                                          <p:attrName>style.visibility</p:attrName>
                                        </p:attrNameLst>
                                      </p:cBhvr>
                                      <p:to>
                                        <p:strVal val="visible"/>
                                      </p:to>
                                    </p:set>
                                  </p:childTnLst>
                                </p:cTn>
                              </p:par>
                            </p:childTnLst>
                          </p:cTn>
                        </p:par>
                        <p:par>
                          <p:cTn id="55" fill="hold">
                            <p:stCondLst>
                              <p:cond delay="13000"/>
                            </p:stCondLst>
                            <p:childTnLst>
                              <p:par>
                                <p:cTn id="56" presetID="0" presetClass="path" presetSubtype="0" accel="50000" decel="50000" fill="hold" grpId="1" nodeType="afterEffect">
                                  <p:stCondLst>
                                    <p:cond delay="0"/>
                                  </p:stCondLst>
                                  <p:childTnLst>
                                    <p:animMotion origin="layout" path="M 2.22222E-6 1.79191E-6 L 0.00156 0.14381 L 0.25711 0.29803 L 0.36979 0.21572 " pathEditMode="relative" ptsTypes="AAAA">
                                      <p:cBhvr>
                                        <p:cTn id="57" dur="2000" fill="hold"/>
                                        <p:tgtEl>
                                          <p:spTgt spid="29747"/>
                                        </p:tgtEl>
                                        <p:attrNameLst>
                                          <p:attrName>ppt_x</p:attrName>
                                          <p:attrName>ppt_y</p:attrName>
                                        </p:attrNameLst>
                                      </p:cBhvr>
                                    </p:animMotion>
                                  </p:childTnLst>
                                </p:cTn>
                              </p:par>
                            </p:childTnLst>
                          </p:cTn>
                        </p:par>
                        <p:par>
                          <p:cTn id="58" fill="hold">
                            <p:stCondLst>
                              <p:cond delay="15000"/>
                            </p:stCondLst>
                            <p:childTnLst>
                              <p:par>
                                <p:cTn id="59" presetID="1" presetClass="exit" presetSubtype="0" fill="hold" grpId="2" nodeType="afterEffect">
                                  <p:stCondLst>
                                    <p:cond delay="0"/>
                                  </p:stCondLst>
                                  <p:childTnLst>
                                    <p:set>
                                      <p:cBhvr>
                                        <p:cTn id="60" dur="1" fill="hold">
                                          <p:stCondLst>
                                            <p:cond delay="0"/>
                                          </p:stCondLst>
                                        </p:cTn>
                                        <p:tgtEl>
                                          <p:spTgt spid="29747"/>
                                        </p:tgtEl>
                                        <p:attrNameLst>
                                          <p:attrName>style.visibility</p:attrName>
                                        </p:attrNameLst>
                                      </p:cBhvr>
                                      <p:to>
                                        <p:strVal val="hidden"/>
                                      </p:to>
                                    </p:set>
                                  </p:childTnLst>
                                </p:cTn>
                              </p:par>
                            </p:childTnLst>
                          </p:cTn>
                        </p:par>
                        <p:par>
                          <p:cTn id="61" fill="hold">
                            <p:stCondLst>
                              <p:cond delay="15000"/>
                            </p:stCondLst>
                            <p:childTnLst>
                              <p:par>
                                <p:cTn id="62" presetID="1" presetClass="entr" presetSubtype="0" fill="hold" grpId="0" nodeType="afterEffect">
                                  <p:stCondLst>
                                    <p:cond delay="0"/>
                                  </p:stCondLst>
                                  <p:childTnLst>
                                    <p:set>
                                      <p:cBhvr>
                                        <p:cTn id="63" dur="1" fill="hold">
                                          <p:stCondLst>
                                            <p:cond delay="0"/>
                                          </p:stCondLst>
                                        </p:cTn>
                                        <p:tgtEl>
                                          <p:spTgt spid="29748"/>
                                        </p:tgtEl>
                                        <p:attrNameLst>
                                          <p:attrName>style.visibility</p:attrName>
                                        </p:attrNameLst>
                                      </p:cBhvr>
                                      <p:to>
                                        <p:strVal val="visible"/>
                                      </p:to>
                                    </p:set>
                                  </p:childTnLst>
                                </p:cTn>
                              </p:par>
                            </p:childTnLst>
                          </p:cTn>
                        </p:par>
                        <p:par>
                          <p:cTn id="64" fill="hold">
                            <p:stCondLst>
                              <p:cond delay="15000"/>
                            </p:stCondLst>
                            <p:childTnLst>
                              <p:par>
                                <p:cTn id="65" presetID="0" presetClass="path" presetSubtype="0" accel="50000" decel="50000" fill="hold" grpId="1" nodeType="afterEffect">
                                  <p:stCondLst>
                                    <p:cond delay="0"/>
                                  </p:stCondLst>
                                  <p:childTnLst>
                                    <p:animMotion origin="layout" path="M -3.05556E-6 1.84971E-6 L 0.10469 0.00416 L 0.18733 -0.19885 L 0.29358 0.14798 L 0.43802 -0.04879 L 0.52535 0.13734 " pathEditMode="relative" ptsTypes="AAAAAA">
                                      <p:cBhvr>
                                        <p:cTn id="66" dur="2000" fill="hold"/>
                                        <p:tgtEl>
                                          <p:spTgt spid="29748"/>
                                        </p:tgtEl>
                                        <p:attrNameLst>
                                          <p:attrName>ppt_x</p:attrName>
                                          <p:attrName>ppt_y</p:attrName>
                                        </p:attrNameLst>
                                      </p:cBhvr>
                                    </p:animMotion>
                                  </p:childTnLst>
                                </p:cTn>
                              </p:par>
                            </p:childTnLst>
                          </p:cTn>
                        </p:par>
                        <p:par>
                          <p:cTn id="67" fill="hold">
                            <p:stCondLst>
                              <p:cond delay="17000"/>
                            </p:stCondLst>
                            <p:childTnLst>
                              <p:par>
                                <p:cTn id="68" presetID="1" presetClass="exit" presetSubtype="0" fill="hold" grpId="2" nodeType="afterEffect">
                                  <p:stCondLst>
                                    <p:cond delay="0"/>
                                  </p:stCondLst>
                                  <p:childTnLst>
                                    <p:set>
                                      <p:cBhvr>
                                        <p:cTn id="69" dur="1" fill="hold">
                                          <p:stCondLst>
                                            <p:cond delay="0"/>
                                          </p:stCondLst>
                                        </p:cTn>
                                        <p:tgtEl>
                                          <p:spTgt spid="29748"/>
                                        </p:tgtEl>
                                        <p:attrNameLst>
                                          <p:attrName>style.visibility</p:attrName>
                                        </p:attrNameLst>
                                      </p:cBhvr>
                                      <p:to>
                                        <p:strVal val="hidden"/>
                                      </p:to>
                                    </p:set>
                                  </p:childTnLst>
                                </p:cTn>
                              </p:par>
                            </p:childTnLst>
                          </p:cTn>
                        </p:par>
                        <p:par>
                          <p:cTn id="70" fill="hold">
                            <p:stCondLst>
                              <p:cond delay="17000"/>
                            </p:stCondLst>
                            <p:childTnLst>
                              <p:par>
                                <p:cTn id="71" presetID="1" presetClass="entr" presetSubtype="0" fill="hold" grpId="0" nodeType="afterEffect">
                                  <p:stCondLst>
                                    <p:cond delay="0"/>
                                  </p:stCondLst>
                                  <p:childTnLst>
                                    <p:set>
                                      <p:cBhvr>
                                        <p:cTn id="72" dur="1" fill="hold">
                                          <p:stCondLst>
                                            <p:cond delay="0"/>
                                          </p:stCondLst>
                                        </p:cTn>
                                        <p:tgtEl>
                                          <p:spTgt spid="29749"/>
                                        </p:tgtEl>
                                        <p:attrNameLst>
                                          <p:attrName>style.visibility</p:attrName>
                                        </p:attrNameLst>
                                      </p:cBhvr>
                                      <p:to>
                                        <p:strVal val="visible"/>
                                      </p:to>
                                    </p:set>
                                  </p:childTnLst>
                                </p:cTn>
                              </p:par>
                            </p:childTnLst>
                          </p:cTn>
                        </p:par>
                        <p:par>
                          <p:cTn id="73" fill="hold">
                            <p:stCondLst>
                              <p:cond delay="17000"/>
                            </p:stCondLst>
                            <p:childTnLst>
                              <p:par>
                                <p:cTn id="74" presetID="0" presetClass="path" presetSubtype="0" accel="50000" decel="50000" fill="hold" grpId="1" nodeType="afterEffect">
                                  <p:stCondLst>
                                    <p:cond delay="0"/>
                                  </p:stCondLst>
                                  <p:childTnLst>
                                    <p:animMotion origin="layout" path="M 1.66667E-6 -5.43353E-6 L 0.00173 0.16485 L 0.15729 0.06751 L 0.25399 0.30011 L 0.36996 0.21965 " pathEditMode="relative" ptsTypes="AAAAA">
                                      <p:cBhvr>
                                        <p:cTn id="75" dur="2000" fill="hold"/>
                                        <p:tgtEl>
                                          <p:spTgt spid="29749"/>
                                        </p:tgtEl>
                                        <p:attrNameLst>
                                          <p:attrName>ppt_x</p:attrName>
                                          <p:attrName>ppt_y</p:attrName>
                                        </p:attrNameLst>
                                      </p:cBhvr>
                                    </p:animMotion>
                                  </p:childTnLst>
                                </p:cTn>
                              </p:par>
                            </p:childTnLst>
                          </p:cTn>
                        </p:par>
                        <p:par>
                          <p:cTn id="76" fill="hold">
                            <p:stCondLst>
                              <p:cond delay="19000"/>
                            </p:stCondLst>
                            <p:childTnLst>
                              <p:par>
                                <p:cTn id="77" presetID="1" presetClass="exit" presetSubtype="0" fill="hold" grpId="2" nodeType="afterEffect">
                                  <p:stCondLst>
                                    <p:cond delay="0"/>
                                  </p:stCondLst>
                                  <p:childTnLst>
                                    <p:set>
                                      <p:cBhvr>
                                        <p:cTn id="78" dur="1" fill="hold">
                                          <p:stCondLst>
                                            <p:cond delay="0"/>
                                          </p:stCondLst>
                                        </p:cTn>
                                        <p:tgtEl>
                                          <p:spTgt spid="297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40" grpId="0" animBg="1"/>
      <p:bldP spid="29740" grpId="1" animBg="1"/>
      <p:bldP spid="29740" grpId="2" animBg="1"/>
      <p:bldP spid="29742" grpId="0" animBg="1"/>
      <p:bldP spid="29742" grpId="1" animBg="1"/>
      <p:bldP spid="29742" grpId="2" animBg="1"/>
      <p:bldP spid="29743" grpId="0" animBg="1"/>
      <p:bldP spid="29743" grpId="1" animBg="1"/>
      <p:bldP spid="29743" grpId="2" animBg="1"/>
      <p:bldP spid="29745" grpId="0" animBg="1"/>
      <p:bldP spid="29745" grpId="1" animBg="1"/>
      <p:bldP spid="29746" grpId="0" animBg="1"/>
      <p:bldP spid="29746" grpId="1" animBg="1"/>
      <p:bldP spid="29746" grpId="2" animBg="1"/>
      <p:bldP spid="29747" grpId="0" animBg="1"/>
      <p:bldP spid="29747" grpId="1" animBg="1"/>
      <p:bldP spid="29747" grpId="2" animBg="1"/>
      <p:bldP spid="29748" grpId="0" animBg="1"/>
      <p:bldP spid="29748" grpId="1" animBg="1"/>
      <p:bldP spid="29748" grpId="2" animBg="1"/>
      <p:bldP spid="29749" grpId="0" animBg="1"/>
      <p:bldP spid="29749" grpId="1" animBg="1"/>
      <p:bldP spid="29749" grpId="2" animBg="1"/>
      <p:bldP spid="29750" grpId="0" animBg="1"/>
      <p:bldP spid="29750"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zh-CN" altLang="en-US"/>
              <a:t>注意分组的</a:t>
            </a:r>
            <a:r>
              <a:rPr lang="zh-CN" altLang="en-US">
                <a:solidFill>
                  <a:schemeClr val="hlink"/>
                </a:solidFill>
              </a:rPr>
              <a:t>存储转发</a:t>
            </a:r>
            <a:r>
              <a:rPr lang="zh-CN" altLang="en-US"/>
              <a:t>过程</a:t>
            </a:r>
          </a:p>
        </p:txBody>
      </p:sp>
      <p:grpSp>
        <p:nvGrpSpPr>
          <p:cNvPr id="30723" name="Group 3"/>
          <p:cNvGrpSpPr>
            <a:grpSpLocks/>
          </p:cNvGrpSpPr>
          <p:nvPr/>
        </p:nvGrpSpPr>
        <p:grpSpPr bwMode="auto">
          <a:xfrm>
            <a:off x="1528763" y="2536825"/>
            <a:ext cx="4090987" cy="3667125"/>
            <a:chOff x="2256" y="2386"/>
            <a:chExt cx="2147" cy="1919"/>
          </a:xfrm>
        </p:grpSpPr>
        <p:sp>
          <p:nvSpPr>
            <p:cNvPr id="30724" name="Oval 4"/>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30725" name="Oval 5"/>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30726" name="Oval 6"/>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30727" name="Oval 7"/>
            <p:cNvSpPr>
              <a:spLocks noChangeArrowheads="1"/>
            </p:cNvSpPr>
            <p:nvPr/>
          </p:nvSpPr>
          <p:spPr bwMode="auto">
            <a:xfrm rot="18365028">
              <a:off x="3754" y="3108"/>
              <a:ext cx="687" cy="610"/>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30728" name="Oval 8"/>
            <p:cNvSpPr>
              <a:spLocks noChangeArrowheads="1"/>
            </p:cNvSpPr>
            <p:nvPr/>
          </p:nvSpPr>
          <p:spPr bwMode="auto">
            <a:xfrm rot="-1674972">
              <a:off x="3052" y="3445"/>
              <a:ext cx="1110" cy="772"/>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30729" name="Oval 9"/>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30730" name="Oval 10"/>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30731" name="Oval 11"/>
            <p:cNvSpPr>
              <a:spLocks noChangeArrowheads="1"/>
            </p:cNvSpPr>
            <p:nvPr/>
          </p:nvSpPr>
          <p:spPr bwMode="auto">
            <a:xfrm rot="18065028">
              <a:off x="2160" y="3115"/>
              <a:ext cx="695" cy="504"/>
            </a:xfrm>
            <a:prstGeom prst="ellipse">
              <a:avLst/>
            </a:prstGeom>
            <a:solidFill>
              <a:srgbClr val="FFFF99"/>
            </a:solidFill>
            <a:ln w="12700">
              <a:solidFill>
                <a:schemeClr val="tx1"/>
              </a:solidFill>
              <a:round/>
              <a:headEnd/>
              <a:tailEnd/>
            </a:ln>
            <a:effectLst/>
          </p:spPr>
          <p:txBody>
            <a:bodyPr wrap="none" anchor="ctr"/>
            <a:lstStyle/>
            <a:p>
              <a:endParaRPr lang="zh-CN" altLang="en-US"/>
            </a:p>
          </p:txBody>
        </p:sp>
        <p:sp>
          <p:nvSpPr>
            <p:cNvPr id="30732" name="Freeform 12"/>
            <p:cNvSpPr>
              <a:spLocks/>
            </p:cNvSpPr>
            <p:nvPr/>
          </p:nvSpPr>
          <p:spPr bwMode="auto">
            <a:xfrm>
              <a:off x="2358" y="2506"/>
              <a:ext cx="1931" cy="1684"/>
            </a:xfrm>
            <a:custGeom>
              <a:avLst/>
              <a:gdLst/>
              <a:ahLst/>
              <a:cxnLst>
                <a:cxn ang="0">
                  <a:pos x="579" y="263"/>
                </a:cxn>
                <a:cxn ang="0">
                  <a:pos x="632" y="168"/>
                </a:cxn>
                <a:cxn ang="0">
                  <a:pos x="695" y="126"/>
                </a:cxn>
                <a:cxn ang="0">
                  <a:pos x="916" y="115"/>
                </a:cxn>
                <a:cxn ang="0">
                  <a:pos x="1095" y="52"/>
                </a:cxn>
                <a:cxn ang="0">
                  <a:pos x="1158" y="21"/>
                </a:cxn>
                <a:cxn ang="0">
                  <a:pos x="1221" y="0"/>
                </a:cxn>
                <a:cxn ang="0">
                  <a:pos x="1337" y="42"/>
                </a:cxn>
                <a:cxn ang="0">
                  <a:pos x="1400" y="84"/>
                </a:cxn>
                <a:cxn ang="0">
                  <a:pos x="1432" y="105"/>
                </a:cxn>
                <a:cxn ang="0">
                  <a:pos x="1505" y="158"/>
                </a:cxn>
                <a:cxn ang="0">
                  <a:pos x="1526" y="189"/>
                </a:cxn>
                <a:cxn ang="0">
                  <a:pos x="1558" y="210"/>
                </a:cxn>
                <a:cxn ang="0">
                  <a:pos x="1653" y="294"/>
                </a:cxn>
                <a:cxn ang="0">
                  <a:pos x="1737" y="368"/>
                </a:cxn>
                <a:cxn ang="0">
                  <a:pos x="1800" y="389"/>
                </a:cxn>
                <a:cxn ang="0">
                  <a:pos x="1832" y="410"/>
                </a:cxn>
                <a:cxn ang="0">
                  <a:pos x="1916" y="589"/>
                </a:cxn>
                <a:cxn ang="0">
                  <a:pos x="1842" y="1084"/>
                </a:cxn>
                <a:cxn ang="0">
                  <a:pos x="1769" y="1168"/>
                </a:cxn>
                <a:cxn ang="0">
                  <a:pos x="1653" y="1284"/>
                </a:cxn>
                <a:cxn ang="0">
                  <a:pos x="1590" y="1347"/>
                </a:cxn>
                <a:cxn ang="0">
                  <a:pos x="1558" y="1368"/>
                </a:cxn>
                <a:cxn ang="0">
                  <a:pos x="1474" y="1431"/>
                </a:cxn>
                <a:cxn ang="0">
                  <a:pos x="1411" y="1453"/>
                </a:cxn>
                <a:cxn ang="0">
                  <a:pos x="1253" y="1579"/>
                </a:cxn>
                <a:cxn ang="0">
                  <a:pos x="1190" y="1621"/>
                </a:cxn>
                <a:cxn ang="0">
                  <a:pos x="1000" y="1684"/>
                </a:cxn>
                <a:cxn ang="0">
                  <a:pos x="432" y="1653"/>
                </a:cxn>
                <a:cxn ang="0">
                  <a:pos x="337" y="1621"/>
                </a:cxn>
                <a:cxn ang="0">
                  <a:pos x="242" y="1558"/>
                </a:cxn>
                <a:cxn ang="0">
                  <a:pos x="168" y="1463"/>
                </a:cxn>
                <a:cxn ang="0">
                  <a:pos x="126" y="1400"/>
                </a:cxn>
                <a:cxn ang="0">
                  <a:pos x="105" y="1368"/>
                </a:cxn>
                <a:cxn ang="0">
                  <a:pos x="21" y="1242"/>
                </a:cxn>
                <a:cxn ang="0">
                  <a:pos x="32" y="1031"/>
                </a:cxn>
                <a:cxn ang="0">
                  <a:pos x="42" y="821"/>
                </a:cxn>
                <a:cxn ang="0">
                  <a:pos x="84" y="631"/>
                </a:cxn>
                <a:cxn ang="0">
                  <a:pos x="200" y="337"/>
                </a:cxn>
                <a:cxn ang="0">
                  <a:pos x="242" y="263"/>
                </a:cxn>
                <a:cxn ang="0">
                  <a:pos x="305" y="252"/>
                </a:cxn>
                <a:cxn ang="0">
                  <a:pos x="326" y="189"/>
                </a:cxn>
                <a:cxn ang="0">
                  <a:pos x="400" y="147"/>
                </a:cxn>
                <a:cxn ang="0">
                  <a:pos x="432" y="168"/>
                </a:cxn>
                <a:cxn ang="0">
                  <a:pos x="453" y="200"/>
                </a:cxn>
                <a:cxn ang="0">
                  <a:pos x="537" y="210"/>
                </a:cxn>
                <a:cxn ang="0">
                  <a:pos x="558" y="242"/>
                </a:cxn>
                <a:cxn ang="0">
                  <a:pos x="579" y="263"/>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w="9525">
              <a:noFill/>
              <a:round/>
              <a:headEnd/>
              <a:tailEnd/>
            </a:ln>
            <a:effectLst/>
          </p:spPr>
          <p:txBody>
            <a:bodyPr wrap="none" anchor="ctr"/>
            <a:lstStyle/>
            <a:p>
              <a:endParaRPr lang="zh-CN" altLang="en-US"/>
            </a:p>
          </p:txBody>
        </p:sp>
      </p:grpSp>
      <p:sp>
        <p:nvSpPr>
          <p:cNvPr id="30733" name="Line 13"/>
          <p:cNvSpPr>
            <a:spLocks noChangeShapeType="1"/>
          </p:cNvSpPr>
          <p:nvPr/>
        </p:nvSpPr>
        <p:spPr bwMode="auto">
          <a:xfrm flipV="1">
            <a:off x="2660650" y="2771775"/>
            <a:ext cx="1281113" cy="555625"/>
          </a:xfrm>
          <a:prstGeom prst="line">
            <a:avLst/>
          </a:prstGeom>
          <a:noFill/>
          <a:ln w="28575">
            <a:solidFill>
              <a:schemeClr val="tx1"/>
            </a:solidFill>
            <a:round/>
            <a:headEnd/>
            <a:tailEnd/>
          </a:ln>
          <a:effectLst/>
        </p:spPr>
        <p:txBody>
          <a:bodyPr wrap="none" anchor="ctr"/>
          <a:lstStyle/>
          <a:p>
            <a:endParaRPr lang="zh-CN" altLang="en-US"/>
          </a:p>
        </p:txBody>
      </p:sp>
      <p:sp>
        <p:nvSpPr>
          <p:cNvPr id="30734" name="Line 14"/>
          <p:cNvSpPr>
            <a:spLocks noChangeShapeType="1"/>
          </p:cNvSpPr>
          <p:nvPr/>
        </p:nvSpPr>
        <p:spPr bwMode="auto">
          <a:xfrm>
            <a:off x="4098925" y="2846388"/>
            <a:ext cx="757238" cy="1398587"/>
          </a:xfrm>
          <a:prstGeom prst="line">
            <a:avLst/>
          </a:prstGeom>
          <a:noFill/>
          <a:ln w="28575">
            <a:solidFill>
              <a:schemeClr val="tx1"/>
            </a:solidFill>
            <a:round/>
            <a:headEnd/>
            <a:tailEnd/>
          </a:ln>
          <a:effectLst/>
        </p:spPr>
        <p:txBody>
          <a:bodyPr wrap="none" anchor="ctr"/>
          <a:lstStyle/>
          <a:p>
            <a:endParaRPr lang="zh-CN" altLang="en-US"/>
          </a:p>
        </p:txBody>
      </p:sp>
      <p:sp>
        <p:nvSpPr>
          <p:cNvPr id="30735" name="Line 15"/>
          <p:cNvSpPr>
            <a:spLocks noChangeShapeType="1"/>
          </p:cNvSpPr>
          <p:nvPr/>
        </p:nvSpPr>
        <p:spPr bwMode="auto">
          <a:xfrm flipH="1">
            <a:off x="1905000" y="3419475"/>
            <a:ext cx="665163" cy="1255713"/>
          </a:xfrm>
          <a:prstGeom prst="line">
            <a:avLst/>
          </a:prstGeom>
          <a:noFill/>
          <a:ln w="28575">
            <a:solidFill>
              <a:schemeClr val="tx1"/>
            </a:solidFill>
            <a:round/>
            <a:headEnd/>
            <a:tailEnd/>
          </a:ln>
          <a:effectLst/>
        </p:spPr>
        <p:txBody>
          <a:bodyPr wrap="none" anchor="ctr"/>
          <a:lstStyle/>
          <a:p>
            <a:endParaRPr lang="zh-CN" altLang="en-US"/>
          </a:p>
        </p:txBody>
      </p:sp>
      <p:sp>
        <p:nvSpPr>
          <p:cNvPr id="30736" name="Line 16"/>
          <p:cNvSpPr>
            <a:spLocks noChangeShapeType="1"/>
          </p:cNvSpPr>
          <p:nvPr/>
        </p:nvSpPr>
        <p:spPr bwMode="auto">
          <a:xfrm>
            <a:off x="1946275" y="4852988"/>
            <a:ext cx="1520825" cy="882650"/>
          </a:xfrm>
          <a:prstGeom prst="line">
            <a:avLst/>
          </a:prstGeom>
          <a:noFill/>
          <a:ln w="28575">
            <a:solidFill>
              <a:schemeClr val="tx1"/>
            </a:solidFill>
            <a:round/>
            <a:headEnd/>
            <a:tailEnd/>
          </a:ln>
          <a:effectLst/>
        </p:spPr>
        <p:txBody>
          <a:bodyPr wrap="none" anchor="ctr"/>
          <a:lstStyle/>
          <a:p>
            <a:endParaRPr lang="zh-CN" altLang="en-US"/>
          </a:p>
        </p:txBody>
      </p:sp>
      <p:sp>
        <p:nvSpPr>
          <p:cNvPr id="30737" name="Line 17"/>
          <p:cNvSpPr>
            <a:spLocks noChangeShapeType="1"/>
          </p:cNvSpPr>
          <p:nvPr/>
        </p:nvSpPr>
        <p:spPr bwMode="auto">
          <a:xfrm flipV="1">
            <a:off x="3530600" y="4521200"/>
            <a:ext cx="1325563" cy="1306513"/>
          </a:xfrm>
          <a:prstGeom prst="line">
            <a:avLst/>
          </a:prstGeom>
          <a:noFill/>
          <a:ln w="28575">
            <a:solidFill>
              <a:schemeClr val="tx1"/>
            </a:solidFill>
            <a:round/>
            <a:headEnd/>
            <a:tailEnd/>
          </a:ln>
          <a:effectLst/>
        </p:spPr>
        <p:txBody>
          <a:bodyPr wrap="none" anchor="ctr"/>
          <a:lstStyle/>
          <a:p>
            <a:endParaRPr lang="zh-CN" altLang="en-US"/>
          </a:p>
        </p:txBody>
      </p:sp>
      <p:sp>
        <p:nvSpPr>
          <p:cNvPr id="30738" name="Line 18"/>
          <p:cNvSpPr>
            <a:spLocks noChangeShapeType="1"/>
          </p:cNvSpPr>
          <p:nvPr/>
        </p:nvSpPr>
        <p:spPr bwMode="auto">
          <a:xfrm>
            <a:off x="2713038" y="3425825"/>
            <a:ext cx="2125662" cy="946150"/>
          </a:xfrm>
          <a:prstGeom prst="line">
            <a:avLst/>
          </a:prstGeom>
          <a:noFill/>
          <a:ln w="28575">
            <a:solidFill>
              <a:schemeClr val="tx1"/>
            </a:solidFill>
            <a:round/>
            <a:headEnd/>
            <a:tailEnd/>
          </a:ln>
          <a:effectLst/>
        </p:spPr>
        <p:txBody>
          <a:bodyPr wrap="none" anchor="ctr"/>
          <a:lstStyle/>
          <a:p>
            <a:endParaRPr lang="zh-CN" altLang="en-US"/>
          </a:p>
        </p:txBody>
      </p:sp>
      <p:sp>
        <p:nvSpPr>
          <p:cNvPr id="30739" name="Line 19"/>
          <p:cNvSpPr>
            <a:spLocks noChangeShapeType="1"/>
          </p:cNvSpPr>
          <p:nvPr/>
        </p:nvSpPr>
        <p:spPr bwMode="auto">
          <a:xfrm>
            <a:off x="2611438" y="3262313"/>
            <a:ext cx="1000125" cy="2471737"/>
          </a:xfrm>
          <a:prstGeom prst="line">
            <a:avLst/>
          </a:prstGeom>
          <a:noFill/>
          <a:ln w="28575">
            <a:solidFill>
              <a:schemeClr val="tx1"/>
            </a:solidFill>
            <a:round/>
            <a:headEnd/>
            <a:tailEnd/>
          </a:ln>
          <a:effectLst/>
        </p:spPr>
        <p:txBody>
          <a:bodyPr wrap="none" anchor="ctr"/>
          <a:lstStyle/>
          <a:p>
            <a:endParaRPr lang="zh-CN" altLang="en-US"/>
          </a:p>
        </p:txBody>
      </p:sp>
      <p:sp>
        <p:nvSpPr>
          <p:cNvPr id="30740" name="Line 20"/>
          <p:cNvSpPr>
            <a:spLocks noChangeShapeType="1"/>
          </p:cNvSpPr>
          <p:nvPr/>
        </p:nvSpPr>
        <p:spPr bwMode="auto">
          <a:xfrm flipV="1">
            <a:off x="2935288" y="5805488"/>
            <a:ext cx="639762" cy="549275"/>
          </a:xfrm>
          <a:prstGeom prst="line">
            <a:avLst/>
          </a:prstGeom>
          <a:noFill/>
          <a:ln w="19050">
            <a:solidFill>
              <a:schemeClr val="tx1"/>
            </a:solidFill>
            <a:round/>
            <a:headEnd/>
            <a:tailEnd/>
          </a:ln>
          <a:effectLst/>
        </p:spPr>
        <p:txBody>
          <a:bodyPr wrap="none" anchor="ctr"/>
          <a:lstStyle/>
          <a:p>
            <a:endParaRPr lang="zh-CN" altLang="en-US"/>
          </a:p>
        </p:txBody>
      </p:sp>
      <p:sp>
        <p:nvSpPr>
          <p:cNvPr id="30741" name="Line 21"/>
          <p:cNvSpPr>
            <a:spLocks noChangeShapeType="1"/>
          </p:cNvSpPr>
          <p:nvPr/>
        </p:nvSpPr>
        <p:spPr bwMode="auto">
          <a:xfrm rot="-5400000">
            <a:off x="3859213" y="2455863"/>
            <a:ext cx="336550" cy="0"/>
          </a:xfrm>
          <a:prstGeom prst="line">
            <a:avLst/>
          </a:prstGeom>
          <a:noFill/>
          <a:ln w="19050">
            <a:solidFill>
              <a:schemeClr val="tx1"/>
            </a:solidFill>
            <a:round/>
            <a:headEnd/>
            <a:tailEnd/>
          </a:ln>
          <a:effectLst/>
        </p:spPr>
        <p:txBody>
          <a:bodyPr wrap="none" anchor="ctr"/>
          <a:lstStyle/>
          <a:p>
            <a:endParaRPr lang="zh-CN" altLang="en-US"/>
          </a:p>
        </p:txBody>
      </p:sp>
      <p:sp>
        <p:nvSpPr>
          <p:cNvPr id="30742" name="Line 22"/>
          <p:cNvSpPr>
            <a:spLocks noChangeShapeType="1"/>
          </p:cNvSpPr>
          <p:nvPr/>
        </p:nvSpPr>
        <p:spPr bwMode="auto">
          <a:xfrm>
            <a:off x="4948238" y="4521200"/>
            <a:ext cx="639762" cy="1008063"/>
          </a:xfrm>
          <a:prstGeom prst="line">
            <a:avLst/>
          </a:prstGeom>
          <a:noFill/>
          <a:ln w="19050">
            <a:solidFill>
              <a:schemeClr val="tx1"/>
            </a:solidFill>
            <a:round/>
            <a:headEnd/>
            <a:tailEnd/>
          </a:ln>
          <a:effectLst/>
        </p:spPr>
        <p:txBody>
          <a:bodyPr wrap="none" anchor="ctr"/>
          <a:lstStyle/>
          <a:p>
            <a:endParaRPr lang="zh-CN" altLang="en-US"/>
          </a:p>
        </p:txBody>
      </p:sp>
      <p:sp>
        <p:nvSpPr>
          <p:cNvPr id="30743" name="Line 23"/>
          <p:cNvSpPr>
            <a:spLocks noChangeShapeType="1"/>
          </p:cNvSpPr>
          <p:nvPr/>
        </p:nvSpPr>
        <p:spPr bwMode="auto">
          <a:xfrm flipV="1">
            <a:off x="1027113" y="4778375"/>
            <a:ext cx="644525" cy="6350"/>
          </a:xfrm>
          <a:prstGeom prst="line">
            <a:avLst/>
          </a:prstGeom>
          <a:noFill/>
          <a:ln w="19050">
            <a:solidFill>
              <a:schemeClr val="tx1"/>
            </a:solidFill>
            <a:round/>
            <a:headEnd/>
            <a:tailEnd/>
          </a:ln>
          <a:effectLst/>
        </p:spPr>
        <p:txBody>
          <a:bodyPr wrap="none" anchor="ctr"/>
          <a:lstStyle/>
          <a:p>
            <a:endParaRPr lang="zh-CN" altLang="en-US"/>
          </a:p>
        </p:txBody>
      </p:sp>
      <p:sp>
        <p:nvSpPr>
          <p:cNvPr id="30744" name="Line 24"/>
          <p:cNvSpPr>
            <a:spLocks noChangeShapeType="1"/>
          </p:cNvSpPr>
          <p:nvPr/>
        </p:nvSpPr>
        <p:spPr bwMode="auto">
          <a:xfrm rot="5400000" flipH="1">
            <a:off x="2184400" y="2887663"/>
            <a:ext cx="773113" cy="1587"/>
          </a:xfrm>
          <a:prstGeom prst="line">
            <a:avLst/>
          </a:prstGeom>
          <a:noFill/>
          <a:ln w="19050">
            <a:solidFill>
              <a:schemeClr val="tx1"/>
            </a:solidFill>
            <a:round/>
            <a:headEnd/>
            <a:tailEnd/>
          </a:ln>
          <a:effectLst/>
        </p:spPr>
        <p:txBody>
          <a:bodyPr wrap="none" anchor="ctr"/>
          <a:lstStyle/>
          <a:p>
            <a:endParaRPr lang="zh-CN" altLang="en-US"/>
          </a:p>
        </p:txBody>
      </p:sp>
      <p:sp>
        <p:nvSpPr>
          <p:cNvPr id="30745" name="Text Box 25"/>
          <p:cNvSpPr txBox="1">
            <a:spLocks noChangeArrowheads="1"/>
          </p:cNvSpPr>
          <p:nvPr/>
        </p:nvSpPr>
        <p:spPr bwMode="auto">
          <a:xfrm>
            <a:off x="682625" y="4143375"/>
            <a:ext cx="4603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H</a:t>
            </a:r>
            <a:r>
              <a:rPr kumimoji="1" lang="en-US" altLang="zh-CN" sz="2000" baseline="-25000">
                <a:solidFill>
                  <a:srgbClr val="333399"/>
                </a:solidFill>
              </a:rPr>
              <a:t>1</a:t>
            </a:r>
            <a:endParaRPr kumimoji="1" lang="en-US" altLang="zh-CN" sz="2000">
              <a:solidFill>
                <a:srgbClr val="333399"/>
              </a:solidFill>
            </a:endParaRPr>
          </a:p>
        </p:txBody>
      </p:sp>
      <p:sp>
        <p:nvSpPr>
          <p:cNvPr id="30746" name="Oval 26"/>
          <p:cNvSpPr>
            <a:spLocks noChangeArrowheads="1"/>
          </p:cNvSpPr>
          <p:nvPr/>
        </p:nvSpPr>
        <p:spPr bwMode="auto">
          <a:xfrm>
            <a:off x="1655763" y="4521200"/>
            <a:ext cx="560387" cy="561975"/>
          </a:xfrm>
          <a:prstGeom prst="ellipse">
            <a:avLst/>
          </a:prstGeom>
          <a:solidFill>
            <a:srgbClr val="66FF33"/>
          </a:solidFill>
          <a:ln w="19050">
            <a:solidFill>
              <a:schemeClr val="tx1"/>
            </a:solidFill>
            <a:round/>
            <a:headEnd/>
            <a:tailEnd/>
          </a:ln>
          <a:effectLst/>
        </p:spPr>
        <p:txBody>
          <a:bodyPr wrap="none" anchor="ctr"/>
          <a:lstStyle/>
          <a:p>
            <a:pPr algn="ctr"/>
            <a:r>
              <a:rPr lang="en-US" altLang="zh-CN" sz="2000"/>
              <a:t>A</a:t>
            </a:r>
          </a:p>
        </p:txBody>
      </p:sp>
      <p:sp>
        <p:nvSpPr>
          <p:cNvPr id="30747" name="Line 27"/>
          <p:cNvSpPr>
            <a:spLocks noChangeShapeType="1"/>
          </p:cNvSpPr>
          <p:nvPr/>
        </p:nvSpPr>
        <p:spPr bwMode="auto">
          <a:xfrm flipV="1">
            <a:off x="4948238" y="3924300"/>
            <a:ext cx="806450" cy="412750"/>
          </a:xfrm>
          <a:prstGeom prst="line">
            <a:avLst/>
          </a:prstGeom>
          <a:noFill/>
          <a:ln w="19050">
            <a:solidFill>
              <a:schemeClr val="tx1"/>
            </a:solidFill>
            <a:round/>
            <a:headEnd/>
            <a:tailEnd/>
          </a:ln>
          <a:effectLst/>
        </p:spPr>
        <p:txBody>
          <a:bodyPr wrap="none" anchor="ctr"/>
          <a:lstStyle/>
          <a:p>
            <a:endParaRPr lang="zh-CN" altLang="en-US"/>
          </a:p>
        </p:txBody>
      </p:sp>
      <p:sp>
        <p:nvSpPr>
          <p:cNvPr id="30748" name="AutoShape 28"/>
          <p:cNvSpPr>
            <a:spLocks noChangeArrowheads="1"/>
          </p:cNvSpPr>
          <p:nvPr/>
        </p:nvSpPr>
        <p:spPr bwMode="auto">
          <a:xfrm flipV="1">
            <a:off x="4500563" y="6172200"/>
            <a:ext cx="1655762" cy="425450"/>
          </a:xfrm>
          <a:prstGeom prst="wedgeRoundRectCallout">
            <a:avLst>
              <a:gd name="adj1" fmla="val -60356"/>
              <a:gd name="adj2" fmla="val 115671"/>
              <a:gd name="adj3" fmla="val 16667"/>
            </a:avLst>
          </a:prstGeom>
          <a:solidFill>
            <a:schemeClr val="bg1"/>
          </a:solidFill>
          <a:ln w="9525">
            <a:solidFill>
              <a:schemeClr val="tx1"/>
            </a:solidFill>
            <a:miter lim="800000"/>
            <a:headEnd/>
            <a:tailEnd/>
          </a:ln>
          <a:effectLst/>
        </p:spPr>
        <p:txBody>
          <a:bodyPr rot="10800000" wrap="none" anchor="ctr"/>
          <a:lstStyle/>
          <a:p>
            <a:pPr algn="ctr"/>
            <a:endParaRPr kumimoji="1" lang="zh-CN" altLang="zh-CN" sz="2400">
              <a:latin typeface="Times New Roman" pitchFamily="18" charset="0"/>
            </a:endParaRPr>
          </a:p>
        </p:txBody>
      </p:sp>
      <p:sp>
        <p:nvSpPr>
          <p:cNvPr id="30749" name="Text Box 29"/>
          <p:cNvSpPr txBox="1">
            <a:spLocks noChangeArrowheads="1"/>
          </p:cNvSpPr>
          <p:nvPr/>
        </p:nvSpPr>
        <p:spPr bwMode="auto">
          <a:xfrm>
            <a:off x="4603750" y="6200775"/>
            <a:ext cx="1454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分组交换网</a:t>
            </a:r>
          </a:p>
        </p:txBody>
      </p:sp>
      <p:pic>
        <p:nvPicPr>
          <p:cNvPr id="30750" name="Picture 30"/>
          <p:cNvPicPr>
            <a:picLocks noChangeArrowheads="1"/>
          </p:cNvPicPr>
          <p:nvPr/>
        </p:nvPicPr>
        <p:blipFill>
          <a:blip r:embed="rId2"/>
          <a:srcRect/>
          <a:stretch>
            <a:fillRect/>
          </a:stretch>
        </p:blipFill>
        <p:spPr bwMode="auto">
          <a:xfrm>
            <a:off x="3713163" y="1844675"/>
            <a:ext cx="585787" cy="593725"/>
          </a:xfrm>
          <a:prstGeom prst="rect">
            <a:avLst/>
          </a:prstGeom>
          <a:noFill/>
          <a:ln w="9525">
            <a:noFill/>
            <a:miter lim="800000"/>
            <a:headEnd/>
            <a:tailEnd/>
          </a:ln>
          <a:effectLst/>
        </p:spPr>
      </p:pic>
      <p:pic>
        <p:nvPicPr>
          <p:cNvPr id="30751" name="Picture 31"/>
          <p:cNvPicPr>
            <a:picLocks noChangeArrowheads="1"/>
          </p:cNvPicPr>
          <p:nvPr/>
        </p:nvPicPr>
        <p:blipFill>
          <a:blip r:embed="rId2"/>
          <a:srcRect/>
          <a:stretch>
            <a:fillRect/>
          </a:stretch>
        </p:blipFill>
        <p:spPr bwMode="auto">
          <a:xfrm>
            <a:off x="5640388" y="3559175"/>
            <a:ext cx="587375" cy="593725"/>
          </a:xfrm>
          <a:prstGeom prst="rect">
            <a:avLst/>
          </a:prstGeom>
          <a:noFill/>
          <a:ln w="9525">
            <a:noFill/>
            <a:miter lim="800000"/>
            <a:headEnd/>
            <a:tailEnd/>
          </a:ln>
          <a:effectLst/>
        </p:spPr>
      </p:pic>
      <p:pic>
        <p:nvPicPr>
          <p:cNvPr id="30752" name="Picture 32"/>
          <p:cNvPicPr>
            <a:picLocks noChangeArrowheads="1"/>
          </p:cNvPicPr>
          <p:nvPr/>
        </p:nvPicPr>
        <p:blipFill>
          <a:blip r:embed="rId2"/>
          <a:srcRect/>
          <a:stretch>
            <a:fillRect/>
          </a:stretch>
        </p:blipFill>
        <p:spPr bwMode="auto">
          <a:xfrm>
            <a:off x="2570163" y="6264275"/>
            <a:ext cx="585787" cy="593725"/>
          </a:xfrm>
          <a:prstGeom prst="rect">
            <a:avLst/>
          </a:prstGeom>
          <a:noFill/>
          <a:ln w="9525">
            <a:noFill/>
            <a:miter lim="800000"/>
            <a:headEnd/>
            <a:tailEnd/>
          </a:ln>
          <a:effectLst/>
        </p:spPr>
      </p:pic>
      <p:pic>
        <p:nvPicPr>
          <p:cNvPr id="30753" name="Picture 33"/>
          <p:cNvPicPr>
            <a:picLocks noChangeArrowheads="1"/>
          </p:cNvPicPr>
          <p:nvPr/>
        </p:nvPicPr>
        <p:blipFill>
          <a:blip r:embed="rId2"/>
          <a:srcRect/>
          <a:stretch>
            <a:fillRect/>
          </a:stretch>
        </p:blipFill>
        <p:spPr bwMode="auto">
          <a:xfrm>
            <a:off x="5405438" y="5346700"/>
            <a:ext cx="585787" cy="593725"/>
          </a:xfrm>
          <a:prstGeom prst="rect">
            <a:avLst/>
          </a:prstGeom>
          <a:noFill/>
          <a:ln w="9525">
            <a:noFill/>
            <a:miter lim="800000"/>
            <a:headEnd/>
            <a:tailEnd/>
          </a:ln>
          <a:effectLst/>
        </p:spPr>
      </p:pic>
      <p:pic>
        <p:nvPicPr>
          <p:cNvPr id="30754" name="Picture 34"/>
          <p:cNvPicPr>
            <a:picLocks noChangeArrowheads="1"/>
          </p:cNvPicPr>
          <p:nvPr/>
        </p:nvPicPr>
        <p:blipFill>
          <a:blip r:embed="rId2"/>
          <a:srcRect/>
          <a:stretch>
            <a:fillRect/>
          </a:stretch>
        </p:blipFill>
        <p:spPr bwMode="auto">
          <a:xfrm>
            <a:off x="2295525" y="2043113"/>
            <a:ext cx="587375" cy="595312"/>
          </a:xfrm>
          <a:prstGeom prst="rect">
            <a:avLst/>
          </a:prstGeom>
          <a:noFill/>
          <a:ln w="9525">
            <a:noFill/>
            <a:miter lim="800000"/>
            <a:headEnd/>
            <a:tailEnd/>
          </a:ln>
          <a:effectLst/>
        </p:spPr>
      </p:pic>
      <p:sp>
        <p:nvSpPr>
          <p:cNvPr id="30755" name="Oval 35"/>
          <p:cNvSpPr>
            <a:spLocks noChangeArrowheads="1"/>
          </p:cNvSpPr>
          <p:nvPr/>
        </p:nvSpPr>
        <p:spPr bwMode="auto">
          <a:xfrm>
            <a:off x="2379663" y="3154363"/>
            <a:ext cx="528637" cy="530225"/>
          </a:xfrm>
          <a:prstGeom prst="ellipse">
            <a:avLst/>
          </a:prstGeom>
          <a:solidFill>
            <a:srgbClr val="66FF33"/>
          </a:solidFill>
          <a:ln w="19050">
            <a:solidFill>
              <a:schemeClr val="tx1"/>
            </a:solidFill>
            <a:round/>
            <a:headEnd/>
            <a:tailEnd/>
          </a:ln>
          <a:effectLst/>
        </p:spPr>
        <p:txBody>
          <a:bodyPr wrap="none" anchor="ctr"/>
          <a:lstStyle/>
          <a:p>
            <a:pPr algn="ctr"/>
            <a:r>
              <a:rPr lang="en-US" altLang="zh-CN" sz="2000"/>
              <a:t>B</a:t>
            </a:r>
          </a:p>
        </p:txBody>
      </p:sp>
      <p:sp>
        <p:nvSpPr>
          <p:cNvPr id="30756" name="Oval 36"/>
          <p:cNvSpPr>
            <a:spLocks noChangeArrowheads="1"/>
          </p:cNvSpPr>
          <p:nvPr/>
        </p:nvSpPr>
        <p:spPr bwMode="auto">
          <a:xfrm>
            <a:off x="3800475" y="2543175"/>
            <a:ext cx="515938" cy="517525"/>
          </a:xfrm>
          <a:prstGeom prst="ellipse">
            <a:avLst/>
          </a:prstGeom>
          <a:solidFill>
            <a:srgbClr val="66FF33"/>
          </a:solidFill>
          <a:ln w="19050">
            <a:solidFill>
              <a:schemeClr val="tx1"/>
            </a:solidFill>
            <a:round/>
            <a:headEnd/>
            <a:tailEnd/>
          </a:ln>
          <a:effectLst/>
        </p:spPr>
        <p:txBody>
          <a:bodyPr wrap="none" anchor="ctr"/>
          <a:lstStyle/>
          <a:p>
            <a:pPr algn="ctr"/>
            <a:r>
              <a:rPr lang="en-US" altLang="zh-CN" sz="2000"/>
              <a:t>D</a:t>
            </a:r>
          </a:p>
        </p:txBody>
      </p:sp>
      <p:sp>
        <p:nvSpPr>
          <p:cNvPr id="30757" name="Oval 37"/>
          <p:cNvSpPr>
            <a:spLocks noChangeArrowheads="1"/>
          </p:cNvSpPr>
          <p:nvPr/>
        </p:nvSpPr>
        <p:spPr bwMode="auto">
          <a:xfrm>
            <a:off x="4625975" y="4143375"/>
            <a:ext cx="574675" cy="576263"/>
          </a:xfrm>
          <a:prstGeom prst="ellipse">
            <a:avLst/>
          </a:prstGeom>
          <a:solidFill>
            <a:srgbClr val="66FF33"/>
          </a:solidFill>
          <a:ln w="19050">
            <a:solidFill>
              <a:schemeClr val="tx1"/>
            </a:solidFill>
            <a:round/>
            <a:headEnd/>
            <a:tailEnd/>
          </a:ln>
          <a:effectLst/>
        </p:spPr>
        <p:txBody>
          <a:bodyPr wrap="none" anchor="ctr"/>
          <a:lstStyle/>
          <a:p>
            <a:pPr algn="ctr"/>
            <a:r>
              <a:rPr lang="en-US" altLang="zh-CN" sz="2000"/>
              <a:t>E</a:t>
            </a:r>
          </a:p>
        </p:txBody>
      </p:sp>
      <p:sp>
        <p:nvSpPr>
          <p:cNvPr id="30758" name="Oval 38"/>
          <p:cNvSpPr>
            <a:spLocks noChangeArrowheads="1"/>
          </p:cNvSpPr>
          <p:nvPr/>
        </p:nvSpPr>
        <p:spPr bwMode="auto">
          <a:xfrm>
            <a:off x="3346450" y="5491163"/>
            <a:ext cx="546100" cy="547687"/>
          </a:xfrm>
          <a:prstGeom prst="ellipse">
            <a:avLst/>
          </a:prstGeom>
          <a:solidFill>
            <a:srgbClr val="66FF33"/>
          </a:solidFill>
          <a:ln w="19050">
            <a:solidFill>
              <a:schemeClr val="tx1"/>
            </a:solidFill>
            <a:round/>
            <a:headEnd/>
            <a:tailEnd/>
          </a:ln>
          <a:effectLst/>
        </p:spPr>
        <p:txBody>
          <a:bodyPr wrap="none" anchor="ctr"/>
          <a:lstStyle/>
          <a:p>
            <a:pPr algn="ctr"/>
            <a:r>
              <a:rPr lang="en-US" altLang="zh-CN" sz="2000"/>
              <a:t>C</a:t>
            </a:r>
          </a:p>
        </p:txBody>
      </p:sp>
      <p:sp>
        <p:nvSpPr>
          <p:cNvPr id="30759" name="Text Box 39"/>
          <p:cNvSpPr txBox="1">
            <a:spLocks noChangeArrowheads="1"/>
          </p:cNvSpPr>
          <p:nvPr/>
        </p:nvSpPr>
        <p:spPr bwMode="auto">
          <a:xfrm>
            <a:off x="5076825" y="5300663"/>
            <a:ext cx="4603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H</a:t>
            </a:r>
            <a:r>
              <a:rPr kumimoji="1" lang="en-US" altLang="zh-CN" sz="2000" baseline="-25000">
                <a:solidFill>
                  <a:srgbClr val="333399"/>
                </a:solidFill>
              </a:rPr>
              <a:t>5</a:t>
            </a:r>
            <a:endParaRPr kumimoji="1" lang="en-US" altLang="zh-CN" sz="2000">
              <a:solidFill>
                <a:srgbClr val="333399"/>
              </a:solidFill>
            </a:endParaRPr>
          </a:p>
        </p:txBody>
      </p:sp>
      <p:sp>
        <p:nvSpPr>
          <p:cNvPr id="30760" name="Text Box 40"/>
          <p:cNvSpPr txBox="1">
            <a:spLocks noChangeArrowheads="1"/>
          </p:cNvSpPr>
          <p:nvPr/>
        </p:nvSpPr>
        <p:spPr bwMode="auto">
          <a:xfrm>
            <a:off x="6084888" y="3500438"/>
            <a:ext cx="4603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H</a:t>
            </a:r>
            <a:r>
              <a:rPr kumimoji="1" lang="en-US" altLang="zh-CN" sz="2000" baseline="-25000">
                <a:solidFill>
                  <a:srgbClr val="333399"/>
                </a:solidFill>
              </a:rPr>
              <a:t>6</a:t>
            </a:r>
            <a:endParaRPr kumimoji="1" lang="en-US" altLang="zh-CN" sz="2000">
              <a:solidFill>
                <a:srgbClr val="333399"/>
              </a:solidFill>
            </a:endParaRPr>
          </a:p>
        </p:txBody>
      </p:sp>
      <p:sp>
        <p:nvSpPr>
          <p:cNvPr id="30761" name="Text Box 41"/>
          <p:cNvSpPr txBox="1">
            <a:spLocks noChangeArrowheads="1"/>
          </p:cNvSpPr>
          <p:nvPr/>
        </p:nvSpPr>
        <p:spPr bwMode="auto">
          <a:xfrm>
            <a:off x="3348038" y="1844675"/>
            <a:ext cx="4603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H</a:t>
            </a:r>
            <a:r>
              <a:rPr kumimoji="1" lang="en-US" altLang="zh-CN" sz="2000" baseline="-25000">
                <a:solidFill>
                  <a:srgbClr val="333399"/>
                </a:solidFill>
              </a:rPr>
              <a:t>4</a:t>
            </a:r>
            <a:endParaRPr kumimoji="1" lang="en-US" altLang="zh-CN" sz="2000">
              <a:solidFill>
                <a:srgbClr val="333399"/>
              </a:solidFill>
            </a:endParaRPr>
          </a:p>
        </p:txBody>
      </p:sp>
      <p:sp>
        <p:nvSpPr>
          <p:cNvPr id="30762" name="Text Box 42"/>
          <p:cNvSpPr txBox="1">
            <a:spLocks noChangeArrowheads="1"/>
          </p:cNvSpPr>
          <p:nvPr/>
        </p:nvSpPr>
        <p:spPr bwMode="auto">
          <a:xfrm>
            <a:off x="1979613" y="1989138"/>
            <a:ext cx="4603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H</a:t>
            </a:r>
            <a:r>
              <a:rPr kumimoji="1" lang="en-US" altLang="zh-CN" sz="2000" baseline="-25000">
                <a:solidFill>
                  <a:srgbClr val="333399"/>
                </a:solidFill>
              </a:rPr>
              <a:t>2</a:t>
            </a:r>
            <a:endParaRPr kumimoji="1" lang="en-US" altLang="zh-CN" sz="2000">
              <a:solidFill>
                <a:srgbClr val="333399"/>
              </a:solidFill>
            </a:endParaRPr>
          </a:p>
        </p:txBody>
      </p:sp>
      <p:sp>
        <p:nvSpPr>
          <p:cNvPr id="30763" name="Text Box 43"/>
          <p:cNvSpPr txBox="1">
            <a:spLocks noChangeArrowheads="1"/>
          </p:cNvSpPr>
          <p:nvPr/>
        </p:nvSpPr>
        <p:spPr bwMode="auto">
          <a:xfrm>
            <a:off x="2195513" y="6237288"/>
            <a:ext cx="4603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rPr>
              <a:t>H</a:t>
            </a:r>
            <a:r>
              <a:rPr kumimoji="1" lang="en-US" altLang="zh-CN" sz="2000" baseline="-25000">
                <a:solidFill>
                  <a:srgbClr val="333399"/>
                </a:solidFill>
              </a:rPr>
              <a:t>3</a:t>
            </a:r>
            <a:endParaRPr kumimoji="1" lang="en-US" altLang="zh-CN" sz="2000">
              <a:solidFill>
                <a:srgbClr val="333399"/>
              </a:solidFill>
            </a:endParaRPr>
          </a:p>
        </p:txBody>
      </p:sp>
      <p:pic>
        <p:nvPicPr>
          <p:cNvPr id="30764" name="Picture 44"/>
          <p:cNvPicPr>
            <a:picLocks noChangeArrowheads="1"/>
          </p:cNvPicPr>
          <p:nvPr/>
        </p:nvPicPr>
        <p:blipFill>
          <a:blip r:embed="rId2"/>
          <a:srcRect/>
          <a:stretch>
            <a:fillRect/>
          </a:stretch>
        </p:blipFill>
        <p:spPr bwMode="auto">
          <a:xfrm>
            <a:off x="611188" y="4521200"/>
            <a:ext cx="587375" cy="593725"/>
          </a:xfrm>
          <a:prstGeom prst="rect">
            <a:avLst/>
          </a:prstGeom>
          <a:noFill/>
          <a:ln w="9525">
            <a:noFill/>
            <a:miter lim="800000"/>
            <a:headEnd/>
            <a:tailEnd/>
          </a:ln>
          <a:effectLst/>
        </p:spPr>
      </p:pic>
      <p:sp>
        <p:nvSpPr>
          <p:cNvPr id="30765" name="Rectangle 45"/>
          <p:cNvSpPr>
            <a:spLocks noChangeArrowheads="1"/>
          </p:cNvSpPr>
          <p:nvPr/>
        </p:nvSpPr>
        <p:spPr bwMode="auto">
          <a:xfrm>
            <a:off x="827088" y="4652963"/>
            <a:ext cx="158750" cy="158750"/>
          </a:xfrm>
          <a:prstGeom prst="rect">
            <a:avLst/>
          </a:prstGeom>
          <a:solidFill>
            <a:schemeClr val="hlink"/>
          </a:solidFill>
          <a:ln w="9525">
            <a:solidFill>
              <a:schemeClr val="hlink"/>
            </a:solidFill>
            <a:miter lim="800000"/>
            <a:headEnd/>
            <a:tailEnd/>
          </a:ln>
          <a:effectLst/>
        </p:spPr>
        <p:txBody>
          <a:bodyPr wrap="none" anchor="ctr"/>
          <a:lstStyle/>
          <a:p>
            <a:endParaRPr lang="zh-CN" altLang="en-US"/>
          </a:p>
        </p:txBody>
      </p:sp>
      <p:sp>
        <p:nvSpPr>
          <p:cNvPr id="30766" name="Text Box 46"/>
          <p:cNvSpPr txBox="1">
            <a:spLocks noChangeArrowheads="1"/>
          </p:cNvSpPr>
          <p:nvPr/>
        </p:nvSpPr>
        <p:spPr bwMode="auto">
          <a:xfrm>
            <a:off x="5707063" y="3017838"/>
            <a:ext cx="2936875" cy="557212"/>
          </a:xfrm>
          <a:prstGeom prst="rect">
            <a:avLst/>
          </a:prstGeom>
          <a:noFill/>
          <a:ln w="38100">
            <a:solidFill>
              <a:schemeClr val="hlink"/>
            </a:solidFill>
            <a:miter lim="800000"/>
            <a:headEnd/>
            <a:tailEnd/>
          </a:ln>
          <a:effectLst/>
        </p:spPr>
        <p:txBody>
          <a:bodyPr wrap="none">
            <a:spAutoFit/>
          </a:bodyPr>
          <a:lstStyle/>
          <a:p>
            <a:r>
              <a:rPr kumimoji="1" lang="en-US" altLang="zh-CN" sz="2800">
                <a:solidFill>
                  <a:schemeClr val="hlink"/>
                </a:solidFill>
              </a:rPr>
              <a:t>H</a:t>
            </a:r>
            <a:r>
              <a:rPr kumimoji="1" lang="en-US" altLang="zh-CN" sz="2800" baseline="-25000">
                <a:solidFill>
                  <a:schemeClr val="hlink"/>
                </a:solidFill>
              </a:rPr>
              <a:t>1</a:t>
            </a:r>
            <a:r>
              <a:rPr kumimoji="1" lang="en-US" altLang="zh-CN" sz="1600" baseline="-25000">
                <a:solidFill>
                  <a:schemeClr val="hlink"/>
                </a:solidFill>
              </a:rPr>
              <a:t> </a:t>
            </a:r>
            <a:r>
              <a:rPr kumimoji="1" lang="zh-CN" altLang="en-US" sz="2800">
                <a:solidFill>
                  <a:schemeClr val="hlink"/>
                </a:solidFill>
                <a:ea typeface="黑体" pitchFamily="49" charset="-122"/>
              </a:rPr>
              <a:t>向</a:t>
            </a:r>
            <a:r>
              <a:rPr kumimoji="1" lang="zh-CN" altLang="en-US" sz="1600">
                <a:solidFill>
                  <a:schemeClr val="hlink"/>
                </a:solidFill>
                <a:ea typeface="黑体" pitchFamily="49" charset="-122"/>
              </a:rPr>
              <a:t> </a:t>
            </a:r>
            <a:r>
              <a:rPr kumimoji="1" lang="en-US" altLang="zh-CN" sz="2800">
                <a:solidFill>
                  <a:schemeClr val="hlink"/>
                </a:solidFill>
                <a:ea typeface="黑体" pitchFamily="49" charset="-122"/>
              </a:rPr>
              <a:t>H</a:t>
            </a:r>
            <a:r>
              <a:rPr kumimoji="1" lang="en-US" altLang="zh-CN" sz="2800" baseline="-25000">
                <a:solidFill>
                  <a:schemeClr val="hlink"/>
                </a:solidFill>
                <a:ea typeface="黑体" pitchFamily="49" charset="-122"/>
              </a:rPr>
              <a:t>5</a:t>
            </a:r>
            <a:r>
              <a:rPr kumimoji="1" lang="en-US" altLang="zh-CN" sz="1600">
                <a:solidFill>
                  <a:schemeClr val="hlink"/>
                </a:solidFill>
                <a:ea typeface="黑体" pitchFamily="49" charset="-122"/>
              </a:rPr>
              <a:t> </a:t>
            </a:r>
            <a:r>
              <a:rPr kumimoji="1" lang="zh-CN" altLang="en-US" sz="2800">
                <a:solidFill>
                  <a:schemeClr val="hlink"/>
                </a:solidFill>
                <a:ea typeface="黑体" pitchFamily="49" charset="-122"/>
              </a:rPr>
              <a:t>发送分组</a:t>
            </a:r>
          </a:p>
        </p:txBody>
      </p:sp>
      <p:sp>
        <p:nvSpPr>
          <p:cNvPr id="30767" name="Text Box 47"/>
          <p:cNvSpPr txBox="1">
            <a:spLocks noChangeArrowheads="1"/>
          </p:cNvSpPr>
          <p:nvPr/>
        </p:nvSpPr>
        <p:spPr bwMode="auto">
          <a:xfrm>
            <a:off x="539750" y="2852738"/>
            <a:ext cx="869950" cy="366712"/>
          </a:xfrm>
          <a:prstGeom prst="rect">
            <a:avLst/>
          </a:prstGeom>
          <a:noFill/>
          <a:ln w="9525">
            <a:noFill/>
            <a:miter lim="800000"/>
            <a:headEnd/>
            <a:tailEnd/>
          </a:ln>
          <a:effectLst/>
        </p:spPr>
        <p:txBody>
          <a:bodyPr wrap="none">
            <a:spAutoFit/>
          </a:bodyPr>
          <a:lstStyle/>
          <a:p>
            <a:r>
              <a:rPr kumimoji="1" lang="zh-CN" altLang="en-US">
                <a:solidFill>
                  <a:srgbClr val="333399"/>
                </a:solidFill>
              </a:rPr>
              <a:t>路由器</a:t>
            </a:r>
          </a:p>
        </p:txBody>
      </p:sp>
      <p:sp>
        <p:nvSpPr>
          <p:cNvPr id="30768" name="Text Box 48"/>
          <p:cNvSpPr txBox="1">
            <a:spLocks noChangeArrowheads="1"/>
          </p:cNvSpPr>
          <p:nvPr/>
        </p:nvSpPr>
        <p:spPr bwMode="auto">
          <a:xfrm>
            <a:off x="0" y="3644900"/>
            <a:ext cx="692150" cy="396875"/>
          </a:xfrm>
          <a:prstGeom prst="rect">
            <a:avLst/>
          </a:prstGeom>
          <a:noFill/>
          <a:ln w="9525">
            <a:noFill/>
            <a:miter lim="800000"/>
            <a:headEnd/>
            <a:tailEnd/>
          </a:ln>
          <a:effectLst/>
        </p:spPr>
        <p:txBody>
          <a:bodyPr wrap="none">
            <a:spAutoFit/>
          </a:bodyPr>
          <a:lstStyle/>
          <a:p>
            <a:r>
              <a:rPr kumimoji="1" lang="zh-CN" altLang="en-US" sz="2000">
                <a:solidFill>
                  <a:srgbClr val="333399"/>
                </a:solidFill>
                <a:latin typeface="Times New Roman" pitchFamily="18" charset="0"/>
                <a:ea typeface="黑体" pitchFamily="49" charset="-122"/>
              </a:rPr>
              <a:t>主机</a:t>
            </a:r>
          </a:p>
        </p:txBody>
      </p:sp>
      <p:sp>
        <p:nvSpPr>
          <p:cNvPr id="30769" name="Line 49"/>
          <p:cNvSpPr>
            <a:spLocks noChangeShapeType="1"/>
          </p:cNvSpPr>
          <p:nvPr/>
        </p:nvSpPr>
        <p:spPr bwMode="auto">
          <a:xfrm>
            <a:off x="1619250" y="3068638"/>
            <a:ext cx="792163" cy="215900"/>
          </a:xfrm>
          <a:prstGeom prst="line">
            <a:avLst/>
          </a:prstGeom>
          <a:noFill/>
          <a:ln w="28575">
            <a:solidFill>
              <a:srgbClr val="333399"/>
            </a:solidFill>
            <a:round/>
            <a:headEnd/>
            <a:tailEnd type="triangle" w="med" len="lg"/>
          </a:ln>
          <a:effectLst/>
        </p:spPr>
        <p:txBody>
          <a:bodyPr/>
          <a:lstStyle/>
          <a:p>
            <a:endParaRPr lang="zh-CN" altLang="en-US"/>
          </a:p>
        </p:txBody>
      </p:sp>
      <p:sp>
        <p:nvSpPr>
          <p:cNvPr id="30770" name="Text Box 50"/>
          <p:cNvSpPr txBox="1">
            <a:spLocks noChangeArrowheads="1"/>
          </p:cNvSpPr>
          <p:nvPr/>
        </p:nvSpPr>
        <p:spPr bwMode="auto">
          <a:xfrm>
            <a:off x="1116013" y="2205038"/>
            <a:ext cx="3671887" cy="1449387"/>
          </a:xfrm>
          <a:prstGeom prst="rect">
            <a:avLst/>
          </a:prstGeom>
          <a:solidFill>
            <a:srgbClr val="FFCCFF"/>
          </a:solidFill>
          <a:ln w="76200" cmpd="tri">
            <a:solidFill>
              <a:srgbClr val="333399"/>
            </a:solidFill>
            <a:miter lim="800000"/>
            <a:headEnd/>
            <a:tailEnd/>
          </a:ln>
          <a:effectLst/>
        </p:spPr>
        <p:txBody>
          <a:bodyPr>
            <a:spAutoFit/>
          </a:bodyPr>
          <a:lstStyle/>
          <a:p>
            <a:pPr algn="ctr"/>
            <a:r>
              <a:rPr kumimoji="1" lang="zh-CN" altLang="en-US" sz="2800">
                <a:solidFill>
                  <a:srgbClr val="333399"/>
                </a:solidFill>
                <a:latin typeface="黑体" pitchFamily="49" charset="-122"/>
                <a:ea typeface="黑体" pitchFamily="49" charset="-122"/>
              </a:rPr>
              <a:t>在路由器</a:t>
            </a:r>
            <a:r>
              <a:rPr kumimoji="1" lang="zh-CN" altLang="en-US" sz="1000">
                <a:solidFill>
                  <a:srgbClr val="333399"/>
                </a:solidFill>
                <a:latin typeface="黑体" pitchFamily="49" charset="-122"/>
                <a:ea typeface="黑体" pitchFamily="49" charset="-122"/>
              </a:rPr>
              <a:t> </a:t>
            </a:r>
            <a:r>
              <a:rPr kumimoji="1" lang="en-US" altLang="zh-CN" sz="2800">
                <a:solidFill>
                  <a:srgbClr val="333399"/>
                </a:solidFill>
                <a:ea typeface="黑体" pitchFamily="49" charset="-122"/>
              </a:rPr>
              <a:t>A</a:t>
            </a:r>
            <a:r>
              <a:rPr kumimoji="1" lang="en-US" altLang="zh-CN" sz="1000">
                <a:solidFill>
                  <a:srgbClr val="333399"/>
                </a:solidFill>
                <a:latin typeface="黑体" pitchFamily="49" charset="-122"/>
                <a:ea typeface="黑体" pitchFamily="49" charset="-122"/>
              </a:rPr>
              <a:t> </a:t>
            </a:r>
            <a:r>
              <a:rPr kumimoji="1" lang="zh-CN" altLang="en-US" sz="2800">
                <a:solidFill>
                  <a:srgbClr val="333399"/>
                </a:solidFill>
                <a:latin typeface="黑体" pitchFamily="49" charset="-122"/>
                <a:ea typeface="黑体" pitchFamily="49" charset="-122"/>
              </a:rPr>
              <a:t>暂存</a:t>
            </a:r>
          </a:p>
          <a:p>
            <a:pPr algn="ctr"/>
            <a:r>
              <a:rPr kumimoji="1" lang="zh-CN" altLang="en-US" sz="2800">
                <a:solidFill>
                  <a:srgbClr val="333399"/>
                </a:solidFill>
                <a:latin typeface="黑体" pitchFamily="49" charset="-122"/>
                <a:ea typeface="黑体" pitchFamily="49" charset="-122"/>
              </a:rPr>
              <a:t>查找转发表</a:t>
            </a:r>
          </a:p>
          <a:p>
            <a:pPr algn="ctr"/>
            <a:r>
              <a:rPr kumimoji="1" lang="zh-CN" altLang="en-US" sz="2800">
                <a:solidFill>
                  <a:srgbClr val="333399"/>
                </a:solidFill>
                <a:latin typeface="黑体" pitchFamily="49" charset="-122"/>
                <a:ea typeface="黑体" pitchFamily="49" charset="-122"/>
              </a:rPr>
              <a:t>找到转发的端口</a:t>
            </a:r>
          </a:p>
        </p:txBody>
      </p:sp>
      <p:sp>
        <p:nvSpPr>
          <p:cNvPr id="30771" name="Line 51"/>
          <p:cNvSpPr>
            <a:spLocks noChangeShapeType="1"/>
          </p:cNvSpPr>
          <p:nvPr/>
        </p:nvSpPr>
        <p:spPr bwMode="auto">
          <a:xfrm>
            <a:off x="395288" y="4005263"/>
            <a:ext cx="360362" cy="576262"/>
          </a:xfrm>
          <a:prstGeom prst="line">
            <a:avLst/>
          </a:prstGeom>
          <a:noFill/>
          <a:ln w="28575">
            <a:solidFill>
              <a:srgbClr val="333399"/>
            </a:solidFill>
            <a:round/>
            <a:headEnd/>
            <a:tailEnd type="triangle" w="med" len="lg"/>
          </a:ln>
          <a:effectLst/>
        </p:spPr>
        <p:txBody>
          <a:bodyPr/>
          <a:lstStyle/>
          <a:p>
            <a:endParaRPr lang="zh-CN" altLang="en-US"/>
          </a:p>
        </p:txBody>
      </p:sp>
      <p:sp>
        <p:nvSpPr>
          <p:cNvPr id="30772" name="Rectangle 52"/>
          <p:cNvSpPr>
            <a:spLocks noChangeArrowheads="1"/>
          </p:cNvSpPr>
          <p:nvPr/>
        </p:nvSpPr>
        <p:spPr bwMode="auto">
          <a:xfrm>
            <a:off x="1690688" y="4652963"/>
            <a:ext cx="158750" cy="158750"/>
          </a:xfrm>
          <a:prstGeom prst="rect">
            <a:avLst/>
          </a:prstGeom>
          <a:solidFill>
            <a:schemeClr val="hlink"/>
          </a:solidFill>
          <a:ln w="9525">
            <a:solidFill>
              <a:schemeClr val="hlink"/>
            </a:solidFill>
            <a:miter lim="800000"/>
            <a:headEnd/>
            <a:tailEnd/>
          </a:ln>
          <a:effectLst/>
        </p:spPr>
        <p:txBody>
          <a:bodyPr wrap="none" anchor="ctr"/>
          <a:lstStyle/>
          <a:p>
            <a:endParaRPr lang="zh-CN" altLang="en-US"/>
          </a:p>
        </p:txBody>
      </p:sp>
      <p:sp>
        <p:nvSpPr>
          <p:cNvPr id="30773" name="Text Box 53"/>
          <p:cNvSpPr txBox="1">
            <a:spLocks noChangeArrowheads="1"/>
          </p:cNvSpPr>
          <p:nvPr/>
        </p:nvSpPr>
        <p:spPr bwMode="auto">
          <a:xfrm flipH="1">
            <a:off x="1331913" y="2205038"/>
            <a:ext cx="3671887" cy="1449387"/>
          </a:xfrm>
          <a:prstGeom prst="rect">
            <a:avLst/>
          </a:prstGeom>
          <a:solidFill>
            <a:srgbClr val="FFCCFF"/>
          </a:solidFill>
          <a:ln w="76200" cmpd="tri">
            <a:solidFill>
              <a:srgbClr val="333399"/>
            </a:solidFill>
            <a:miter lim="800000"/>
            <a:headEnd/>
            <a:tailEnd/>
          </a:ln>
          <a:effectLst/>
        </p:spPr>
        <p:txBody>
          <a:bodyPr>
            <a:spAutoFit/>
          </a:bodyPr>
          <a:lstStyle/>
          <a:p>
            <a:pPr algn="ctr"/>
            <a:r>
              <a:rPr kumimoji="1" lang="zh-CN" altLang="en-US" sz="2800">
                <a:solidFill>
                  <a:srgbClr val="333399"/>
                </a:solidFill>
                <a:latin typeface="黑体" pitchFamily="49" charset="-122"/>
                <a:ea typeface="黑体" pitchFamily="49" charset="-122"/>
              </a:rPr>
              <a:t>在路由器</a:t>
            </a:r>
            <a:r>
              <a:rPr kumimoji="1" lang="zh-CN" altLang="en-US" sz="1000">
                <a:solidFill>
                  <a:srgbClr val="333399"/>
                </a:solidFill>
                <a:latin typeface="黑体" pitchFamily="49" charset="-122"/>
                <a:ea typeface="黑体" pitchFamily="49" charset="-122"/>
              </a:rPr>
              <a:t> </a:t>
            </a:r>
            <a:r>
              <a:rPr kumimoji="1" lang="en-US" altLang="zh-CN" sz="2800">
                <a:solidFill>
                  <a:srgbClr val="333399"/>
                </a:solidFill>
                <a:ea typeface="黑体" pitchFamily="49" charset="-122"/>
              </a:rPr>
              <a:t>C</a:t>
            </a:r>
            <a:r>
              <a:rPr kumimoji="1" lang="en-US" altLang="zh-CN" sz="1000">
                <a:solidFill>
                  <a:srgbClr val="333399"/>
                </a:solidFill>
                <a:latin typeface="黑体" pitchFamily="49" charset="-122"/>
                <a:ea typeface="黑体" pitchFamily="49" charset="-122"/>
              </a:rPr>
              <a:t> </a:t>
            </a:r>
            <a:r>
              <a:rPr kumimoji="1" lang="zh-CN" altLang="en-US" sz="2800">
                <a:solidFill>
                  <a:srgbClr val="333399"/>
                </a:solidFill>
                <a:latin typeface="黑体" pitchFamily="49" charset="-122"/>
                <a:ea typeface="黑体" pitchFamily="49" charset="-122"/>
              </a:rPr>
              <a:t>暂存</a:t>
            </a:r>
          </a:p>
          <a:p>
            <a:pPr algn="ctr"/>
            <a:r>
              <a:rPr kumimoji="1" lang="zh-CN" altLang="en-US" sz="2800">
                <a:solidFill>
                  <a:srgbClr val="333399"/>
                </a:solidFill>
                <a:latin typeface="黑体" pitchFamily="49" charset="-122"/>
                <a:ea typeface="黑体" pitchFamily="49" charset="-122"/>
              </a:rPr>
              <a:t>查找转发表</a:t>
            </a:r>
          </a:p>
          <a:p>
            <a:pPr algn="ctr"/>
            <a:r>
              <a:rPr kumimoji="1" lang="zh-CN" altLang="en-US" sz="2800">
                <a:solidFill>
                  <a:srgbClr val="333399"/>
                </a:solidFill>
                <a:latin typeface="黑体" pitchFamily="49" charset="-122"/>
                <a:ea typeface="黑体" pitchFamily="49" charset="-122"/>
              </a:rPr>
              <a:t>找到转发的端口</a:t>
            </a:r>
          </a:p>
        </p:txBody>
      </p:sp>
      <p:sp>
        <p:nvSpPr>
          <p:cNvPr id="30774" name="Rectangle 54"/>
          <p:cNvSpPr>
            <a:spLocks noChangeArrowheads="1"/>
          </p:cNvSpPr>
          <p:nvPr/>
        </p:nvSpPr>
        <p:spPr bwMode="auto">
          <a:xfrm>
            <a:off x="3492500" y="5661025"/>
            <a:ext cx="144463" cy="144463"/>
          </a:xfrm>
          <a:prstGeom prst="rect">
            <a:avLst/>
          </a:prstGeom>
          <a:solidFill>
            <a:schemeClr val="hlink"/>
          </a:solidFill>
          <a:ln w="9525">
            <a:solidFill>
              <a:schemeClr val="hlink"/>
            </a:solidFill>
            <a:miter lim="800000"/>
            <a:headEnd/>
            <a:tailEnd/>
          </a:ln>
          <a:effectLst/>
        </p:spPr>
        <p:txBody>
          <a:bodyPr wrap="none" anchor="ctr"/>
          <a:lstStyle/>
          <a:p>
            <a:endParaRPr lang="zh-CN" altLang="en-US"/>
          </a:p>
        </p:txBody>
      </p:sp>
      <p:sp>
        <p:nvSpPr>
          <p:cNvPr id="30775" name="Text Box 55"/>
          <p:cNvSpPr txBox="1">
            <a:spLocks noChangeArrowheads="1"/>
          </p:cNvSpPr>
          <p:nvPr/>
        </p:nvSpPr>
        <p:spPr bwMode="auto">
          <a:xfrm>
            <a:off x="1619250" y="2205038"/>
            <a:ext cx="3671888" cy="1449387"/>
          </a:xfrm>
          <a:prstGeom prst="rect">
            <a:avLst/>
          </a:prstGeom>
          <a:solidFill>
            <a:srgbClr val="FFCCFF"/>
          </a:solidFill>
          <a:ln w="76200" cmpd="tri">
            <a:solidFill>
              <a:srgbClr val="333399"/>
            </a:solidFill>
            <a:miter lim="800000"/>
            <a:headEnd/>
            <a:tailEnd/>
          </a:ln>
          <a:effectLst/>
        </p:spPr>
        <p:txBody>
          <a:bodyPr>
            <a:spAutoFit/>
          </a:bodyPr>
          <a:lstStyle/>
          <a:p>
            <a:pPr algn="ctr"/>
            <a:r>
              <a:rPr kumimoji="1" lang="zh-CN" altLang="en-US" sz="2800">
                <a:solidFill>
                  <a:srgbClr val="333399"/>
                </a:solidFill>
                <a:latin typeface="黑体" pitchFamily="49" charset="-122"/>
                <a:ea typeface="黑体" pitchFamily="49" charset="-122"/>
              </a:rPr>
              <a:t>在路由器</a:t>
            </a:r>
            <a:r>
              <a:rPr kumimoji="1" lang="zh-CN" altLang="en-US" sz="1000">
                <a:solidFill>
                  <a:srgbClr val="333399"/>
                </a:solidFill>
                <a:latin typeface="黑体" pitchFamily="49" charset="-122"/>
                <a:ea typeface="黑体" pitchFamily="49" charset="-122"/>
              </a:rPr>
              <a:t> </a:t>
            </a:r>
            <a:r>
              <a:rPr kumimoji="1" lang="en-US" altLang="zh-CN" sz="2800">
                <a:solidFill>
                  <a:srgbClr val="333399"/>
                </a:solidFill>
                <a:ea typeface="黑体" pitchFamily="49" charset="-122"/>
              </a:rPr>
              <a:t>E</a:t>
            </a:r>
            <a:r>
              <a:rPr kumimoji="1" lang="en-US" altLang="zh-CN" sz="1000">
                <a:solidFill>
                  <a:srgbClr val="333399"/>
                </a:solidFill>
                <a:latin typeface="黑体" pitchFamily="49" charset="-122"/>
                <a:ea typeface="黑体" pitchFamily="49" charset="-122"/>
              </a:rPr>
              <a:t> </a:t>
            </a:r>
            <a:r>
              <a:rPr kumimoji="1" lang="zh-CN" altLang="en-US" sz="2800">
                <a:solidFill>
                  <a:srgbClr val="333399"/>
                </a:solidFill>
                <a:latin typeface="黑体" pitchFamily="49" charset="-122"/>
                <a:ea typeface="黑体" pitchFamily="49" charset="-122"/>
              </a:rPr>
              <a:t>暂存</a:t>
            </a:r>
          </a:p>
          <a:p>
            <a:pPr algn="ctr"/>
            <a:r>
              <a:rPr kumimoji="1" lang="zh-CN" altLang="en-US" sz="2800">
                <a:solidFill>
                  <a:srgbClr val="333399"/>
                </a:solidFill>
                <a:latin typeface="黑体" pitchFamily="49" charset="-122"/>
                <a:ea typeface="黑体" pitchFamily="49" charset="-122"/>
              </a:rPr>
              <a:t>查找转发表</a:t>
            </a:r>
          </a:p>
          <a:p>
            <a:pPr algn="ctr"/>
            <a:r>
              <a:rPr kumimoji="1" lang="zh-CN" altLang="en-US" sz="2800">
                <a:solidFill>
                  <a:srgbClr val="333399"/>
                </a:solidFill>
                <a:latin typeface="黑体" pitchFamily="49" charset="-122"/>
                <a:ea typeface="黑体" pitchFamily="49" charset="-122"/>
              </a:rPr>
              <a:t>找到转发的端口</a:t>
            </a:r>
          </a:p>
        </p:txBody>
      </p:sp>
      <p:sp>
        <p:nvSpPr>
          <p:cNvPr id="30776" name="Rectangle 56"/>
          <p:cNvSpPr>
            <a:spLocks noChangeArrowheads="1"/>
          </p:cNvSpPr>
          <p:nvPr/>
        </p:nvSpPr>
        <p:spPr bwMode="auto">
          <a:xfrm>
            <a:off x="4787900" y="4508500"/>
            <a:ext cx="144463" cy="144463"/>
          </a:xfrm>
          <a:prstGeom prst="rect">
            <a:avLst/>
          </a:prstGeom>
          <a:solidFill>
            <a:schemeClr val="hlink"/>
          </a:solidFill>
          <a:ln w="9525">
            <a:solidFill>
              <a:schemeClr val="hlink"/>
            </a:solidFill>
            <a:miter lim="800000"/>
            <a:headEnd/>
            <a:tailEnd/>
          </a:ln>
          <a:effectLst/>
        </p:spPr>
        <p:txBody>
          <a:bodyPr wrap="none" anchor="ctr"/>
          <a:lstStyle/>
          <a:p>
            <a:endParaRPr lang="zh-CN" altLang="en-US"/>
          </a:p>
        </p:txBody>
      </p:sp>
      <p:sp>
        <p:nvSpPr>
          <p:cNvPr id="30777" name="Text Box 57"/>
          <p:cNvSpPr txBox="1">
            <a:spLocks noChangeArrowheads="1"/>
          </p:cNvSpPr>
          <p:nvPr/>
        </p:nvSpPr>
        <p:spPr bwMode="auto">
          <a:xfrm>
            <a:off x="1835150" y="2205038"/>
            <a:ext cx="3816350" cy="595312"/>
          </a:xfrm>
          <a:prstGeom prst="rect">
            <a:avLst/>
          </a:prstGeom>
          <a:solidFill>
            <a:srgbClr val="FFCCFF"/>
          </a:solidFill>
          <a:ln w="76200" cmpd="tri">
            <a:solidFill>
              <a:srgbClr val="333399"/>
            </a:solidFill>
            <a:miter lim="800000"/>
            <a:headEnd/>
            <a:tailEnd/>
          </a:ln>
          <a:effectLst/>
        </p:spPr>
        <p:txBody>
          <a:bodyPr>
            <a:spAutoFit/>
          </a:bodyPr>
          <a:lstStyle/>
          <a:p>
            <a:pPr algn="ctr"/>
            <a:r>
              <a:rPr kumimoji="1" lang="zh-CN" altLang="en-US" sz="2800">
                <a:solidFill>
                  <a:srgbClr val="333399"/>
                </a:solidFill>
                <a:latin typeface="黑体" pitchFamily="49" charset="-122"/>
                <a:ea typeface="黑体" pitchFamily="49" charset="-122"/>
              </a:rPr>
              <a:t>最后到达目的主机</a:t>
            </a:r>
            <a:r>
              <a:rPr kumimoji="1" lang="zh-CN" altLang="en-US" sz="800">
                <a:solidFill>
                  <a:srgbClr val="333399"/>
                </a:solidFill>
                <a:latin typeface="黑体" pitchFamily="49" charset="-122"/>
                <a:ea typeface="黑体" pitchFamily="49" charset="-122"/>
              </a:rPr>
              <a:t> </a:t>
            </a:r>
            <a:r>
              <a:rPr kumimoji="1" lang="en-US" altLang="zh-CN" sz="2800">
                <a:solidFill>
                  <a:srgbClr val="333399"/>
                </a:solidFill>
                <a:ea typeface="黑体" pitchFamily="49" charset="-122"/>
              </a:rPr>
              <a:t>H</a:t>
            </a:r>
            <a:r>
              <a:rPr kumimoji="1" lang="en-US" altLang="zh-CN" sz="2800" baseline="-25000">
                <a:solidFill>
                  <a:srgbClr val="333399"/>
                </a:solidFill>
                <a:ea typeface="黑体" pitchFamily="49" charset="-122"/>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65"/>
                                        </p:tgtEl>
                                        <p:attrNameLst>
                                          <p:attrName>style.visibility</p:attrName>
                                        </p:attrNameLst>
                                      </p:cBhvr>
                                      <p:to>
                                        <p:strVal val="visible"/>
                                      </p:to>
                                    </p:set>
                                  </p:childTnLst>
                                </p:cTn>
                              </p:par>
                            </p:childTnLst>
                          </p:cTn>
                        </p:par>
                        <p:par>
                          <p:cTn id="7" fill="hold">
                            <p:stCondLst>
                              <p:cond delay="0"/>
                            </p:stCondLst>
                            <p:childTnLst>
                              <p:par>
                                <p:cTn id="8" presetID="63" presetClass="path" presetSubtype="0" accel="50000" decel="50000" fill="hold" grpId="1" nodeType="afterEffect">
                                  <p:stCondLst>
                                    <p:cond delay="0"/>
                                  </p:stCondLst>
                                  <p:childTnLst>
                                    <p:animMotion origin="layout" path="M 0.00365 -0.0074 L 0.09445 7.51445E-7 " pathEditMode="relative" rAng="0" ptsTypes="AA">
                                      <p:cBhvr>
                                        <p:cTn id="9" dur="2000" fill="hold"/>
                                        <p:tgtEl>
                                          <p:spTgt spid="30765"/>
                                        </p:tgtEl>
                                        <p:attrNameLst>
                                          <p:attrName>ppt_x</p:attrName>
                                          <p:attrName>ppt_y</p:attrName>
                                        </p:attrNameLst>
                                      </p:cBhvr>
                                      <p:rCtr x="4500" y="400"/>
                                    </p:animMotion>
                                  </p:childTnLst>
                                </p:cTn>
                              </p:par>
                            </p:childTnLst>
                          </p:cTn>
                        </p:par>
                        <p:par>
                          <p:cTn id="10" fill="hold">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30770"/>
                                        </p:tgtEl>
                                        <p:attrNameLst>
                                          <p:attrName>style.visibility</p:attrName>
                                        </p:attrNameLst>
                                      </p:cBhvr>
                                      <p:to>
                                        <p:strVal val="visible"/>
                                      </p:to>
                                    </p:set>
                                  </p:childTnLst>
                                </p:cTn>
                              </p:par>
                            </p:childTnLst>
                          </p:cTn>
                        </p:par>
                        <p:par>
                          <p:cTn id="13" fill="hold">
                            <p:stCondLst>
                              <p:cond delay="2000"/>
                            </p:stCondLst>
                            <p:childTnLst>
                              <p:par>
                                <p:cTn id="14" presetID="6" presetClass="emph" presetSubtype="0" fill="hold" grpId="1" nodeType="afterEffect">
                                  <p:stCondLst>
                                    <p:cond delay="300"/>
                                  </p:stCondLst>
                                  <p:childTnLst>
                                    <p:animScale>
                                      <p:cBhvr>
                                        <p:cTn id="15" dur="1000" fill="hold"/>
                                        <p:tgtEl>
                                          <p:spTgt spid="30770"/>
                                        </p:tgtEl>
                                      </p:cBhvr>
                                      <p:by x="150000" y="150000"/>
                                    </p:animScale>
                                  </p:childTnLst>
                                </p:cTn>
                              </p:par>
                            </p:childTnLst>
                          </p:cTn>
                        </p:par>
                        <p:par>
                          <p:cTn id="16" fill="hold">
                            <p:stCondLst>
                              <p:cond delay="3300"/>
                            </p:stCondLst>
                            <p:childTnLst>
                              <p:par>
                                <p:cTn id="17" presetID="1" presetClass="exit" presetSubtype="0" fill="hold" grpId="2" nodeType="afterEffect">
                                  <p:stCondLst>
                                    <p:cond delay="2000"/>
                                  </p:stCondLst>
                                  <p:childTnLst>
                                    <p:set>
                                      <p:cBhvr>
                                        <p:cTn id="18" dur="1" fill="hold">
                                          <p:stCondLst>
                                            <p:cond delay="0"/>
                                          </p:stCondLst>
                                        </p:cTn>
                                        <p:tgtEl>
                                          <p:spTgt spid="30770"/>
                                        </p:tgtEl>
                                        <p:attrNameLst>
                                          <p:attrName>style.visibility</p:attrName>
                                        </p:attrNameLst>
                                      </p:cBhvr>
                                      <p:to>
                                        <p:strVal val="hidden"/>
                                      </p:to>
                                    </p:set>
                                  </p:childTnLst>
                                </p:cTn>
                              </p:par>
                            </p:childTnLst>
                          </p:cTn>
                        </p:par>
                        <p:par>
                          <p:cTn id="19" fill="hold">
                            <p:stCondLst>
                              <p:cond delay="5300"/>
                            </p:stCondLst>
                            <p:childTnLst>
                              <p:par>
                                <p:cTn id="20" presetID="1" presetClass="exit" presetSubtype="0" fill="hold" grpId="2" nodeType="afterEffect">
                                  <p:stCondLst>
                                    <p:cond delay="0"/>
                                  </p:stCondLst>
                                  <p:childTnLst>
                                    <p:set>
                                      <p:cBhvr>
                                        <p:cTn id="21" dur="1" fill="hold">
                                          <p:stCondLst>
                                            <p:cond delay="0"/>
                                          </p:stCondLst>
                                        </p:cTn>
                                        <p:tgtEl>
                                          <p:spTgt spid="30765"/>
                                        </p:tgtEl>
                                        <p:attrNameLst>
                                          <p:attrName>style.visibility</p:attrName>
                                        </p:attrNameLst>
                                      </p:cBhvr>
                                      <p:to>
                                        <p:strVal val="hidden"/>
                                      </p:to>
                                    </p:set>
                                  </p:childTnLst>
                                </p:cTn>
                              </p:par>
                            </p:childTnLst>
                          </p:cTn>
                        </p:par>
                        <p:par>
                          <p:cTn id="22" fill="hold">
                            <p:stCondLst>
                              <p:cond delay="5300"/>
                            </p:stCondLst>
                            <p:childTnLst>
                              <p:par>
                                <p:cTn id="23" presetID="1" presetClass="entr" presetSubtype="0" fill="hold" grpId="0" nodeType="afterEffect">
                                  <p:stCondLst>
                                    <p:cond delay="0"/>
                                  </p:stCondLst>
                                  <p:childTnLst>
                                    <p:set>
                                      <p:cBhvr>
                                        <p:cTn id="24" dur="1" fill="hold">
                                          <p:stCondLst>
                                            <p:cond delay="0"/>
                                          </p:stCondLst>
                                        </p:cTn>
                                        <p:tgtEl>
                                          <p:spTgt spid="30772"/>
                                        </p:tgtEl>
                                        <p:attrNameLst>
                                          <p:attrName>style.visibility</p:attrName>
                                        </p:attrNameLst>
                                      </p:cBhvr>
                                      <p:to>
                                        <p:strVal val="visible"/>
                                      </p:to>
                                    </p:set>
                                  </p:childTnLst>
                                </p:cTn>
                              </p:par>
                            </p:childTnLst>
                          </p:cTn>
                        </p:par>
                        <p:par>
                          <p:cTn id="25" fill="hold">
                            <p:stCondLst>
                              <p:cond delay="5300"/>
                            </p:stCondLst>
                            <p:childTnLst>
                              <p:par>
                                <p:cTn id="26" presetID="63" presetClass="path" presetSubtype="0" accel="50000" decel="50000" fill="hold" grpId="1" nodeType="afterEffect">
                                  <p:stCondLst>
                                    <p:cond delay="0"/>
                                  </p:stCondLst>
                                  <p:childTnLst>
                                    <p:animMotion origin="layout" path="M 3.61111E-6 1.44509E-6 L 0.18264 0.14381 " pathEditMode="relative" rAng="0" ptsTypes="AA">
                                      <p:cBhvr>
                                        <p:cTn id="27" dur="2000" fill="hold"/>
                                        <p:tgtEl>
                                          <p:spTgt spid="30772"/>
                                        </p:tgtEl>
                                        <p:attrNameLst>
                                          <p:attrName>ppt_x</p:attrName>
                                          <p:attrName>ppt_y</p:attrName>
                                        </p:attrNameLst>
                                      </p:cBhvr>
                                      <p:rCtr x="9100" y="7200"/>
                                    </p:animMotion>
                                  </p:childTnLst>
                                </p:cTn>
                              </p:par>
                            </p:childTnLst>
                          </p:cTn>
                        </p:par>
                        <p:par>
                          <p:cTn id="28" fill="hold">
                            <p:stCondLst>
                              <p:cond delay="7300"/>
                            </p:stCondLst>
                            <p:childTnLst>
                              <p:par>
                                <p:cTn id="29" presetID="1" presetClass="entr" presetSubtype="0" fill="hold" grpId="0" nodeType="afterEffect">
                                  <p:stCondLst>
                                    <p:cond delay="0"/>
                                  </p:stCondLst>
                                  <p:childTnLst>
                                    <p:set>
                                      <p:cBhvr>
                                        <p:cTn id="30" dur="1" fill="hold">
                                          <p:stCondLst>
                                            <p:cond delay="0"/>
                                          </p:stCondLst>
                                        </p:cTn>
                                        <p:tgtEl>
                                          <p:spTgt spid="30773"/>
                                        </p:tgtEl>
                                        <p:attrNameLst>
                                          <p:attrName>style.visibility</p:attrName>
                                        </p:attrNameLst>
                                      </p:cBhvr>
                                      <p:to>
                                        <p:strVal val="visible"/>
                                      </p:to>
                                    </p:set>
                                  </p:childTnLst>
                                </p:cTn>
                              </p:par>
                            </p:childTnLst>
                          </p:cTn>
                        </p:par>
                        <p:par>
                          <p:cTn id="31" fill="hold">
                            <p:stCondLst>
                              <p:cond delay="7300"/>
                            </p:stCondLst>
                            <p:childTnLst>
                              <p:par>
                                <p:cTn id="32" presetID="6" presetClass="emph" presetSubtype="0" fill="hold" grpId="1" nodeType="afterEffect">
                                  <p:stCondLst>
                                    <p:cond delay="0"/>
                                  </p:stCondLst>
                                  <p:childTnLst>
                                    <p:animScale>
                                      <p:cBhvr>
                                        <p:cTn id="33" dur="1000" fill="hold"/>
                                        <p:tgtEl>
                                          <p:spTgt spid="30773"/>
                                        </p:tgtEl>
                                      </p:cBhvr>
                                      <p:by x="150000" y="150000"/>
                                    </p:animScale>
                                  </p:childTnLst>
                                </p:cTn>
                              </p:par>
                            </p:childTnLst>
                          </p:cTn>
                        </p:par>
                        <p:par>
                          <p:cTn id="34" fill="hold">
                            <p:stCondLst>
                              <p:cond delay="8300"/>
                            </p:stCondLst>
                            <p:childTnLst>
                              <p:par>
                                <p:cTn id="35" presetID="1" presetClass="exit" presetSubtype="0" fill="hold" grpId="2" nodeType="afterEffect">
                                  <p:stCondLst>
                                    <p:cond delay="2000"/>
                                  </p:stCondLst>
                                  <p:childTnLst>
                                    <p:set>
                                      <p:cBhvr>
                                        <p:cTn id="36" dur="1" fill="hold">
                                          <p:stCondLst>
                                            <p:cond delay="0"/>
                                          </p:stCondLst>
                                        </p:cTn>
                                        <p:tgtEl>
                                          <p:spTgt spid="30773"/>
                                        </p:tgtEl>
                                        <p:attrNameLst>
                                          <p:attrName>style.visibility</p:attrName>
                                        </p:attrNameLst>
                                      </p:cBhvr>
                                      <p:to>
                                        <p:strVal val="hidden"/>
                                      </p:to>
                                    </p:set>
                                  </p:childTnLst>
                                </p:cTn>
                              </p:par>
                            </p:childTnLst>
                          </p:cTn>
                        </p:par>
                        <p:par>
                          <p:cTn id="37" fill="hold">
                            <p:stCondLst>
                              <p:cond delay="10300"/>
                            </p:stCondLst>
                            <p:childTnLst>
                              <p:par>
                                <p:cTn id="38" presetID="1" presetClass="exit" presetSubtype="0" fill="hold" grpId="2" nodeType="afterEffect">
                                  <p:stCondLst>
                                    <p:cond delay="0"/>
                                  </p:stCondLst>
                                  <p:childTnLst>
                                    <p:set>
                                      <p:cBhvr>
                                        <p:cTn id="39" dur="1" fill="hold">
                                          <p:stCondLst>
                                            <p:cond delay="0"/>
                                          </p:stCondLst>
                                        </p:cTn>
                                        <p:tgtEl>
                                          <p:spTgt spid="30772"/>
                                        </p:tgtEl>
                                        <p:attrNameLst>
                                          <p:attrName>style.visibility</p:attrName>
                                        </p:attrNameLst>
                                      </p:cBhvr>
                                      <p:to>
                                        <p:strVal val="hidden"/>
                                      </p:to>
                                    </p:set>
                                  </p:childTnLst>
                                </p:cTn>
                              </p:par>
                            </p:childTnLst>
                          </p:cTn>
                        </p:par>
                        <p:par>
                          <p:cTn id="40" fill="hold">
                            <p:stCondLst>
                              <p:cond delay="10300"/>
                            </p:stCondLst>
                            <p:childTnLst>
                              <p:par>
                                <p:cTn id="41" presetID="1" presetClass="entr" presetSubtype="0" fill="hold" grpId="0" nodeType="afterEffect">
                                  <p:stCondLst>
                                    <p:cond delay="0"/>
                                  </p:stCondLst>
                                  <p:childTnLst>
                                    <p:set>
                                      <p:cBhvr>
                                        <p:cTn id="42" dur="1" fill="hold">
                                          <p:stCondLst>
                                            <p:cond delay="0"/>
                                          </p:stCondLst>
                                        </p:cTn>
                                        <p:tgtEl>
                                          <p:spTgt spid="30774"/>
                                        </p:tgtEl>
                                        <p:attrNameLst>
                                          <p:attrName>style.visibility</p:attrName>
                                        </p:attrNameLst>
                                      </p:cBhvr>
                                      <p:to>
                                        <p:strVal val="visible"/>
                                      </p:to>
                                    </p:set>
                                  </p:childTnLst>
                                </p:cTn>
                              </p:par>
                            </p:childTnLst>
                          </p:cTn>
                        </p:par>
                        <p:par>
                          <p:cTn id="43" fill="hold">
                            <p:stCondLst>
                              <p:cond delay="10300"/>
                            </p:stCondLst>
                            <p:childTnLst>
                              <p:par>
                                <p:cTn id="44" presetID="63" presetClass="path" presetSubtype="0" accel="50000" decel="50000" fill="hold" grpId="1" nodeType="afterEffect">
                                  <p:stCondLst>
                                    <p:cond delay="0"/>
                                  </p:stCondLst>
                                  <p:childTnLst>
                                    <p:animMotion origin="layout" path="M 0.00729 -0.00185 L 0.14166 -0.17803 " pathEditMode="relative" rAng="0" ptsTypes="AA">
                                      <p:cBhvr>
                                        <p:cTn id="45" dur="2000" fill="hold"/>
                                        <p:tgtEl>
                                          <p:spTgt spid="30774"/>
                                        </p:tgtEl>
                                        <p:attrNameLst>
                                          <p:attrName>ppt_x</p:attrName>
                                          <p:attrName>ppt_y</p:attrName>
                                        </p:attrNameLst>
                                      </p:cBhvr>
                                      <p:rCtr x="6700" y="-8800"/>
                                    </p:animMotion>
                                  </p:childTnLst>
                                </p:cTn>
                              </p:par>
                            </p:childTnLst>
                          </p:cTn>
                        </p:par>
                        <p:par>
                          <p:cTn id="46" fill="hold">
                            <p:stCondLst>
                              <p:cond delay="12300"/>
                            </p:stCondLst>
                            <p:childTnLst>
                              <p:par>
                                <p:cTn id="47" presetID="1" presetClass="entr" presetSubtype="0" fill="hold" grpId="0" nodeType="afterEffect">
                                  <p:stCondLst>
                                    <p:cond delay="0"/>
                                  </p:stCondLst>
                                  <p:childTnLst>
                                    <p:set>
                                      <p:cBhvr>
                                        <p:cTn id="48" dur="1" fill="hold">
                                          <p:stCondLst>
                                            <p:cond delay="0"/>
                                          </p:stCondLst>
                                        </p:cTn>
                                        <p:tgtEl>
                                          <p:spTgt spid="30775"/>
                                        </p:tgtEl>
                                        <p:attrNameLst>
                                          <p:attrName>style.visibility</p:attrName>
                                        </p:attrNameLst>
                                      </p:cBhvr>
                                      <p:to>
                                        <p:strVal val="visible"/>
                                      </p:to>
                                    </p:set>
                                  </p:childTnLst>
                                </p:cTn>
                              </p:par>
                            </p:childTnLst>
                          </p:cTn>
                        </p:par>
                        <p:par>
                          <p:cTn id="49" fill="hold">
                            <p:stCondLst>
                              <p:cond delay="12300"/>
                            </p:stCondLst>
                            <p:childTnLst>
                              <p:par>
                                <p:cTn id="50" presetID="6" presetClass="emph" presetSubtype="0" fill="hold" grpId="1" nodeType="afterEffect">
                                  <p:stCondLst>
                                    <p:cond delay="0"/>
                                  </p:stCondLst>
                                  <p:childTnLst>
                                    <p:animScale>
                                      <p:cBhvr>
                                        <p:cTn id="51" dur="1000" fill="hold"/>
                                        <p:tgtEl>
                                          <p:spTgt spid="30775"/>
                                        </p:tgtEl>
                                      </p:cBhvr>
                                      <p:by x="150000" y="150000"/>
                                    </p:animScale>
                                  </p:childTnLst>
                                </p:cTn>
                              </p:par>
                            </p:childTnLst>
                          </p:cTn>
                        </p:par>
                        <p:par>
                          <p:cTn id="52" fill="hold">
                            <p:stCondLst>
                              <p:cond delay="13300"/>
                            </p:stCondLst>
                            <p:childTnLst>
                              <p:par>
                                <p:cTn id="53" presetID="1" presetClass="exit" presetSubtype="0" fill="hold" grpId="2" nodeType="afterEffect">
                                  <p:stCondLst>
                                    <p:cond delay="2000"/>
                                  </p:stCondLst>
                                  <p:childTnLst>
                                    <p:set>
                                      <p:cBhvr>
                                        <p:cTn id="54" dur="1" fill="hold">
                                          <p:stCondLst>
                                            <p:cond delay="0"/>
                                          </p:stCondLst>
                                        </p:cTn>
                                        <p:tgtEl>
                                          <p:spTgt spid="30775"/>
                                        </p:tgtEl>
                                        <p:attrNameLst>
                                          <p:attrName>style.visibility</p:attrName>
                                        </p:attrNameLst>
                                      </p:cBhvr>
                                      <p:to>
                                        <p:strVal val="hidden"/>
                                      </p:to>
                                    </p:set>
                                  </p:childTnLst>
                                </p:cTn>
                              </p:par>
                            </p:childTnLst>
                          </p:cTn>
                        </p:par>
                        <p:par>
                          <p:cTn id="55" fill="hold">
                            <p:stCondLst>
                              <p:cond delay="15300"/>
                            </p:stCondLst>
                            <p:childTnLst>
                              <p:par>
                                <p:cTn id="56" presetID="1" presetClass="exit" presetSubtype="0" fill="hold" grpId="2" nodeType="afterEffect">
                                  <p:stCondLst>
                                    <p:cond delay="0"/>
                                  </p:stCondLst>
                                  <p:childTnLst>
                                    <p:set>
                                      <p:cBhvr>
                                        <p:cTn id="57" dur="1" fill="hold">
                                          <p:stCondLst>
                                            <p:cond delay="0"/>
                                          </p:stCondLst>
                                        </p:cTn>
                                        <p:tgtEl>
                                          <p:spTgt spid="30774"/>
                                        </p:tgtEl>
                                        <p:attrNameLst>
                                          <p:attrName>style.visibility</p:attrName>
                                        </p:attrNameLst>
                                      </p:cBhvr>
                                      <p:to>
                                        <p:strVal val="hidden"/>
                                      </p:to>
                                    </p:set>
                                  </p:childTnLst>
                                </p:cTn>
                              </p:par>
                            </p:childTnLst>
                          </p:cTn>
                        </p:par>
                        <p:par>
                          <p:cTn id="58" fill="hold">
                            <p:stCondLst>
                              <p:cond delay="15300"/>
                            </p:stCondLst>
                            <p:childTnLst>
                              <p:par>
                                <p:cTn id="59" presetID="1" presetClass="entr" presetSubtype="0" fill="hold" grpId="0" nodeType="afterEffect">
                                  <p:stCondLst>
                                    <p:cond delay="0"/>
                                  </p:stCondLst>
                                  <p:childTnLst>
                                    <p:set>
                                      <p:cBhvr>
                                        <p:cTn id="60" dur="1" fill="hold">
                                          <p:stCondLst>
                                            <p:cond delay="0"/>
                                          </p:stCondLst>
                                        </p:cTn>
                                        <p:tgtEl>
                                          <p:spTgt spid="30776"/>
                                        </p:tgtEl>
                                        <p:attrNameLst>
                                          <p:attrName>style.visibility</p:attrName>
                                        </p:attrNameLst>
                                      </p:cBhvr>
                                      <p:to>
                                        <p:strVal val="visible"/>
                                      </p:to>
                                    </p:set>
                                  </p:childTnLst>
                                </p:cTn>
                              </p:par>
                            </p:childTnLst>
                          </p:cTn>
                        </p:par>
                        <p:par>
                          <p:cTn id="61" fill="hold">
                            <p:stCondLst>
                              <p:cond delay="15300"/>
                            </p:stCondLst>
                            <p:childTnLst>
                              <p:par>
                                <p:cTn id="62" presetID="63" presetClass="path" presetSubtype="0" accel="50000" decel="50000" fill="hold" grpId="1" nodeType="afterEffect">
                                  <p:stCondLst>
                                    <p:cond delay="0"/>
                                  </p:stCondLst>
                                  <p:childTnLst>
                                    <p:animMotion origin="layout" path="M 0.02205 0.00671 L 0.08664 0.14705 " pathEditMode="relative" rAng="0" ptsTypes="AA">
                                      <p:cBhvr>
                                        <p:cTn id="63" dur="2000" fill="hold"/>
                                        <p:tgtEl>
                                          <p:spTgt spid="30776"/>
                                        </p:tgtEl>
                                        <p:attrNameLst>
                                          <p:attrName>ppt_x</p:attrName>
                                          <p:attrName>ppt_y</p:attrName>
                                        </p:attrNameLst>
                                      </p:cBhvr>
                                      <p:rCtr x="3200" y="7000"/>
                                    </p:animMotion>
                                  </p:childTnLst>
                                </p:cTn>
                              </p:par>
                            </p:childTnLst>
                          </p:cTn>
                        </p:par>
                        <p:par>
                          <p:cTn id="64" fill="hold">
                            <p:stCondLst>
                              <p:cond delay="17300"/>
                            </p:stCondLst>
                            <p:childTnLst>
                              <p:par>
                                <p:cTn id="65" presetID="1" presetClass="entr" presetSubtype="0" fill="hold" grpId="0" nodeType="afterEffect">
                                  <p:stCondLst>
                                    <p:cond delay="0"/>
                                  </p:stCondLst>
                                  <p:childTnLst>
                                    <p:set>
                                      <p:cBhvr>
                                        <p:cTn id="66" dur="1" fill="hold">
                                          <p:stCondLst>
                                            <p:cond delay="0"/>
                                          </p:stCondLst>
                                        </p:cTn>
                                        <p:tgtEl>
                                          <p:spTgt spid="30777"/>
                                        </p:tgtEl>
                                        <p:attrNameLst>
                                          <p:attrName>style.visibility</p:attrName>
                                        </p:attrNameLst>
                                      </p:cBhvr>
                                      <p:to>
                                        <p:strVal val="visible"/>
                                      </p:to>
                                    </p:set>
                                  </p:childTnLst>
                                </p:cTn>
                              </p:par>
                            </p:childTnLst>
                          </p:cTn>
                        </p:par>
                        <p:par>
                          <p:cTn id="67" fill="hold">
                            <p:stCondLst>
                              <p:cond delay="17300"/>
                            </p:stCondLst>
                            <p:childTnLst>
                              <p:par>
                                <p:cTn id="68" presetID="6" presetClass="emph" presetSubtype="0" fill="hold" grpId="1" nodeType="afterEffect">
                                  <p:stCondLst>
                                    <p:cond delay="0"/>
                                  </p:stCondLst>
                                  <p:childTnLst>
                                    <p:animScale>
                                      <p:cBhvr>
                                        <p:cTn id="69" dur="1000" fill="hold"/>
                                        <p:tgtEl>
                                          <p:spTgt spid="3077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5" grpId="0" animBg="1"/>
      <p:bldP spid="30765" grpId="1" animBg="1"/>
      <p:bldP spid="30765" grpId="2" animBg="1"/>
      <p:bldP spid="30770" grpId="0" animBg="1"/>
      <p:bldP spid="30770" grpId="1" animBg="1"/>
      <p:bldP spid="30770" grpId="2" animBg="1"/>
      <p:bldP spid="30772" grpId="0" animBg="1"/>
      <p:bldP spid="30772" grpId="1" animBg="1"/>
      <p:bldP spid="30772" grpId="2" animBg="1"/>
      <p:bldP spid="30773" grpId="0" animBg="1"/>
      <p:bldP spid="30773" grpId="1" animBg="1"/>
      <p:bldP spid="30773" grpId="2" animBg="1"/>
      <p:bldP spid="30774" grpId="0" animBg="1"/>
      <p:bldP spid="30774" grpId="1" animBg="1"/>
      <p:bldP spid="30774" grpId="2" animBg="1"/>
      <p:bldP spid="30775" grpId="0" animBg="1"/>
      <p:bldP spid="30775" grpId="1" animBg="1"/>
      <p:bldP spid="30775" grpId="2" animBg="1"/>
      <p:bldP spid="30776" grpId="0" animBg="1"/>
      <p:bldP spid="30776" grpId="1" animBg="1"/>
      <p:bldP spid="30777" grpId="0" animBg="1"/>
      <p:bldP spid="30777"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kumimoji="1" lang="zh-CN" altLang="en-US">
                <a:solidFill>
                  <a:srgbClr val="333399"/>
                </a:solidFill>
              </a:rPr>
              <a:t>路由器</a:t>
            </a:r>
          </a:p>
        </p:txBody>
      </p:sp>
      <p:sp>
        <p:nvSpPr>
          <p:cNvPr id="32771" name="Rectangle 3"/>
          <p:cNvSpPr>
            <a:spLocks noGrp="1" noChangeArrowheads="1"/>
          </p:cNvSpPr>
          <p:nvPr>
            <p:ph type="body" idx="1"/>
          </p:nvPr>
        </p:nvSpPr>
        <p:spPr/>
        <p:txBody>
          <a:bodyPr/>
          <a:lstStyle/>
          <a:p>
            <a:pPr>
              <a:lnSpc>
                <a:spcPct val="90000"/>
              </a:lnSpc>
            </a:pPr>
            <a:r>
              <a:rPr lang="zh-CN" altLang="en-US"/>
              <a:t>路由器是实现</a:t>
            </a:r>
            <a:r>
              <a:rPr lang="zh-CN" altLang="en-US">
                <a:solidFill>
                  <a:srgbClr val="CC0000"/>
                </a:solidFill>
              </a:rPr>
              <a:t>分组交换</a:t>
            </a:r>
            <a:r>
              <a:rPr lang="en-US" altLang="zh-CN"/>
              <a:t>(packet switching)</a:t>
            </a:r>
            <a:r>
              <a:rPr lang="zh-CN" altLang="en-US"/>
              <a:t>的关键构件，其任务是转发收到的分组。</a:t>
            </a:r>
          </a:p>
          <a:p>
            <a:pPr>
              <a:lnSpc>
                <a:spcPct val="90000"/>
              </a:lnSpc>
            </a:pPr>
            <a:r>
              <a:rPr lang="zh-CN" altLang="en-US"/>
              <a:t>在路由器中的输入和输出端口之间</a:t>
            </a:r>
            <a:r>
              <a:rPr lang="zh-CN" altLang="en-US">
                <a:solidFill>
                  <a:schemeClr val="hlink"/>
                </a:solidFill>
              </a:rPr>
              <a:t>没有直接连线</a:t>
            </a:r>
            <a:r>
              <a:rPr lang="zh-CN" altLang="en-US"/>
              <a:t>。</a:t>
            </a:r>
          </a:p>
          <a:p>
            <a:pPr>
              <a:lnSpc>
                <a:spcPct val="90000"/>
              </a:lnSpc>
            </a:pPr>
            <a:r>
              <a:rPr lang="zh-CN" altLang="en-US"/>
              <a:t>路由器处理分组的过程是：</a:t>
            </a:r>
          </a:p>
          <a:p>
            <a:pPr lvl="1">
              <a:lnSpc>
                <a:spcPct val="90000"/>
              </a:lnSpc>
            </a:pPr>
            <a:r>
              <a:rPr lang="zh-CN" altLang="en-US">
                <a:solidFill>
                  <a:srgbClr val="333399"/>
                </a:solidFill>
                <a:ea typeface="黑体" pitchFamily="49" charset="-122"/>
              </a:rPr>
              <a:t>把收到的分组先放入</a:t>
            </a:r>
            <a:r>
              <a:rPr lang="zh-CN" altLang="en-US">
                <a:solidFill>
                  <a:schemeClr val="hlink"/>
                </a:solidFill>
                <a:ea typeface="黑体" pitchFamily="49" charset="-122"/>
              </a:rPr>
              <a:t>缓存（暂时存储）</a:t>
            </a:r>
            <a:r>
              <a:rPr lang="zh-CN" altLang="en-US">
                <a:solidFill>
                  <a:srgbClr val="333399"/>
                </a:solidFill>
                <a:ea typeface="黑体" pitchFamily="49" charset="-122"/>
              </a:rPr>
              <a:t>；</a:t>
            </a:r>
          </a:p>
          <a:p>
            <a:pPr lvl="1">
              <a:lnSpc>
                <a:spcPct val="90000"/>
              </a:lnSpc>
            </a:pPr>
            <a:r>
              <a:rPr lang="zh-CN" altLang="en-US">
                <a:solidFill>
                  <a:srgbClr val="333399"/>
                </a:solidFill>
                <a:ea typeface="黑体" pitchFamily="49" charset="-122"/>
              </a:rPr>
              <a:t>查找</a:t>
            </a:r>
            <a:r>
              <a:rPr lang="zh-CN" altLang="en-US">
                <a:solidFill>
                  <a:schemeClr val="hlink"/>
                </a:solidFill>
                <a:ea typeface="黑体" pitchFamily="49" charset="-122"/>
              </a:rPr>
              <a:t>转发表</a:t>
            </a:r>
            <a:r>
              <a:rPr lang="zh-CN" altLang="en-US">
                <a:solidFill>
                  <a:srgbClr val="333399"/>
                </a:solidFill>
                <a:ea typeface="黑体" pitchFamily="49" charset="-122"/>
              </a:rPr>
              <a:t>，找出到某个目的地址应从哪个端口转发；</a:t>
            </a:r>
          </a:p>
          <a:p>
            <a:pPr lvl="1">
              <a:lnSpc>
                <a:spcPct val="90000"/>
              </a:lnSpc>
            </a:pPr>
            <a:r>
              <a:rPr lang="zh-CN" altLang="en-US">
                <a:solidFill>
                  <a:srgbClr val="333399"/>
                </a:solidFill>
                <a:ea typeface="黑体" pitchFamily="49" charset="-122"/>
              </a:rPr>
              <a:t>把分组送到适当的</a:t>
            </a:r>
            <a:r>
              <a:rPr lang="zh-CN" altLang="en-US">
                <a:solidFill>
                  <a:schemeClr val="hlink"/>
                </a:solidFill>
                <a:ea typeface="黑体" pitchFamily="49" charset="-122"/>
              </a:rPr>
              <a:t>端口</a:t>
            </a:r>
            <a:r>
              <a:rPr lang="zh-CN" altLang="en-US">
                <a:solidFill>
                  <a:srgbClr val="333399"/>
                </a:solidFill>
                <a:ea typeface="黑体" pitchFamily="49" charset="-122"/>
              </a:rPr>
              <a:t>转发出去。</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77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77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7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a:t>主机和</a:t>
            </a:r>
            <a:r>
              <a:rPr kumimoji="1" lang="zh-CN" altLang="en-US">
                <a:solidFill>
                  <a:srgbClr val="333399"/>
                </a:solidFill>
              </a:rPr>
              <a:t>路由器</a:t>
            </a:r>
            <a:r>
              <a:rPr lang="zh-CN" altLang="en-US"/>
              <a:t>的作用不同</a:t>
            </a:r>
          </a:p>
        </p:txBody>
      </p:sp>
      <p:sp>
        <p:nvSpPr>
          <p:cNvPr id="33795" name="Rectangle 3"/>
          <p:cNvSpPr>
            <a:spLocks noGrp="1" noChangeArrowheads="1"/>
          </p:cNvSpPr>
          <p:nvPr>
            <p:ph type="body" idx="1"/>
          </p:nvPr>
        </p:nvSpPr>
        <p:spPr/>
        <p:txBody>
          <a:bodyPr/>
          <a:lstStyle/>
          <a:p>
            <a:r>
              <a:rPr lang="zh-CN" altLang="en-US"/>
              <a:t>主机是</a:t>
            </a:r>
            <a:r>
              <a:rPr lang="zh-CN" altLang="en-US">
                <a:solidFill>
                  <a:schemeClr val="hlink"/>
                </a:solidFill>
              </a:rPr>
              <a:t>为用户进行信息处理</a:t>
            </a:r>
            <a:r>
              <a:rPr lang="zh-CN" altLang="en-US"/>
              <a:t>的，并向网络发送分组，从网络接收分组。</a:t>
            </a:r>
          </a:p>
          <a:p>
            <a:r>
              <a:rPr kumimoji="1" lang="zh-CN" altLang="en-US">
                <a:solidFill>
                  <a:srgbClr val="333399"/>
                </a:solidFill>
              </a:rPr>
              <a:t>路由器</a:t>
            </a:r>
            <a:r>
              <a:rPr lang="zh-CN" altLang="en-US"/>
              <a:t>对分组进行</a:t>
            </a:r>
            <a:r>
              <a:rPr lang="zh-CN" altLang="en-US">
                <a:solidFill>
                  <a:schemeClr val="hlink"/>
                </a:solidFill>
              </a:rPr>
              <a:t>存储转发</a:t>
            </a:r>
            <a:r>
              <a:rPr lang="zh-CN" altLang="en-US"/>
              <a:t>，最后把分组交付给目的主机。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a:t>分组交换的优点</a:t>
            </a:r>
          </a:p>
        </p:txBody>
      </p:sp>
      <p:sp>
        <p:nvSpPr>
          <p:cNvPr id="34819" name="Rectangle 3"/>
          <p:cNvSpPr>
            <a:spLocks noGrp="1" noChangeArrowheads="1"/>
          </p:cNvSpPr>
          <p:nvPr>
            <p:ph type="body" idx="1"/>
          </p:nvPr>
        </p:nvSpPr>
        <p:spPr>
          <a:xfrm>
            <a:off x="827088" y="1484313"/>
            <a:ext cx="7772400" cy="4114800"/>
          </a:xfrm>
        </p:spPr>
        <p:txBody>
          <a:bodyPr/>
          <a:lstStyle/>
          <a:p>
            <a:r>
              <a:rPr lang="zh-CN" altLang="en-US">
                <a:solidFill>
                  <a:schemeClr val="hlink"/>
                </a:solidFill>
              </a:rPr>
              <a:t>高效</a:t>
            </a:r>
            <a:r>
              <a:rPr lang="zh-CN" altLang="en-US"/>
              <a:t>    动态分配传输带宽，对通信链路是逐段占用。 </a:t>
            </a:r>
          </a:p>
          <a:p>
            <a:r>
              <a:rPr lang="zh-CN" altLang="en-US">
                <a:solidFill>
                  <a:schemeClr val="hlink"/>
                </a:solidFill>
              </a:rPr>
              <a:t>灵活</a:t>
            </a:r>
            <a:r>
              <a:rPr lang="zh-CN" altLang="en-US"/>
              <a:t>    以分组为传送单位和查找路由。</a:t>
            </a:r>
          </a:p>
          <a:p>
            <a:r>
              <a:rPr lang="zh-CN" altLang="en-US">
                <a:solidFill>
                  <a:schemeClr val="hlink"/>
                </a:solidFill>
              </a:rPr>
              <a:t>迅速</a:t>
            </a:r>
            <a:r>
              <a:rPr lang="zh-CN" altLang="en-US"/>
              <a:t>    不必先建立连接就能向其他主机发送分组。</a:t>
            </a:r>
          </a:p>
          <a:p>
            <a:r>
              <a:rPr lang="zh-CN" altLang="en-US">
                <a:solidFill>
                  <a:schemeClr val="hlink"/>
                </a:solidFill>
              </a:rPr>
              <a:t>可靠</a:t>
            </a:r>
            <a:r>
              <a:rPr lang="zh-CN" altLang="en-US"/>
              <a:t>    完善的网络协议；自适应的路由选择协议使网络有很好的生存性。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en-US"/>
              <a:t>分组交换带来的问题</a:t>
            </a:r>
          </a:p>
        </p:txBody>
      </p:sp>
      <p:sp>
        <p:nvSpPr>
          <p:cNvPr id="35843" name="Rectangle 3"/>
          <p:cNvSpPr>
            <a:spLocks noGrp="1" noChangeArrowheads="1"/>
          </p:cNvSpPr>
          <p:nvPr>
            <p:ph type="body" idx="1"/>
          </p:nvPr>
        </p:nvSpPr>
        <p:spPr>
          <a:xfrm>
            <a:off x="1042988" y="1978025"/>
            <a:ext cx="7772400" cy="4114800"/>
          </a:xfrm>
        </p:spPr>
        <p:txBody>
          <a:bodyPr/>
          <a:lstStyle/>
          <a:p>
            <a:r>
              <a:rPr lang="zh-CN" altLang="en-US"/>
              <a:t>分组在各结点存储转发时需要</a:t>
            </a:r>
            <a:r>
              <a:rPr lang="zh-CN" altLang="en-US">
                <a:solidFill>
                  <a:schemeClr val="hlink"/>
                </a:solidFill>
              </a:rPr>
              <a:t>排队</a:t>
            </a:r>
            <a:r>
              <a:rPr lang="zh-CN" altLang="en-US"/>
              <a:t>，这就会造成一定的</a:t>
            </a:r>
            <a:r>
              <a:rPr lang="zh-CN" altLang="en-US">
                <a:solidFill>
                  <a:schemeClr val="hlink"/>
                </a:solidFill>
              </a:rPr>
              <a:t>时延</a:t>
            </a:r>
            <a:r>
              <a:rPr lang="zh-CN" altLang="en-US"/>
              <a:t>。 </a:t>
            </a:r>
          </a:p>
          <a:p>
            <a:r>
              <a:rPr lang="zh-CN" altLang="en-US"/>
              <a:t>分组必须携带的首部（里面有必不可少的控制信息）也造成了一定的</a:t>
            </a:r>
            <a:r>
              <a:rPr lang="zh-CN" altLang="en-US">
                <a:solidFill>
                  <a:schemeClr val="hlink"/>
                </a:solidFill>
              </a:rPr>
              <a:t>开销</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a:t>存储转发原理</a:t>
            </a:r>
            <a:br>
              <a:rPr lang="zh-CN" altLang="en-US"/>
            </a:br>
            <a:r>
              <a:rPr lang="zh-CN" altLang="en-US"/>
              <a:t>并非完全新的概念 </a:t>
            </a:r>
          </a:p>
        </p:txBody>
      </p:sp>
      <p:sp>
        <p:nvSpPr>
          <p:cNvPr id="36867" name="Rectangle 3"/>
          <p:cNvSpPr>
            <a:spLocks noGrp="1" noChangeArrowheads="1"/>
          </p:cNvSpPr>
          <p:nvPr>
            <p:ph type="body" idx="1"/>
          </p:nvPr>
        </p:nvSpPr>
        <p:spPr>
          <a:xfrm>
            <a:off x="1042988" y="1978025"/>
            <a:ext cx="7772400" cy="4114800"/>
          </a:xfrm>
        </p:spPr>
        <p:txBody>
          <a:bodyPr/>
          <a:lstStyle/>
          <a:p>
            <a:r>
              <a:rPr lang="zh-CN" altLang="en-US"/>
              <a:t>在 </a:t>
            </a:r>
            <a:r>
              <a:rPr lang="en-US" altLang="zh-CN"/>
              <a:t>20 </a:t>
            </a:r>
            <a:r>
              <a:rPr lang="zh-CN" altLang="en-US"/>
              <a:t>世纪 </a:t>
            </a:r>
            <a:r>
              <a:rPr lang="en-US" altLang="zh-CN"/>
              <a:t>40 </a:t>
            </a:r>
            <a:r>
              <a:rPr lang="zh-CN" altLang="en-US"/>
              <a:t>年代，电报通信也采用了基于存储转发原理的</a:t>
            </a:r>
            <a:r>
              <a:rPr lang="zh-CN" altLang="en-US">
                <a:solidFill>
                  <a:schemeClr val="hlink"/>
                </a:solidFill>
              </a:rPr>
              <a:t>报文交换</a:t>
            </a:r>
            <a:r>
              <a:rPr lang="en-US" altLang="zh-CN"/>
              <a:t>(message switching)</a:t>
            </a:r>
            <a:r>
              <a:rPr lang="zh-CN" altLang="en-US"/>
              <a:t>。 </a:t>
            </a:r>
          </a:p>
          <a:p>
            <a:r>
              <a:rPr lang="zh-CN" altLang="en-US"/>
              <a:t>报文交换的时延较长，从几分钟到几小时不等。现在报文交换已经很少有人使用了。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4213" y="-147638"/>
            <a:ext cx="7793037" cy="839788"/>
          </a:xfrm>
        </p:spPr>
        <p:txBody>
          <a:bodyPr/>
          <a:lstStyle/>
          <a:p>
            <a:r>
              <a:rPr lang="zh-CN" altLang="en-US" sz="3600"/>
              <a:t>三种交换的比较</a:t>
            </a:r>
            <a:r>
              <a:rPr lang="en-US" altLang="zh-CN" sz="3600"/>
              <a:t>(P15) </a:t>
            </a:r>
          </a:p>
        </p:txBody>
      </p:sp>
      <p:grpSp>
        <p:nvGrpSpPr>
          <p:cNvPr id="37891" name="Group 3"/>
          <p:cNvGrpSpPr>
            <a:grpSpLocks/>
          </p:cNvGrpSpPr>
          <p:nvPr/>
        </p:nvGrpSpPr>
        <p:grpSpPr bwMode="auto">
          <a:xfrm>
            <a:off x="7386638" y="1460500"/>
            <a:ext cx="581025" cy="395288"/>
            <a:chOff x="4653" y="1615"/>
            <a:chExt cx="366" cy="249"/>
          </a:xfrm>
        </p:grpSpPr>
        <p:sp>
          <p:nvSpPr>
            <p:cNvPr id="37892" name="AutoShape 4"/>
            <p:cNvSpPr>
              <a:spLocks noChangeArrowheads="1"/>
            </p:cNvSpPr>
            <p:nvPr/>
          </p:nvSpPr>
          <p:spPr bwMode="auto">
            <a:xfrm rot="5400000">
              <a:off x="4733" y="1579"/>
              <a:ext cx="211" cy="359"/>
            </a:xfrm>
            <a:prstGeom prst="parallelogram">
              <a:avLst>
                <a:gd name="adj" fmla="val 29162"/>
              </a:avLst>
            </a:prstGeom>
            <a:solidFill>
              <a:srgbClr val="DDDDDD"/>
            </a:solidFill>
            <a:ln w="9525">
              <a:noFill/>
              <a:miter lim="800000"/>
              <a:headEnd/>
              <a:tailEnd/>
            </a:ln>
            <a:effectLst/>
          </p:spPr>
          <p:txBody>
            <a:bodyPr wrap="none" anchor="ctr"/>
            <a:lstStyle/>
            <a:p>
              <a:endParaRPr lang="zh-CN" altLang="en-US"/>
            </a:p>
          </p:txBody>
        </p:sp>
        <p:sp>
          <p:nvSpPr>
            <p:cNvPr id="37893" name="Text Box 5"/>
            <p:cNvSpPr txBox="1">
              <a:spLocks noChangeArrowheads="1"/>
            </p:cNvSpPr>
            <p:nvPr/>
          </p:nvSpPr>
          <p:spPr bwMode="auto">
            <a:xfrm rot="626605">
              <a:off x="4662" y="1615"/>
              <a:ext cx="265" cy="231"/>
            </a:xfrm>
            <a:prstGeom prst="rect">
              <a:avLst/>
            </a:prstGeom>
            <a:noFill/>
            <a:ln w="9525">
              <a:noFill/>
              <a:miter lim="800000"/>
              <a:headEnd type="none" w="sm" len="lg"/>
              <a:tailEnd type="none" w="sm" len="lg"/>
            </a:ln>
            <a:effectLst/>
          </p:spPr>
          <p:txBody>
            <a:bodyPr wrap="none">
              <a:spAutoFit/>
            </a:bodyPr>
            <a:lstStyle/>
            <a:p>
              <a:r>
                <a:rPr kumimoji="1" lang="en-US" altLang="zh-CN">
                  <a:solidFill>
                    <a:srgbClr val="333399"/>
                  </a:solidFill>
                  <a:ea typeface="黑体" pitchFamily="49" charset="-122"/>
                </a:rPr>
                <a:t>P</a:t>
              </a:r>
              <a:r>
                <a:rPr kumimoji="1" lang="en-US" altLang="zh-CN" baseline="-25000">
                  <a:solidFill>
                    <a:srgbClr val="333399"/>
                  </a:solidFill>
                  <a:ea typeface="黑体" pitchFamily="49" charset="-122"/>
                </a:rPr>
                <a:t>1</a:t>
              </a:r>
              <a:endParaRPr kumimoji="1" lang="en-US" altLang="zh-CN">
                <a:solidFill>
                  <a:srgbClr val="333399"/>
                </a:solidFill>
                <a:ea typeface="黑体" pitchFamily="49" charset="-122"/>
              </a:endParaRPr>
            </a:p>
          </p:txBody>
        </p:sp>
        <p:sp>
          <p:nvSpPr>
            <p:cNvPr id="37894" name="Line 6"/>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895" name="Line 7"/>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896" name="AutoShape 8"/>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headEnd/>
              <a:tailEnd/>
            </a:ln>
            <a:effectLst/>
          </p:spPr>
          <p:txBody>
            <a:bodyPr wrap="none" anchor="ctr"/>
            <a:lstStyle/>
            <a:p>
              <a:endParaRPr lang="zh-CN" altLang="en-US"/>
            </a:p>
          </p:txBody>
        </p:sp>
      </p:grpSp>
      <p:grpSp>
        <p:nvGrpSpPr>
          <p:cNvPr id="37897" name="Group 9"/>
          <p:cNvGrpSpPr>
            <a:grpSpLocks/>
          </p:cNvGrpSpPr>
          <p:nvPr/>
        </p:nvGrpSpPr>
        <p:grpSpPr bwMode="auto">
          <a:xfrm>
            <a:off x="7378700" y="1744663"/>
            <a:ext cx="582613" cy="395287"/>
            <a:chOff x="4648" y="1794"/>
            <a:chExt cx="367" cy="249"/>
          </a:xfrm>
        </p:grpSpPr>
        <p:sp>
          <p:nvSpPr>
            <p:cNvPr id="37898" name="AutoShape 10"/>
            <p:cNvSpPr>
              <a:spLocks noChangeArrowheads="1"/>
            </p:cNvSpPr>
            <p:nvPr/>
          </p:nvSpPr>
          <p:spPr bwMode="auto">
            <a:xfrm rot="5400000">
              <a:off x="4729" y="1758"/>
              <a:ext cx="211" cy="359"/>
            </a:xfrm>
            <a:prstGeom prst="parallelogram">
              <a:avLst>
                <a:gd name="adj" fmla="val 29162"/>
              </a:avLst>
            </a:prstGeom>
            <a:solidFill>
              <a:srgbClr val="DDDDDD"/>
            </a:solidFill>
            <a:ln w="9525">
              <a:noFill/>
              <a:miter lim="800000"/>
              <a:headEnd/>
              <a:tailEnd/>
            </a:ln>
            <a:effectLst/>
          </p:spPr>
          <p:txBody>
            <a:bodyPr wrap="none" anchor="ctr"/>
            <a:lstStyle/>
            <a:p>
              <a:endParaRPr lang="zh-CN" altLang="en-US"/>
            </a:p>
          </p:txBody>
        </p:sp>
        <p:sp>
          <p:nvSpPr>
            <p:cNvPr id="37899" name="Text Box 11"/>
            <p:cNvSpPr txBox="1">
              <a:spLocks noChangeArrowheads="1"/>
            </p:cNvSpPr>
            <p:nvPr/>
          </p:nvSpPr>
          <p:spPr bwMode="auto">
            <a:xfrm rot="626605">
              <a:off x="4651" y="1794"/>
              <a:ext cx="265" cy="231"/>
            </a:xfrm>
            <a:prstGeom prst="rect">
              <a:avLst/>
            </a:prstGeom>
            <a:noFill/>
            <a:ln w="9525">
              <a:noFill/>
              <a:miter lim="800000"/>
              <a:headEnd type="none" w="sm" len="lg"/>
              <a:tailEnd type="none" w="sm" len="lg"/>
            </a:ln>
            <a:effectLst/>
          </p:spPr>
          <p:txBody>
            <a:bodyPr wrap="none">
              <a:spAutoFit/>
            </a:bodyPr>
            <a:lstStyle/>
            <a:p>
              <a:r>
                <a:rPr kumimoji="1" lang="en-US" altLang="zh-CN">
                  <a:solidFill>
                    <a:srgbClr val="333399"/>
                  </a:solidFill>
                  <a:ea typeface="黑体" pitchFamily="49" charset="-122"/>
                </a:rPr>
                <a:t>P</a:t>
              </a:r>
              <a:r>
                <a:rPr kumimoji="1" lang="en-US" altLang="zh-CN" baseline="-25000">
                  <a:solidFill>
                    <a:srgbClr val="333399"/>
                  </a:solidFill>
                  <a:ea typeface="黑体" pitchFamily="49" charset="-122"/>
                </a:rPr>
                <a:t>2</a:t>
              </a:r>
              <a:endParaRPr kumimoji="1" lang="en-US" altLang="zh-CN">
                <a:solidFill>
                  <a:srgbClr val="333399"/>
                </a:solidFill>
                <a:ea typeface="黑体" pitchFamily="49" charset="-122"/>
              </a:endParaRPr>
            </a:p>
          </p:txBody>
        </p:sp>
        <p:sp>
          <p:nvSpPr>
            <p:cNvPr id="37900" name="Line 12"/>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01" name="Line 13"/>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02" name="AutoShape 14"/>
            <p:cNvSpPr>
              <a:spLocks noChangeArrowheads="1"/>
            </p:cNvSpPr>
            <p:nvPr/>
          </p:nvSpPr>
          <p:spPr bwMode="auto">
            <a:xfrm rot="746037">
              <a:off x="4843" y="1894"/>
              <a:ext cx="132" cy="126"/>
            </a:xfrm>
            <a:prstGeom prst="rightArrow">
              <a:avLst>
                <a:gd name="adj1" fmla="val 50000"/>
                <a:gd name="adj2" fmla="val 26190"/>
              </a:avLst>
            </a:prstGeom>
            <a:solidFill>
              <a:schemeClr val="bg1"/>
            </a:solidFill>
            <a:ln w="9525">
              <a:solidFill>
                <a:srgbClr val="333399"/>
              </a:solidFill>
              <a:miter lim="800000"/>
              <a:headEnd/>
              <a:tailEnd/>
            </a:ln>
            <a:effectLst/>
          </p:spPr>
          <p:txBody>
            <a:bodyPr wrap="none" anchor="ctr"/>
            <a:lstStyle/>
            <a:p>
              <a:endParaRPr lang="zh-CN" altLang="en-US"/>
            </a:p>
          </p:txBody>
        </p:sp>
      </p:grpSp>
      <p:grpSp>
        <p:nvGrpSpPr>
          <p:cNvPr id="37903" name="Group 15"/>
          <p:cNvGrpSpPr>
            <a:grpSpLocks/>
          </p:cNvGrpSpPr>
          <p:nvPr/>
        </p:nvGrpSpPr>
        <p:grpSpPr bwMode="auto">
          <a:xfrm>
            <a:off x="7385050" y="2033588"/>
            <a:ext cx="581025" cy="385762"/>
            <a:chOff x="4652" y="1976"/>
            <a:chExt cx="366" cy="243"/>
          </a:xfrm>
        </p:grpSpPr>
        <p:sp>
          <p:nvSpPr>
            <p:cNvPr id="37904" name="AutoShape 16"/>
            <p:cNvSpPr>
              <a:spLocks noChangeArrowheads="1"/>
            </p:cNvSpPr>
            <p:nvPr/>
          </p:nvSpPr>
          <p:spPr bwMode="auto">
            <a:xfrm rot="5400000">
              <a:off x="4732" y="1934"/>
              <a:ext cx="211" cy="359"/>
            </a:xfrm>
            <a:prstGeom prst="parallelogram">
              <a:avLst>
                <a:gd name="adj" fmla="val 29162"/>
              </a:avLst>
            </a:prstGeom>
            <a:solidFill>
              <a:srgbClr val="DDDDDD"/>
            </a:solidFill>
            <a:ln w="9525">
              <a:noFill/>
              <a:miter lim="800000"/>
              <a:headEnd/>
              <a:tailEnd/>
            </a:ln>
            <a:effectLst/>
          </p:spPr>
          <p:txBody>
            <a:bodyPr wrap="none" anchor="ctr"/>
            <a:lstStyle/>
            <a:p>
              <a:endParaRPr lang="zh-CN" altLang="en-US"/>
            </a:p>
          </p:txBody>
        </p:sp>
        <p:sp>
          <p:nvSpPr>
            <p:cNvPr id="37905" name="Text Box 17"/>
            <p:cNvSpPr txBox="1">
              <a:spLocks noChangeArrowheads="1"/>
            </p:cNvSpPr>
            <p:nvPr/>
          </p:nvSpPr>
          <p:spPr bwMode="auto">
            <a:xfrm rot="626605">
              <a:off x="4655" y="1976"/>
              <a:ext cx="265" cy="231"/>
            </a:xfrm>
            <a:prstGeom prst="rect">
              <a:avLst/>
            </a:prstGeom>
            <a:noFill/>
            <a:ln w="9525">
              <a:noFill/>
              <a:miter lim="800000"/>
              <a:headEnd type="none" w="sm" len="lg"/>
              <a:tailEnd type="none" w="sm" len="lg"/>
            </a:ln>
            <a:effectLst/>
          </p:spPr>
          <p:txBody>
            <a:bodyPr wrap="none">
              <a:spAutoFit/>
            </a:bodyPr>
            <a:lstStyle/>
            <a:p>
              <a:r>
                <a:rPr kumimoji="1" lang="en-US" altLang="zh-CN">
                  <a:solidFill>
                    <a:srgbClr val="333399"/>
                  </a:solidFill>
                  <a:ea typeface="黑体" pitchFamily="49" charset="-122"/>
                </a:rPr>
                <a:t>P</a:t>
              </a:r>
              <a:r>
                <a:rPr kumimoji="1" lang="en-US" altLang="zh-CN" baseline="-25000">
                  <a:solidFill>
                    <a:srgbClr val="333399"/>
                  </a:solidFill>
                  <a:ea typeface="黑体" pitchFamily="49" charset="-122"/>
                </a:rPr>
                <a:t>3</a:t>
              </a:r>
              <a:endParaRPr kumimoji="1" lang="en-US" altLang="zh-CN">
                <a:solidFill>
                  <a:srgbClr val="333399"/>
                </a:solidFill>
                <a:ea typeface="黑体" pitchFamily="49" charset="-122"/>
              </a:endParaRPr>
            </a:p>
          </p:txBody>
        </p:sp>
        <p:sp>
          <p:nvSpPr>
            <p:cNvPr id="37906" name="Line 18"/>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07" name="Line 19"/>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08" name="AutoShape 20"/>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w="9525">
              <a:solidFill>
                <a:srgbClr val="333399"/>
              </a:solidFill>
              <a:miter lim="800000"/>
              <a:headEnd/>
              <a:tailEnd/>
            </a:ln>
            <a:effectLst/>
          </p:spPr>
          <p:txBody>
            <a:bodyPr wrap="none" anchor="ctr"/>
            <a:lstStyle/>
            <a:p>
              <a:endParaRPr lang="zh-CN" altLang="en-US"/>
            </a:p>
          </p:txBody>
        </p:sp>
      </p:grpSp>
      <p:grpSp>
        <p:nvGrpSpPr>
          <p:cNvPr id="37909" name="Group 21"/>
          <p:cNvGrpSpPr>
            <a:grpSpLocks/>
          </p:cNvGrpSpPr>
          <p:nvPr/>
        </p:nvGrpSpPr>
        <p:grpSpPr bwMode="auto">
          <a:xfrm>
            <a:off x="7391400" y="2303463"/>
            <a:ext cx="581025" cy="393700"/>
            <a:chOff x="4656" y="2146"/>
            <a:chExt cx="366" cy="248"/>
          </a:xfrm>
        </p:grpSpPr>
        <p:sp>
          <p:nvSpPr>
            <p:cNvPr id="37910" name="AutoShape 22"/>
            <p:cNvSpPr>
              <a:spLocks noChangeArrowheads="1"/>
            </p:cNvSpPr>
            <p:nvPr/>
          </p:nvSpPr>
          <p:spPr bwMode="auto">
            <a:xfrm rot="5400000">
              <a:off x="4737" y="2109"/>
              <a:ext cx="210" cy="359"/>
            </a:xfrm>
            <a:prstGeom prst="parallelogram">
              <a:avLst>
                <a:gd name="adj" fmla="val 29162"/>
              </a:avLst>
            </a:prstGeom>
            <a:solidFill>
              <a:srgbClr val="DDDDDD"/>
            </a:solidFill>
            <a:ln w="9525">
              <a:noFill/>
              <a:miter lim="800000"/>
              <a:headEnd/>
              <a:tailEnd/>
            </a:ln>
            <a:effectLst/>
          </p:spPr>
          <p:txBody>
            <a:bodyPr wrap="none" anchor="ctr"/>
            <a:lstStyle/>
            <a:p>
              <a:endParaRPr lang="zh-CN" altLang="en-US"/>
            </a:p>
          </p:txBody>
        </p:sp>
        <p:sp>
          <p:nvSpPr>
            <p:cNvPr id="37911" name="Text Box 23"/>
            <p:cNvSpPr txBox="1">
              <a:spLocks noChangeArrowheads="1"/>
            </p:cNvSpPr>
            <p:nvPr/>
          </p:nvSpPr>
          <p:spPr bwMode="auto">
            <a:xfrm rot="626605">
              <a:off x="4659" y="2146"/>
              <a:ext cx="265" cy="231"/>
            </a:xfrm>
            <a:prstGeom prst="rect">
              <a:avLst/>
            </a:prstGeom>
            <a:noFill/>
            <a:ln w="9525">
              <a:noFill/>
              <a:miter lim="800000"/>
              <a:headEnd type="none" w="sm" len="lg"/>
              <a:tailEnd type="none" w="sm" len="lg"/>
            </a:ln>
            <a:effectLst/>
          </p:spPr>
          <p:txBody>
            <a:bodyPr wrap="none">
              <a:spAutoFit/>
            </a:bodyPr>
            <a:lstStyle/>
            <a:p>
              <a:r>
                <a:rPr kumimoji="1" lang="en-US" altLang="zh-CN">
                  <a:solidFill>
                    <a:srgbClr val="333399"/>
                  </a:solidFill>
                  <a:ea typeface="黑体" pitchFamily="49" charset="-122"/>
                </a:rPr>
                <a:t>P</a:t>
              </a:r>
              <a:r>
                <a:rPr kumimoji="1" lang="en-US" altLang="zh-CN" baseline="-25000">
                  <a:solidFill>
                    <a:srgbClr val="333399"/>
                  </a:solidFill>
                  <a:ea typeface="黑体" pitchFamily="49" charset="-122"/>
                </a:rPr>
                <a:t>4</a:t>
              </a:r>
              <a:endParaRPr kumimoji="1" lang="en-US" altLang="zh-CN">
                <a:solidFill>
                  <a:srgbClr val="333399"/>
                </a:solidFill>
                <a:ea typeface="黑体" pitchFamily="49" charset="-122"/>
              </a:endParaRPr>
            </a:p>
          </p:txBody>
        </p:sp>
        <p:sp>
          <p:nvSpPr>
            <p:cNvPr id="37912" name="Line 24"/>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13" name="Line 25"/>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14" name="AutoShape 26"/>
            <p:cNvSpPr>
              <a:spLocks noChangeArrowheads="1"/>
            </p:cNvSpPr>
            <p:nvPr/>
          </p:nvSpPr>
          <p:spPr bwMode="auto">
            <a:xfrm rot="746037">
              <a:off x="4850" y="2245"/>
              <a:ext cx="132" cy="126"/>
            </a:xfrm>
            <a:prstGeom prst="rightArrow">
              <a:avLst>
                <a:gd name="adj1" fmla="val 50000"/>
                <a:gd name="adj2" fmla="val 26190"/>
              </a:avLst>
            </a:prstGeom>
            <a:solidFill>
              <a:schemeClr val="bg1"/>
            </a:solidFill>
            <a:ln w="9525">
              <a:solidFill>
                <a:srgbClr val="333399"/>
              </a:solidFill>
              <a:miter lim="800000"/>
              <a:headEnd/>
              <a:tailEnd/>
            </a:ln>
            <a:effectLst/>
          </p:spPr>
          <p:txBody>
            <a:bodyPr wrap="none" anchor="ctr"/>
            <a:lstStyle/>
            <a:p>
              <a:endParaRPr lang="zh-CN" altLang="en-US"/>
            </a:p>
          </p:txBody>
        </p:sp>
      </p:grpSp>
      <p:grpSp>
        <p:nvGrpSpPr>
          <p:cNvPr id="37915" name="Group 27"/>
          <p:cNvGrpSpPr>
            <a:grpSpLocks/>
          </p:cNvGrpSpPr>
          <p:nvPr/>
        </p:nvGrpSpPr>
        <p:grpSpPr bwMode="auto">
          <a:xfrm>
            <a:off x="7956550" y="1855788"/>
            <a:ext cx="585788" cy="384175"/>
            <a:chOff x="5012" y="1864"/>
            <a:chExt cx="369" cy="242"/>
          </a:xfrm>
        </p:grpSpPr>
        <p:sp>
          <p:nvSpPr>
            <p:cNvPr id="37916" name="AutoShape 28"/>
            <p:cNvSpPr>
              <a:spLocks noChangeArrowheads="1"/>
            </p:cNvSpPr>
            <p:nvPr/>
          </p:nvSpPr>
          <p:spPr bwMode="auto">
            <a:xfrm rot="5400000">
              <a:off x="5096" y="1821"/>
              <a:ext cx="210" cy="359"/>
            </a:xfrm>
            <a:prstGeom prst="parallelogram">
              <a:avLst>
                <a:gd name="adj" fmla="val 29162"/>
              </a:avLst>
            </a:prstGeom>
            <a:solidFill>
              <a:srgbClr val="DDDDDD"/>
            </a:solidFill>
            <a:ln w="9525">
              <a:noFill/>
              <a:miter lim="800000"/>
              <a:headEnd/>
              <a:tailEnd/>
            </a:ln>
            <a:effectLst/>
          </p:spPr>
          <p:txBody>
            <a:bodyPr wrap="none" anchor="ctr"/>
            <a:lstStyle/>
            <a:p>
              <a:endParaRPr lang="zh-CN" altLang="en-US"/>
            </a:p>
          </p:txBody>
        </p:sp>
        <p:sp>
          <p:nvSpPr>
            <p:cNvPr id="37917" name="Text Box 29"/>
            <p:cNvSpPr txBox="1">
              <a:spLocks noChangeArrowheads="1"/>
            </p:cNvSpPr>
            <p:nvPr/>
          </p:nvSpPr>
          <p:spPr bwMode="auto">
            <a:xfrm rot="626605">
              <a:off x="5012" y="1864"/>
              <a:ext cx="265" cy="231"/>
            </a:xfrm>
            <a:prstGeom prst="rect">
              <a:avLst/>
            </a:prstGeom>
            <a:noFill/>
            <a:ln w="9525">
              <a:noFill/>
              <a:miter lim="800000"/>
              <a:headEnd type="none" w="sm" len="lg"/>
              <a:tailEnd type="none" w="sm" len="lg"/>
            </a:ln>
            <a:effectLst/>
          </p:spPr>
          <p:txBody>
            <a:bodyPr wrap="none">
              <a:spAutoFit/>
            </a:bodyPr>
            <a:lstStyle/>
            <a:p>
              <a:r>
                <a:rPr kumimoji="1" lang="en-US" altLang="zh-CN">
                  <a:solidFill>
                    <a:srgbClr val="333399"/>
                  </a:solidFill>
                  <a:ea typeface="黑体" pitchFamily="49" charset="-122"/>
                </a:rPr>
                <a:t>P</a:t>
              </a:r>
              <a:r>
                <a:rPr kumimoji="1" lang="en-US" altLang="zh-CN" baseline="-25000">
                  <a:solidFill>
                    <a:srgbClr val="333399"/>
                  </a:solidFill>
                  <a:ea typeface="黑体" pitchFamily="49" charset="-122"/>
                </a:rPr>
                <a:t>1</a:t>
              </a:r>
              <a:endParaRPr kumimoji="1" lang="en-US" altLang="zh-CN">
                <a:solidFill>
                  <a:srgbClr val="333399"/>
                </a:solidFill>
                <a:ea typeface="黑体" pitchFamily="49" charset="-122"/>
              </a:endParaRPr>
            </a:p>
          </p:txBody>
        </p:sp>
        <p:sp>
          <p:nvSpPr>
            <p:cNvPr id="37918" name="Line 30"/>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19" name="Line 31"/>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20" name="AutoShape 32"/>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w="9525">
              <a:solidFill>
                <a:srgbClr val="333399"/>
              </a:solidFill>
              <a:miter lim="800000"/>
              <a:headEnd/>
              <a:tailEnd/>
            </a:ln>
            <a:effectLst/>
          </p:spPr>
          <p:txBody>
            <a:bodyPr wrap="none" anchor="ctr"/>
            <a:lstStyle/>
            <a:p>
              <a:endParaRPr lang="zh-CN" altLang="en-US"/>
            </a:p>
          </p:txBody>
        </p:sp>
      </p:grpSp>
      <p:grpSp>
        <p:nvGrpSpPr>
          <p:cNvPr id="37921" name="Group 33"/>
          <p:cNvGrpSpPr>
            <a:grpSpLocks/>
          </p:cNvGrpSpPr>
          <p:nvPr/>
        </p:nvGrpSpPr>
        <p:grpSpPr bwMode="auto">
          <a:xfrm>
            <a:off x="7948613" y="2120900"/>
            <a:ext cx="585787" cy="403225"/>
            <a:chOff x="5007" y="2031"/>
            <a:chExt cx="369" cy="254"/>
          </a:xfrm>
        </p:grpSpPr>
        <p:sp>
          <p:nvSpPr>
            <p:cNvPr id="37922" name="AutoShape 34"/>
            <p:cNvSpPr>
              <a:spLocks noChangeArrowheads="1"/>
            </p:cNvSpPr>
            <p:nvPr/>
          </p:nvSpPr>
          <p:spPr bwMode="auto">
            <a:xfrm rot="5400000">
              <a:off x="5091" y="2000"/>
              <a:ext cx="210" cy="359"/>
            </a:xfrm>
            <a:prstGeom prst="parallelogram">
              <a:avLst>
                <a:gd name="adj" fmla="val 29162"/>
              </a:avLst>
            </a:prstGeom>
            <a:solidFill>
              <a:srgbClr val="DDDDDD"/>
            </a:solidFill>
            <a:ln w="9525">
              <a:noFill/>
              <a:miter lim="800000"/>
              <a:headEnd/>
              <a:tailEnd/>
            </a:ln>
            <a:effectLst/>
          </p:spPr>
          <p:txBody>
            <a:bodyPr wrap="none" anchor="ctr"/>
            <a:lstStyle/>
            <a:p>
              <a:endParaRPr lang="zh-CN" altLang="en-US"/>
            </a:p>
          </p:txBody>
        </p:sp>
        <p:sp>
          <p:nvSpPr>
            <p:cNvPr id="37923" name="Text Box 35"/>
            <p:cNvSpPr txBox="1">
              <a:spLocks noChangeArrowheads="1"/>
            </p:cNvSpPr>
            <p:nvPr/>
          </p:nvSpPr>
          <p:spPr bwMode="auto">
            <a:xfrm rot="626605">
              <a:off x="5007" y="2031"/>
              <a:ext cx="265" cy="231"/>
            </a:xfrm>
            <a:prstGeom prst="rect">
              <a:avLst/>
            </a:prstGeom>
            <a:noFill/>
            <a:ln w="9525">
              <a:noFill/>
              <a:miter lim="800000"/>
              <a:headEnd type="none" w="sm" len="lg"/>
              <a:tailEnd type="none" w="sm" len="lg"/>
            </a:ln>
            <a:effectLst/>
          </p:spPr>
          <p:txBody>
            <a:bodyPr wrap="none">
              <a:spAutoFit/>
            </a:bodyPr>
            <a:lstStyle/>
            <a:p>
              <a:r>
                <a:rPr kumimoji="1" lang="en-US" altLang="zh-CN">
                  <a:solidFill>
                    <a:srgbClr val="333399"/>
                  </a:solidFill>
                  <a:ea typeface="黑体" pitchFamily="49" charset="-122"/>
                </a:rPr>
                <a:t>P</a:t>
              </a:r>
              <a:r>
                <a:rPr kumimoji="1" lang="en-US" altLang="zh-CN" baseline="-25000">
                  <a:solidFill>
                    <a:srgbClr val="333399"/>
                  </a:solidFill>
                  <a:ea typeface="黑体" pitchFamily="49" charset="-122"/>
                </a:rPr>
                <a:t>2</a:t>
              </a:r>
              <a:endParaRPr kumimoji="1" lang="en-US" altLang="zh-CN">
                <a:solidFill>
                  <a:srgbClr val="333399"/>
                </a:solidFill>
                <a:ea typeface="黑体" pitchFamily="49" charset="-122"/>
              </a:endParaRPr>
            </a:p>
          </p:txBody>
        </p:sp>
        <p:sp>
          <p:nvSpPr>
            <p:cNvPr id="37924" name="Line 36"/>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25" name="Line 37"/>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26" name="AutoShape 38"/>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w="9525">
              <a:solidFill>
                <a:srgbClr val="333399"/>
              </a:solidFill>
              <a:miter lim="800000"/>
              <a:headEnd/>
              <a:tailEnd/>
            </a:ln>
            <a:effectLst/>
          </p:spPr>
          <p:txBody>
            <a:bodyPr wrap="none" anchor="ctr"/>
            <a:lstStyle/>
            <a:p>
              <a:endParaRPr lang="zh-CN" altLang="en-US"/>
            </a:p>
          </p:txBody>
        </p:sp>
      </p:grpSp>
      <p:grpSp>
        <p:nvGrpSpPr>
          <p:cNvPr id="37927" name="Group 39"/>
          <p:cNvGrpSpPr>
            <a:grpSpLocks/>
          </p:cNvGrpSpPr>
          <p:nvPr/>
        </p:nvGrpSpPr>
        <p:grpSpPr bwMode="auto">
          <a:xfrm>
            <a:off x="7959725" y="2408238"/>
            <a:ext cx="581025" cy="395287"/>
            <a:chOff x="5014" y="2212"/>
            <a:chExt cx="366" cy="249"/>
          </a:xfrm>
        </p:grpSpPr>
        <p:sp>
          <p:nvSpPr>
            <p:cNvPr id="37928" name="AutoShape 40"/>
            <p:cNvSpPr>
              <a:spLocks noChangeArrowheads="1"/>
            </p:cNvSpPr>
            <p:nvPr/>
          </p:nvSpPr>
          <p:spPr bwMode="auto">
            <a:xfrm rot="5400000">
              <a:off x="5094" y="2176"/>
              <a:ext cx="211" cy="359"/>
            </a:xfrm>
            <a:prstGeom prst="parallelogram">
              <a:avLst>
                <a:gd name="adj" fmla="val 29162"/>
              </a:avLst>
            </a:prstGeom>
            <a:solidFill>
              <a:srgbClr val="DDDDDD"/>
            </a:solidFill>
            <a:ln w="9525">
              <a:noFill/>
              <a:miter lim="800000"/>
              <a:headEnd/>
              <a:tailEnd/>
            </a:ln>
            <a:effectLst/>
          </p:spPr>
          <p:txBody>
            <a:bodyPr wrap="none" anchor="ctr"/>
            <a:lstStyle/>
            <a:p>
              <a:endParaRPr lang="zh-CN" altLang="en-US"/>
            </a:p>
          </p:txBody>
        </p:sp>
        <p:sp>
          <p:nvSpPr>
            <p:cNvPr id="37929" name="Text Box 41"/>
            <p:cNvSpPr txBox="1">
              <a:spLocks noChangeArrowheads="1"/>
            </p:cNvSpPr>
            <p:nvPr/>
          </p:nvSpPr>
          <p:spPr bwMode="auto">
            <a:xfrm rot="626605">
              <a:off x="5017" y="2212"/>
              <a:ext cx="265" cy="231"/>
            </a:xfrm>
            <a:prstGeom prst="rect">
              <a:avLst/>
            </a:prstGeom>
            <a:noFill/>
            <a:ln w="9525">
              <a:noFill/>
              <a:miter lim="800000"/>
              <a:headEnd type="none" w="sm" len="lg"/>
              <a:tailEnd type="none" w="sm" len="lg"/>
            </a:ln>
            <a:effectLst/>
          </p:spPr>
          <p:txBody>
            <a:bodyPr wrap="none">
              <a:spAutoFit/>
            </a:bodyPr>
            <a:lstStyle/>
            <a:p>
              <a:r>
                <a:rPr kumimoji="1" lang="en-US" altLang="zh-CN">
                  <a:solidFill>
                    <a:srgbClr val="333399"/>
                  </a:solidFill>
                  <a:ea typeface="黑体" pitchFamily="49" charset="-122"/>
                </a:rPr>
                <a:t>P</a:t>
              </a:r>
              <a:r>
                <a:rPr kumimoji="1" lang="en-US" altLang="zh-CN" baseline="-25000">
                  <a:solidFill>
                    <a:srgbClr val="333399"/>
                  </a:solidFill>
                  <a:ea typeface="黑体" pitchFamily="49" charset="-122"/>
                </a:rPr>
                <a:t>3</a:t>
              </a:r>
              <a:endParaRPr kumimoji="1" lang="en-US" altLang="zh-CN">
                <a:solidFill>
                  <a:srgbClr val="333399"/>
                </a:solidFill>
                <a:ea typeface="黑体" pitchFamily="49" charset="-122"/>
              </a:endParaRPr>
            </a:p>
          </p:txBody>
        </p:sp>
        <p:sp>
          <p:nvSpPr>
            <p:cNvPr id="37930" name="Line 42"/>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31" name="Line 43"/>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32" name="AutoShape 44"/>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headEnd/>
              <a:tailEnd/>
            </a:ln>
            <a:effectLst/>
          </p:spPr>
          <p:txBody>
            <a:bodyPr wrap="none" anchor="ctr"/>
            <a:lstStyle/>
            <a:p>
              <a:endParaRPr lang="zh-CN" altLang="en-US"/>
            </a:p>
          </p:txBody>
        </p:sp>
      </p:grpSp>
      <p:grpSp>
        <p:nvGrpSpPr>
          <p:cNvPr id="37933" name="Group 45"/>
          <p:cNvGrpSpPr>
            <a:grpSpLocks/>
          </p:cNvGrpSpPr>
          <p:nvPr/>
        </p:nvGrpSpPr>
        <p:grpSpPr bwMode="auto">
          <a:xfrm>
            <a:off x="7959725" y="2678113"/>
            <a:ext cx="587375" cy="404812"/>
            <a:chOff x="5014" y="2382"/>
            <a:chExt cx="370" cy="255"/>
          </a:xfrm>
        </p:grpSpPr>
        <p:sp>
          <p:nvSpPr>
            <p:cNvPr id="37934" name="AutoShape 46"/>
            <p:cNvSpPr>
              <a:spLocks noChangeArrowheads="1"/>
            </p:cNvSpPr>
            <p:nvPr/>
          </p:nvSpPr>
          <p:spPr bwMode="auto">
            <a:xfrm rot="5400000">
              <a:off x="5098" y="2352"/>
              <a:ext cx="211" cy="359"/>
            </a:xfrm>
            <a:prstGeom prst="parallelogram">
              <a:avLst>
                <a:gd name="adj" fmla="val 29162"/>
              </a:avLst>
            </a:prstGeom>
            <a:solidFill>
              <a:srgbClr val="DDDDDD"/>
            </a:solidFill>
            <a:ln w="9525">
              <a:noFill/>
              <a:miter lim="800000"/>
              <a:headEnd/>
              <a:tailEnd/>
            </a:ln>
            <a:effectLst/>
          </p:spPr>
          <p:txBody>
            <a:bodyPr wrap="none" anchor="ctr"/>
            <a:lstStyle/>
            <a:p>
              <a:endParaRPr lang="zh-CN" altLang="en-US"/>
            </a:p>
          </p:txBody>
        </p:sp>
        <p:sp>
          <p:nvSpPr>
            <p:cNvPr id="37935" name="Text Box 47"/>
            <p:cNvSpPr txBox="1">
              <a:spLocks noChangeArrowheads="1"/>
            </p:cNvSpPr>
            <p:nvPr/>
          </p:nvSpPr>
          <p:spPr bwMode="auto">
            <a:xfrm rot="626605">
              <a:off x="5014" y="2382"/>
              <a:ext cx="265" cy="231"/>
            </a:xfrm>
            <a:prstGeom prst="rect">
              <a:avLst/>
            </a:prstGeom>
            <a:noFill/>
            <a:ln w="9525">
              <a:noFill/>
              <a:miter lim="800000"/>
              <a:headEnd type="none" w="sm" len="lg"/>
              <a:tailEnd type="none" w="sm" len="lg"/>
            </a:ln>
            <a:effectLst/>
          </p:spPr>
          <p:txBody>
            <a:bodyPr wrap="none">
              <a:spAutoFit/>
            </a:bodyPr>
            <a:lstStyle/>
            <a:p>
              <a:r>
                <a:rPr kumimoji="1" lang="en-US" altLang="zh-CN">
                  <a:solidFill>
                    <a:srgbClr val="333399"/>
                  </a:solidFill>
                  <a:ea typeface="黑体" pitchFamily="49" charset="-122"/>
                </a:rPr>
                <a:t>P</a:t>
              </a:r>
              <a:r>
                <a:rPr kumimoji="1" lang="en-US" altLang="zh-CN" baseline="-25000">
                  <a:solidFill>
                    <a:srgbClr val="333399"/>
                  </a:solidFill>
                  <a:ea typeface="黑体" pitchFamily="49" charset="-122"/>
                </a:rPr>
                <a:t>4</a:t>
              </a:r>
              <a:endParaRPr kumimoji="1" lang="en-US" altLang="zh-CN">
                <a:solidFill>
                  <a:srgbClr val="333399"/>
                </a:solidFill>
                <a:ea typeface="黑体" pitchFamily="49" charset="-122"/>
              </a:endParaRPr>
            </a:p>
          </p:txBody>
        </p:sp>
        <p:sp>
          <p:nvSpPr>
            <p:cNvPr id="37936" name="Line 48"/>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37" name="Line 49"/>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38" name="AutoShape 50"/>
            <p:cNvSpPr>
              <a:spLocks noChangeArrowheads="1"/>
            </p:cNvSpPr>
            <p:nvPr/>
          </p:nvSpPr>
          <p:spPr bwMode="auto">
            <a:xfrm rot="746037">
              <a:off x="5212" y="2487"/>
              <a:ext cx="132" cy="127"/>
            </a:xfrm>
            <a:prstGeom prst="rightArrow">
              <a:avLst>
                <a:gd name="adj1" fmla="val 50000"/>
                <a:gd name="adj2" fmla="val 25984"/>
              </a:avLst>
            </a:prstGeom>
            <a:solidFill>
              <a:schemeClr val="bg1"/>
            </a:solidFill>
            <a:ln w="9525">
              <a:solidFill>
                <a:srgbClr val="333399"/>
              </a:solidFill>
              <a:miter lim="800000"/>
              <a:headEnd/>
              <a:tailEnd/>
            </a:ln>
            <a:effectLst/>
          </p:spPr>
          <p:txBody>
            <a:bodyPr wrap="none" anchor="ctr"/>
            <a:lstStyle/>
            <a:p>
              <a:endParaRPr lang="zh-CN" altLang="en-US"/>
            </a:p>
          </p:txBody>
        </p:sp>
      </p:grpSp>
      <p:grpSp>
        <p:nvGrpSpPr>
          <p:cNvPr id="37939" name="Group 51"/>
          <p:cNvGrpSpPr>
            <a:grpSpLocks/>
          </p:cNvGrpSpPr>
          <p:nvPr/>
        </p:nvGrpSpPr>
        <p:grpSpPr bwMode="auto">
          <a:xfrm>
            <a:off x="6805613" y="1639888"/>
            <a:ext cx="585787" cy="393700"/>
            <a:chOff x="4287" y="1728"/>
            <a:chExt cx="369" cy="248"/>
          </a:xfrm>
        </p:grpSpPr>
        <p:sp>
          <p:nvSpPr>
            <p:cNvPr id="37940" name="AutoShape 52"/>
            <p:cNvSpPr>
              <a:spLocks noChangeArrowheads="1"/>
            </p:cNvSpPr>
            <p:nvPr/>
          </p:nvSpPr>
          <p:spPr bwMode="auto">
            <a:xfrm rot="5400000">
              <a:off x="4371" y="1691"/>
              <a:ext cx="210" cy="360"/>
            </a:xfrm>
            <a:prstGeom prst="parallelogram">
              <a:avLst>
                <a:gd name="adj" fmla="val 29162"/>
              </a:avLst>
            </a:prstGeom>
            <a:solidFill>
              <a:srgbClr val="DDDDDD"/>
            </a:solidFill>
            <a:ln w="9525">
              <a:noFill/>
              <a:miter lim="800000"/>
              <a:headEnd/>
              <a:tailEnd/>
            </a:ln>
            <a:effectLst/>
          </p:spPr>
          <p:txBody>
            <a:bodyPr wrap="none" anchor="ctr"/>
            <a:lstStyle/>
            <a:p>
              <a:endParaRPr lang="zh-CN" altLang="en-US"/>
            </a:p>
          </p:txBody>
        </p:sp>
        <p:sp>
          <p:nvSpPr>
            <p:cNvPr id="37941" name="Text Box 53"/>
            <p:cNvSpPr txBox="1">
              <a:spLocks noChangeArrowheads="1"/>
            </p:cNvSpPr>
            <p:nvPr/>
          </p:nvSpPr>
          <p:spPr bwMode="auto">
            <a:xfrm rot="626605">
              <a:off x="4287" y="1728"/>
              <a:ext cx="265" cy="231"/>
            </a:xfrm>
            <a:prstGeom prst="rect">
              <a:avLst/>
            </a:prstGeom>
            <a:noFill/>
            <a:ln w="9525">
              <a:noFill/>
              <a:miter lim="800000"/>
              <a:headEnd type="none" w="sm" len="lg"/>
              <a:tailEnd type="none" w="sm" len="lg"/>
            </a:ln>
            <a:effectLst/>
          </p:spPr>
          <p:txBody>
            <a:bodyPr wrap="none">
              <a:spAutoFit/>
            </a:bodyPr>
            <a:lstStyle/>
            <a:p>
              <a:r>
                <a:rPr kumimoji="1" lang="en-US" altLang="zh-CN">
                  <a:solidFill>
                    <a:srgbClr val="333399"/>
                  </a:solidFill>
                  <a:ea typeface="黑体" pitchFamily="49" charset="-122"/>
                </a:rPr>
                <a:t>P</a:t>
              </a:r>
              <a:r>
                <a:rPr kumimoji="1" lang="en-US" altLang="zh-CN" baseline="-25000">
                  <a:solidFill>
                    <a:srgbClr val="333399"/>
                  </a:solidFill>
                  <a:ea typeface="黑体" pitchFamily="49" charset="-122"/>
                </a:rPr>
                <a:t>3</a:t>
              </a:r>
              <a:endParaRPr kumimoji="1" lang="en-US" altLang="zh-CN">
                <a:solidFill>
                  <a:srgbClr val="333399"/>
                </a:solidFill>
                <a:ea typeface="黑体" pitchFamily="49" charset="-122"/>
              </a:endParaRPr>
            </a:p>
          </p:txBody>
        </p:sp>
        <p:sp>
          <p:nvSpPr>
            <p:cNvPr id="37942" name="Line 54"/>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43" name="Line 55"/>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44" name="AutoShape 56"/>
            <p:cNvSpPr>
              <a:spLocks noChangeArrowheads="1"/>
            </p:cNvSpPr>
            <p:nvPr/>
          </p:nvSpPr>
          <p:spPr bwMode="auto">
            <a:xfrm rot="746037">
              <a:off x="4484" y="1827"/>
              <a:ext cx="133" cy="127"/>
            </a:xfrm>
            <a:prstGeom prst="rightArrow">
              <a:avLst>
                <a:gd name="adj1" fmla="val 50000"/>
                <a:gd name="adj2" fmla="val 26181"/>
              </a:avLst>
            </a:prstGeom>
            <a:solidFill>
              <a:schemeClr val="bg1"/>
            </a:solidFill>
            <a:ln w="9525">
              <a:solidFill>
                <a:srgbClr val="333399"/>
              </a:solidFill>
              <a:miter lim="800000"/>
              <a:headEnd/>
              <a:tailEnd/>
            </a:ln>
            <a:effectLst/>
          </p:spPr>
          <p:txBody>
            <a:bodyPr wrap="none" anchor="ctr"/>
            <a:lstStyle/>
            <a:p>
              <a:endParaRPr lang="zh-CN" altLang="en-US"/>
            </a:p>
          </p:txBody>
        </p:sp>
      </p:grpSp>
      <p:grpSp>
        <p:nvGrpSpPr>
          <p:cNvPr id="37945" name="Group 57"/>
          <p:cNvGrpSpPr>
            <a:grpSpLocks/>
          </p:cNvGrpSpPr>
          <p:nvPr/>
        </p:nvGrpSpPr>
        <p:grpSpPr bwMode="auto">
          <a:xfrm>
            <a:off x="6816725" y="1917700"/>
            <a:ext cx="581025" cy="395288"/>
            <a:chOff x="4294" y="1903"/>
            <a:chExt cx="366" cy="249"/>
          </a:xfrm>
        </p:grpSpPr>
        <p:sp>
          <p:nvSpPr>
            <p:cNvPr id="37946" name="AutoShape 58"/>
            <p:cNvSpPr>
              <a:spLocks noChangeArrowheads="1"/>
            </p:cNvSpPr>
            <p:nvPr/>
          </p:nvSpPr>
          <p:spPr bwMode="auto">
            <a:xfrm rot="5400000">
              <a:off x="4374" y="1867"/>
              <a:ext cx="211" cy="359"/>
            </a:xfrm>
            <a:prstGeom prst="parallelogram">
              <a:avLst>
                <a:gd name="adj" fmla="val 29162"/>
              </a:avLst>
            </a:prstGeom>
            <a:solidFill>
              <a:srgbClr val="DDDDDD"/>
            </a:solidFill>
            <a:ln w="9525">
              <a:noFill/>
              <a:miter lim="800000"/>
              <a:headEnd/>
              <a:tailEnd/>
            </a:ln>
            <a:effectLst/>
          </p:spPr>
          <p:txBody>
            <a:bodyPr wrap="none" anchor="ctr"/>
            <a:lstStyle/>
            <a:p>
              <a:endParaRPr lang="zh-CN" altLang="en-US"/>
            </a:p>
          </p:txBody>
        </p:sp>
        <p:sp>
          <p:nvSpPr>
            <p:cNvPr id="37947" name="Text Box 59"/>
            <p:cNvSpPr txBox="1">
              <a:spLocks noChangeArrowheads="1"/>
            </p:cNvSpPr>
            <p:nvPr/>
          </p:nvSpPr>
          <p:spPr bwMode="auto">
            <a:xfrm rot="626605">
              <a:off x="4297" y="1903"/>
              <a:ext cx="265" cy="231"/>
            </a:xfrm>
            <a:prstGeom prst="rect">
              <a:avLst/>
            </a:prstGeom>
            <a:noFill/>
            <a:ln w="9525">
              <a:noFill/>
              <a:miter lim="800000"/>
              <a:headEnd type="none" w="sm" len="lg"/>
              <a:tailEnd type="none" w="sm" len="lg"/>
            </a:ln>
            <a:effectLst/>
          </p:spPr>
          <p:txBody>
            <a:bodyPr wrap="none">
              <a:spAutoFit/>
            </a:bodyPr>
            <a:lstStyle/>
            <a:p>
              <a:r>
                <a:rPr kumimoji="1" lang="en-US" altLang="zh-CN">
                  <a:solidFill>
                    <a:srgbClr val="333399"/>
                  </a:solidFill>
                  <a:ea typeface="黑体" pitchFamily="49" charset="-122"/>
                </a:rPr>
                <a:t>P</a:t>
              </a:r>
              <a:r>
                <a:rPr kumimoji="1" lang="en-US" altLang="zh-CN" baseline="-25000">
                  <a:solidFill>
                    <a:srgbClr val="333399"/>
                  </a:solidFill>
                  <a:ea typeface="黑体" pitchFamily="49" charset="-122"/>
                </a:rPr>
                <a:t>4</a:t>
              </a:r>
              <a:endParaRPr kumimoji="1" lang="en-US" altLang="zh-CN">
                <a:solidFill>
                  <a:srgbClr val="333399"/>
                </a:solidFill>
                <a:ea typeface="黑体" pitchFamily="49" charset="-122"/>
              </a:endParaRPr>
            </a:p>
          </p:txBody>
        </p:sp>
        <p:sp>
          <p:nvSpPr>
            <p:cNvPr id="37948" name="Line 60"/>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49" name="Line 61"/>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50" name="AutoShape 62"/>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headEnd/>
              <a:tailEnd/>
            </a:ln>
            <a:effectLst/>
          </p:spPr>
          <p:txBody>
            <a:bodyPr wrap="none" anchor="ctr"/>
            <a:lstStyle/>
            <a:p>
              <a:endParaRPr lang="zh-CN" altLang="en-US"/>
            </a:p>
          </p:txBody>
        </p:sp>
      </p:grpSp>
      <p:grpSp>
        <p:nvGrpSpPr>
          <p:cNvPr id="37951" name="Group 63"/>
          <p:cNvGrpSpPr>
            <a:grpSpLocks/>
          </p:cNvGrpSpPr>
          <p:nvPr/>
        </p:nvGrpSpPr>
        <p:grpSpPr bwMode="auto">
          <a:xfrm>
            <a:off x="4565650" y="2374900"/>
            <a:ext cx="582613" cy="1069975"/>
            <a:chOff x="2876" y="2191"/>
            <a:chExt cx="367" cy="674"/>
          </a:xfrm>
        </p:grpSpPr>
        <p:sp>
          <p:nvSpPr>
            <p:cNvPr id="37952" name="AutoShape 64"/>
            <p:cNvSpPr>
              <a:spLocks noChangeArrowheads="1"/>
            </p:cNvSpPr>
            <p:nvPr/>
          </p:nvSpPr>
          <p:spPr bwMode="auto">
            <a:xfrm rot="5400000">
              <a:off x="2729" y="2350"/>
              <a:ext cx="674" cy="355"/>
            </a:xfrm>
            <a:prstGeom prst="parallelogram">
              <a:avLst>
                <a:gd name="adj" fmla="val 18265"/>
              </a:avLst>
            </a:prstGeom>
            <a:solidFill>
              <a:srgbClr val="DDDDDD"/>
            </a:solidFill>
            <a:ln w="9525">
              <a:noFill/>
              <a:miter lim="800000"/>
              <a:headEnd/>
              <a:tailEnd/>
            </a:ln>
            <a:effectLst/>
          </p:spPr>
          <p:txBody>
            <a:bodyPr wrap="none" anchor="ctr"/>
            <a:lstStyle/>
            <a:p>
              <a:endParaRPr lang="zh-CN" altLang="en-US"/>
            </a:p>
          </p:txBody>
        </p:sp>
        <p:sp>
          <p:nvSpPr>
            <p:cNvPr id="37953" name="AutoShape 65"/>
            <p:cNvSpPr>
              <a:spLocks noChangeArrowheads="1"/>
            </p:cNvSpPr>
            <p:nvPr/>
          </p:nvSpPr>
          <p:spPr bwMode="auto">
            <a:xfrm rot="746037">
              <a:off x="2925" y="2654"/>
              <a:ext cx="227" cy="127"/>
            </a:xfrm>
            <a:prstGeom prst="rightArrow">
              <a:avLst>
                <a:gd name="adj1" fmla="val 50000"/>
                <a:gd name="adj2" fmla="val 44685"/>
              </a:avLst>
            </a:prstGeom>
            <a:solidFill>
              <a:schemeClr val="bg1"/>
            </a:solidFill>
            <a:ln w="9525">
              <a:solidFill>
                <a:srgbClr val="333399"/>
              </a:solidFill>
              <a:miter lim="800000"/>
              <a:headEnd/>
              <a:tailEnd/>
            </a:ln>
            <a:effectLst/>
          </p:spPr>
          <p:txBody>
            <a:bodyPr wrap="none" anchor="ctr"/>
            <a:lstStyle/>
            <a:p>
              <a:endParaRPr lang="zh-CN" altLang="en-US"/>
            </a:p>
          </p:txBody>
        </p:sp>
        <p:sp>
          <p:nvSpPr>
            <p:cNvPr id="37954" name="Text Box 66"/>
            <p:cNvSpPr txBox="1">
              <a:spLocks noChangeArrowheads="1"/>
            </p:cNvSpPr>
            <p:nvPr/>
          </p:nvSpPr>
          <p:spPr bwMode="auto">
            <a:xfrm>
              <a:off x="2919" y="2300"/>
              <a:ext cx="260" cy="334"/>
            </a:xfrm>
            <a:prstGeom prst="rect">
              <a:avLst/>
            </a:prstGeom>
            <a:noFill/>
            <a:ln w="9525">
              <a:noFill/>
              <a:miter lim="800000"/>
              <a:headEnd/>
              <a:tailEnd/>
            </a:ln>
            <a:effectLst/>
          </p:spPr>
          <p:txBody>
            <a:bodyPr wrap="none">
              <a:spAutoFit/>
            </a:bodyPr>
            <a:lstStyle/>
            <a:p>
              <a:pPr>
                <a:lnSpc>
                  <a:spcPct val="80000"/>
                </a:lnSpc>
              </a:pPr>
              <a:r>
                <a:rPr kumimoji="1" lang="zh-CN" altLang="en-US">
                  <a:solidFill>
                    <a:srgbClr val="333399"/>
                  </a:solidFill>
                  <a:ea typeface="黑体" pitchFamily="49" charset="-122"/>
                </a:rPr>
                <a:t>报</a:t>
              </a:r>
            </a:p>
            <a:p>
              <a:pPr>
                <a:lnSpc>
                  <a:spcPct val="80000"/>
                </a:lnSpc>
              </a:pPr>
              <a:r>
                <a:rPr kumimoji="1" lang="zh-CN" altLang="en-US">
                  <a:solidFill>
                    <a:srgbClr val="333399"/>
                  </a:solidFill>
                  <a:ea typeface="黑体" pitchFamily="49" charset="-122"/>
                </a:rPr>
                <a:t>文</a:t>
              </a:r>
            </a:p>
          </p:txBody>
        </p:sp>
        <p:sp>
          <p:nvSpPr>
            <p:cNvPr id="37955" name="Line 67"/>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56" name="Line 68"/>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grpSp>
      <p:grpSp>
        <p:nvGrpSpPr>
          <p:cNvPr id="37957" name="Group 69"/>
          <p:cNvGrpSpPr>
            <a:grpSpLocks/>
          </p:cNvGrpSpPr>
          <p:nvPr/>
        </p:nvGrpSpPr>
        <p:grpSpPr bwMode="auto">
          <a:xfrm>
            <a:off x="5160963" y="3711575"/>
            <a:ext cx="581025" cy="1071563"/>
            <a:chOff x="3251" y="3033"/>
            <a:chExt cx="366" cy="675"/>
          </a:xfrm>
        </p:grpSpPr>
        <p:sp>
          <p:nvSpPr>
            <p:cNvPr id="37958" name="AutoShape 70"/>
            <p:cNvSpPr>
              <a:spLocks noChangeArrowheads="1"/>
            </p:cNvSpPr>
            <p:nvPr/>
          </p:nvSpPr>
          <p:spPr bwMode="auto">
            <a:xfrm rot="5400000">
              <a:off x="3102" y="3193"/>
              <a:ext cx="675" cy="355"/>
            </a:xfrm>
            <a:prstGeom prst="parallelogram">
              <a:avLst>
                <a:gd name="adj" fmla="val 18292"/>
              </a:avLst>
            </a:prstGeom>
            <a:solidFill>
              <a:srgbClr val="DDDDDD"/>
            </a:solidFill>
            <a:ln w="9525">
              <a:noFill/>
              <a:miter lim="800000"/>
              <a:headEnd/>
              <a:tailEnd/>
            </a:ln>
            <a:effectLst/>
          </p:spPr>
          <p:txBody>
            <a:bodyPr wrap="none" anchor="ctr"/>
            <a:lstStyle/>
            <a:p>
              <a:endParaRPr lang="zh-CN" altLang="en-US"/>
            </a:p>
          </p:txBody>
        </p:sp>
        <p:sp>
          <p:nvSpPr>
            <p:cNvPr id="37959" name="AutoShape 71"/>
            <p:cNvSpPr>
              <a:spLocks noChangeArrowheads="1"/>
            </p:cNvSpPr>
            <p:nvPr/>
          </p:nvSpPr>
          <p:spPr bwMode="auto">
            <a:xfrm rot="746037">
              <a:off x="3300" y="3497"/>
              <a:ext cx="226" cy="126"/>
            </a:xfrm>
            <a:prstGeom prst="rightArrow">
              <a:avLst>
                <a:gd name="adj1" fmla="val 50000"/>
                <a:gd name="adj2" fmla="val 44841"/>
              </a:avLst>
            </a:prstGeom>
            <a:solidFill>
              <a:schemeClr val="bg1"/>
            </a:solidFill>
            <a:ln w="9525">
              <a:solidFill>
                <a:srgbClr val="333399"/>
              </a:solidFill>
              <a:miter lim="800000"/>
              <a:headEnd/>
              <a:tailEnd/>
            </a:ln>
            <a:effectLst/>
          </p:spPr>
          <p:txBody>
            <a:bodyPr wrap="none" anchor="ctr"/>
            <a:lstStyle/>
            <a:p>
              <a:endParaRPr lang="zh-CN" altLang="en-US"/>
            </a:p>
          </p:txBody>
        </p:sp>
        <p:sp>
          <p:nvSpPr>
            <p:cNvPr id="37960" name="Text Box 72"/>
            <p:cNvSpPr txBox="1">
              <a:spLocks noChangeArrowheads="1"/>
            </p:cNvSpPr>
            <p:nvPr/>
          </p:nvSpPr>
          <p:spPr bwMode="auto">
            <a:xfrm>
              <a:off x="3293" y="3143"/>
              <a:ext cx="260" cy="334"/>
            </a:xfrm>
            <a:prstGeom prst="rect">
              <a:avLst/>
            </a:prstGeom>
            <a:noFill/>
            <a:ln w="9525">
              <a:noFill/>
              <a:miter lim="800000"/>
              <a:headEnd/>
              <a:tailEnd/>
            </a:ln>
            <a:effectLst/>
          </p:spPr>
          <p:txBody>
            <a:bodyPr wrap="none">
              <a:spAutoFit/>
            </a:bodyPr>
            <a:lstStyle/>
            <a:p>
              <a:pPr>
                <a:lnSpc>
                  <a:spcPct val="80000"/>
                </a:lnSpc>
              </a:pPr>
              <a:r>
                <a:rPr kumimoji="1" lang="zh-CN" altLang="en-US">
                  <a:solidFill>
                    <a:srgbClr val="333399"/>
                  </a:solidFill>
                  <a:ea typeface="黑体" pitchFamily="49" charset="-122"/>
                </a:rPr>
                <a:t>报</a:t>
              </a:r>
            </a:p>
            <a:p>
              <a:pPr>
                <a:lnSpc>
                  <a:spcPct val="80000"/>
                </a:lnSpc>
              </a:pPr>
              <a:r>
                <a:rPr kumimoji="1" lang="zh-CN" altLang="en-US">
                  <a:solidFill>
                    <a:srgbClr val="333399"/>
                  </a:solidFill>
                  <a:ea typeface="黑体" pitchFamily="49" charset="-122"/>
                </a:rPr>
                <a:t>文</a:t>
              </a:r>
            </a:p>
          </p:txBody>
        </p:sp>
        <p:sp>
          <p:nvSpPr>
            <p:cNvPr id="37961" name="Line 73"/>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62" name="Line 74"/>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grpSp>
      <p:grpSp>
        <p:nvGrpSpPr>
          <p:cNvPr id="37963" name="Group 75"/>
          <p:cNvGrpSpPr>
            <a:grpSpLocks/>
          </p:cNvGrpSpPr>
          <p:nvPr/>
        </p:nvGrpSpPr>
        <p:grpSpPr bwMode="auto">
          <a:xfrm>
            <a:off x="3998913" y="1103313"/>
            <a:ext cx="573087" cy="1069975"/>
            <a:chOff x="2519" y="1390"/>
            <a:chExt cx="361" cy="674"/>
          </a:xfrm>
        </p:grpSpPr>
        <p:sp>
          <p:nvSpPr>
            <p:cNvPr id="37964" name="AutoShape 76"/>
            <p:cNvSpPr>
              <a:spLocks noChangeArrowheads="1"/>
            </p:cNvSpPr>
            <p:nvPr/>
          </p:nvSpPr>
          <p:spPr bwMode="auto">
            <a:xfrm rot="5400000">
              <a:off x="2366" y="1549"/>
              <a:ext cx="674" cy="355"/>
            </a:xfrm>
            <a:prstGeom prst="parallelogram">
              <a:avLst>
                <a:gd name="adj" fmla="val 18265"/>
              </a:avLst>
            </a:prstGeom>
            <a:solidFill>
              <a:srgbClr val="DDDDDD"/>
            </a:solidFill>
            <a:ln w="9525">
              <a:noFill/>
              <a:miter lim="800000"/>
              <a:headEnd/>
              <a:tailEnd/>
            </a:ln>
            <a:effectLst/>
          </p:spPr>
          <p:txBody>
            <a:bodyPr wrap="none" anchor="ctr"/>
            <a:lstStyle/>
            <a:p>
              <a:endParaRPr lang="zh-CN" altLang="en-US"/>
            </a:p>
          </p:txBody>
        </p:sp>
        <p:sp>
          <p:nvSpPr>
            <p:cNvPr id="37965" name="AutoShape 77"/>
            <p:cNvSpPr>
              <a:spLocks noChangeArrowheads="1"/>
            </p:cNvSpPr>
            <p:nvPr/>
          </p:nvSpPr>
          <p:spPr bwMode="auto">
            <a:xfrm rot="746037">
              <a:off x="2563" y="1853"/>
              <a:ext cx="226" cy="127"/>
            </a:xfrm>
            <a:prstGeom prst="rightArrow">
              <a:avLst>
                <a:gd name="adj1" fmla="val 50000"/>
                <a:gd name="adj2" fmla="val 44488"/>
              </a:avLst>
            </a:prstGeom>
            <a:solidFill>
              <a:schemeClr val="bg1"/>
            </a:solidFill>
            <a:ln w="9525">
              <a:solidFill>
                <a:srgbClr val="333399"/>
              </a:solidFill>
              <a:miter lim="800000"/>
              <a:headEnd/>
              <a:tailEnd/>
            </a:ln>
            <a:effectLst/>
          </p:spPr>
          <p:txBody>
            <a:bodyPr wrap="none" anchor="ctr"/>
            <a:lstStyle/>
            <a:p>
              <a:endParaRPr lang="zh-CN" altLang="en-US"/>
            </a:p>
          </p:txBody>
        </p:sp>
        <p:sp>
          <p:nvSpPr>
            <p:cNvPr id="37966" name="Text Box 78"/>
            <p:cNvSpPr txBox="1">
              <a:spLocks noChangeArrowheads="1"/>
            </p:cNvSpPr>
            <p:nvPr/>
          </p:nvSpPr>
          <p:spPr bwMode="auto">
            <a:xfrm>
              <a:off x="2567" y="1500"/>
              <a:ext cx="260" cy="334"/>
            </a:xfrm>
            <a:prstGeom prst="rect">
              <a:avLst/>
            </a:prstGeom>
            <a:noFill/>
            <a:ln w="9525">
              <a:noFill/>
              <a:miter lim="800000"/>
              <a:headEnd/>
              <a:tailEnd/>
            </a:ln>
            <a:effectLst/>
          </p:spPr>
          <p:txBody>
            <a:bodyPr wrap="none">
              <a:spAutoFit/>
            </a:bodyPr>
            <a:lstStyle/>
            <a:p>
              <a:pPr>
                <a:lnSpc>
                  <a:spcPct val="80000"/>
                </a:lnSpc>
              </a:pPr>
              <a:r>
                <a:rPr kumimoji="1" lang="zh-CN" altLang="en-US">
                  <a:solidFill>
                    <a:srgbClr val="333399"/>
                  </a:solidFill>
                  <a:ea typeface="黑体" pitchFamily="49" charset="-122"/>
                </a:rPr>
                <a:t>报</a:t>
              </a:r>
            </a:p>
            <a:p>
              <a:pPr>
                <a:lnSpc>
                  <a:spcPct val="80000"/>
                </a:lnSpc>
              </a:pPr>
              <a:r>
                <a:rPr kumimoji="1" lang="zh-CN" altLang="en-US">
                  <a:solidFill>
                    <a:srgbClr val="333399"/>
                  </a:solidFill>
                  <a:ea typeface="黑体" pitchFamily="49" charset="-122"/>
                </a:rPr>
                <a:t>文</a:t>
              </a:r>
            </a:p>
          </p:txBody>
        </p:sp>
        <p:sp>
          <p:nvSpPr>
            <p:cNvPr id="37967" name="Line 79"/>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7968" name="Line 80"/>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grpSp>
      <p:sp>
        <p:nvSpPr>
          <p:cNvPr id="37969" name="Line 81"/>
          <p:cNvSpPr>
            <a:spLocks noChangeShapeType="1"/>
          </p:cNvSpPr>
          <p:nvPr/>
        </p:nvSpPr>
        <p:spPr bwMode="auto">
          <a:xfrm>
            <a:off x="1887538" y="1103313"/>
            <a:ext cx="0" cy="3813175"/>
          </a:xfrm>
          <a:prstGeom prst="line">
            <a:avLst/>
          </a:prstGeom>
          <a:noFill/>
          <a:ln w="12700">
            <a:solidFill>
              <a:schemeClr val="tx1"/>
            </a:solidFill>
            <a:round/>
            <a:headEnd/>
            <a:tailEnd/>
          </a:ln>
          <a:effectLst/>
        </p:spPr>
        <p:txBody>
          <a:bodyPr wrap="none" anchor="ctr"/>
          <a:lstStyle/>
          <a:p>
            <a:endParaRPr lang="zh-CN" altLang="en-US"/>
          </a:p>
        </p:txBody>
      </p:sp>
      <p:sp>
        <p:nvSpPr>
          <p:cNvPr id="37970" name="Line 82"/>
          <p:cNvSpPr>
            <a:spLocks noChangeShapeType="1"/>
          </p:cNvSpPr>
          <p:nvPr/>
        </p:nvSpPr>
        <p:spPr bwMode="auto">
          <a:xfrm>
            <a:off x="2463800" y="1103313"/>
            <a:ext cx="0" cy="3813175"/>
          </a:xfrm>
          <a:prstGeom prst="line">
            <a:avLst/>
          </a:prstGeom>
          <a:noFill/>
          <a:ln w="12700">
            <a:solidFill>
              <a:schemeClr val="tx1"/>
            </a:solidFill>
            <a:round/>
            <a:headEnd/>
            <a:tailEnd/>
          </a:ln>
          <a:effectLst/>
        </p:spPr>
        <p:txBody>
          <a:bodyPr wrap="none" anchor="ctr"/>
          <a:lstStyle/>
          <a:p>
            <a:endParaRPr lang="zh-CN" altLang="en-US"/>
          </a:p>
        </p:txBody>
      </p:sp>
      <p:sp>
        <p:nvSpPr>
          <p:cNvPr id="37971" name="Text Box 83"/>
          <p:cNvSpPr txBox="1">
            <a:spLocks noChangeArrowheads="1"/>
          </p:cNvSpPr>
          <p:nvPr/>
        </p:nvSpPr>
        <p:spPr bwMode="auto">
          <a:xfrm>
            <a:off x="1116013" y="4891088"/>
            <a:ext cx="21494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ea typeface="黑体" pitchFamily="49" charset="-122"/>
              </a:rPr>
              <a:t>A      B      C     D </a:t>
            </a:r>
          </a:p>
        </p:txBody>
      </p:sp>
      <p:sp>
        <p:nvSpPr>
          <p:cNvPr id="37972" name="Text Box 84"/>
          <p:cNvSpPr txBox="1">
            <a:spLocks noChangeArrowheads="1"/>
          </p:cNvSpPr>
          <p:nvPr/>
        </p:nvSpPr>
        <p:spPr bwMode="auto">
          <a:xfrm>
            <a:off x="3813175" y="4891088"/>
            <a:ext cx="21494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ea typeface="黑体" pitchFamily="49" charset="-122"/>
              </a:rPr>
              <a:t>A      B      C      D</a:t>
            </a:r>
          </a:p>
        </p:txBody>
      </p:sp>
      <p:sp>
        <p:nvSpPr>
          <p:cNvPr id="37973" name="Text Box 85"/>
          <p:cNvSpPr txBox="1">
            <a:spLocks noChangeArrowheads="1"/>
          </p:cNvSpPr>
          <p:nvPr/>
        </p:nvSpPr>
        <p:spPr bwMode="auto">
          <a:xfrm>
            <a:off x="6621463" y="4891088"/>
            <a:ext cx="2149475" cy="396875"/>
          </a:xfrm>
          <a:prstGeom prst="rect">
            <a:avLst/>
          </a:prstGeom>
          <a:noFill/>
          <a:ln w="9525">
            <a:noFill/>
            <a:miter lim="800000"/>
            <a:headEnd/>
            <a:tailEnd/>
          </a:ln>
          <a:effectLst/>
        </p:spPr>
        <p:txBody>
          <a:bodyPr wrap="none">
            <a:spAutoFit/>
          </a:bodyPr>
          <a:lstStyle/>
          <a:p>
            <a:r>
              <a:rPr kumimoji="1" lang="en-US" altLang="zh-CN" sz="2000">
                <a:solidFill>
                  <a:srgbClr val="333399"/>
                </a:solidFill>
                <a:ea typeface="黑体" pitchFamily="49" charset="-122"/>
              </a:rPr>
              <a:t>A      B      C      D</a:t>
            </a:r>
          </a:p>
        </p:txBody>
      </p:sp>
      <p:sp>
        <p:nvSpPr>
          <p:cNvPr id="37974" name="Line 86"/>
          <p:cNvSpPr>
            <a:spLocks noChangeShapeType="1"/>
          </p:cNvSpPr>
          <p:nvPr/>
        </p:nvSpPr>
        <p:spPr bwMode="auto">
          <a:xfrm>
            <a:off x="1311275" y="1236663"/>
            <a:ext cx="576263" cy="66675"/>
          </a:xfrm>
          <a:prstGeom prst="line">
            <a:avLst/>
          </a:prstGeom>
          <a:noFill/>
          <a:ln w="19050">
            <a:solidFill>
              <a:srgbClr val="333399"/>
            </a:solidFill>
            <a:round/>
            <a:headEnd/>
            <a:tailEnd type="triangle" w="sm" len="med"/>
          </a:ln>
          <a:effectLst/>
        </p:spPr>
        <p:txBody>
          <a:bodyPr wrap="none" anchor="ctr"/>
          <a:lstStyle/>
          <a:p>
            <a:endParaRPr lang="zh-CN" altLang="en-US"/>
          </a:p>
        </p:txBody>
      </p:sp>
      <p:sp>
        <p:nvSpPr>
          <p:cNvPr id="37975" name="Line 87"/>
          <p:cNvSpPr>
            <a:spLocks noChangeShapeType="1"/>
          </p:cNvSpPr>
          <p:nvPr/>
        </p:nvSpPr>
        <p:spPr bwMode="auto">
          <a:xfrm>
            <a:off x="1887538" y="1504950"/>
            <a:ext cx="576262" cy="66675"/>
          </a:xfrm>
          <a:prstGeom prst="line">
            <a:avLst/>
          </a:prstGeom>
          <a:noFill/>
          <a:ln w="19050">
            <a:solidFill>
              <a:srgbClr val="333399"/>
            </a:solidFill>
            <a:round/>
            <a:headEnd/>
            <a:tailEnd type="triangle" w="sm" len="med"/>
          </a:ln>
          <a:effectLst/>
        </p:spPr>
        <p:txBody>
          <a:bodyPr wrap="none" anchor="ctr"/>
          <a:lstStyle/>
          <a:p>
            <a:endParaRPr lang="zh-CN" altLang="en-US"/>
          </a:p>
        </p:txBody>
      </p:sp>
      <p:sp>
        <p:nvSpPr>
          <p:cNvPr id="37976" name="Line 88"/>
          <p:cNvSpPr>
            <a:spLocks noChangeShapeType="1"/>
          </p:cNvSpPr>
          <p:nvPr/>
        </p:nvSpPr>
        <p:spPr bwMode="auto">
          <a:xfrm>
            <a:off x="2463800" y="1771650"/>
            <a:ext cx="574675" cy="66675"/>
          </a:xfrm>
          <a:prstGeom prst="line">
            <a:avLst/>
          </a:prstGeom>
          <a:noFill/>
          <a:ln w="19050">
            <a:solidFill>
              <a:srgbClr val="333399"/>
            </a:solidFill>
            <a:round/>
            <a:headEnd/>
            <a:tailEnd type="triangle" w="sm" len="med"/>
          </a:ln>
          <a:effectLst/>
        </p:spPr>
        <p:txBody>
          <a:bodyPr wrap="none" anchor="ctr"/>
          <a:lstStyle/>
          <a:p>
            <a:endParaRPr lang="zh-CN" altLang="en-US"/>
          </a:p>
        </p:txBody>
      </p:sp>
      <p:sp>
        <p:nvSpPr>
          <p:cNvPr id="37977" name="Line 89"/>
          <p:cNvSpPr>
            <a:spLocks noChangeShapeType="1"/>
          </p:cNvSpPr>
          <p:nvPr/>
        </p:nvSpPr>
        <p:spPr bwMode="auto">
          <a:xfrm flipH="1">
            <a:off x="1311275" y="2173288"/>
            <a:ext cx="1727200" cy="268287"/>
          </a:xfrm>
          <a:prstGeom prst="line">
            <a:avLst/>
          </a:prstGeom>
          <a:noFill/>
          <a:ln w="19050">
            <a:solidFill>
              <a:srgbClr val="333399"/>
            </a:solidFill>
            <a:round/>
            <a:headEnd/>
            <a:tailEnd type="triangle" w="sm" len="med"/>
          </a:ln>
          <a:effectLst/>
        </p:spPr>
        <p:txBody>
          <a:bodyPr wrap="none" anchor="ctr"/>
          <a:lstStyle/>
          <a:p>
            <a:endParaRPr lang="zh-CN" altLang="en-US"/>
          </a:p>
        </p:txBody>
      </p:sp>
      <p:sp>
        <p:nvSpPr>
          <p:cNvPr id="37978" name="Text Box 90"/>
          <p:cNvSpPr txBox="1">
            <a:spLocks noChangeArrowheads="1"/>
          </p:cNvSpPr>
          <p:nvPr/>
        </p:nvSpPr>
        <p:spPr bwMode="auto">
          <a:xfrm>
            <a:off x="4306888" y="660400"/>
            <a:ext cx="1403350" cy="457200"/>
          </a:xfrm>
          <a:prstGeom prst="rect">
            <a:avLst/>
          </a:prstGeom>
          <a:noFill/>
          <a:ln w="9525">
            <a:noFill/>
            <a:miter lim="800000"/>
            <a:headEnd/>
            <a:tailEnd/>
          </a:ln>
          <a:effectLst/>
        </p:spPr>
        <p:txBody>
          <a:bodyPr wrap="none">
            <a:spAutoFit/>
          </a:bodyPr>
          <a:lstStyle/>
          <a:p>
            <a:r>
              <a:rPr kumimoji="1" lang="zh-CN" altLang="en-US" sz="2400">
                <a:solidFill>
                  <a:srgbClr val="333399"/>
                </a:solidFill>
                <a:ea typeface="黑体" pitchFamily="49" charset="-122"/>
              </a:rPr>
              <a:t>报文交换</a:t>
            </a:r>
          </a:p>
        </p:txBody>
      </p:sp>
      <p:sp>
        <p:nvSpPr>
          <p:cNvPr id="37979" name="Text Box 91"/>
          <p:cNvSpPr txBox="1">
            <a:spLocks noChangeArrowheads="1"/>
          </p:cNvSpPr>
          <p:nvPr/>
        </p:nvSpPr>
        <p:spPr bwMode="auto">
          <a:xfrm>
            <a:off x="1547813" y="660400"/>
            <a:ext cx="1403350" cy="457200"/>
          </a:xfrm>
          <a:prstGeom prst="rect">
            <a:avLst/>
          </a:prstGeom>
          <a:noFill/>
          <a:ln w="9525">
            <a:noFill/>
            <a:miter lim="800000"/>
            <a:headEnd/>
            <a:tailEnd/>
          </a:ln>
          <a:effectLst/>
        </p:spPr>
        <p:txBody>
          <a:bodyPr wrap="none">
            <a:spAutoFit/>
          </a:bodyPr>
          <a:lstStyle/>
          <a:p>
            <a:r>
              <a:rPr kumimoji="1" lang="zh-CN" altLang="en-US" sz="2400">
                <a:solidFill>
                  <a:srgbClr val="333399"/>
                </a:solidFill>
                <a:ea typeface="黑体" pitchFamily="49" charset="-122"/>
              </a:rPr>
              <a:t>电路交换</a:t>
            </a:r>
          </a:p>
        </p:txBody>
      </p:sp>
      <p:sp>
        <p:nvSpPr>
          <p:cNvPr id="37980" name="Text Box 92"/>
          <p:cNvSpPr txBox="1">
            <a:spLocks noChangeArrowheads="1"/>
          </p:cNvSpPr>
          <p:nvPr/>
        </p:nvSpPr>
        <p:spPr bwMode="auto">
          <a:xfrm>
            <a:off x="7058025" y="660400"/>
            <a:ext cx="1403350" cy="457200"/>
          </a:xfrm>
          <a:prstGeom prst="rect">
            <a:avLst/>
          </a:prstGeom>
          <a:noFill/>
          <a:ln w="9525">
            <a:noFill/>
            <a:miter lim="800000"/>
            <a:headEnd/>
            <a:tailEnd/>
          </a:ln>
          <a:effectLst/>
        </p:spPr>
        <p:txBody>
          <a:bodyPr wrap="none">
            <a:spAutoFit/>
          </a:bodyPr>
          <a:lstStyle/>
          <a:p>
            <a:r>
              <a:rPr kumimoji="1" lang="zh-CN" altLang="en-US" sz="2400">
                <a:solidFill>
                  <a:srgbClr val="333399"/>
                </a:solidFill>
                <a:ea typeface="黑体" pitchFamily="49" charset="-122"/>
              </a:rPr>
              <a:t>分组交换</a:t>
            </a:r>
          </a:p>
        </p:txBody>
      </p:sp>
      <p:sp>
        <p:nvSpPr>
          <p:cNvPr id="37981" name="Line 93"/>
          <p:cNvSpPr>
            <a:spLocks noChangeShapeType="1"/>
          </p:cNvSpPr>
          <p:nvPr/>
        </p:nvSpPr>
        <p:spPr bwMode="auto">
          <a:xfrm>
            <a:off x="3511550" y="1571625"/>
            <a:ext cx="0" cy="2743200"/>
          </a:xfrm>
          <a:prstGeom prst="line">
            <a:avLst/>
          </a:prstGeom>
          <a:noFill/>
          <a:ln w="19050">
            <a:solidFill>
              <a:srgbClr val="333399"/>
            </a:solidFill>
            <a:round/>
            <a:headEnd/>
            <a:tailEnd type="triangle" w="sm" len="med"/>
          </a:ln>
          <a:effectLst/>
        </p:spPr>
        <p:txBody>
          <a:bodyPr wrap="none" anchor="ctr"/>
          <a:lstStyle/>
          <a:p>
            <a:endParaRPr lang="zh-CN" altLang="en-US"/>
          </a:p>
        </p:txBody>
      </p:sp>
      <p:sp>
        <p:nvSpPr>
          <p:cNvPr id="37982" name="Text Box 94"/>
          <p:cNvSpPr txBox="1">
            <a:spLocks noChangeArrowheads="1"/>
          </p:cNvSpPr>
          <p:nvPr/>
        </p:nvSpPr>
        <p:spPr bwMode="auto">
          <a:xfrm>
            <a:off x="3409950" y="4330700"/>
            <a:ext cx="247650" cy="366713"/>
          </a:xfrm>
          <a:prstGeom prst="rect">
            <a:avLst/>
          </a:prstGeom>
          <a:noFill/>
          <a:ln w="9525">
            <a:noFill/>
            <a:miter lim="800000"/>
            <a:headEnd/>
            <a:tailEnd/>
          </a:ln>
          <a:effectLst/>
        </p:spPr>
        <p:txBody>
          <a:bodyPr wrap="none">
            <a:spAutoFit/>
          </a:bodyPr>
          <a:lstStyle/>
          <a:p>
            <a:r>
              <a:rPr kumimoji="1" lang="en-US" altLang="zh-CN">
                <a:solidFill>
                  <a:srgbClr val="333399"/>
                </a:solidFill>
                <a:ea typeface="黑体" pitchFamily="49" charset="-122"/>
              </a:rPr>
              <a:t>t</a:t>
            </a:r>
          </a:p>
        </p:txBody>
      </p:sp>
      <p:grpSp>
        <p:nvGrpSpPr>
          <p:cNvPr id="37983" name="Group 95"/>
          <p:cNvGrpSpPr>
            <a:grpSpLocks/>
          </p:cNvGrpSpPr>
          <p:nvPr/>
        </p:nvGrpSpPr>
        <p:grpSpPr bwMode="auto">
          <a:xfrm>
            <a:off x="179388" y="1235075"/>
            <a:ext cx="1109662" cy="1230313"/>
            <a:chOff x="113" y="1473"/>
            <a:chExt cx="699" cy="775"/>
          </a:xfrm>
        </p:grpSpPr>
        <p:sp>
          <p:nvSpPr>
            <p:cNvPr id="37984" name="Line 96"/>
            <p:cNvSpPr>
              <a:spLocks noChangeShapeType="1"/>
            </p:cNvSpPr>
            <p:nvPr/>
          </p:nvSpPr>
          <p:spPr bwMode="auto">
            <a:xfrm>
              <a:off x="630" y="1474"/>
              <a:ext cx="182" cy="0"/>
            </a:xfrm>
            <a:prstGeom prst="line">
              <a:avLst/>
            </a:prstGeom>
            <a:noFill/>
            <a:ln w="9525">
              <a:solidFill>
                <a:srgbClr val="333399"/>
              </a:solidFill>
              <a:round/>
              <a:headEnd/>
              <a:tailEnd/>
            </a:ln>
            <a:effectLst/>
          </p:spPr>
          <p:txBody>
            <a:bodyPr wrap="none" anchor="ctr"/>
            <a:lstStyle/>
            <a:p>
              <a:endParaRPr lang="zh-CN" altLang="en-US"/>
            </a:p>
          </p:txBody>
        </p:sp>
        <p:sp>
          <p:nvSpPr>
            <p:cNvPr id="37985" name="Line 97"/>
            <p:cNvSpPr>
              <a:spLocks noChangeShapeType="1"/>
            </p:cNvSpPr>
            <p:nvPr/>
          </p:nvSpPr>
          <p:spPr bwMode="auto">
            <a:xfrm>
              <a:off x="622" y="2248"/>
              <a:ext cx="181" cy="0"/>
            </a:xfrm>
            <a:prstGeom prst="line">
              <a:avLst/>
            </a:prstGeom>
            <a:noFill/>
            <a:ln w="9525">
              <a:solidFill>
                <a:srgbClr val="333399"/>
              </a:solidFill>
              <a:round/>
              <a:headEnd/>
              <a:tailEnd/>
            </a:ln>
            <a:effectLst/>
          </p:spPr>
          <p:txBody>
            <a:bodyPr wrap="none" anchor="ctr"/>
            <a:lstStyle/>
            <a:p>
              <a:endParaRPr lang="zh-CN" altLang="en-US"/>
            </a:p>
          </p:txBody>
        </p:sp>
        <p:sp>
          <p:nvSpPr>
            <p:cNvPr id="37986" name="Text Box 98"/>
            <p:cNvSpPr txBox="1">
              <a:spLocks noChangeArrowheads="1"/>
            </p:cNvSpPr>
            <p:nvPr/>
          </p:nvSpPr>
          <p:spPr bwMode="auto">
            <a:xfrm>
              <a:off x="113" y="1733"/>
              <a:ext cx="692" cy="214"/>
            </a:xfrm>
            <a:prstGeom prst="rect">
              <a:avLst/>
            </a:prstGeom>
            <a:noFill/>
            <a:ln w="9525">
              <a:noFill/>
              <a:miter lim="800000"/>
              <a:headEnd/>
              <a:tailEnd/>
            </a:ln>
            <a:effectLst/>
          </p:spPr>
          <p:txBody>
            <a:bodyPr wrap="none">
              <a:spAutoFit/>
            </a:bodyPr>
            <a:lstStyle/>
            <a:p>
              <a:pPr>
                <a:lnSpc>
                  <a:spcPct val="90000"/>
                </a:lnSpc>
              </a:pPr>
              <a:r>
                <a:rPr kumimoji="1" lang="zh-CN" altLang="en-US">
                  <a:solidFill>
                    <a:srgbClr val="333399"/>
                  </a:solidFill>
                  <a:ea typeface="黑体" pitchFamily="49" charset="-122"/>
                </a:rPr>
                <a:t>连接建立</a:t>
              </a:r>
            </a:p>
          </p:txBody>
        </p:sp>
        <p:sp>
          <p:nvSpPr>
            <p:cNvPr id="37987" name="Line 99"/>
            <p:cNvSpPr>
              <a:spLocks noChangeShapeType="1"/>
            </p:cNvSpPr>
            <p:nvPr/>
          </p:nvSpPr>
          <p:spPr bwMode="auto">
            <a:xfrm>
              <a:off x="720" y="1473"/>
              <a:ext cx="0" cy="759"/>
            </a:xfrm>
            <a:prstGeom prst="line">
              <a:avLst/>
            </a:prstGeom>
            <a:noFill/>
            <a:ln w="9525">
              <a:solidFill>
                <a:srgbClr val="333399"/>
              </a:solidFill>
              <a:round/>
              <a:headEnd type="triangle" w="sm" len="lg"/>
              <a:tailEnd type="triangle" w="sm" len="lg"/>
            </a:ln>
            <a:effectLst/>
          </p:spPr>
          <p:txBody>
            <a:bodyPr wrap="none" anchor="ctr"/>
            <a:lstStyle/>
            <a:p>
              <a:endParaRPr lang="zh-CN" altLang="en-US"/>
            </a:p>
          </p:txBody>
        </p:sp>
      </p:grpSp>
      <p:grpSp>
        <p:nvGrpSpPr>
          <p:cNvPr id="37988" name="Group 100"/>
          <p:cNvGrpSpPr>
            <a:grpSpLocks/>
          </p:cNvGrpSpPr>
          <p:nvPr/>
        </p:nvGrpSpPr>
        <p:grpSpPr bwMode="auto">
          <a:xfrm>
            <a:off x="179388" y="2462213"/>
            <a:ext cx="1109662" cy="1011237"/>
            <a:chOff x="113" y="2246"/>
            <a:chExt cx="699" cy="637"/>
          </a:xfrm>
        </p:grpSpPr>
        <p:sp>
          <p:nvSpPr>
            <p:cNvPr id="37989" name="Line 101"/>
            <p:cNvSpPr>
              <a:spLocks noChangeShapeType="1"/>
            </p:cNvSpPr>
            <p:nvPr/>
          </p:nvSpPr>
          <p:spPr bwMode="auto">
            <a:xfrm>
              <a:off x="630" y="2881"/>
              <a:ext cx="182" cy="0"/>
            </a:xfrm>
            <a:prstGeom prst="line">
              <a:avLst/>
            </a:prstGeom>
            <a:noFill/>
            <a:ln w="9525">
              <a:solidFill>
                <a:srgbClr val="333399"/>
              </a:solidFill>
              <a:round/>
              <a:headEnd/>
              <a:tailEnd/>
            </a:ln>
            <a:effectLst/>
          </p:spPr>
          <p:txBody>
            <a:bodyPr wrap="none" anchor="ctr"/>
            <a:lstStyle/>
            <a:p>
              <a:endParaRPr lang="zh-CN" altLang="en-US"/>
            </a:p>
          </p:txBody>
        </p:sp>
        <p:sp>
          <p:nvSpPr>
            <p:cNvPr id="37990" name="Text Box 102"/>
            <p:cNvSpPr txBox="1">
              <a:spLocks noChangeArrowheads="1"/>
            </p:cNvSpPr>
            <p:nvPr/>
          </p:nvSpPr>
          <p:spPr bwMode="auto">
            <a:xfrm>
              <a:off x="113" y="2405"/>
              <a:ext cx="692" cy="214"/>
            </a:xfrm>
            <a:prstGeom prst="rect">
              <a:avLst/>
            </a:prstGeom>
            <a:noFill/>
            <a:ln w="9525">
              <a:noFill/>
              <a:miter lim="800000"/>
              <a:headEnd/>
              <a:tailEnd/>
            </a:ln>
            <a:effectLst/>
          </p:spPr>
          <p:txBody>
            <a:bodyPr wrap="none">
              <a:spAutoFit/>
            </a:bodyPr>
            <a:lstStyle/>
            <a:p>
              <a:pPr>
                <a:lnSpc>
                  <a:spcPct val="90000"/>
                </a:lnSpc>
              </a:pPr>
              <a:r>
                <a:rPr kumimoji="1" lang="zh-CN" altLang="en-US">
                  <a:solidFill>
                    <a:srgbClr val="333399"/>
                  </a:solidFill>
                  <a:ea typeface="黑体" pitchFamily="49" charset="-122"/>
                </a:rPr>
                <a:t>数据传送</a:t>
              </a:r>
            </a:p>
          </p:txBody>
        </p:sp>
        <p:sp>
          <p:nvSpPr>
            <p:cNvPr id="37991" name="Line 103"/>
            <p:cNvSpPr>
              <a:spLocks noChangeShapeType="1"/>
            </p:cNvSpPr>
            <p:nvPr/>
          </p:nvSpPr>
          <p:spPr bwMode="auto">
            <a:xfrm>
              <a:off x="721" y="2246"/>
              <a:ext cx="0" cy="637"/>
            </a:xfrm>
            <a:prstGeom prst="line">
              <a:avLst/>
            </a:prstGeom>
            <a:noFill/>
            <a:ln w="9525">
              <a:solidFill>
                <a:srgbClr val="333399"/>
              </a:solidFill>
              <a:round/>
              <a:headEnd type="triangle" w="sm" len="lg"/>
              <a:tailEnd type="triangle" w="sm" len="lg"/>
            </a:ln>
            <a:effectLst/>
          </p:spPr>
          <p:txBody>
            <a:bodyPr wrap="none" anchor="ctr"/>
            <a:lstStyle/>
            <a:p>
              <a:endParaRPr lang="zh-CN" altLang="en-US"/>
            </a:p>
          </p:txBody>
        </p:sp>
      </p:grpSp>
      <p:sp>
        <p:nvSpPr>
          <p:cNvPr id="37992" name="Freeform 104"/>
          <p:cNvSpPr>
            <a:spLocks/>
          </p:cNvSpPr>
          <p:nvPr/>
        </p:nvSpPr>
        <p:spPr bwMode="auto">
          <a:xfrm>
            <a:off x="1306513" y="1103313"/>
            <a:ext cx="4762" cy="3821112"/>
          </a:xfrm>
          <a:custGeom>
            <a:avLst/>
            <a:gdLst/>
            <a:ahLst/>
            <a:cxnLst>
              <a:cxn ang="0">
                <a:pos x="3" y="0"/>
              </a:cxn>
              <a:cxn ang="0">
                <a:pos x="0" y="2742"/>
              </a:cxn>
            </a:cxnLst>
            <a:rect l="0" t="0" r="r" b="b"/>
            <a:pathLst>
              <a:path w="3" h="2742">
                <a:moveTo>
                  <a:pt x="3" y="0"/>
                </a:moveTo>
                <a:lnTo>
                  <a:pt x="0" y="2742"/>
                </a:lnTo>
              </a:path>
            </a:pathLst>
          </a:custGeom>
          <a:noFill/>
          <a:ln w="12700">
            <a:solidFill>
              <a:schemeClr val="tx1"/>
            </a:solidFill>
            <a:round/>
            <a:headEnd/>
            <a:tailEnd/>
          </a:ln>
          <a:effectLst/>
        </p:spPr>
        <p:txBody>
          <a:bodyPr wrap="none" anchor="ctr"/>
          <a:lstStyle/>
          <a:p>
            <a:endParaRPr lang="zh-CN" altLang="en-US"/>
          </a:p>
        </p:txBody>
      </p:sp>
      <p:sp>
        <p:nvSpPr>
          <p:cNvPr id="37993" name="Freeform 105"/>
          <p:cNvSpPr>
            <a:spLocks/>
          </p:cNvSpPr>
          <p:nvPr/>
        </p:nvSpPr>
        <p:spPr bwMode="auto">
          <a:xfrm>
            <a:off x="5737225" y="1081088"/>
            <a:ext cx="4763" cy="3813175"/>
          </a:xfrm>
          <a:custGeom>
            <a:avLst/>
            <a:gdLst/>
            <a:ahLst/>
            <a:cxnLst>
              <a:cxn ang="0">
                <a:pos x="3" y="0"/>
              </a:cxn>
              <a:cxn ang="0">
                <a:pos x="0" y="2736"/>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p:spPr>
        <p:txBody>
          <a:bodyPr wrap="none" anchor="ctr"/>
          <a:lstStyle/>
          <a:p>
            <a:endParaRPr lang="zh-CN" altLang="en-US"/>
          </a:p>
        </p:txBody>
      </p:sp>
      <p:sp>
        <p:nvSpPr>
          <p:cNvPr id="37994" name="Line 106"/>
          <p:cNvSpPr>
            <a:spLocks noChangeShapeType="1"/>
          </p:cNvSpPr>
          <p:nvPr/>
        </p:nvSpPr>
        <p:spPr bwMode="auto">
          <a:xfrm>
            <a:off x="8539163" y="1130300"/>
            <a:ext cx="0" cy="3813175"/>
          </a:xfrm>
          <a:prstGeom prst="line">
            <a:avLst/>
          </a:prstGeom>
          <a:noFill/>
          <a:ln w="12700">
            <a:solidFill>
              <a:schemeClr val="tx1"/>
            </a:solidFill>
            <a:round/>
            <a:headEnd type="none" w="sm" len="lg"/>
            <a:tailEnd type="none" w="sm" len="lg"/>
          </a:ln>
          <a:effectLst/>
        </p:spPr>
        <p:txBody>
          <a:bodyPr wrap="none" anchor="ctr"/>
          <a:lstStyle/>
          <a:p>
            <a:endParaRPr lang="zh-CN" altLang="en-US"/>
          </a:p>
        </p:txBody>
      </p:sp>
      <p:sp>
        <p:nvSpPr>
          <p:cNvPr id="37995" name="Line 107"/>
          <p:cNvSpPr>
            <a:spLocks noChangeShapeType="1"/>
          </p:cNvSpPr>
          <p:nvPr/>
        </p:nvSpPr>
        <p:spPr bwMode="auto">
          <a:xfrm>
            <a:off x="7961313" y="1116013"/>
            <a:ext cx="0" cy="3813175"/>
          </a:xfrm>
          <a:prstGeom prst="line">
            <a:avLst/>
          </a:prstGeom>
          <a:noFill/>
          <a:ln w="12700">
            <a:solidFill>
              <a:schemeClr val="tx1"/>
            </a:solidFill>
            <a:round/>
            <a:headEnd type="none" w="sm" len="lg"/>
            <a:tailEnd type="none" w="sm" len="lg"/>
          </a:ln>
          <a:effectLst/>
        </p:spPr>
        <p:txBody>
          <a:bodyPr wrap="none" anchor="ctr"/>
          <a:lstStyle/>
          <a:p>
            <a:endParaRPr lang="zh-CN" altLang="en-US"/>
          </a:p>
        </p:txBody>
      </p:sp>
      <p:sp>
        <p:nvSpPr>
          <p:cNvPr id="37996" name="Line 108"/>
          <p:cNvSpPr>
            <a:spLocks noChangeShapeType="1"/>
          </p:cNvSpPr>
          <p:nvPr/>
        </p:nvSpPr>
        <p:spPr bwMode="auto">
          <a:xfrm>
            <a:off x="7392988" y="1103313"/>
            <a:ext cx="0" cy="3813175"/>
          </a:xfrm>
          <a:prstGeom prst="line">
            <a:avLst/>
          </a:prstGeom>
          <a:noFill/>
          <a:ln w="12700">
            <a:solidFill>
              <a:schemeClr val="tx1"/>
            </a:solidFill>
            <a:round/>
            <a:headEnd type="none" w="sm" len="lg"/>
            <a:tailEnd type="none" w="sm" len="lg"/>
          </a:ln>
          <a:effectLst/>
        </p:spPr>
        <p:txBody>
          <a:bodyPr wrap="none" anchor="ctr"/>
          <a:lstStyle/>
          <a:p>
            <a:endParaRPr lang="zh-CN" altLang="en-US"/>
          </a:p>
        </p:txBody>
      </p:sp>
      <p:sp>
        <p:nvSpPr>
          <p:cNvPr id="37997" name="Line 109"/>
          <p:cNvSpPr>
            <a:spLocks noChangeShapeType="1"/>
          </p:cNvSpPr>
          <p:nvPr/>
        </p:nvSpPr>
        <p:spPr bwMode="auto">
          <a:xfrm>
            <a:off x="3995738" y="1081088"/>
            <a:ext cx="0" cy="3813175"/>
          </a:xfrm>
          <a:prstGeom prst="line">
            <a:avLst/>
          </a:prstGeom>
          <a:noFill/>
          <a:ln w="12700">
            <a:solidFill>
              <a:schemeClr val="tx1"/>
            </a:solidFill>
            <a:round/>
            <a:headEnd type="none" w="sm" len="lg"/>
            <a:tailEnd type="none" w="sm" len="lg"/>
          </a:ln>
          <a:effectLst/>
        </p:spPr>
        <p:txBody>
          <a:bodyPr wrap="none" anchor="ctr"/>
          <a:lstStyle/>
          <a:p>
            <a:endParaRPr lang="zh-CN" altLang="en-US"/>
          </a:p>
        </p:txBody>
      </p:sp>
      <p:sp>
        <p:nvSpPr>
          <p:cNvPr id="37998" name="Line 110"/>
          <p:cNvSpPr>
            <a:spLocks noChangeShapeType="1"/>
          </p:cNvSpPr>
          <p:nvPr/>
        </p:nvSpPr>
        <p:spPr bwMode="auto">
          <a:xfrm>
            <a:off x="4565650" y="1081088"/>
            <a:ext cx="0" cy="3813175"/>
          </a:xfrm>
          <a:prstGeom prst="line">
            <a:avLst/>
          </a:prstGeom>
          <a:noFill/>
          <a:ln w="12700">
            <a:solidFill>
              <a:schemeClr val="tx1"/>
            </a:solidFill>
            <a:round/>
            <a:headEnd type="none" w="sm" len="lg"/>
            <a:tailEnd type="none" w="sm" len="lg"/>
          </a:ln>
          <a:effectLst/>
        </p:spPr>
        <p:txBody>
          <a:bodyPr wrap="none" anchor="ctr"/>
          <a:lstStyle/>
          <a:p>
            <a:endParaRPr lang="zh-CN" altLang="en-US"/>
          </a:p>
        </p:txBody>
      </p:sp>
      <p:sp>
        <p:nvSpPr>
          <p:cNvPr id="37999" name="Line 111"/>
          <p:cNvSpPr>
            <a:spLocks noChangeShapeType="1"/>
          </p:cNvSpPr>
          <p:nvPr/>
        </p:nvSpPr>
        <p:spPr bwMode="auto">
          <a:xfrm>
            <a:off x="5159375" y="1081088"/>
            <a:ext cx="0" cy="3813175"/>
          </a:xfrm>
          <a:prstGeom prst="line">
            <a:avLst/>
          </a:prstGeom>
          <a:noFill/>
          <a:ln w="12700">
            <a:solidFill>
              <a:schemeClr val="tx1"/>
            </a:solidFill>
            <a:round/>
            <a:headEnd type="none" w="sm" len="lg"/>
            <a:tailEnd type="none" w="sm" len="lg"/>
          </a:ln>
          <a:effectLst/>
        </p:spPr>
        <p:txBody>
          <a:bodyPr wrap="none" anchor="ctr"/>
          <a:lstStyle/>
          <a:p>
            <a:endParaRPr lang="zh-CN" altLang="en-US"/>
          </a:p>
        </p:txBody>
      </p:sp>
      <p:grpSp>
        <p:nvGrpSpPr>
          <p:cNvPr id="38000" name="Group 112"/>
          <p:cNvGrpSpPr>
            <a:grpSpLocks/>
          </p:cNvGrpSpPr>
          <p:nvPr/>
        </p:nvGrpSpPr>
        <p:grpSpPr bwMode="auto">
          <a:xfrm>
            <a:off x="1296988" y="2449513"/>
            <a:ext cx="1766887" cy="1279525"/>
            <a:chOff x="817" y="2238"/>
            <a:chExt cx="1113" cy="806"/>
          </a:xfrm>
        </p:grpSpPr>
        <p:sp>
          <p:nvSpPr>
            <p:cNvPr id="38001" name="Line 113"/>
            <p:cNvSpPr>
              <a:spLocks noChangeShapeType="1"/>
            </p:cNvSpPr>
            <p:nvPr/>
          </p:nvSpPr>
          <p:spPr bwMode="auto">
            <a:xfrm>
              <a:off x="841" y="2268"/>
              <a:ext cx="1089" cy="168"/>
            </a:xfrm>
            <a:prstGeom prst="line">
              <a:avLst/>
            </a:prstGeom>
            <a:noFill/>
            <a:ln w="19050">
              <a:noFill/>
              <a:round/>
              <a:headEnd/>
              <a:tailEnd type="none" w="sm" len="med"/>
            </a:ln>
            <a:effectLst/>
          </p:spPr>
          <p:txBody>
            <a:bodyPr wrap="none" anchor="ctr"/>
            <a:lstStyle/>
            <a:p>
              <a:endParaRPr lang="zh-CN" altLang="en-US"/>
            </a:p>
          </p:txBody>
        </p:sp>
        <p:sp>
          <p:nvSpPr>
            <p:cNvPr id="38002" name="AutoShape 114"/>
            <p:cNvSpPr>
              <a:spLocks noChangeArrowheads="1"/>
            </p:cNvSpPr>
            <p:nvPr/>
          </p:nvSpPr>
          <p:spPr bwMode="auto">
            <a:xfrm rot="5400000">
              <a:off x="976" y="2091"/>
              <a:ext cx="793" cy="1092"/>
            </a:xfrm>
            <a:prstGeom prst="parallelogram">
              <a:avLst>
                <a:gd name="adj" fmla="val 21176"/>
              </a:avLst>
            </a:prstGeom>
            <a:solidFill>
              <a:srgbClr val="DDDDDD"/>
            </a:solidFill>
            <a:ln w="9525">
              <a:noFill/>
              <a:miter lim="800000"/>
              <a:headEnd/>
              <a:tailEnd/>
            </a:ln>
            <a:effectLst/>
          </p:spPr>
          <p:txBody>
            <a:bodyPr wrap="none" anchor="ctr"/>
            <a:lstStyle/>
            <a:p>
              <a:endParaRPr lang="zh-CN" altLang="en-US"/>
            </a:p>
          </p:txBody>
        </p:sp>
        <p:sp>
          <p:nvSpPr>
            <p:cNvPr id="38003" name="Text Box 115"/>
            <p:cNvSpPr txBox="1">
              <a:spLocks noChangeArrowheads="1"/>
            </p:cNvSpPr>
            <p:nvPr/>
          </p:nvSpPr>
          <p:spPr bwMode="auto">
            <a:xfrm>
              <a:off x="1113" y="2429"/>
              <a:ext cx="404" cy="231"/>
            </a:xfrm>
            <a:prstGeom prst="rect">
              <a:avLst/>
            </a:prstGeom>
            <a:noFill/>
            <a:ln w="9525">
              <a:noFill/>
              <a:miter lim="800000"/>
              <a:headEnd/>
              <a:tailEnd/>
            </a:ln>
            <a:effectLst/>
          </p:spPr>
          <p:txBody>
            <a:bodyPr wrap="none">
              <a:spAutoFit/>
            </a:bodyPr>
            <a:lstStyle/>
            <a:p>
              <a:r>
                <a:rPr kumimoji="1" lang="zh-CN" altLang="en-US">
                  <a:solidFill>
                    <a:srgbClr val="333399"/>
                  </a:solidFill>
                  <a:ea typeface="黑体" pitchFamily="49" charset="-122"/>
                </a:rPr>
                <a:t>报文</a:t>
              </a:r>
            </a:p>
          </p:txBody>
        </p:sp>
        <p:sp>
          <p:nvSpPr>
            <p:cNvPr id="38004" name="AutoShape 116"/>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headEnd/>
              <a:tailEnd/>
            </a:ln>
            <a:effectLst/>
          </p:spPr>
          <p:txBody>
            <a:bodyPr wrap="none" anchor="ctr"/>
            <a:lstStyle/>
            <a:p>
              <a:endParaRPr lang="zh-CN" altLang="en-US"/>
            </a:p>
          </p:txBody>
        </p:sp>
        <p:sp>
          <p:nvSpPr>
            <p:cNvPr id="38005" name="Line 117"/>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8006" name="Line 118"/>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grpSp>
      <p:grpSp>
        <p:nvGrpSpPr>
          <p:cNvPr id="38007" name="Group 119"/>
          <p:cNvGrpSpPr>
            <a:grpSpLocks/>
          </p:cNvGrpSpPr>
          <p:nvPr/>
        </p:nvGrpSpPr>
        <p:grpSpPr bwMode="auto">
          <a:xfrm>
            <a:off x="6804025" y="1370013"/>
            <a:ext cx="582613" cy="385762"/>
            <a:chOff x="4286" y="1558"/>
            <a:chExt cx="367" cy="243"/>
          </a:xfrm>
        </p:grpSpPr>
        <p:sp>
          <p:nvSpPr>
            <p:cNvPr id="38008" name="AutoShape 120"/>
            <p:cNvSpPr>
              <a:spLocks noChangeArrowheads="1"/>
            </p:cNvSpPr>
            <p:nvPr/>
          </p:nvSpPr>
          <p:spPr bwMode="auto">
            <a:xfrm rot="5400000">
              <a:off x="4367" y="1516"/>
              <a:ext cx="211" cy="359"/>
            </a:xfrm>
            <a:prstGeom prst="parallelogram">
              <a:avLst>
                <a:gd name="adj" fmla="val 29162"/>
              </a:avLst>
            </a:prstGeom>
            <a:solidFill>
              <a:srgbClr val="DDDDDD"/>
            </a:solidFill>
            <a:ln w="9525">
              <a:noFill/>
              <a:miter lim="800000"/>
              <a:headEnd/>
              <a:tailEnd/>
            </a:ln>
            <a:effectLst/>
          </p:spPr>
          <p:txBody>
            <a:bodyPr wrap="none" anchor="ctr"/>
            <a:lstStyle/>
            <a:p>
              <a:endParaRPr lang="zh-CN" altLang="en-US"/>
            </a:p>
          </p:txBody>
        </p:sp>
        <p:sp>
          <p:nvSpPr>
            <p:cNvPr id="38009" name="Text Box 121"/>
            <p:cNvSpPr txBox="1">
              <a:spLocks noChangeArrowheads="1"/>
            </p:cNvSpPr>
            <p:nvPr/>
          </p:nvSpPr>
          <p:spPr bwMode="auto">
            <a:xfrm rot="626605">
              <a:off x="4295" y="1558"/>
              <a:ext cx="265" cy="231"/>
            </a:xfrm>
            <a:prstGeom prst="rect">
              <a:avLst/>
            </a:prstGeom>
            <a:noFill/>
            <a:ln w="9525">
              <a:noFill/>
              <a:miter lim="800000"/>
              <a:headEnd type="none" w="sm" len="lg"/>
              <a:tailEnd type="none" w="sm" len="lg"/>
            </a:ln>
            <a:effectLst/>
          </p:spPr>
          <p:txBody>
            <a:bodyPr wrap="none">
              <a:spAutoFit/>
            </a:bodyPr>
            <a:lstStyle/>
            <a:p>
              <a:r>
                <a:rPr kumimoji="1" lang="en-US" altLang="zh-CN">
                  <a:solidFill>
                    <a:srgbClr val="333399"/>
                  </a:solidFill>
                  <a:ea typeface="黑体" pitchFamily="49" charset="-122"/>
                </a:rPr>
                <a:t>P</a:t>
              </a:r>
              <a:r>
                <a:rPr kumimoji="1" lang="en-US" altLang="zh-CN" baseline="-25000">
                  <a:solidFill>
                    <a:srgbClr val="333399"/>
                  </a:solidFill>
                  <a:ea typeface="黑体" pitchFamily="49" charset="-122"/>
                </a:rPr>
                <a:t>2</a:t>
              </a:r>
              <a:endParaRPr kumimoji="1" lang="en-US" altLang="zh-CN">
                <a:solidFill>
                  <a:srgbClr val="333399"/>
                </a:solidFill>
                <a:ea typeface="黑体" pitchFamily="49" charset="-122"/>
              </a:endParaRPr>
            </a:p>
          </p:txBody>
        </p:sp>
        <p:sp>
          <p:nvSpPr>
            <p:cNvPr id="38010" name="Line 122"/>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8011" name="AutoShape 123"/>
            <p:cNvSpPr>
              <a:spLocks noChangeArrowheads="1"/>
            </p:cNvSpPr>
            <p:nvPr/>
          </p:nvSpPr>
          <p:spPr bwMode="auto">
            <a:xfrm rot="746037">
              <a:off x="4481" y="1652"/>
              <a:ext cx="132" cy="126"/>
            </a:xfrm>
            <a:prstGeom prst="rightArrow">
              <a:avLst>
                <a:gd name="adj1" fmla="val 50000"/>
                <a:gd name="adj2" fmla="val 26190"/>
              </a:avLst>
            </a:prstGeom>
            <a:solidFill>
              <a:schemeClr val="bg1"/>
            </a:solidFill>
            <a:ln w="9525">
              <a:solidFill>
                <a:srgbClr val="333399"/>
              </a:solidFill>
              <a:miter lim="800000"/>
              <a:headEnd/>
              <a:tailEnd/>
            </a:ln>
            <a:effectLst/>
          </p:spPr>
          <p:txBody>
            <a:bodyPr wrap="none" anchor="ctr"/>
            <a:lstStyle/>
            <a:p>
              <a:endParaRPr lang="zh-CN" altLang="en-US"/>
            </a:p>
          </p:txBody>
        </p:sp>
        <p:sp>
          <p:nvSpPr>
            <p:cNvPr id="38012" name="Line 124"/>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grpSp>
      <p:grpSp>
        <p:nvGrpSpPr>
          <p:cNvPr id="38013" name="Group 125"/>
          <p:cNvGrpSpPr>
            <a:grpSpLocks/>
          </p:cNvGrpSpPr>
          <p:nvPr/>
        </p:nvGrpSpPr>
        <p:grpSpPr bwMode="auto">
          <a:xfrm>
            <a:off x="6811963" y="1076325"/>
            <a:ext cx="581025" cy="395288"/>
            <a:chOff x="4291" y="1373"/>
            <a:chExt cx="366" cy="249"/>
          </a:xfrm>
        </p:grpSpPr>
        <p:sp>
          <p:nvSpPr>
            <p:cNvPr id="38014" name="AutoShape 126"/>
            <p:cNvSpPr>
              <a:spLocks noChangeArrowheads="1"/>
            </p:cNvSpPr>
            <p:nvPr/>
          </p:nvSpPr>
          <p:spPr bwMode="auto">
            <a:xfrm rot="5400000">
              <a:off x="4371" y="1337"/>
              <a:ext cx="211" cy="359"/>
            </a:xfrm>
            <a:prstGeom prst="parallelogram">
              <a:avLst>
                <a:gd name="adj" fmla="val 29162"/>
              </a:avLst>
            </a:prstGeom>
            <a:solidFill>
              <a:srgbClr val="DDDDDD"/>
            </a:solidFill>
            <a:ln w="9525">
              <a:noFill/>
              <a:miter lim="800000"/>
              <a:headEnd/>
              <a:tailEnd/>
            </a:ln>
            <a:effectLst/>
          </p:spPr>
          <p:txBody>
            <a:bodyPr wrap="none" anchor="ctr"/>
            <a:lstStyle/>
            <a:p>
              <a:endParaRPr lang="zh-CN" altLang="en-US"/>
            </a:p>
          </p:txBody>
        </p:sp>
        <p:sp>
          <p:nvSpPr>
            <p:cNvPr id="38015" name="Text Box 127"/>
            <p:cNvSpPr txBox="1">
              <a:spLocks noChangeArrowheads="1"/>
            </p:cNvSpPr>
            <p:nvPr/>
          </p:nvSpPr>
          <p:spPr bwMode="auto">
            <a:xfrm rot="626605">
              <a:off x="4294" y="1373"/>
              <a:ext cx="265" cy="231"/>
            </a:xfrm>
            <a:prstGeom prst="rect">
              <a:avLst/>
            </a:prstGeom>
            <a:noFill/>
            <a:ln w="9525">
              <a:noFill/>
              <a:miter lim="800000"/>
              <a:headEnd type="none" w="sm" len="lg"/>
              <a:tailEnd type="none" w="sm" len="lg"/>
            </a:ln>
            <a:effectLst/>
          </p:spPr>
          <p:txBody>
            <a:bodyPr wrap="none">
              <a:spAutoFit/>
            </a:bodyPr>
            <a:lstStyle/>
            <a:p>
              <a:r>
                <a:rPr kumimoji="1" lang="en-US" altLang="zh-CN">
                  <a:solidFill>
                    <a:srgbClr val="333399"/>
                  </a:solidFill>
                  <a:ea typeface="黑体" pitchFamily="49" charset="-122"/>
                </a:rPr>
                <a:t>P</a:t>
              </a:r>
              <a:r>
                <a:rPr kumimoji="1" lang="en-US" altLang="zh-CN" baseline="-25000">
                  <a:solidFill>
                    <a:srgbClr val="333399"/>
                  </a:solidFill>
                  <a:ea typeface="黑体" pitchFamily="49" charset="-122"/>
                </a:rPr>
                <a:t>1</a:t>
              </a:r>
              <a:endParaRPr kumimoji="1" lang="en-US" altLang="zh-CN">
                <a:solidFill>
                  <a:srgbClr val="333399"/>
                </a:solidFill>
                <a:ea typeface="黑体" pitchFamily="49" charset="-122"/>
              </a:endParaRPr>
            </a:p>
          </p:txBody>
        </p:sp>
        <p:sp>
          <p:nvSpPr>
            <p:cNvPr id="38016" name="Line 128"/>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8017" name="Line 129"/>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p:spPr>
          <p:txBody>
            <a:bodyPr wrap="none" anchor="ctr"/>
            <a:lstStyle/>
            <a:p>
              <a:endParaRPr lang="zh-CN" altLang="en-US"/>
            </a:p>
          </p:txBody>
        </p:sp>
        <p:sp>
          <p:nvSpPr>
            <p:cNvPr id="38018" name="AutoShape 130"/>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w="9525">
              <a:solidFill>
                <a:srgbClr val="333399"/>
              </a:solidFill>
              <a:miter lim="800000"/>
              <a:headEnd/>
              <a:tailEnd/>
            </a:ln>
            <a:effectLst/>
          </p:spPr>
          <p:txBody>
            <a:bodyPr wrap="none" anchor="ctr"/>
            <a:lstStyle/>
            <a:p>
              <a:endParaRPr lang="zh-CN" altLang="en-US"/>
            </a:p>
          </p:txBody>
        </p:sp>
      </p:grpSp>
      <p:sp>
        <p:nvSpPr>
          <p:cNvPr id="38019" name="Line 131"/>
          <p:cNvSpPr>
            <a:spLocks noChangeShapeType="1"/>
          </p:cNvSpPr>
          <p:nvPr/>
        </p:nvSpPr>
        <p:spPr bwMode="auto">
          <a:xfrm>
            <a:off x="6808788" y="1090613"/>
            <a:ext cx="0" cy="3813175"/>
          </a:xfrm>
          <a:prstGeom prst="line">
            <a:avLst/>
          </a:prstGeom>
          <a:noFill/>
          <a:ln w="12700">
            <a:solidFill>
              <a:schemeClr val="tx1"/>
            </a:solidFill>
            <a:round/>
            <a:headEnd type="none" w="sm" len="lg"/>
            <a:tailEnd type="none" w="sm" len="lg"/>
          </a:ln>
          <a:effectLst/>
        </p:spPr>
        <p:txBody>
          <a:bodyPr wrap="none" anchor="ctr"/>
          <a:lstStyle/>
          <a:p>
            <a:endParaRPr lang="zh-CN" altLang="en-US"/>
          </a:p>
        </p:txBody>
      </p:sp>
      <p:sp>
        <p:nvSpPr>
          <p:cNvPr id="38020" name="Line 132"/>
          <p:cNvSpPr>
            <a:spLocks noChangeShapeType="1"/>
          </p:cNvSpPr>
          <p:nvPr/>
        </p:nvSpPr>
        <p:spPr bwMode="auto">
          <a:xfrm>
            <a:off x="1306513" y="3556000"/>
            <a:ext cx="576262" cy="95250"/>
          </a:xfrm>
          <a:prstGeom prst="line">
            <a:avLst/>
          </a:prstGeom>
          <a:noFill/>
          <a:ln w="19050">
            <a:solidFill>
              <a:srgbClr val="333399"/>
            </a:solidFill>
            <a:round/>
            <a:headEnd/>
            <a:tailEnd type="triangle" w="sm" len="med"/>
          </a:ln>
          <a:effectLst/>
        </p:spPr>
        <p:txBody>
          <a:bodyPr wrap="none" anchor="ctr"/>
          <a:lstStyle/>
          <a:p>
            <a:endParaRPr lang="zh-CN" altLang="en-US"/>
          </a:p>
        </p:txBody>
      </p:sp>
      <p:sp>
        <p:nvSpPr>
          <p:cNvPr id="38021" name="Line 133"/>
          <p:cNvSpPr>
            <a:spLocks noChangeShapeType="1"/>
          </p:cNvSpPr>
          <p:nvPr/>
        </p:nvSpPr>
        <p:spPr bwMode="auto">
          <a:xfrm>
            <a:off x="1892300" y="3736975"/>
            <a:ext cx="566738" cy="95250"/>
          </a:xfrm>
          <a:prstGeom prst="line">
            <a:avLst/>
          </a:prstGeom>
          <a:noFill/>
          <a:ln w="19050">
            <a:solidFill>
              <a:srgbClr val="333399"/>
            </a:solidFill>
            <a:round/>
            <a:headEnd/>
            <a:tailEnd type="triangle" w="sm" len="med"/>
          </a:ln>
          <a:effectLst/>
        </p:spPr>
        <p:txBody>
          <a:bodyPr wrap="none" anchor="ctr"/>
          <a:lstStyle/>
          <a:p>
            <a:endParaRPr lang="zh-CN" altLang="en-US"/>
          </a:p>
        </p:txBody>
      </p:sp>
      <p:sp>
        <p:nvSpPr>
          <p:cNvPr id="38022" name="Line 134"/>
          <p:cNvSpPr>
            <a:spLocks noChangeShapeType="1"/>
          </p:cNvSpPr>
          <p:nvPr/>
        </p:nvSpPr>
        <p:spPr bwMode="auto">
          <a:xfrm>
            <a:off x="2459038" y="3927475"/>
            <a:ext cx="574675" cy="85725"/>
          </a:xfrm>
          <a:prstGeom prst="line">
            <a:avLst/>
          </a:prstGeom>
          <a:noFill/>
          <a:ln w="19050">
            <a:solidFill>
              <a:srgbClr val="333399"/>
            </a:solidFill>
            <a:round/>
            <a:headEnd/>
            <a:tailEnd type="triangle" w="sm" len="med"/>
          </a:ln>
          <a:effectLst/>
        </p:spPr>
        <p:txBody>
          <a:bodyPr wrap="none" anchor="ctr"/>
          <a:lstStyle/>
          <a:p>
            <a:endParaRPr lang="zh-CN" altLang="en-US"/>
          </a:p>
        </p:txBody>
      </p:sp>
      <p:grpSp>
        <p:nvGrpSpPr>
          <p:cNvPr id="38023" name="Group 135"/>
          <p:cNvGrpSpPr>
            <a:grpSpLocks/>
          </p:cNvGrpSpPr>
          <p:nvPr/>
        </p:nvGrpSpPr>
        <p:grpSpPr bwMode="auto">
          <a:xfrm>
            <a:off x="179388" y="3451225"/>
            <a:ext cx="1098550" cy="592138"/>
            <a:chOff x="113" y="2869"/>
            <a:chExt cx="692" cy="373"/>
          </a:xfrm>
        </p:grpSpPr>
        <p:sp>
          <p:nvSpPr>
            <p:cNvPr id="38024" name="Line 136"/>
            <p:cNvSpPr>
              <a:spLocks noChangeShapeType="1"/>
            </p:cNvSpPr>
            <p:nvPr/>
          </p:nvSpPr>
          <p:spPr bwMode="auto">
            <a:xfrm>
              <a:off x="615" y="3241"/>
              <a:ext cx="182" cy="0"/>
            </a:xfrm>
            <a:prstGeom prst="line">
              <a:avLst/>
            </a:prstGeom>
            <a:noFill/>
            <a:ln w="9525">
              <a:solidFill>
                <a:srgbClr val="333399"/>
              </a:solidFill>
              <a:round/>
              <a:headEnd/>
              <a:tailEnd/>
            </a:ln>
            <a:effectLst/>
          </p:spPr>
          <p:txBody>
            <a:bodyPr wrap="none" anchor="ctr"/>
            <a:lstStyle/>
            <a:p>
              <a:endParaRPr lang="zh-CN" altLang="en-US"/>
            </a:p>
          </p:txBody>
        </p:sp>
        <p:sp>
          <p:nvSpPr>
            <p:cNvPr id="38025" name="Line 137"/>
            <p:cNvSpPr>
              <a:spLocks noChangeShapeType="1"/>
            </p:cNvSpPr>
            <p:nvPr/>
          </p:nvSpPr>
          <p:spPr bwMode="auto">
            <a:xfrm>
              <a:off x="721" y="2869"/>
              <a:ext cx="0" cy="373"/>
            </a:xfrm>
            <a:prstGeom prst="line">
              <a:avLst/>
            </a:prstGeom>
            <a:noFill/>
            <a:ln w="9525">
              <a:solidFill>
                <a:srgbClr val="333399"/>
              </a:solidFill>
              <a:round/>
              <a:headEnd type="triangle" w="sm" len="lg"/>
              <a:tailEnd type="triangle" w="sm" len="lg"/>
            </a:ln>
            <a:effectLst/>
          </p:spPr>
          <p:txBody>
            <a:bodyPr wrap="none" anchor="ctr"/>
            <a:lstStyle/>
            <a:p>
              <a:endParaRPr lang="zh-CN" altLang="en-US"/>
            </a:p>
          </p:txBody>
        </p:sp>
        <p:sp>
          <p:nvSpPr>
            <p:cNvPr id="38026" name="Text Box 138"/>
            <p:cNvSpPr txBox="1">
              <a:spLocks noChangeArrowheads="1"/>
            </p:cNvSpPr>
            <p:nvPr/>
          </p:nvSpPr>
          <p:spPr bwMode="auto">
            <a:xfrm>
              <a:off x="113" y="2933"/>
              <a:ext cx="692" cy="214"/>
            </a:xfrm>
            <a:prstGeom prst="rect">
              <a:avLst/>
            </a:prstGeom>
            <a:noFill/>
            <a:ln w="9525">
              <a:noFill/>
              <a:miter lim="800000"/>
              <a:headEnd/>
              <a:tailEnd/>
            </a:ln>
            <a:effectLst/>
          </p:spPr>
          <p:txBody>
            <a:bodyPr wrap="none">
              <a:spAutoFit/>
            </a:bodyPr>
            <a:lstStyle/>
            <a:p>
              <a:pPr>
                <a:lnSpc>
                  <a:spcPct val="90000"/>
                </a:lnSpc>
              </a:pPr>
              <a:r>
                <a:rPr kumimoji="1" lang="zh-CN" altLang="en-US">
                  <a:solidFill>
                    <a:srgbClr val="333399"/>
                  </a:solidFill>
                  <a:ea typeface="黑体" pitchFamily="49" charset="-122"/>
                </a:rPr>
                <a:t>连接释放</a:t>
              </a:r>
            </a:p>
          </p:txBody>
        </p:sp>
      </p:grpSp>
      <p:sp>
        <p:nvSpPr>
          <p:cNvPr id="38027" name="Freeform 139"/>
          <p:cNvSpPr>
            <a:spLocks/>
          </p:cNvSpPr>
          <p:nvPr/>
        </p:nvSpPr>
        <p:spPr bwMode="auto">
          <a:xfrm>
            <a:off x="3040063" y="1125538"/>
            <a:ext cx="4762" cy="3813175"/>
          </a:xfrm>
          <a:custGeom>
            <a:avLst/>
            <a:gdLst/>
            <a:ahLst/>
            <a:cxnLst>
              <a:cxn ang="0">
                <a:pos x="3" y="0"/>
              </a:cxn>
              <a:cxn ang="0">
                <a:pos x="0" y="2736"/>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p:spPr>
        <p:txBody>
          <a:bodyPr wrap="none" anchor="ctr"/>
          <a:lstStyle/>
          <a:p>
            <a:endParaRPr lang="zh-CN" altLang="en-US"/>
          </a:p>
        </p:txBody>
      </p:sp>
      <p:sp>
        <p:nvSpPr>
          <p:cNvPr id="38028" name="AutoShape 140"/>
          <p:cNvSpPr>
            <a:spLocks noChangeArrowheads="1"/>
          </p:cNvSpPr>
          <p:nvPr/>
        </p:nvSpPr>
        <p:spPr bwMode="auto">
          <a:xfrm>
            <a:off x="71438" y="5365750"/>
            <a:ext cx="8843962" cy="1447800"/>
          </a:xfrm>
          <a:prstGeom prst="roundRect">
            <a:avLst>
              <a:gd name="adj" fmla="val 16667"/>
            </a:avLst>
          </a:prstGeom>
          <a:noFill/>
          <a:ln w="9525">
            <a:solidFill>
              <a:schemeClr val="tx1"/>
            </a:solidFill>
            <a:round/>
            <a:headEnd type="none" w="sm" len="lg"/>
            <a:tailEnd type="none" w="sm" len="lg"/>
          </a:ln>
          <a:effectLst/>
        </p:spPr>
        <p:txBody>
          <a:bodyPr wrap="none" anchor="ctr"/>
          <a:lstStyle/>
          <a:p>
            <a:endParaRPr lang="zh-CN" altLang="en-US"/>
          </a:p>
        </p:txBody>
      </p:sp>
      <p:sp>
        <p:nvSpPr>
          <p:cNvPr id="38029" name="Line 141"/>
          <p:cNvSpPr>
            <a:spLocks noChangeShapeType="1"/>
          </p:cNvSpPr>
          <p:nvPr/>
        </p:nvSpPr>
        <p:spPr bwMode="auto">
          <a:xfrm>
            <a:off x="6781800" y="6203950"/>
            <a:ext cx="1676400" cy="0"/>
          </a:xfrm>
          <a:prstGeom prst="line">
            <a:avLst/>
          </a:prstGeom>
          <a:noFill/>
          <a:ln w="9525">
            <a:solidFill>
              <a:schemeClr val="tx1"/>
            </a:solidFill>
            <a:round/>
            <a:headEnd type="none" w="sm" len="lg"/>
            <a:tailEnd type="none" w="sm" len="lg"/>
          </a:ln>
          <a:effectLst/>
        </p:spPr>
        <p:txBody>
          <a:bodyPr/>
          <a:lstStyle/>
          <a:p>
            <a:endParaRPr lang="zh-CN" altLang="en-US"/>
          </a:p>
        </p:txBody>
      </p:sp>
      <p:sp>
        <p:nvSpPr>
          <p:cNvPr id="38030" name="Line 142"/>
          <p:cNvSpPr>
            <a:spLocks noChangeShapeType="1"/>
          </p:cNvSpPr>
          <p:nvPr/>
        </p:nvSpPr>
        <p:spPr bwMode="auto">
          <a:xfrm>
            <a:off x="3962400" y="6203950"/>
            <a:ext cx="1676400" cy="0"/>
          </a:xfrm>
          <a:prstGeom prst="line">
            <a:avLst/>
          </a:prstGeom>
          <a:noFill/>
          <a:ln w="9525">
            <a:solidFill>
              <a:schemeClr val="tx1"/>
            </a:solidFill>
            <a:round/>
            <a:headEnd type="none" w="sm" len="lg"/>
            <a:tailEnd type="none" w="sm" len="lg"/>
          </a:ln>
          <a:effectLst/>
        </p:spPr>
        <p:txBody>
          <a:bodyPr/>
          <a:lstStyle/>
          <a:p>
            <a:endParaRPr lang="zh-CN" altLang="en-US"/>
          </a:p>
        </p:txBody>
      </p:sp>
      <p:sp>
        <p:nvSpPr>
          <p:cNvPr id="38031" name="Line 143"/>
          <p:cNvSpPr>
            <a:spLocks noChangeShapeType="1"/>
          </p:cNvSpPr>
          <p:nvPr/>
        </p:nvSpPr>
        <p:spPr bwMode="auto">
          <a:xfrm>
            <a:off x="1295400" y="6203950"/>
            <a:ext cx="1676400" cy="0"/>
          </a:xfrm>
          <a:prstGeom prst="line">
            <a:avLst/>
          </a:prstGeom>
          <a:noFill/>
          <a:ln w="9525">
            <a:solidFill>
              <a:schemeClr val="tx1"/>
            </a:solidFill>
            <a:round/>
            <a:headEnd type="none" w="sm" len="lg"/>
            <a:tailEnd type="none" w="sm" len="lg"/>
          </a:ln>
          <a:effectLst/>
        </p:spPr>
        <p:txBody>
          <a:bodyPr/>
          <a:lstStyle/>
          <a:p>
            <a:endParaRPr lang="zh-CN" altLang="en-US"/>
          </a:p>
        </p:txBody>
      </p:sp>
      <p:grpSp>
        <p:nvGrpSpPr>
          <p:cNvPr id="38032" name="Group 144"/>
          <p:cNvGrpSpPr>
            <a:grpSpLocks/>
          </p:cNvGrpSpPr>
          <p:nvPr/>
        </p:nvGrpSpPr>
        <p:grpSpPr bwMode="auto">
          <a:xfrm>
            <a:off x="1219200" y="6051550"/>
            <a:ext cx="1905000" cy="228600"/>
            <a:chOff x="768" y="2544"/>
            <a:chExt cx="1200" cy="144"/>
          </a:xfrm>
        </p:grpSpPr>
        <p:sp>
          <p:nvSpPr>
            <p:cNvPr id="38033" name="AutoShape 145"/>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34" name="AutoShape 146"/>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35" name="AutoShape 147"/>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36" name="AutoShape 148"/>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grpSp>
      <p:grpSp>
        <p:nvGrpSpPr>
          <p:cNvPr id="38037" name="Group 149"/>
          <p:cNvGrpSpPr>
            <a:grpSpLocks/>
          </p:cNvGrpSpPr>
          <p:nvPr/>
        </p:nvGrpSpPr>
        <p:grpSpPr bwMode="auto">
          <a:xfrm>
            <a:off x="3886200" y="6051550"/>
            <a:ext cx="1905000" cy="228600"/>
            <a:chOff x="768" y="2544"/>
            <a:chExt cx="1200" cy="144"/>
          </a:xfrm>
        </p:grpSpPr>
        <p:sp>
          <p:nvSpPr>
            <p:cNvPr id="38038" name="AutoShape 150"/>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39" name="AutoShape 151"/>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40" name="AutoShape 152"/>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41" name="AutoShape 153"/>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grpSp>
      <p:grpSp>
        <p:nvGrpSpPr>
          <p:cNvPr id="38042" name="Group 154"/>
          <p:cNvGrpSpPr>
            <a:grpSpLocks/>
          </p:cNvGrpSpPr>
          <p:nvPr/>
        </p:nvGrpSpPr>
        <p:grpSpPr bwMode="auto">
          <a:xfrm>
            <a:off x="6705600" y="6051550"/>
            <a:ext cx="1905000" cy="228600"/>
            <a:chOff x="768" y="2544"/>
            <a:chExt cx="1200" cy="144"/>
          </a:xfrm>
        </p:grpSpPr>
        <p:sp>
          <p:nvSpPr>
            <p:cNvPr id="38043" name="AutoShape 155"/>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44" name="AutoShape 156"/>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45" name="AutoShape 157"/>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46" name="AutoShape 158"/>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grpSp>
      <p:sp>
        <p:nvSpPr>
          <p:cNvPr id="38047" name="AutoShape 159"/>
          <p:cNvSpPr>
            <a:spLocks noChangeArrowheads="1"/>
          </p:cNvSpPr>
          <p:nvPr/>
        </p:nvSpPr>
        <p:spPr bwMode="auto">
          <a:xfrm>
            <a:off x="3886200" y="5670550"/>
            <a:ext cx="68580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48" name="AutoShape 160"/>
          <p:cNvSpPr>
            <a:spLocks noChangeArrowheads="1"/>
          </p:cNvSpPr>
          <p:nvPr/>
        </p:nvSpPr>
        <p:spPr bwMode="auto">
          <a:xfrm>
            <a:off x="4533900" y="5670550"/>
            <a:ext cx="68580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49" name="AutoShape 161"/>
          <p:cNvSpPr>
            <a:spLocks noChangeArrowheads="1"/>
          </p:cNvSpPr>
          <p:nvPr/>
        </p:nvSpPr>
        <p:spPr bwMode="auto">
          <a:xfrm>
            <a:off x="5181600" y="5670550"/>
            <a:ext cx="68580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50" name="AutoShape 162"/>
          <p:cNvSpPr>
            <a:spLocks noChangeArrowheads="1"/>
          </p:cNvSpPr>
          <p:nvPr/>
        </p:nvSpPr>
        <p:spPr bwMode="auto">
          <a:xfrm>
            <a:off x="1295400" y="5746750"/>
            <a:ext cx="1905000" cy="304800"/>
          </a:xfrm>
          <a:prstGeom prst="rightArrow">
            <a:avLst>
              <a:gd name="adj1" fmla="val 58333"/>
              <a:gd name="adj2" fmla="val 109375"/>
            </a:avLst>
          </a:prstGeom>
          <a:solidFill>
            <a:srgbClr val="969696"/>
          </a:solidFill>
          <a:ln w="9525">
            <a:solidFill>
              <a:schemeClr val="tx1"/>
            </a:solidFill>
            <a:miter lim="800000"/>
            <a:headEnd type="none" w="sm" len="lg"/>
            <a:tailEnd type="none" w="sm" len="lg"/>
          </a:ln>
          <a:effectLst/>
        </p:spPr>
        <p:txBody>
          <a:bodyPr wrap="none" anchor="ctr"/>
          <a:lstStyle/>
          <a:p>
            <a:endParaRPr lang="zh-CN" altLang="en-US"/>
          </a:p>
        </p:txBody>
      </p:sp>
      <p:sp>
        <p:nvSpPr>
          <p:cNvPr id="38051" name="AutoShape 163"/>
          <p:cNvSpPr>
            <a:spLocks noChangeArrowheads="1"/>
          </p:cNvSpPr>
          <p:nvPr/>
        </p:nvSpPr>
        <p:spPr bwMode="auto">
          <a:xfrm>
            <a:off x="6705600" y="5670550"/>
            <a:ext cx="68580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52" name="AutoShape 164"/>
          <p:cNvSpPr>
            <a:spLocks noChangeArrowheads="1"/>
          </p:cNvSpPr>
          <p:nvPr/>
        </p:nvSpPr>
        <p:spPr bwMode="auto">
          <a:xfrm>
            <a:off x="7315200" y="5670550"/>
            <a:ext cx="68580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53" name="AutoShape 165"/>
          <p:cNvSpPr>
            <a:spLocks noChangeArrowheads="1"/>
          </p:cNvSpPr>
          <p:nvPr/>
        </p:nvSpPr>
        <p:spPr bwMode="auto">
          <a:xfrm>
            <a:off x="7924800" y="5670550"/>
            <a:ext cx="685800" cy="304800"/>
          </a:xfrm>
          <a:prstGeom prst="curvedDownArrow">
            <a:avLst>
              <a:gd name="adj1" fmla="val 13542"/>
              <a:gd name="adj2" fmla="val 66667"/>
              <a:gd name="adj3" fmla="val 36977"/>
            </a:avLst>
          </a:prstGeom>
          <a:solidFill>
            <a:srgbClr val="DDDDDD"/>
          </a:solidFill>
          <a:ln w="9525">
            <a:solidFill>
              <a:schemeClr val="tx1"/>
            </a:solidFill>
            <a:miter lim="800000"/>
            <a:headEnd type="none" w="sm" len="lg"/>
            <a:tailEnd type="none" w="sm" len="lg"/>
          </a:ln>
          <a:effectLst/>
        </p:spPr>
        <p:txBody>
          <a:bodyPr wrap="none" anchor="ctr"/>
          <a:lstStyle/>
          <a:p>
            <a:endParaRPr lang="zh-CN" altLang="en-US"/>
          </a:p>
        </p:txBody>
      </p:sp>
      <p:sp>
        <p:nvSpPr>
          <p:cNvPr id="38054" name="Text Box 166"/>
          <p:cNvSpPr txBox="1">
            <a:spLocks noChangeArrowheads="1"/>
          </p:cNvSpPr>
          <p:nvPr/>
        </p:nvSpPr>
        <p:spPr bwMode="auto">
          <a:xfrm>
            <a:off x="101600" y="5721350"/>
            <a:ext cx="1098550" cy="587375"/>
          </a:xfrm>
          <a:prstGeom prst="rect">
            <a:avLst/>
          </a:prstGeom>
          <a:noFill/>
          <a:ln w="9525">
            <a:noFill/>
            <a:miter lim="800000"/>
            <a:headEnd/>
            <a:tailEnd/>
          </a:ln>
          <a:effectLst/>
        </p:spPr>
        <p:txBody>
          <a:bodyPr wrap="none">
            <a:spAutoFit/>
          </a:bodyPr>
          <a:lstStyle/>
          <a:p>
            <a:pPr algn="ctr">
              <a:lnSpc>
                <a:spcPct val="90000"/>
              </a:lnSpc>
            </a:pPr>
            <a:r>
              <a:rPr kumimoji="1" lang="zh-CN" altLang="en-US">
                <a:solidFill>
                  <a:schemeClr val="folHlink"/>
                </a:solidFill>
                <a:latin typeface="Times New Roman" pitchFamily="18" charset="0"/>
              </a:rPr>
              <a:t>数据传送</a:t>
            </a:r>
          </a:p>
          <a:p>
            <a:pPr algn="ctr">
              <a:lnSpc>
                <a:spcPct val="90000"/>
              </a:lnSpc>
            </a:pPr>
            <a:r>
              <a:rPr kumimoji="1" lang="zh-CN" altLang="en-US">
                <a:solidFill>
                  <a:schemeClr val="folHlink"/>
                </a:solidFill>
                <a:latin typeface="Times New Roman" pitchFamily="18" charset="0"/>
              </a:rPr>
              <a:t>的特点</a:t>
            </a:r>
          </a:p>
        </p:txBody>
      </p:sp>
      <p:sp>
        <p:nvSpPr>
          <p:cNvPr id="38055" name="Text Box 167"/>
          <p:cNvSpPr txBox="1">
            <a:spLocks noChangeArrowheads="1"/>
          </p:cNvSpPr>
          <p:nvPr/>
        </p:nvSpPr>
        <p:spPr bwMode="auto">
          <a:xfrm>
            <a:off x="1258888" y="5465763"/>
            <a:ext cx="1784350" cy="339725"/>
          </a:xfrm>
          <a:prstGeom prst="rect">
            <a:avLst/>
          </a:prstGeom>
          <a:noFill/>
          <a:ln w="9525">
            <a:noFill/>
            <a:miter lim="800000"/>
            <a:headEnd/>
            <a:tailEnd/>
          </a:ln>
          <a:effectLst/>
        </p:spPr>
        <p:txBody>
          <a:bodyPr wrap="none">
            <a:spAutoFit/>
          </a:bodyPr>
          <a:lstStyle/>
          <a:p>
            <a:pPr>
              <a:lnSpc>
                <a:spcPct val="90000"/>
              </a:lnSpc>
            </a:pPr>
            <a:r>
              <a:rPr kumimoji="1" lang="zh-CN" altLang="en-US">
                <a:solidFill>
                  <a:schemeClr val="folHlink"/>
                </a:solidFill>
                <a:latin typeface="Times New Roman" pitchFamily="18" charset="0"/>
              </a:rPr>
              <a:t>比特流直达终点</a:t>
            </a:r>
          </a:p>
        </p:txBody>
      </p:sp>
      <p:sp>
        <p:nvSpPr>
          <p:cNvPr id="38056" name="Text Box 168"/>
          <p:cNvSpPr txBox="1">
            <a:spLocks noChangeArrowheads="1"/>
          </p:cNvSpPr>
          <p:nvPr/>
        </p:nvSpPr>
        <p:spPr bwMode="auto">
          <a:xfrm>
            <a:off x="3886200" y="5341938"/>
            <a:ext cx="641350" cy="339725"/>
          </a:xfrm>
          <a:prstGeom prst="rect">
            <a:avLst/>
          </a:prstGeom>
          <a:noFill/>
          <a:ln w="9525">
            <a:noFill/>
            <a:miter lim="800000"/>
            <a:headEnd/>
            <a:tailEnd/>
          </a:ln>
          <a:effectLst/>
        </p:spPr>
        <p:txBody>
          <a:bodyPr wrap="none">
            <a:spAutoFit/>
          </a:bodyPr>
          <a:lstStyle/>
          <a:p>
            <a:pPr>
              <a:lnSpc>
                <a:spcPct val="90000"/>
              </a:lnSpc>
            </a:pPr>
            <a:r>
              <a:rPr kumimoji="1" lang="zh-CN" altLang="en-US">
                <a:solidFill>
                  <a:schemeClr val="folHlink"/>
                </a:solidFill>
                <a:latin typeface="Times New Roman" pitchFamily="18" charset="0"/>
              </a:rPr>
              <a:t>报文</a:t>
            </a:r>
          </a:p>
        </p:txBody>
      </p:sp>
      <p:sp>
        <p:nvSpPr>
          <p:cNvPr id="38057" name="Text Box 169"/>
          <p:cNvSpPr txBox="1">
            <a:spLocks noChangeArrowheads="1"/>
          </p:cNvSpPr>
          <p:nvPr/>
        </p:nvSpPr>
        <p:spPr bwMode="auto">
          <a:xfrm>
            <a:off x="4543425" y="5341938"/>
            <a:ext cx="641350" cy="339725"/>
          </a:xfrm>
          <a:prstGeom prst="rect">
            <a:avLst/>
          </a:prstGeom>
          <a:noFill/>
          <a:ln w="9525">
            <a:noFill/>
            <a:miter lim="800000"/>
            <a:headEnd/>
            <a:tailEnd/>
          </a:ln>
          <a:effectLst/>
        </p:spPr>
        <p:txBody>
          <a:bodyPr wrap="none">
            <a:spAutoFit/>
          </a:bodyPr>
          <a:lstStyle/>
          <a:p>
            <a:pPr>
              <a:lnSpc>
                <a:spcPct val="90000"/>
              </a:lnSpc>
            </a:pPr>
            <a:r>
              <a:rPr kumimoji="1" lang="zh-CN" altLang="en-US">
                <a:solidFill>
                  <a:schemeClr val="folHlink"/>
                </a:solidFill>
                <a:latin typeface="Times New Roman" pitchFamily="18" charset="0"/>
              </a:rPr>
              <a:t>报文</a:t>
            </a:r>
          </a:p>
        </p:txBody>
      </p:sp>
      <p:sp>
        <p:nvSpPr>
          <p:cNvPr id="38058" name="Text Box 170"/>
          <p:cNvSpPr txBox="1">
            <a:spLocks noChangeArrowheads="1"/>
          </p:cNvSpPr>
          <p:nvPr/>
        </p:nvSpPr>
        <p:spPr bwMode="auto">
          <a:xfrm>
            <a:off x="5200650" y="5341938"/>
            <a:ext cx="641350" cy="339725"/>
          </a:xfrm>
          <a:prstGeom prst="rect">
            <a:avLst/>
          </a:prstGeom>
          <a:noFill/>
          <a:ln w="9525">
            <a:noFill/>
            <a:miter lim="800000"/>
            <a:headEnd/>
            <a:tailEnd/>
          </a:ln>
          <a:effectLst/>
        </p:spPr>
        <p:txBody>
          <a:bodyPr wrap="none">
            <a:spAutoFit/>
          </a:bodyPr>
          <a:lstStyle/>
          <a:p>
            <a:pPr>
              <a:lnSpc>
                <a:spcPct val="90000"/>
              </a:lnSpc>
            </a:pPr>
            <a:r>
              <a:rPr kumimoji="1" lang="zh-CN" altLang="en-US">
                <a:solidFill>
                  <a:schemeClr val="folHlink"/>
                </a:solidFill>
                <a:latin typeface="Times New Roman" pitchFamily="18" charset="0"/>
              </a:rPr>
              <a:t>报文</a:t>
            </a:r>
          </a:p>
        </p:txBody>
      </p:sp>
      <p:sp>
        <p:nvSpPr>
          <p:cNvPr id="38059" name="Text Box 171"/>
          <p:cNvSpPr txBox="1">
            <a:spLocks noChangeArrowheads="1"/>
          </p:cNvSpPr>
          <p:nvPr/>
        </p:nvSpPr>
        <p:spPr bwMode="auto">
          <a:xfrm>
            <a:off x="6705600" y="5341938"/>
            <a:ext cx="641350" cy="339725"/>
          </a:xfrm>
          <a:prstGeom prst="rect">
            <a:avLst/>
          </a:prstGeom>
          <a:noFill/>
          <a:ln w="9525">
            <a:noFill/>
            <a:miter lim="800000"/>
            <a:headEnd/>
            <a:tailEnd/>
          </a:ln>
          <a:effectLst/>
        </p:spPr>
        <p:txBody>
          <a:bodyPr wrap="none">
            <a:spAutoFit/>
          </a:bodyPr>
          <a:lstStyle/>
          <a:p>
            <a:pPr>
              <a:lnSpc>
                <a:spcPct val="90000"/>
              </a:lnSpc>
            </a:pPr>
            <a:r>
              <a:rPr kumimoji="1" lang="zh-CN" altLang="en-US">
                <a:solidFill>
                  <a:schemeClr val="folHlink"/>
                </a:solidFill>
                <a:latin typeface="Times New Roman" pitchFamily="18" charset="0"/>
              </a:rPr>
              <a:t>分组</a:t>
            </a:r>
          </a:p>
        </p:txBody>
      </p:sp>
      <p:sp>
        <p:nvSpPr>
          <p:cNvPr id="38060" name="Text Box 172"/>
          <p:cNvSpPr txBox="1">
            <a:spLocks noChangeArrowheads="1"/>
          </p:cNvSpPr>
          <p:nvPr/>
        </p:nvSpPr>
        <p:spPr bwMode="auto">
          <a:xfrm>
            <a:off x="7324725" y="5341938"/>
            <a:ext cx="641350" cy="339725"/>
          </a:xfrm>
          <a:prstGeom prst="rect">
            <a:avLst/>
          </a:prstGeom>
          <a:noFill/>
          <a:ln w="9525">
            <a:noFill/>
            <a:miter lim="800000"/>
            <a:headEnd/>
            <a:tailEnd/>
          </a:ln>
          <a:effectLst/>
        </p:spPr>
        <p:txBody>
          <a:bodyPr wrap="none">
            <a:spAutoFit/>
          </a:bodyPr>
          <a:lstStyle/>
          <a:p>
            <a:pPr>
              <a:lnSpc>
                <a:spcPct val="90000"/>
              </a:lnSpc>
            </a:pPr>
            <a:r>
              <a:rPr kumimoji="1" lang="zh-CN" altLang="en-US">
                <a:solidFill>
                  <a:schemeClr val="folHlink"/>
                </a:solidFill>
                <a:latin typeface="Times New Roman" pitchFamily="18" charset="0"/>
              </a:rPr>
              <a:t>分组</a:t>
            </a:r>
          </a:p>
        </p:txBody>
      </p:sp>
      <p:sp>
        <p:nvSpPr>
          <p:cNvPr id="38061" name="Text Box 173"/>
          <p:cNvSpPr txBox="1">
            <a:spLocks noChangeArrowheads="1"/>
          </p:cNvSpPr>
          <p:nvPr/>
        </p:nvSpPr>
        <p:spPr bwMode="auto">
          <a:xfrm>
            <a:off x="7943850" y="5341938"/>
            <a:ext cx="641350" cy="339725"/>
          </a:xfrm>
          <a:prstGeom prst="rect">
            <a:avLst/>
          </a:prstGeom>
          <a:noFill/>
          <a:ln w="9525">
            <a:noFill/>
            <a:miter lim="800000"/>
            <a:headEnd/>
            <a:tailEnd/>
          </a:ln>
          <a:effectLst/>
        </p:spPr>
        <p:txBody>
          <a:bodyPr wrap="none">
            <a:spAutoFit/>
          </a:bodyPr>
          <a:lstStyle/>
          <a:p>
            <a:pPr>
              <a:lnSpc>
                <a:spcPct val="90000"/>
              </a:lnSpc>
            </a:pPr>
            <a:r>
              <a:rPr kumimoji="1" lang="zh-CN" altLang="en-US">
                <a:solidFill>
                  <a:schemeClr val="folHlink"/>
                </a:solidFill>
                <a:latin typeface="Times New Roman" pitchFamily="18" charset="0"/>
              </a:rPr>
              <a:t>分组</a:t>
            </a:r>
          </a:p>
        </p:txBody>
      </p:sp>
      <p:sp>
        <p:nvSpPr>
          <p:cNvPr id="38062" name="Text Box 174"/>
          <p:cNvSpPr txBox="1">
            <a:spLocks noChangeArrowheads="1"/>
          </p:cNvSpPr>
          <p:nvPr/>
        </p:nvSpPr>
        <p:spPr bwMode="auto">
          <a:xfrm>
            <a:off x="4237038" y="6280150"/>
            <a:ext cx="590550" cy="533400"/>
          </a:xfrm>
          <a:prstGeom prst="rect">
            <a:avLst/>
          </a:prstGeom>
          <a:noFill/>
          <a:ln w="9525">
            <a:noFill/>
            <a:miter lim="800000"/>
            <a:headEnd/>
            <a:tailEnd/>
          </a:ln>
          <a:effectLst/>
        </p:spPr>
        <p:txBody>
          <a:bodyPr wrap="none">
            <a:spAutoFit/>
          </a:bodyPr>
          <a:lstStyle/>
          <a:p>
            <a:pPr>
              <a:lnSpc>
                <a:spcPct val="90000"/>
              </a:lnSpc>
            </a:pPr>
            <a:r>
              <a:rPr kumimoji="1" lang="zh-CN" altLang="en-US" sz="1600">
                <a:latin typeface="Times New Roman" pitchFamily="18" charset="0"/>
              </a:rPr>
              <a:t>存储</a:t>
            </a:r>
          </a:p>
          <a:p>
            <a:pPr>
              <a:lnSpc>
                <a:spcPct val="90000"/>
              </a:lnSpc>
            </a:pPr>
            <a:r>
              <a:rPr kumimoji="1" lang="zh-CN" altLang="en-US" sz="1600">
                <a:latin typeface="Times New Roman" pitchFamily="18" charset="0"/>
              </a:rPr>
              <a:t>转发</a:t>
            </a:r>
          </a:p>
        </p:txBody>
      </p:sp>
      <p:sp>
        <p:nvSpPr>
          <p:cNvPr id="38063" name="Text Box 175"/>
          <p:cNvSpPr txBox="1">
            <a:spLocks noChangeArrowheads="1"/>
          </p:cNvSpPr>
          <p:nvPr/>
        </p:nvSpPr>
        <p:spPr bwMode="auto">
          <a:xfrm>
            <a:off x="4819650" y="6280150"/>
            <a:ext cx="590550" cy="533400"/>
          </a:xfrm>
          <a:prstGeom prst="rect">
            <a:avLst/>
          </a:prstGeom>
          <a:noFill/>
          <a:ln w="9525">
            <a:noFill/>
            <a:miter lim="800000"/>
            <a:headEnd/>
            <a:tailEnd/>
          </a:ln>
          <a:effectLst/>
        </p:spPr>
        <p:txBody>
          <a:bodyPr wrap="none">
            <a:spAutoFit/>
          </a:bodyPr>
          <a:lstStyle/>
          <a:p>
            <a:pPr>
              <a:lnSpc>
                <a:spcPct val="90000"/>
              </a:lnSpc>
            </a:pPr>
            <a:r>
              <a:rPr kumimoji="1" lang="zh-CN" altLang="en-US" sz="1600">
                <a:latin typeface="Times New Roman" pitchFamily="18" charset="0"/>
              </a:rPr>
              <a:t>存储</a:t>
            </a:r>
          </a:p>
          <a:p>
            <a:pPr>
              <a:lnSpc>
                <a:spcPct val="90000"/>
              </a:lnSpc>
            </a:pPr>
            <a:r>
              <a:rPr kumimoji="1" lang="zh-CN" altLang="en-US" sz="1600">
                <a:latin typeface="Times New Roman" pitchFamily="18" charset="0"/>
              </a:rPr>
              <a:t>转发</a:t>
            </a:r>
          </a:p>
        </p:txBody>
      </p:sp>
      <p:sp>
        <p:nvSpPr>
          <p:cNvPr id="38064" name="Text Box 176"/>
          <p:cNvSpPr txBox="1">
            <a:spLocks noChangeArrowheads="1"/>
          </p:cNvSpPr>
          <p:nvPr/>
        </p:nvSpPr>
        <p:spPr bwMode="auto">
          <a:xfrm>
            <a:off x="7073900" y="6267450"/>
            <a:ext cx="590550" cy="533400"/>
          </a:xfrm>
          <a:prstGeom prst="rect">
            <a:avLst/>
          </a:prstGeom>
          <a:noFill/>
          <a:ln w="9525">
            <a:noFill/>
            <a:miter lim="800000"/>
            <a:headEnd/>
            <a:tailEnd/>
          </a:ln>
          <a:effectLst/>
        </p:spPr>
        <p:txBody>
          <a:bodyPr wrap="none">
            <a:spAutoFit/>
          </a:bodyPr>
          <a:lstStyle/>
          <a:p>
            <a:pPr>
              <a:lnSpc>
                <a:spcPct val="90000"/>
              </a:lnSpc>
            </a:pPr>
            <a:r>
              <a:rPr kumimoji="1" lang="zh-CN" altLang="en-US" sz="1600">
                <a:latin typeface="Times New Roman" pitchFamily="18" charset="0"/>
              </a:rPr>
              <a:t>存储</a:t>
            </a:r>
          </a:p>
          <a:p>
            <a:pPr>
              <a:lnSpc>
                <a:spcPct val="90000"/>
              </a:lnSpc>
            </a:pPr>
            <a:r>
              <a:rPr kumimoji="1" lang="zh-CN" altLang="en-US" sz="1600">
                <a:latin typeface="Times New Roman" pitchFamily="18" charset="0"/>
              </a:rPr>
              <a:t>转发</a:t>
            </a:r>
          </a:p>
        </p:txBody>
      </p:sp>
      <p:sp>
        <p:nvSpPr>
          <p:cNvPr id="38065" name="Text Box 177"/>
          <p:cNvSpPr txBox="1">
            <a:spLocks noChangeArrowheads="1"/>
          </p:cNvSpPr>
          <p:nvPr/>
        </p:nvSpPr>
        <p:spPr bwMode="auto">
          <a:xfrm>
            <a:off x="7639050" y="6280150"/>
            <a:ext cx="590550" cy="533400"/>
          </a:xfrm>
          <a:prstGeom prst="rect">
            <a:avLst/>
          </a:prstGeom>
          <a:noFill/>
          <a:ln w="9525">
            <a:noFill/>
            <a:miter lim="800000"/>
            <a:headEnd/>
            <a:tailEnd/>
          </a:ln>
          <a:effectLst/>
        </p:spPr>
        <p:txBody>
          <a:bodyPr wrap="none">
            <a:spAutoFit/>
          </a:bodyPr>
          <a:lstStyle/>
          <a:p>
            <a:pPr>
              <a:lnSpc>
                <a:spcPct val="90000"/>
              </a:lnSpc>
            </a:pPr>
            <a:r>
              <a:rPr kumimoji="1" lang="zh-CN" altLang="en-US" sz="1600">
                <a:latin typeface="Times New Roman" pitchFamily="18" charset="0"/>
              </a:rPr>
              <a:t>存储</a:t>
            </a:r>
          </a:p>
          <a:p>
            <a:pPr>
              <a:lnSpc>
                <a:spcPct val="90000"/>
              </a:lnSpc>
            </a:pPr>
            <a:r>
              <a:rPr kumimoji="1" lang="zh-CN" altLang="en-US" sz="1600">
                <a:latin typeface="Times New Roman" pitchFamily="18" charset="0"/>
              </a:rPr>
              <a:t>转发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983"/>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37974"/>
                                        </p:tgtEl>
                                        <p:attrNameLst>
                                          <p:attrName>style.visibility</p:attrName>
                                        </p:attrNameLst>
                                      </p:cBhvr>
                                      <p:to>
                                        <p:strVal val="visible"/>
                                      </p:to>
                                    </p:set>
                                    <p:animEffect transition="in" filter="wipe(left)">
                                      <p:cBhvr>
                                        <p:cTn id="10" dur="500"/>
                                        <p:tgtEl>
                                          <p:spTgt spid="37974"/>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37975"/>
                                        </p:tgtEl>
                                        <p:attrNameLst>
                                          <p:attrName>style.visibility</p:attrName>
                                        </p:attrNameLst>
                                      </p:cBhvr>
                                      <p:to>
                                        <p:strVal val="visible"/>
                                      </p:to>
                                    </p:set>
                                    <p:animEffect transition="in" filter="wipe(left)">
                                      <p:cBhvr>
                                        <p:cTn id="14" dur="500"/>
                                        <p:tgtEl>
                                          <p:spTgt spid="37975"/>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7976"/>
                                        </p:tgtEl>
                                        <p:attrNameLst>
                                          <p:attrName>style.visibility</p:attrName>
                                        </p:attrNameLst>
                                      </p:cBhvr>
                                      <p:to>
                                        <p:strVal val="visible"/>
                                      </p:to>
                                    </p:set>
                                    <p:animEffect transition="in" filter="wipe(left)">
                                      <p:cBhvr>
                                        <p:cTn id="18" dur="500"/>
                                        <p:tgtEl>
                                          <p:spTgt spid="37976"/>
                                        </p:tgtEl>
                                      </p:cBhvr>
                                    </p:animEffect>
                                  </p:childTnLst>
                                </p:cTn>
                              </p:par>
                            </p:childTnLst>
                          </p:cTn>
                        </p:par>
                        <p:par>
                          <p:cTn id="19" fill="hold">
                            <p:stCondLst>
                              <p:cond delay="1500"/>
                            </p:stCondLst>
                            <p:childTnLst>
                              <p:par>
                                <p:cTn id="20" presetID="22" presetClass="entr" presetSubtype="2" fill="hold" grpId="0" nodeType="afterEffect">
                                  <p:stCondLst>
                                    <p:cond delay="0"/>
                                  </p:stCondLst>
                                  <p:childTnLst>
                                    <p:set>
                                      <p:cBhvr>
                                        <p:cTn id="21" dur="1" fill="hold">
                                          <p:stCondLst>
                                            <p:cond delay="0"/>
                                          </p:stCondLst>
                                        </p:cTn>
                                        <p:tgtEl>
                                          <p:spTgt spid="37977"/>
                                        </p:tgtEl>
                                        <p:attrNameLst>
                                          <p:attrName>style.visibility</p:attrName>
                                        </p:attrNameLst>
                                      </p:cBhvr>
                                      <p:to>
                                        <p:strVal val="visible"/>
                                      </p:to>
                                    </p:set>
                                    <p:animEffect transition="in" filter="wipe(right)">
                                      <p:cBhvr>
                                        <p:cTn id="22" dur="500"/>
                                        <p:tgtEl>
                                          <p:spTgt spid="37977"/>
                                        </p:tgtEl>
                                      </p:cBhvr>
                                    </p:animEffect>
                                  </p:childTnLst>
                                </p:cTn>
                              </p:par>
                            </p:childTnLst>
                          </p:cTn>
                        </p:par>
                        <p:par>
                          <p:cTn id="23" fill="hold">
                            <p:stCondLst>
                              <p:cond delay="2000"/>
                            </p:stCondLst>
                            <p:childTnLst>
                              <p:par>
                                <p:cTn id="24" presetID="1" presetClass="entr" presetSubtype="0" fill="hold" nodeType="afterEffect">
                                  <p:stCondLst>
                                    <p:cond delay="500"/>
                                  </p:stCondLst>
                                  <p:childTnLst>
                                    <p:set>
                                      <p:cBhvr>
                                        <p:cTn id="25" dur="1" fill="hold">
                                          <p:stCondLst>
                                            <p:cond delay="0"/>
                                          </p:stCondLst>
                                        </p:cTn>
                                        <p:tgtEl>
                                          <p:spTgt spid="37988"/>
                                        </p:tgtEl>
                                        <p:attrNameLst>
                                          <p:attrName>style.visibility</p:attrName>
                                        </p:attrNameLst>
                                      </p:cBhvr>
                                      <p:to>
                                        <p:strVal val="visible"/>
                                      </p:to>
                                    </p:set>
                                  </p:childTnLst>
                                </p:cTn>
                              </p:par>
                            </p:childTnLst>
                          </p:cTn>
                        </p:par>
                        <p:par>
                          <p:cTn id="26" fill="hold">
                            <p:stCondLst>
                              <p:cond delay="2500"/>
                            </p:stCondLst>
                            <p:childTnLst>
                              <p:par>
                                <p:cTn id="27" presetID="22" presetClass="entr" presetSubtype="8" fill="hold" nodeType="afterEffect">
                                  <p:stCondLst>
                                    <p:cond delay="0"/>
                                  </p:stCondLst>
                                  <p:childTnLst>
                                    <p:set>
                                      <p:cBhvr>
                                        <p:cTn id="28" dur="1" fill="hold">
                                          <p:stCondLst>
                                            <p:cond delay="0"/>
                                          </p:stCondLst>
                                        </p:cTn>
                                        <p:tgtEl>
                                          <p:spTgt spid="38000"/>
                                        </p:tgtEl>
                                        <p:attrNameLst>
                                          <p:attrName>style.visibility</p:attrName>
                                        </p:attrNameLst>
                                      </p:cBhvr>
                                      <p:to>
                                        <p:strVal val="visible"/>
                                      </p:to>
                                    </p:set>
                                    <p:animEffect transition="in" filter="wipe(left)">
                                      <p:cBhvr>
                                        <p:cTn id="29" dur="500"/>
                                        <p:tgtEl>
                                          <p:spTgt spid="38000"/>
                                        </p:tgtEl>
                                      </p:cBhvr>
                                    </p:animEffect>
                                  </p:childTnLst>
                                </p:cTn>
                              </p:par>
                            </p:childTnLst>
                          </p:cTn>
                        </p:par>
                        <p:par>
                          <p:cTn id="30" fill="hold">
                            <p:stCondLst>
                              <p:cond delay="3000"/>
                            </p:stCondLst>
                            <p:childTnLst>
                              <p:par>
                                <p:cTn id="31" presetID="1" presetClass="entr" presetSubtype="0" fill="hold" nodeType="afterEffect">
                                  <p:stCondLst>
                                    <p:cond delay="500"/>
                                  </p:stCondLst>
                                  <p:childTnLst>
                                    <p:set>
                                      <p:cBhvr>
                                        <p:cTn id="32" dur="1" fill="hold">
                                          <p:stCondLst>
                                            <p:cond delay="0"/>
                                          </p:stCondLst>
                                        </p:cTn>
                                        <p:tgtEl>
                                          <p:spTgt spid="38023"/>
                                        </p:tgtEl>
                                        <p:attrNameLst>
                                          <p:attrName>style.visibility</p:attrName>
                                        </p:attrNameLst>
                                      </p:cBhvr>
                                      <p:to>
                                        <p:strVal val="visible"/>
                                      </p:to>
                                    </p:set>
                                  </p:childTnLst>
                                </p:cTn>
                              </p:par>
                            </p:childTnLst>
                          </p:cTn>
                        </p:par>
                        <p:par>
                          <p:cTn id="33" fill="hold">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38020"/>
                                        </p:tgtEl>
                                        <p:attrNameLst>
                                          <p:attrName>style.visibility</p:attrName>
                                        </p:attrNameLst>
                                      </p:cBhvr>
                                      <p:to>
                                        <p:strVal val="visible"/>
                                      </p:to>
                                    </p:set>
                                    <p:animEffect transition="in" filter="wipe(left)">
                                      <p:cBhvr>
                                        <p:cTn id="36" dur="500"/>
                                        <p:tgtEl>
                                          <p:spTgt spid="38020"/>
                                        </p:tgtEl>
                                      </p:cBhvr>
                                    </p:animEffect>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38021"/>
                                        </p:tgtEl>
                                        <p:attrNameLst>
                                          <p:attrName>style.visibility</p:attrName>
                                        </p:attrNameLst>
                                      </p:cBhvr>
                                      <p:to>
                                        <p:strVal val="visible"/>
                                      </p:to>
                                    </p:set>
                                    <p:animEffect transition="in" filter="wipe(left)">
                                      <p:cBhvr>
                                        <p:cTn id="40" dur="500"/>
                                        <p:tgtEl>
                                          <p:spTgt spid="38021"/>
                                        </p:tgtEl>
                                      </p:cBhvr>
                                    </p:animEffect>
                                  </p:childTnLst>
                                </p:cTn>
                              </p:par>
                            </p:childTnLst>
                          </p:cTn>
                        </p:par>
                        <p:par>
                          <p:cTn id="41" fill="hold">
                            <p:stCondLst>
                              <p:cond delay="4500"/>
                            </p:stCondLst>
                            <p:childTnLst>
                              <p:par>
                                <p:cTn id="42" presetID="22" presetClass="entr" presetSubtype="8" fill="hold" grpId="0" nodeType="afterEffect">
                                  <p:stCondLst>
                                    <p:cond delay="0"/>
                                  </p:stCondLst>
                                  <p:childTnLst>
                                    <p:set>
                                      <p:cBhvr>
                                        <p:cTn id="43" dur="1" fill="hold">
                                          <p:stCondLst>
                                            <p:cond delay="0"/>
                                          </p:stCondLst>
                                        </p:cTn>
                                        <p:tgtEl>
                                          <p:spTgt spid="38022"/>
                                        </p:tgtEl>
                                        <p:attrNameLst>
                                          <p:attrName>style.visibility</p:attrName>
                                        </p:attrNameLst>
                                      </p:cBhvr>
                                      <p:to>
                                        <p:strVal val="visible"/>
                                      </p:to>
                                    </p:set>
                                    <p:animEffect transition="in" filter="wipe(left)">
                                      <p:cBhvr>
                                        <p:cTn id="44" dur="500"/>
                                        <p:tgtEl>
                                          <p:spTgt spid="3802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7978"/>
                                        </p:tgtEl>
                                        <p:attrNameLst>
                                          <p:attrName>style.visibility</p:attrName>
                                        </p:attrNameLst>
                                      </p:cBhvr>
                                      <p:to>
                                        <p:strVal val="visible"/>
                                      </p:to>
                                    </p:set>
                                  </p:childTnLst>
                                </p:cTn>
                              </p:par>
                            </p:childTnLst>
                          </p:cTn>
                        </p:par>
                        <p:par>
                          <p:cTn id="49" fill="hold">
                            <p:stCondLst>
                              <p:cond delay="0"/>
                            </p:stCondLst>
                            <p:childTnLst>
                              <p:par>
                                <p:cTn id="50" presetID="22" presetClass="entr" presetSubtype="8" fill="hold" nodeType="afterEffect">
                                  <p:stCondLst>
                                    <p:cond delay="0"/>
                                  </p:stCondLst>
                                  <p:childTnLst>
                                    <p:set>
                                      <p:cBhvr>
                                        <p:cTn id="51" dur="1" fill="hold">
                                          <p:stCondLst>
                                            <p:cond delay="0"/>
                                          </p:stCondLst>
                                        </p:cTn>
                                        <p:tgtEl>
                                          <p:spTgt spid="37963"/>
                                        </p:tgtEl>
                                        <p:attrNameLst>
                                          <p:attrName>style.visibility</p:attrName>
                                        </p:attrNameLst>
                                      </p:cBhvr>
                                      <p:to>
                                        <p:strVal val="visible"/>
                                      </p:to>
                                    </p:set>
                                    <p:animEffect transition="in" filter="wipe(left)">
                                      <p:cBhvr>
                                        <p:cTn id="52" dur="2000"/>
                                        <p:tgtEl>
                                          <p:spTgt spid="37963"/>
                                        </p:tgtEl>
                                      </p:cBhvr>
                                    </p:animEffect>
                                  </p:childTnLst>
                                </p:cTn>
                              </p:par>
                            </p:childTnLst>
                          </p:cTn>
                        </p:par>
                        <p:par>
                          <p:cTn id="53" fill="hold">
                            <p:stCondLst>
                              <p:cond delay="2000"/>
                            </p:stCondLst>
                            <p:childTnLst>
                              <p:par>
                                <p:cTn id="54" presetID="22" presetClass="entr" presetSubtype="8" fill="hold" nodeType="afterEffect">
                                  <p:stCondLst>
                                    <p:cond delay="1000"/>
                                  </p:stCondLst>
                                  <p:childTnLst>
                                    <p:set>
                                      <p:cBhvr>
                                        <p:cTn id="55" dur="1" fill="hold">
                                          <p:stCondLst>
                                            <p:cond delay="0"/>
                                          </p:stCondLst>
                                        </p:cTn>
                                        <p:tgtEl>
                                          <p:spTgt spid="37951"/>
                                        </p:tgtEl>
                                        <p:attrNameLst>
                                          <p:attrName>style.visibility</p:attrName>
                                        </p:attrNameLst>
                                      </p:cBhvr>
                                      <p:to>
                                        <p:strVal val="visible"/>
                                      </p:to>
                                    </p:set>
                                    <p:animEffect transition="in" filter="wipe(left)">
                                      <p:cBhvr>
                                        <p:cTn id="56" dur="2000"/>
                                        <p:tgtEl>
                                          <p:spTgt spid="37951"/>
                                        </p:tgtEl>
                                      </p:cBhvr>
                                    </p:animEffect>
                                  </p:childTnLst>
                                </p:cTn>
                              </p:par>
                            </p:childTnLst>
                          </p:cTn>
                        </p:par>
                        <p:par>
                          <p:cTn id="57" fill="hold">
                            <p:stCondLst>
                              <p:cond delay="5000"/>
                            </p:stCondLst>
                            <p:childTnLst>
                              <p:par>
                                <p:cTn id="58" presetID="22" presetClass="entr" presetSubtype="8" fill="hold" nodeType="afterEffect">
                                  <p:stCondLst>
                                    <p:cond delay="1000"/>
                                  </p:stCondLst>
                                  <p:childTnLst>
                                    <p:set>
                                      <p:cBhvr>
                                        <p:cTn id="59" dur="1" fill="hold">
                                          <p:stCondLst>
                                            <p:cond delay="0"/>
                                          </p:stCondLst>
                                        </p:cTn>
                                        <p:tgtEl>
                                          <p:spTgt spid="37957"/>
                                        </p:tgtEl>
                                        <p:attrNameLst>
                                          <p:attrName>style.visibility</p:attrName>
                                        </p:attrNameLst>
                                      </p:cBhvr>
                                      <p:to>
                                        <p:strVal val="visible"/>
                                      </p:to>
                                    </p:set>
                                    <p:animEffect transition="in" filter="wipe(left)">
                                      <p:cBhvr>
                                        <p:cTn id="60" dur="2000"/>
                                        <p:tgtEl>
                                          <p:spTgt spid="37957"/>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7980"/>
                                        </p:tgtEl>
                                        <p:attrNameLst>
                                          <p:attrName>style.visibility</p:attrName>
                                        </p:attrNameLst>
                                      </p:cBhvr>
                                      <p:to>
                                        <p:strVal val="visible"/>
                                      </p:to>
                                    </p:set>
                                  </p:childTnLst>
                                </p:cTn>
                              </p:par>
                            </p:childTnLst>
                          </p:cTn>
                        </p:par>
                        <p:par>
                          <p:cTn id="65" fill="hold">
                            <p:stCondLst>
                              <p:cond delay="0"/>
                            </p:stCondLst>
                            <p:childTnLst>
                              <p:par>
                                <p:cTn id="66" presetID="22" presetClass="entr" presetSubtype="8" fill="hold" nodeType="afterEffect">
                                  <p:stCondLst>
                                    <p:cond delay="0"/>
                                  </p:stCondLst>
                                  <p:childTnLst>
                                    <p:set>
                                      <p:cBhvr>
                                        <p:cTn id="67" dur="1" fill="hold">
                                          <p:stCondLst>
                                            <p:cond delay="0"/>
                                          </p:stCondLst>
                                        </p:cTn>
                                        <p:tgtEl>
                                          <p:spTgt spid="38013"/>
                                        </p:tgtEl>
                                        <p:attrNameLst>
                                          <p:attrName>style.visibility</p:attrName>
                                        </p:attrNameLst>
                                      </p:cBhvr>
                                      <p:to>
                                        <p:strVal val="visible"/>
                                      </p:to>
                                    </p:set>
                                    <p:animEffect transition="in" filter="wipe(left)">
                                      <p:cBhvr>
                                        <p:cTn id="68" dur="500"/>
                                        <p:tgtEl>
                                          <p:spTgt spid="38013"/>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38007"/>
                                        </p:tgtEl>
                                        <p:attrNameLst>
                                          <p:attrName>style.visibility</p:attrName>
                                        </p:attrNameLst>
                                      </p:cBhvr>
                                      <p:to>
                                        <p:strVal val="visible"/>
                                      </p:to>
                                    </p:set>
                                    <p:animEffect transition="in" filter="wipe(left)">
                                      <p:cBhvr>
                                        <p:cTn id="72" dur="500"/>
                                        <p:tgtEl>
                                          <p:spTgt spid="38007"/>
                                        </p:tgtEl>
                                      </p:cBhvr>
                                    </p:animEffect>
                                  </p:childTnLst>
                                </p:cTn>
                              </p:par>
                              <p:par>
                                <p:cTn id="73" presetID="22" presetClass="entr" presetSubtype="8" fill="hold" nodeType="withEffect">
                                  <p:stCondLst>
                                    <p:cond delay="0"/>
                                  </p:stCondLst>
                                  <p:childTnLst>
                                    <p:set>
                                      <p:cBhvr>
                                        <p:cTn id="74" dur="1" fill="hold">
                                          <p:stCondLst>
                                            <p:cond delay="0"/>
                                          </p:stCondLst>
                                        </p:cTn>
                                        <p:tgtEl>
                                          <p:spTgt spid="37891"/>
                                        </p:tgtEl>
                                        <p:attrNameLst>
                                          <p:attrName>style.visibility</p:attrName>
                                        </p:attrNameLst>
                                      </p:cBhvr>
                                      <p:to>
                                        <p:strVal val="visible"/>
                                      </p:to>
                                    </p:set>
                                    <p:animEffect transition="in" filter="wipe(left)">
                                      <p:cBhvr>
                                        <p:cTn id="75" dur="500"/>
                                        <p:tgtEl>
                                          <p:spTgt spid="37891"/>
                                        </p:tgtEl>
                                      </p:cBhvr>
                                    </p:animEffect>
                                  </p:childTnLst>
                                </p:cTn>
                              </p:par>
                            </p:childTnLst>
                          </p:cTn>
                        </p:par>
                        <p:par>
                          <p:cTn id="76" fill="hold">
                            <p:stCondLst>
                              <p:cond delay="1000"/>
                            </p:stCondLst>
                            <p:childTnLst>
                              <p:par>
                                <p:cTn id="77" presetID="22" presetClass="entr" presetSubtype="8" fill="hold" nodeType="afterEffect">
                                  <p:stCondLst>
                                    <p:cond delay="0"/>
                                  </p:stCondLst>
                                  <p:childTnLst>
                                    <p:set>
                                      <p:cBhvr>
                                        <p:cTn id="78" dur="1" fill="hold">
                                          <p:stCondLst>
                                            <p:cond delay="0"/>
                                          </p:stCondLst>
                                        </p:cTn>
                                        <p:tgtEl>
                                          <p:spTgt spid="37939"/>
                                        </p:tgtEl>
                                        <p:attrNameLst>
                                          <p:attrName>style.visibility</p:attrName>
                                        </p:attrNameLst>
                                      </p:cBhvr>
                                      <p:to>
                                        <p:strVal val="visible"/>
                                      </p:to>
                                    </p:set>
                                    <p:animEffect transition="in" filter="wipe(left)">
                                      <p:cBhvr>
                                        <p:cTn id="79" dur="500"/>
                                        <p:tgtEl>
                                          <p:spTgt spid="37939"/>
                                        </p:tgtEl>
                                      </p:cBhvr>
                                    </p:animEffect>
                                  </p:childTnLst>
                                </p:cTn>
                              </p:par>
                              <p:par>
                                <p:cTn id="80" presetID="22" presetClass="entr" presetSubtype="8" fill="hold" nodeType="withEffect">
                                  <p:stCondLst>
                                    <p:cond delay="0"/>
                                  </p:stCondLst>
                                  <p:childTnLst>
                                    <p:set>
                                      <p:cBhvr>
                                        <p:cTn id="81" dur="1" fill="hold">
                                          <p:stCondLst>
                                            <p:cond delay="0"/>
                                          </p:stCondLst>
                                        </p:cTn>
                                        <p:tgtEl>
                                          <p:spTgt spid="37897"/>
                                        </p:tgtEl>
                                        <p:attrNameLst>
                                          <p:attrName>style.visibility</p:attrName>
                                        </p:attrNameLst>
                                      </p:cBhvr>
                                      <p:to>
                                        <p:strVal val="visible"/>
                                      </p:to>
                                    </p:set>
                                    <p:animEffect transition="in" filter="wipe(left)">
                                      <p:cBhvr>
                                        <p:cTn id="82" dur="500"/>
                                        <p:tgtEl>
                                          <p:spTgt spid="37897"/>
                                        </p:tgtEl>
                                      </p:cBhvr>
                                    </p:animEffect>
                                  </p:childTnLst>
                                </p:cTn>
                              </p:par>
                              <p:par>
                                <p:cTn id="83" presetID="22" presetClass="entr" presetSubtype="8" fill="hold" nodeType="withEffect">
                                  <p:stCondLst>
                                    <p:cond delay="0"/>
                                  </p:stCondLst>
                                  <p:childTnLst>
                                    <p:set>
                                      <p:cBhvr>
                                        <p:cTn id="84" dur="1" fill="hold">
                                          <p:stCondLst>
                                            <p:cond delay="0"/>
                                          </p:stCondLst>
                                        </p:cTn>
                                        <p:tgtEl>
                                          <p:spTgt spid="37915"/>
                                        </p:tgtEl>
                                        <p:attrNameLst>
                                          <p:attrName>style.visibility</p:attrName>
                                        </p:attrNameLst>
                                      </p:cBhvr>
                                      <p:to>
                                        <p:strVal val="visible"/>
                                      </p:to>
                                    </p:set>
                                    <p:animEffect transition="in" filter="wipe(left)">
                                      <p:cBhvr>
                                        <p:cTn id="85" dur="500"/>
                                        <p:tgtEl>
                                          <p:spTgt spid="37915"/>
                                        </p:tgtEl>
                                      </p:cBhvr>
                                    </p:animEffect>
                                  </p:childTnLst>
                                </p:cTn>
                              </p:par>
                            </p:childTnLst>
                          </p:cTn>
                        </p:par>
                        <p:par>
                          <p:cTn id="86" fill="hold">
                            <p:stCondLst>
                              <p:cond delay="1500"/>
                            </p:stCondLst>
                            <p:childTnLst>
                              <p:par>
                                <p:cTn id="87" presetID="22" presetClass="entr" presetSubtype="8" fill="hold" nodeType="afterEffect">
                                  <p:stCondLst>
                                    <p:cond delay="0"/>
                                  </p:stCondLst>
                                  <p:childTnLst>
                                    <p:set>
                                      <p:cBhvr>
                                        <p:cTn id="88" dur="1" fill="hold">
                                          <p:stCondLst>
                                            <p:cond delay="0"/>
                                          </p:stCondLst>
                                        </p:cTn>
                                        <p:tgtEl>
                                          <p:spTgt spid="37921"/>
                                        </p:tgtEl>
                                        <p:attrNameLst>
                                          <p:attrName>style.visibility</p:attrName>
                                        </p:attrNameLst>
                                      </p:cBhvr>
                                      <p:to>
                                        <p:strVal val="visible"/>
                                      </p:to>
                                    </p:set>
                                    <p:animEffect transition="in" filter="wipe(left)">
                                      <p:cBhvr>
                                        <p:cTn id="89" dur="500"/>
                                        <p:tgtEl>
                                          <p:spTgt spid="37921"/>
                                        </p:tgtEl>
                                      </p:cBhvr>
                                    </p:animEffect>
                                  </p:childTnLst>
                                </p:cTn>
                              </p:par>
                              <p:par>
                                <p:cTn id="90" presetID="22" presetClass="entr" presetSubtype="8" fill="hold" nodeType="withEffect">
                                  <p:stCondLst>
                                    <p:cond delay="0"/>
                                  </p:stCondLst>
                                  <p:childTnLst>
                                    <p:set>
                                      <p:cBhvr>
                                        <p:cTn id="91" dur="1" fill="hold">
                                          <p:stCondLst>
                                            <p:cond delay="0"/>
                                          </p:stCondLst>
                                        </p:cTn>
                                        <p:tgtEl>
                                          <p:spTgt spid="37903"/>
                                        </p:tgtEl>
                                        <p:attrNameLst>
                                          <p:attrName>style.visibility</p:attrName>
                                        </p:attrNameLst>
                                      </p:cBhvr>
                                      <p:to>
                                        <p:strVal val="visible"/>
                                      </p:to>
                                    </p:set>
                                    <p:animEffect transition="in" filter="wipe(left)">
                                      <p:cBhvr>
                                        <p:cTn id="92" dur="500"/>
                                        <p:tgtEl>
                                          <p:spTgt spid="37903"/>
                                        </p:tgtEl>
                                      </p:cBhvr>
                                    </p:animEffect>
                                  </p:childTnLst>
                                </p:cTn>
                              </p:par>
                              <p:par>
                                <p:cTn id="93" presetID="22" presetClass="entr" presetSubtype="8" fill="hold" nodeType="withEffect">
                                  <p:stCondLst>
                                    <p:cond delay="0"/>
                                  </p:stCondLst>
                                  <p:childTnLst>
                                    <p:set>
                                      <p:cBhvr>
                                        <p:cTn id="94" dur="1" fill="hold">
                                          <p:stCondLst>
                                            <p:cond delay="0"/>
                                          </p:stCondLst>
                                        </p:cTn>
                                        <p:tgtEl>
                                          <p:spTgt spid="37945"/>
                                        </p:tgtEl>
                                        <p:attrNameLst>
                                          <p:attrName>style.visibility</p:attrName>
                                        </p:attrNameLst>
                                      </p:cBhvr>
                                      <p:to>
                                        <p:strVal val="visible"/>
                                      </p:to>
                                    </p:set>
                                    <p:animEffect transition="in" filter="wipe(left)">
                                      <p:cBhvr>
                                        <p:cTn id="95" dur="500"/>
                                        <p:tgtEl>
                                          <p:spTgt spid="37945"/>
                                        </p:tgtEl>
                                      </p:cBhvr>
                                    </p:animEffect>
                                  </p:childTnLst>
                                </p:cTn>
                              </p:par>
                            </p:childTnLst>
                          </p:cTn>
                        </p:par>
                        <p:par>
                          <p:cTn id="96" fill="hold">
                            <p:stCondLst>
                              <p:cond delay="2000"/>
                            </p:stCondLst>
                            <p:childTnLst>
                              <p:par>
                                <p:cTn id="97" presetID="22" presetClass="entr" presetSubtype="8" fill="hold" nodeType="afterEffect">
                                  <p:stCondLst>
                                    <p:cond delay="0"/>
                                  </p:stCondLst>
                                  <p:childTnLst>
                                    <p:set>
                                      <p:cBhvr>
                                        <p:cTn id="98" dur="1" fill="hold">
                                          <p:stCondLst>
                                            <p:cond delay="0"/>
                                          </p:stCondLst>
                                        </p:cTn>
                                        <p:tgtEl>
                                          <p:spTgt spid="37909"/>
                                        </p:tgtEl>
                                        <p:attrNameLst>
                                          <p:attrName>style.visibility</p:attrName>
                                        </p:attrNameLst>
                                      </p:cBhvr>
                                      <p:to>
                                        <p:strVal val="visible"/>
                                      </p:to>
                                    </p:set>
                                    <p:animEffect transition="in" filter="wipe(left)">
                                      <p:cBhvr>
                                        <p:cTn id="99" dur="500"/>
                                        <p:tgtEl>
                                          <p:spTgt spid="37909"/>
                                        </p:tgtEl>
                                      </p:cBhvr>
                                    </p:animEffect>
                                  </p:childTnLst>
                                </p:cTn>
                              </p:par>
                              <p:par>
                                <p:cTn id="100" presetID="22" presetClass="entr" presetSubtype="8" fill="hold" nodeType="withEffect">
                                  <p:stCondLst>
                                    <p:cond delay="0"/>
                                  </p:stCondLst>
                                  <p:childTnLst>
                                    <p:set>
                                      <p:cBhvr>
                                        <p:cTn id="101" dur="1" fill="hold">
                                          <p:stCondLst>
                                            <p:cond delay="0"/>
                                          </p:stCondLst>
                                        </p:cTn>
                                        <p:tgtEl>
                                          <p:spTgt spid="37927"/>
                                        </p:tgtEl>
                                        <p:attrNameLst>
                                          <p:attrName>style.visibility</p:attrName>
                                        </p:attrNameLst>
                                      </p:cBhvr>
                                      <p:to>
                                        <p:strVal val="visible"/>
                                      </p:to>
                                    </p:set>
                                    <p:animEffect transition="in" filter="wipe(left)">
                                      <p:cBhvr>
                                        <p:cTn id="102" dur="500"/>
                                        <p:tgtEl>
                                          <p:spTgt spid="37927"/>
                                        </p:tgtEl>
                                      </p:cBhvr>
                                    </p:animEffect>
                                  </p:childTnLst>
                                </p:cTn>
                              </p:par>
                            </p:childTnLst>
                          </p:cTn>
                        </p:par>
                        <p:par>
                          <p:cTn id="103" fill="hold">
                            <p:stCondLst>
                              <p:cond delay="2500"/>
                            </p:stCondLst>
                            <p:childTnLst>
                              <p:par>
                                <p:cTn id="104" presetID="22" presetClass="entr" presetSubtype="8" fill="hold" nodeType="afterEffect">
                                  <p:stCondLst>
                                    <p:cond delay="0"/>
                                  </p:stCondLst>
                                  <p:childTnLst>
                                    <p:set>
                                      <p:cBhvr>
                                        <p:cTn id="105" dur="1" fill="hold">
                                          <p:stCondLst>
                                            <p:cond delay="0"/>
                                          </p:stCondLst>
                                        </p:cTn>
                                        <p:tgtEl>
                                          <p:spTgt spid="37933"/>
                                        </p:tgtEl>
                                        <p:attrNameLst>
                                          <p:attrName>style.visibility</p:attrName>
                                        </p:attrNameLst>
                                      </p:cBhvr>
                                      <p:to>
                                        <p:strVal val="visible"/>
                                      </p:to>
                                    </p:set>
                                    <p:animEffect transition="in" filter="wipe(left)">
                                      <p:cBhvr>
                                        <p:cTn id="106" dur="500"/>
                                        <p:tgtEl>
                                          <p:spTgt spid="37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74" grpId="0" animBg="1"/>
      <p:bldP spid="37975" grpId="0" animBg="1"/>
      <p:bldP spid="37976" grpId="0" animBg="1"/>
      <p:bldP spid="37977" grpId="0" animBg="1"/>
      <p:bldP spid="37978" grpId="0"/>
      <p:bldP spid="37980" grpId="0"/>
      <p:bldP spid="38020" grpId="0" animBg="1"/>
      <p:bldP spid="38021" grpId="0" animBg="1"/>
      <p:bldP spid="3802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zh-CN" sz="4000"/>
              <a:t>ARPANET</a:t>
            </a:r>
            <a:r>
              <a:rPr lang="zh-CN" altLang="en-US" sz="4000"/>
              <a:t>的成功使</a:t>
            </a:r>
            <a:br>
              <a:rPr lang="zh-CN" altLang="en-US" sz="4000"/>
            </a:br>
            <a:r>
              <a:rPr lang="zh-CN" altLang="en-US" sz="4000"/>
              <a:t>计算机网络的概念发生根本变化 </a:t>
            </a:r>
          </a:p>
        </p:txBody>
      </p:sp>
      <p:sp>
        <p:nvSpPr>
          <p:cNvPr id="40963" name="Rectangle 3"/>
          <p:cNvSpPr>
            <a:spLocks noGrp="1" noChangeArrowheads="1"/>
          </p:cNvSpPr>
          <p:nvPr>
            <p:ph type="body" idx="1"/>
          </p:nvPr>
        </p:nvSpPr>
        <p:spPr>
          <a:xfrm>
            <a:off x="1042988" y="1978025"/>
            <a:ext cx="7772400" cy="4114800"/>
          </a:xfrm>
        </p:spPr>
        <p:txBody>
          <a:bodyPr/>
          <a:lstStyle/>
          <a:p>
            <a:r>
              <a:rPr lang="zh-CN" altLang="en-US"/>
              <a:t>早期的面向终端的计算机网络是以</a:t>
            </a:r>
            <a:r>
              <a:rPr lang="zh-CN" altLang="en-US">
                <a:solidFill>
                  <a:schemeClr val="hlink"/>
                </a:solidFill>
              </a:rPr>
              <a:t>单个主机为中心</a:t>
            </a:r>
            <a:r>
              <a:rPr lang="zh-CN" altLang="en-US"/>
              <a:t>的星形网</a:t>
            </a:r>
          </a:p>
          <a:p>
            <a:pPr lvl="1"/>
            <a:r>
              <a:rPr lang="zh-CN" altLang="en-US">
                <a:solidFill>
                  <a:srgbClr val="333399"/>
                </a:solidFill>
                <a:ea typeface="黑体" pitchFamily="49" charset="-122"/>
              </a:rPr>
              <a:t>各终端通过通信线路共享昂贵的中心主机的硬件和软件资源。</a:t>
            </a:r>
            <a:r>
              <a:rPr lang="zh-CN" altLang="en-US"/>
              <a:t> </a:t>
            </a:r>
          </a:p>
          <a:p>
            <a:r>
              <a:rPr lang="zh-CN" altLang="en-US"/>
              <a:t>分组交换网则是以</a:t>
            </a:r>
            <a:r>
              <a:rPr lang="zh-CN" altLang="en-US">
                <a:solidFill>
                  <a:schemeClr val="hlink"/>
                </a:solidFill>
              </a:rPr>
              <a:t>网络为中心</a:t>
            </a:r>
            <a:r>
              <a:rPr lang="zh-CN" altLang="en-US"/>
              <a:t>，主机都处在网络的外围。</a:t>
            </a:r>
          </a:p>
          <a:p>
            <a:pPr lvl="1"/>
            <a:r>
              <a:rPr lang="zh-CN" altLang="en-US">
                <a:solidFill>
                  <a:srgbClr val="333399"/>
                </a:solidFill>
                <a:ea typeface="黑体" pitchFamily="49" charset="-122"/>
              </a:rPr>
              <a:t>用户通过分组交换网可共享连接在网络上的许多硬件和各种丰富的软件资源。</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96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9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zh-CN" altLang="en-US"/>
              <a:t>从主机为中心到以网络为中心</a:t>
            </a:r>
          </a:p>
        </p:txBody>
      </p:sp>
      <p:grpSp>
        <p:nvGrpSpPr>
          <p:cNvPr id="41987" name="Group 3"/>
          <p:cNvGrpSpPr>
            <a:grpSpLocks/>
          </p:cNvGrpSpPr>
          <p:nvPr/>
        </p:nvGrpSpPr>
        <p:grpSpPr bwMode="auto">
          <a:xfrm>
            <a:off x="323850" y="2997200"/>
            <a:ext cx="3771900" cy="2762250"/>
            <a:chOff x="204" y="1888"/>
            <a:chExt cx="2376" cy="1740"/>
          </a:xfrm>
        </p:grpSpPr>
        <p:sp>
          <p:nvSpPr>
            <p:cNvPr id="41988" name="Freeform 4"/>
            <p:cNvSpPr>
              <a:spLocks/>
            </p:cNvSpPr>
            <p:nvPr/>
          </p:nvSpPr>
          <p:spPr bwMode="auto">
            <a:xfrm rot="-2333506">
              <a:off x="1490" y="2271"/>
              <a:ext cx="737" cy="61"/>
            </a:xfrm>
            <a:custGeom>
              <a:avLst/>
              <a:gdLst/>
              <a:ahLst/>
              <a:cxnLst>
                <a:cxn ang="0">
                  <a:pos x="0" y="0"/>
                </a:cxn>
                <a:cxn ang="0">
                  <a:pos x="743" y="0"/>
                </a:cxn>
                <a:cxn ang="0">
                  <a:pos x="663" y="44"/>
                </a:cxn>
                <a:cxn ang="0">
                  <a:pos x="1449" y="44"/>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ffectLst/>
          </p:spPr>
          <p:txBody>
            <a:bodyPr/>
            <a:lstStyle/>
            <a:p>
              <a:endParaRPr lang="zh-CN" altLang="en-US"/>
            </a:p>
          </p:txBody>
        </p:sp>
        <p:sp>
          <p:nvSpPr>
            <p:cNvPr id="41989" name="Freeform 5"/>
            <p:cNvSpPr>
              <a:spLocks/>
            </p:cNvSpPr>
            <p:nvPr/>
          </p:nvSpPr>
          <p:spPr bwMode="auto">
            <a:xfrm rot="2229264">
              <a:off x="717" y="2322"/>
              <a:ext cx="737" cy="61"/>
            </a:xfrm>
            <a:custGeom>
              <a:avLst/>
              <a:gdLst/>
              <a:ahLst/>
              <a:cxnLst>
                <a:cxn ang="0">
                  <a:pos x="0" y="0"/>
                </a:cxn>
                <a:cxn ang="0">
                  <a:pos x="743" y="0"/>
                </a:cxn>
                <a:cxn ang="0">
                  <a:pos x="663" y="44"/>
                </a:cxn>
                <a:cxn ang="0">
                  <a:pos x="1449" y="44"/>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ffectLst/>
          </p:spPr>
          <p:txBody>
            <a:bodyPr/>
            <a:lstStyle/>
            <a:p>
              <a:endParaRPr lang="zh-CN" altLang="en-US"/>
            </a:p>
          </p:txBody>
        </p:sp>
        <p:sp>
          <p:nvSpPr>
            <p:cNvPr id="41990" name="Freeform 6"/>
            <p:cNvSpPr>
              <a:spLocks/>
            </p:cNvSpPr>
            <p:nvPr/>
          </p:nvSpPr>
          <p:spPr bwMode="auto">
            <a:xfrm rot="2387191">
              <a:off x="1380" y="3248"/>
              <a:ext cx="737" cy="61"/>
            </a:xfrm>
            <a:custGeom>
              <a:avLst/>
              <a:gdLst/>
              <a:ahLst/>
              <a:cxnLst>
                <a:cxn ang="0">
                  <a:pos x="0" y="0"/>
                </a:cxn>
                <a:cxn ang="0">
                  <a:pos x="743" y="0"/>
                </a:cxn>
                <a:cxn ang="0">
                  <a:pos x="663" y="44"/>
                </a:cxn>
                <a:cxn ang="0">
                  <a:pos x="1449" y="44"/>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ffectLst/>
          </p:spPr>
          <p:txBody>
            <a:bodyPr/>
            <a:lstStyle/>
            <a:p>
              <a:endParaRPr lang="zh-CN" altLang="en-US"/>
            </a:p>
          </p:txBody>
        </p:sp>
        <p:sp>
          <p:nvSpPr>
            <p:cNvPr id="41991" name="Freeform 7"/>
            <p:cNvSpPr>
              <a:spLocks/>
            </p:cNvSpPr>
            <p:nvPr/>
          </p:nvSpPr>
          <p:spPr bwMode="auto">
            <a:xfrm rot="-2521975">
              <a:off x="717" y="3248"/>
              <a:ext cx="737" cy="61"/>
            </a:xfrm>
            <a:custGeom>
              <a:avLst/>
              <a:gdLst/>
              <a:ahLst/>
              <a:cxnLst>
                <a:cxn ang="0">
                  <a:pos x="0" y="0"/>
                </a:cxn>
                <a:cxn ang="0">
                  <a:pos x="743" y="0"/>
                </a:cxn>
                <a:cxn ang="0">
                  <a:pos x="663" y="44"/>
                </a:cxn>
                <a:cxn ang="0">
                  <a:pos x="1449" y="44"/>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ffectLst/>
          </p:spPr>
          <p:txBody>
            <a:bodyPr/>
            <a:lstStyle/>
            <a:p>
              <a:endParaRPr lang="zh-CN" altLang="en-US"/>
            </a:p>
          </p:txBody>
        </p:sp>
        <p:sp>
          <p:nvSpPr>
            <p:cNvPr id="41992" name="Freeform 8"/>
            <p:cNvSpPr>
              <a:spLocks/>
            </p:cNvSpPr>
            <p:nvPr/>
          </p:nvSpPr>
          <p:spPr bwMode="auto">
            <a:xfrm>
              <a:off x="515" y="2943"/>
              <a:ext cx="737" cy="61"/>
            </a:xfrm>
            <a:custGeom>
              <a:avLst/>
              <a:gdLst/>
              <a:ahLst/>
              <a:cxnLst>
                <a:cxn ang="0">
                  <a:pos x="0" y="0"/>
                </a:cxn>
                <a:cxn ang="0">
                  <a:pos x="743" y="0"/>
                </a:cxn>
                <a:cxn ang="0">
                  <a:pos x="663" y="44"/>
                </a:cxn>
                <a:cxn ang="0">
                  <a:pos x="1449" y="44"/>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ffectLst/>
          </p:spPr>
          <p:txBody>
            <a:bodyPr/>
            <a:lstStyle/>
            <a:p>
              <a:endParaRPr lang="zh-CN" altLang="en-US"/>
            </a:p>
          </p:txBody>
        </p:sp>
        <p:sp>
          <p:nvSpPr>
            <p:cNvPr id="41993" name="Freeform 9"/>
            <p:cNvSpPr>
              <a:spLocks/>
            </p:cNvSpPr>
            <p:nvPr/>
          </p:nvSpPr>
          <p:spPr bwMode="auto">
            <a:xfrm>
              <a:off x="1674" y="2749"/>
              <a:ext cx="737" cy="61"/>
            </a:xfrm>
            <a:custGeom>
              <a:avLst/>
              <a:gdLst/>
              <a:ahLst/>
              <a:cxnLst>
                <a:cxn ang="0">
                  <a:pos x="0" y="0"/>
                </a:cxn>
                <a:cxn ang="0">
                  <a:pos x="743" y="0"/>
                </a:cxn>
                <a:cxn ang="0">
                  <a:pos x="663" y="44"/>
                </a:cxn>
                <a:cxn ang="0">
                  <a:pos x="1449" y="44"/>
                </a:cxn>
              </a:cxnLst>
              <a:rect l="0" t="0" r="r" b="b"/>
              <a:pathLst>
                <a:path w="1450" h="45">
                  <a:moveTo>
                    <a:pt x="0" y="0"/>
                  </a:moveTo>
                  <a:lnTo>
                    <a:pt x="743" y="0"/>
                  </a:lnTo>
                  <a:lnTo>
                    <a:pt x="663" y="44"/>
                  </a:lnTo>
                  <a:lnTo>
                    <a:pt x="1449" y="44"/>
                  </a:lnTo>
                </a:path>
              </a:pathLst>
            </a:custGeom>
            <a:noFill/>
            <a:ln w="28575" cap="rnd" cmpd="sng">
              <a:solidFill>
                <a:srgbClr val="333399"/>
              </a:solidFill>
              <a:prstDash val="solid"/>
              <a:round/>
              <a:headEnd type="none" w="sm" len="sm"/>
              <a:tailEnd type="none" w="sm" len="sm"/>
            </a:ln>
            <a:effectLst/>
          </p:spPr>
          <p:txBody>
            <a:bodyPr/>
            <a:lstStyle/>
            <a:p>
              <a:endParaRPr lang="zh-CN" altLang="en-US"/>
            </a:p>
          </p:txBody>
        </p:sp>
        <p:pic>
          <p:nvPicPr>
            <p:cNvPr id="41994" name="Picture 10"/>
            <p:cNvPicPr>
              <a:picLocks noChangeArrowheads="1"/>
            </p:cNvPicPr>
            <p:nvPr/>
          </p:nvPicPr>
          <p:blipFill>
            <a:blip r:embed="rId3"/>
            <a:srcRect/>
            <a:stretch>
              <a:fillRect/>
            </a:stretch>
          </p:blipFill>
          <p:spPr bwMode="auto">
            <a:xfrm>
              <a:off x="1157" y="2440"/>
              <a:ext cx="654" cy="676"/>
            </a:xfrm>
            <a:prstGeom prst="rect">
              <a:avLst/>
            </a:prstGeom>
            <a:noFill/>
            <a:ln w="12699">
              <a:noFill/>
              <a:miter lim="800000"/>
              <a:headEnd/>
              <a:tailEnd/>
            </a:ln>
            <a:effectLst/>
          </p:spPr>
        </p:pic>
        <p:pic>
          <p:nvPicPr>
            <p:cNvPr id="41995" name="Picture 11"/>
            <p:cNvPicPr>
              <a:picLocks noChangeArrowheads="1"/>
            </p:cNvPicPr>
            <p:nvPr/>
          </p:nvPicPr>
          <p:blipFill>
            <a:blip r:embed="rId4"/>
            <a:srcRect/>
            <a:stretch>
              <a:fillRect/>
            </a:stretch>
          </p:blipFill>
          <p:spPr bwMode="auto">
            <a:xfrm>
              <a:off x="662" y="1904"/>
              <a:ext cx="262" cy="278"/>
            </a:xfrm>
            <a:prstGeom prst="rect">
              <a:avLst/>
            </a:prstGeom>
            <a:noFill/>
            <a:ln w="12699">
              <a:noFill/>
              <a:miter lim="800000"/>
              <a:headEnd/>
              <a:tailEnd/>
            </a:ln>
            <a:effectLst/>
          </p:spPr>
        </p:pic>
        <p:pic>
          <p:nvPicPr>
            <p:cNvPr id="41996" name="Picture 12"/>
            <p:cNvPicPr>
              <a:picLocks noChangeArrowheads="1"/>
            </p:cNvPicPr>
            <p:nvPr/>
          </p:nvPicPr>
          <p:blipFill>
            <a:blip r:embed="rId4"/>
            <a:srcRect/>
            <a:stretch>
              <a:fillRect/>
            </a:stretch>
          </p:blipFill>
          <p:spPr bwMode="auto">
            <a:xfrm>
              <a:off x="340" y="2739"/>
              <a:ext cx="262" cy="277"/>
            </a:xfrm>
            <a:prstGeom prst="rect">
              <a:avLst/>
            </a:prstGeom>
            <a:noFill/>
            <a:ln w="12699">
              <a:noFill/>
              <a:miter lim="800000"/>
              <a:headEnd/>
              <a:tailEnd/>
            </a:ln>
            <a:effectLst/>
          </p:spPr>
        </p:pic>
        <p:pic>
          <p:nvPicPr>
            <p:cNvPr id="41997" name="Picture 13"/>
            <p:cNvPicPr>
              <a:picLocks noChangeArrowheads="1"/>
            </p:cNvPicPr>
            <p:nvPr/>
          </p:nvPicPr>
          <p:blipFill>
            <a:blip r:embed="rId4"/>
            <a:srcRect/>
            <a:stretch>
              <a:fillRect/>
            </a:stretch>
          </p:blipFill>
          <p:spPr bwMode="auto">
            <a:xfrm>
              <a:off x="607" y="3309"/>
              <a:ext cx="262" cy="277"/>
            </a:xfrm>
            <a:prstGeom prst="rect">
              <a:avLst/>
            </a:prstGeom>
            <a:noFill/>
            <a:ln w="12699">
              <a:noFill/>
              <a:miter lim="800000"/>
              <a:headEnd/>
              <a:tailEnd/>
            </a:ln>
            <a:effectLst/>
          </p:spPr>
        </p:pic>
        <p:pic>
          <p:nvPicPr>
            <p:cNvPr id="41998" name="Picture 14"/>
            <p:cNvPicPr>
              <a:picLocks noChangeArrowheads="1"/>
            </p:cNvPicPr>
            <p:nvPr/>
          </p:nvPicPr>
          <p:blipFill>
            <a:blip r:embed="rId4"/>
            <a:srcRect/>
            <a:stretch>
              <a:fillRect/>
            </a:stretch>
          </p:blipFill>
          <p:spPr bwMode="auto">
            <a:xfrm>
              <a:off x="1877" y="3351"/>
              <a:ext cx="262" cy="277"/>
            </a:xfrm>
            <a:prstGeom prst="rect">
              <a:avLst/>
            </a:prstGeom>
            <a:noFill/>
            <a:ln w="12699">
              <a:noFill/>
              <a:miter lim="800000"/>
              <a:headEnd/>
              <a:tailEnd/>
            </a:ln>
            <a:effectLst/>
          </p:spPr>
        </p:pic>
        <p:pic>
          <p:nvPicPr>
            <p:cNvPr id="41999" name="Picture 15"/>
            <p:cNvPicPr>
              <a:picLocks noChangeArrowheads="1"/>
            </p:cNvPicPr>
            <p:nvPr/>
          </p:nvPicPr>
          <p:blipFill>
            <a:blip r:embed="rId4"/>
            <a:srcRect/>
            <a:stretch>
              <a:fillRect/>
            </a:stretch>
          </p:blipFill>
          <p:spPr bwMode="auto">
            <a:xfrm>
              <a:off x="2318" y="2576"/>
              <a:ext cx="262" cy="278"/>
            </a:xfrm>
            <a:prstGeom prst="rect">
              <a:avLst/>
            </a:prstGeom>
            <a:noFill/>
            <a:ln w="12699">
              <a:noFill/>
              <a:miter lim="800000"/>
              <a:headEnd/>
              <a:tailEnd/>
            </a:ln>
            <a:effectLst/>
          </p:spPr>
        </p:pic>
        <p:pic>
          <p:nvPicPr>
            <p:cNvPr id="42000" name="Picture 16"/>
            <p:cNvPicPr>
              <a:picLocks noChangeArrowheads="1"/>
            </p:cNvPicPr>
            <p:nvPr/>
          </p:nvPicPr>
          <p:blipFill>
            <a:blip r:embed="rId4"/>
            <a:srcRect/>
            <a:stretch>
              <a:fillRect/>
            </a:stretch>
          </p:blipFill>
          <p:spPr bwMode="auto">
            <a:xfrm>
              <a:off x="1932" y="1904"/>
              <a:ext cx="262" cy="278"/>
            </a:xfrm>
            <a:prstGeom prst="rect">
              <a:avLst/>
            </a:prstGeom>
            <a:noFill/>
            <a:ln w="12699">
              <a:noFill/>
              <a:miter lim="800000"/>
              <a:headEnd/>
              <a:tailEnd/>
            </a:ln>
            <a:effectLst/>
          </p:spPr>
        </p:pic>
        <p:sp>
          <p:nvSpPr>
            <p:cNvPr id="42001" name="Text Box 17"/>
            <p:cNvSpPr txBox="1">
              <a:spLocks noChangeArrowheads="1"/>
            </p:cNvSpPr>
            <p:nvPr/>
          </p:nvSpPr>
          <p:spPr bwMode="auto">
            <a:xfrm>
              <a:off x="1156" y="2160"/>
              <a:ext cx="500" cy="254"/>
            </a:xfrm>
            <a:prstGeom prst="rect">
              <a:avLst/>
            </a:prstGeom>
            <a:noFill/>
            <a:ln w="9525">
              <a:noFill/>
              <a:miter lim="800000"/>
              <a:headEnd/>
              <a:tailEnd/>
            </a:ln>
            <a:effectLst/>
          </p:spPr>
          <p:txBody>
            <a:bodyPr wrap="none">
              <a:spAutoFit/>
            </a:bodyPr>
            <a:lstStyle/>
            <a:p>
              <a:pPr>
                <a:lnSpc>
                  <a:spcPct val="85000"/>
                </a:lnSpc>
              </a:pPr>
              <a:r>
                <a:rPr kumimoji="1" lang="zh-CN" altLang="en-US" sz="2400">
                  <a:solidFill>
                    <a:srgbClr val="333399"/>
                  </a:solidFill>
                  <a:latin typeface="Times New Roman" pitchFamily="18" charset="0"/>
                  <a:ea typeface="黑体" pitchFamily="49" charset="-122"/>
                </a:rPr>
                <a:t>主机</a:t>
              </a:r>
            </a:p>
          </p:txBody>
        </p:sp>
        <p:sp>
          <p:nvSpPr>
            <p:cNvPr id="42002" name="Text Box 18"/>
            <p:cNvSpPr txBox="1">
              <a:spLocks noChangeArrowheads="1"/>
            </p:cNvSpPr>
            <p:nvPr/>
          </p:nvSpPr>
          <p:spPr bwMode="auto">
            <a:xfrm>
              <a:off x="204" y="1888"/>
              <a:ext cx="500" cy="288"/>
            </a:xfrm>
            <a:prstGeom prst="rect">
              <a:avLst/>
            </a:prstGeom>
            <a:noFill/>
            <a:ln w="9525">
              <a:noFill/>
              <a:miter lim="800000"/>
              <a:headEnd/>
              <a:tailEnd/>
            </a:ln>
            <a:effectLst/>
          </p:spPr>
          <p:txBody>
            <a:bodyPr wrap="none">
              <a:spAutoFit/>
            </a:bodyPr>
            <a:lstStyle/>
            <a:p>
              <a:r>
                <a:rPr kumimoji="1" lang="zh-CN" altLang="en-US" sz="2400">
                  <a:solidFill>
                    <a:srgbClr val="333399"/>
                  </a:solidFill>
                  <a:latin typeface="Times New Roman" pitchFamily="18" charset="0"/>
                  <a:ea typeface="黑体" pitchFamily="49" charset="-122"/>
                </a:rPr>
                <a:t>终端</a:t>
              </a:r>
            </a:p>
          </p:txBody>
        </p:sp>
      </p:grpSp>
      <p:sp>
        <p:nvSpPr>
          <p:cNvPr id="42003" name="Text Box 19"/>
          <p:cNvSpPr txBox="1">
            <a:spLocks noChangeArrowheads="1"/>
          </p:cNvSpPr>
          <p:nvPr/>
        </p:nvSpPr>
        <p:spPr bwMode="auto">
          <a:xfrm>
            <a:off x="1335088" y="2205038"/>
            <a:ext cx="2012950" cy="457200"/>
          </a:xfrm>
          <a:prstGeom prst="rect">
            <a:avLst/>
          </a:prstGeom>
          <a:noFill/>
          <a:ln w="9525">
            <a:noFill/>
            <a:miter lim="800000"/>
            <a:headEnd/>
            <a:tailEnd/>
          </a:ln>
          <a:effectLst/>
        </p:spPr>
        <p:txBody>
          <a:bodyPr wrap="none">
            <a:spAutoFit/>
          </a:bodyPr>
          <a:lstStyle/>
          <a:p>
            <a:r>
              <a:rPr kumimoji="1" lang="zh-CN" altLang="en-US" sz="2400">
                <a:solidFill>
                  <a:srgbClr val="333399"/>
                </a:solidFill>
                <a:latin typeface="Times New Roman" pitchFamily="18" charset="0"/>
                <a:ea typeface="黑体" pitchFamily="49" charset="-122"/>
              </a:rPr>
              <a:t>以主机为中心</a:t>
            </a:r>
          </a:p>
        </p:txBody>
      </p:sp>
      <p:sp>
        <p:nvSpPr>
          <p:cNvPr id="42004" name="Text Box 20"/>
          <p:cNvSpPr txBox="1">
            <a:spLocks noChangeArrowheads="1"/>
          </p:cNvSpPr>
          <p:nvPr/>
        </p:nvSpPr>
        <p:spPr bwMode="auto">
          <a:xfrm>
            <a:off x="5295900" y="2205038"/>
            <a:ext cx="2927350" cy="457200"/>
          </a:xfrm>
          <a:prstGeom prst="rect">
            <a:avLst/>
          </a:prstGeom>
          <a:noFill/>
          <a:ln w="9525">
            <a:noFill/>
            <a:miter lim="800000"/>
            <a:headEnd/>
            <a:tailEnd/>
          </a:ln>
          <a:effectLst/>
        </p:spPr>
        <p:txBody>
          <a:bodyPr wrap="none">
            <a:spAutoFit/>
          </a:bodyPr>
          <a:lstStyle/>
          <a:p>
            <a:r>
              <a:rPr kumimoji="1" lang="zh-CN" altLang="en-US" sz="2400">
                <a:solidFill>
                  <a:srgbClr val="333399"/>
                </a:solidFill>
                <a:latin typeface="Times New Roman" pitchFamily="18" charset="0"/>
                <a:ea typeface="黑体" pitchFamily="49" charset="-122"/>
              </a:rPr>
              <a:t>以分组交换网为中心</a:t>
            </a:r>
          </a:p>
        </p:txBody>
      </p:sp>
      <p:sp>
        <p:nvSpPr>
          <p:cNvPr id="42005" name="AutoShape 21"/>
          <p:cNvSpPr>
            <a:spLocks noChangeArrowheads="1"/>
          </p:cNvSpPr>
          <p:nvPr/>
        </p:nvSpPr>
        <p:spPr bwMode="auto">
          <a:xfrm>
            <a:off x="3779838" y="2349500"/>
            <a:ext cx="1296987" cy="215900"/>
          </a:xfrm>
          <a:prstGeom prst="rightArrow">
            <a:avLst>
              <a:gd name="adj1" fmla="val 50000"/>
              <a:gd name="adj2" fmla="val 150184"/>
            </a:avLst>
          </a:prstGeom>
          <a:solidFill>
            <a:schemeClr val="accent1"/>
          </a:solidFill>
          <a:ln w="9525">
            <a:solidFill>
              <a:schemeClr val="tx1"/>
            </a:solidFill>
            <a:miter lim="800000"/>
            <a:headEnd/>
            <a:tailEnd/>
          </a:ln>
          <a:effectLst/>
        </p:spPr>
        <p:txBody>
          <a:bodyPr wrap="none" anchor="ctr"/>
          <a:lstStyle/>
          <a:p>
            <a:endParaRPr lang="zh-CN" altLang="en-US"/>
          </a:p>
        </p:txBody>
      </p:sp>
      <p:grpSp>
        <p:nvGrpSpPr>
          <p:cNvPr id="42006" name="Group 22"/>
          <p:cNvGrpSpPr>
            <a:grpSpLocks/>
          </p:cNvGrpSpPr>
          <p:nvPr/>
        </p:nvGrpSpPr>
        <p:grpSpPr bwMode="auto">
          <a:xfrm>
            <a:off x="4843463" y="2997200"/>
            <a:ext cx="3832225" cy="3024188"/>
            <a:chOff x="3051" y="1888"/>
            <a:chExt cx="2414" cy="1905"/>
          </a:xfrm>
        </p:grpSpPr>
        <p:sp>
          <p:nvSpPr>
            <p:cNvPr id="42007" name="Line 23"/>
            <p:cNvSpPr>
              <a:spLocks noChangeShapeType="1"/>
            </p:cNvSpPr>
            <p:nvPr/>
          </p:nvSpPr>
          <p:spPr bwMode="auto">
            <a:xfrm flipH="1" flipV="1">
              <a:off x="3216" y="2637"/>
              <a:ext cx="497" cy="122"/>
            </a:xfrm>
            <a:prstGeom prst="line">
              <a:avLst/>
            </a:prstGeom>
            <a:noFill/>
            <a:ln w="28575">
              <a:solidFill>
                <a:srgbClr val="333399"/>
              </a:solidFill>
              <a:round/>
              <a:headEnd/>
              <a:tailEnd/>
            </a:ln>
            <a:effectLst/>
          </p:spPr>
          <p:txBody>
            <a:bodyPr wrap="none" anchor="ctr"/>
            <a:lstStyle/>
            <a:p>
              <a:endParaRPr lang="zh-CN" altLang="en-US"/>
            </a:p>
          </p:txBody>
        </p:sp>
        <p:sp>
          <p:nvSpPr>
            <p:cNvPr id="42008" name="Line 24"/>
            <p:cNvSpPr>
              <a:spLocks noChangeShapeType="1"/>
            </p:cNvSpPr>
            <p:nvPr/>
          </p:nvSpPr>
          <p:spPr bwMode="auto">
            <a:xfrm flipH="1">
              <a:off x="4817" y="2759"/>
              <a:ext cx="497" cy="0"/>
            </a:xfrm>
            <a:prstGeom prst="line">
              <a:avLst/>
            </a:prstGeom>
            <a:noFill/>
            <a:ln w="28575">
              <a:solidFill>
                <a:srgbClr val="333399"/>
              </a:solidFill>
              <a:round/>
              <a:headEnd/>
              <a:tailEnd/>
            </a:ln>
            <a:effectLst/>
          </p:spPr>
          <p:txBody>
            <a:bodyPr wrap="none" anchor="ctr"/>
            <a:lstStyle/>
            <a:p>
              <a:endParaRPr lang="zh-CN" altLang="en-US"/>
            </a:p>
          </p:txBody>
        </p:sp>
        <p:sp>
          <p:nvSpPr>
            <p:cNvPr id="42009" name="Line 25"/>
            <p:cNvSpPr>
              <a:spLocks noChangeShapeType="1"/>
            </p:cNvSpPr>
            <p:nvPr/>
          </p:nvSpPr>
          <p:spPr bwMode="auto">
            <a:xfrm flipH="1">
              <a:off x="4637" y="2009"/>
              <a:ext cx="179" cy="526"/>
            </a:xfrm>
            <a:prstGeom prst="line">
              <a:avLst/>
            </a:prstGeom>
            <a:noFill/>
            <a:ln w="28575">
              <a:solidFill>
                <a:srgbClr val="333399"/>
              </a:solidFill>
              <a:round/>
              <a:headEnd/>
              <a:tailEnd/>
            </a:ln>
            <a:effectLst/>
          </p:spPr>
          <p:txBody>
            <a:bodyPr wrap="none" anchor="ctr"/>
            <a:lstStyle/>
            <a:p>
              <a:endParaRPr lang="zh-CN" altLang="en-US"/>
            </a:p>
          </p:txBody>
        </p:sp>
        <p:sp>
          <p:nvSpPr>
            <p:cNvPr id="42010" name="Line 26"/>
            <p:cNvSpPr>
              <a:spLocks noChangeShapeType="1"/>
            </p:cNvSpPr>
            <p:nvPr/>
          </p:nvSpPr>
          <p:spPr bwMode="auto">
            <a:xfrm flipH="1" flipV="1">
              <a:off x="4597" y="3126"/>
              <a:ext cx="276" cy="366"/>
            </a:xfrm>
            <a:prstGeom prst="line">
              <a:avLst/>
            </a:prstGeom>
            <a:noFill/>
            <a:ln w="28575">
              <a:solidFill>
                <a:srgbClr val="333399"/>
              </a:solidFill>
              <a:round/>
              <a:headEnd/>
              <a:tailEnd/>
            </a:ln>
            <a:effectLst/>
          </p:spPr>
          <p:txBody>
            <a:bodyPr wrap="none" anchor="ctr"/>
            <a:lstStyle/>
            <a:p>
              <a:endParaRPr lang="zh-CN" altLang="en-US"/>
            </a:p>
          </p:txBody>
        </p:sp>
        <p:sp>
          <p:nvSpPr>
            <p:cNvPr id="42011" name="Line 27"/>
            <p:cNvSpPr>
              <a:spLocks noChangeShapeType="1"/>
            </p:cNvSpPr>
            <p:nvPr/>
          </p:nvSpPr>
          <p:spPr bwMode="auto">
            <a:xfrm>
              <a:off x="3872" y="2057"/>
              <a:ext cx="181" cy="478"/>
            </a:xfrm>
            <a:prstGeom prst="line">
              <a:avLst/>
            </a:prstGeom>
            <a:noFill/>
            <a:ln w="28575">
              <a:solidFill>
                <a:srgbClr val="333399"/>
              </a:solidFill>
              <a:round/>
              <a:headEnd/>
              <a:tailEnd/>
            </a:ln>
            <a:effectLst/>
          </p:spPr>
          <p:txBody>
            <a:bodyPr wrap="none" anchor="ctr"/>
            <a:lstStyle/>
            <a:p>
              <a:endParaRPr lang="zh-CN" altLang="en-US"/>
            </a:p>
          </p:txBody>
        </p:sp>
        <p:sp>
          <p:nvSpPr>
            <p:cNvPr id="42012" name="Line 28"/>
            <p:cNvSpPr>
              <a:spLocks noChangeShapeType="1"/>
            </p:cNvSpPr>
            <p:nvPr/>
          </p:nvSpPr>
          <p:spPr bwMode="auto">
            <a:xfrm flipV="1">
              <a:off x="4155" y="3187"/>
              <a:ext cx="55" cy="366"/>
            </a:xfrm>
            <a:prstGeom prst="line">
              <a:avLst/>
            </a:prstGeom>
            <a:noFill/>
            <a:ln w="28575">
              <a:solidFill>
                <a:srgbClr val="333399"/>
              </a:solidFill>
              <a:round/>
              <a:headEnd/>
              <a:tailEnd/>
            </a:ln>
            <a:effectLst/>
          </p:spPr>
          <p:txBody>
            <a:bodyPr wrap="none" anchor="ctr"/>
            <a:lstStyle/>
            <a:p>
              <a:endParaRPr lang="zh-CN" altLang="en-US"/>
            </a:p>
          </p:txBody>
        </p:sp>
        <p:sp>
          <p:nvSpPr>
            <p:cNvPr id="42013" name="Line 29"/>
            <p:cNvSpPr>
              <a:spLocks noChangeShapeType="1"/>
            </p:cNvSpPr>
            <p:nvPr/>
          </p:nvSpPr>
          <p:spPr bwMode="auto">
            <a:xfrm flipV="1">
              <a:off x="3548" y="3126"/>
              <a:ext cx="386" cy="244"/>
            </a:xfrm>
            <a:prstGeom prst="line">
              <a:avLst/>
            </a:prstGeom>
            <a:noFill/>
            <a:ln w="28575">
              <a:solidFill>
                <a:srgbClr val="333399"/>
              </a:solidFill>
              <a:round/>
              <a:headEnd/>
              <a:tailEnd/>
            </a:ln>
            <a:effectLst/>
          </p:spPr>
          <p:txBody>
            <a:bodyPr wrap="none" anchor="ctr"/>
            <a:lstStyle/>
            <a:p>
              <a:endParaRPr lang="zh-CN" altLang="en-US"/>
            </a:p>
          </p:txBody>
        </p:sp>
        <p:pic>
          <p:nvPicPr>
            <p:cNvPr id="42014" name="Picture 30"/>
            <p:cNvPicPr>
              <a:picLocks noChangeArrowheads="1"/>
            </p:cNvPicPr>
            <p:nvPr/>
          </p:nvPicPr>
          <p:blipFill>
            <a:blip r:embed="rId5"/>
            <a:srcRect/>
            <a:stretch>
              <a:fillRect/>
            </a:stretch>
          </p:blipFill>
          <p:spPr bwMode="auto">
            <a:xfrm>
              <a:off x="4652" y="1904"/>
              <a:ext cx="316" cy="362"/>
            </a:xfrm>
            <a:prstGeom prst="rect">
              <a:avLst/>
            </a:prstGeom>
            <a:noFill/>
            <a:ln w="9525">
              <a:noFill/>
              <a:miter lim="800000"/>
              <a:headEnd/>
              <a:tailEnd/>
            </a:ln>
            <a:effectLst/>
          </p:spPr>
        </p:pic>
        <p:pic>
          <p:nvPicPr>
            <p:cNvPr id="42015" name="Picture 31"/>
            <p:cNvPicPr>
              <a:picLocks noChangeArrowheads="1"/>
            </p:cNvPicPr>
            <p:nvPr/>
          </p:nvPicPr>
          <p:blipFill>
            <a:blip r:embed="rId5"/>
            <a:srcRect/>
            <a:stretch>
              <a:fillRect/>
            </a:stretch>
          </p:blipFill>
          <p:spPr bwMode="auto">
            <a:xfrm>
              <a:off x="3713" y="1904"/>
              <a:ext cx="317" cy="362"/>
            </a:xfrm>
            <a:prstGeom prst="rect">
              <a:avLst/>
            </a:prstGeom>
            <a:noFill/>
            <a:ln w="9525">
              <a:noFill/>
              <a:miter lim="800000"/>
              <a:headEnd/>
              <a:tailEnd/>
            </a:ln>
            <a:effectLst/>
          </p:spPr>
        </p:pic>
        <p:pic>
          <p:nvPicPr>
            <p:cNvPr id="42016" name="Picture 32"/>
            <p:cNvPicPr>
              <a:picLocks noChangeArrowheads="1"/>
            </p:cNvPicPr>
            <p:nvPr/>
          </p:nvPicPr>
          <p:blipFill>
            <a:blip r:embed="rId5"/>
            <a:srcRect/>
            <a:stretch>
              <a:fillRect/>
            </a:stretch>
          </p:blipFill>
          <p:spPr bwMode="auto">
            <a:xfrm>
              <a:off x="5149" y="2515"/>
              <a:ext cx="316" cy="361"/>
            </a:xfrm>
            <a:prstGeom prst="rect">
              <a:avLst/>
            </a:prstGeom>
            <a:noFill/>
            <a:ln w="9525">
              <a:noFill/>
              <a:miter lim="800000"/>
              <a:headEnd/>
              <a:tailEnd/>
            </a:ln>
            <a:effectLst/>
          </p:spPr>
        </p:pic>
        <p:pic>
          <p:nvPicPr>
            <p:cNvPr id="42017" name="Picture 33"/>
            <p:cNvPicPr>
              <a:picLocks noChangeArrowheads="1"/>
            </p:cNvPicPr>
            <p:nvPr/>
          </p:nvPicPr>
          <p:blipFill>
            <a:blip r:embed="rId5"/>
            <a:srcRect/>
            <a:stretch>
              <a:fillRect/>
            </a:stretch>
          </p:blipFill>
          <p:spPr bwMode="auto">
            <a:xfrm>
              <a:off x="4817" y="3248"/>
              <a:ext cx="317" cy="361"/>
            </a:xfrm>
            <a:prstGeom prst="rect">
              <a:avLst/>
            </a:prstGeom>
            <a:noFill/>
            <a:ln w="9525">
              <a:noFill/>
              <a:miter lim="800000"/>
              <a:headEnd/>
              <a:tailEnd/>
            </a:ln>
            <a:effectLst/>
          </p:spPr>
        </p:pic>
        <p:pic>
          <p:nvPicPr>
            <p:cNvPr id="42018" name="Picture 34"/>
            <p:cNvPicPr>
              <a:picLocks noChangeArrowheads="1"/>
            </p:cNvPicPr>
            <p:nvPr/>
          </p:nvPicPr>
          <p:blipFill>
            <a:blip r:embed="rId5"/>
            <a:srcRect/>
            <a:stretch>
              <a:fillRect/>
            </a:stretch>
          </p:blipFill>
          <p:spPr bwMode="auto">
            <a:xfrm>
              <a:off x="3989" y="3431"/>
              <a:ext cx="317" cy="362"/>
            </a:xfrm>
            <a:prstGeom prst="rect">
              <a:avLst/>
            </a:prstGeom>
            <a:noFill/>
            <a:ln w="9525">
              <a:noFill/>
              <a:miter lim="800000"/>
              <a:headEnd/>
              <a:tailEnd/>
            </a:ln>
            <a:effectLst/>
          </p:spPr>
        </p:pic>
        <p:sp>
          <p:nvSpPr>
            <p:cNvPr id="42019" name="Text Box 35"/>
            <p:cNvSpPr txBox="1">
              <a:spLocks noChangeArrowheads="1"/>
            </p:cNvSpPr>
            <p:nvPr/>
          </p:nvSpPr>
          <p:spPr bwMode="auto">
            <a:xfrm>
              <a:off x="3243" y="1888"/>
              <a:ext cx="500" cy="288"/>
            </a:xfrm>
            <a:prstGeom prst="rect">
              <a:avLst/>
            </a:prstGeom>
            <a:noFill/>
            <a:ln w="9525">
              <a:noFill/>
              <a:miter lim="800000"/>
              <a:headEnd/>
              <a:tailEnd/>
            </a:ln>
            <a:effectLst/>
          </p:spPr>
          <p:txBody>
            <a:bodyPr wrap="none">
              <a:spAutoFit/>
            </a:bodyPr>
            <a:lstStyle/>
            <a:p>
              <a:r>
                <a:rPr kumimoji="1" lang="zh-CN" altLang="en-US" sz="2400">
                  <a:solidFill>
                    <a:srgbClr val="333399"/>
                  </a:solidFill>
                  <a:latin typeface="Times New Roman" pitchFamily="18" charset="0"/>
                  <a:ea typeface="黑体" pitchFamily="49" charset="-122"/>
                </a:rPr>
                <a:t>主机</a:t>
              </a:r>
            </a:p>
          </p:txBody>
        </p:sp>
        <p:pic>
          <p:nvPicPr>
            <p:cNvPr id="42020" name="Picture 36"/>
            <p:cNvPicPr>
              <a:picLocks noChangeArrowheads="1"/>
            </p:cNvPicPr>
            <p:nvPr/>
          </p:nvPicPr>
          <p:blipFill>
            <a:blip r:embed="rId5"/>
            <a:srcRect/>
            <a:stretch>
              <a:fillRect/>
            </a:stretch>
          </p:blipFill>
          <p:spPr bwMode="auto">
            <a:xfrm>
              <a:off x="3051" y="2393"/>
              <a:ext cx="316" cy="361"/>
            </a:xfrm>
            <a:prstGeom prst="rect">
              <a:avLst/>
            </a:prstGeom>
            <a:noFill/>
            <a:ln w="9525">
              <a:noFill/>
              <a:miter lim="800000"/>
              <a:headEnd/>
              <a:tailEnd/>
            </a:ln>
            <a:effectLst/>
          </p:spPr>
        </p:pic>
        <p:grpSp>
          <p:nvGrpSpPr>
            <p:cNvPr id="42021" name="Group 37"/>
            <p:cNvGrpSpPr>
              <a:grpSpLocks/>
            </p:cNvGrpSpPr>
            <p:nvPr/>
          </p:nvGrpSpPr>
          <p:grpSpPr bwMode="auto">
            <a:xfrm>
              <a:off x="3314" y="2413"/>
              <a:ext cx="1585" cy="940"/>
              <a:chOff x="3314" y="2413"/>
              <a:chExt cx="1585" cy="940"/>
            </a:xfrm>
          </p:grpSpPr>
          <p:graphicFrame>
            <p:nvGraphicFramePr>
              <p:cNvPr id="42022" name="Object 38"/>
              <p:cNvGraphicFramePr>
                <a:graphicFrameLocks noChangeAspect="1"/>
              </p:cNvGraphicFramePr>
              <p:nvPr/>
            </p:nvGraphicFramePr>
            <p:xfrm>
              <a:off x="3314" y="2413"/>
              <a:ext cx="1585" cy="940"/>
            </p:xfrm>
            <a:graphic>
              <a:graphicData uri="http://schemas.openxmlformats.org/presentationml/2006/ole">
                <mc:AlternateContent xmlns:mc="http://schemas.openxmlformats.org/markup-compatibility/2006">
                  <mc:Choice xmlns:v="urn:schemas-microsoft-com:vml" Requires="v">
                    <p:oleObj spid="_x0000_s42026" name="VISIO" r:id="rId6" imgW="1689840" imgH="964440" progId="">
                      <p:embed/>
                    </p:oleObj>
                  </mc:Choice>
                  <mc:Fallback>
                    <p:oleObj name="VISIO" r:id="rId6" imgW="1689840" imgH="964440" progId="">
                      <p:embed/>
                      <p:pic>
                        <p:nvPicPr>
                          <p:cNvPr id="0" name="Picture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14" y="2413"/>
                            <a:ext cx="1585" cy="94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2023" name="Text Box 39"/>
              <p:cNvSpPr txBox="1">
                <a:spLocks noChangeArrowheads="1"/>
              </p:cNvSpPr>
              <p:nvPr/>
            </p:nvSpPr>
            <p:spPr bwMode="auto">
              <a:xfrm>
                <a:off x="3742" y="2643"/>
                <a:ext cx="1076" cy="288"/>
              </a:xfrm>
              <a:prstGeom prst="rect">
                <a:avLst/>
              </a:prstGeom>
              <a:noFill/>
              <a:ln w="9525">
                <a:noFill/>
                <a:miter lim="800000"/>
                <a:headEnd/>
                <a:tailEnd/>
              </a:ln>
              <a:effectLst/>
            </p:spPr>
            <p:txBody>
              <a:bodyPr wrap="none">
                <a:spAutoFit/>
              </a:bodyPr>
              <a:lstStyle/>
              <a:p>
                <a:r>
                  <a:rPr kumimoji="1" lang="zh-CN" altLang="en-US" sz="2400">
                    <a:solidFill>
                      <a:srgbClr val="333399"/>
                    </a:solidFill>
                    <a:latin typeface="Times New Roman" pitchFamily="18" charset="0"/>
                    <a:ea typeface="黑体" pitchFamily="49" charset="-122"/>
                  </a:rPr>
                  <a:t>分组交换网</a:t>
                </a:r>
              </a:p>
            </p:txBody>
          </p:sp>
        </p:grpSp>
        <p:pic>
          <p:nvPicPr>
            <p:cNvPr id="42024" name="Picture 40"/>
            <p:cNvPicPr>
              <a:picLocks noChangeArrowheads="1"/>
            </p:cNvPicPr>
            <p:nvPr/>
          </p:nvPicPr>
          <p:blipFill>
            <a:blip r:embed="rId5"/>
            <a:srcRect/>
            <a:stretch>
              <a:fillRect/>
            </a:stretch>
          </p:blipFill>
          <p:spPr bwMode="auto">
            <a:xfrm>
              <a:off x="3334" y="3158"/>
              <a:ext cx="316" cy="361"/>
            </a:xfrm>
            <a:prstGeom prst="rect">
              <a:avLst/>
            </a:prstGeom>
            <a:noFill/>
            <a:ln w="9525">
              <a:noFill/>
              <a:miter lim="800000"/>
              <a:headEnd/>
              <a:tailEnd/>
            </a:ln>
            <a:effec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1987"/>
                                        </p:tgtEl>
                                        <p:attrNameLst>
                                          <p:attrName>style.visibility</p:attrName>
                                        </p:attrNameLst>
                                      </p:cBhvr>
                                      <p:to>
                                        <p:strVal val="visible"/>
                                      </p:to>
                                    </p:set>
                                    <p:animEffect transition="in" filter="box(out)">
                                      <p:cBhvr>
                                        <p:cTn id="7" dur="1000"/>
                                        <p:tgtEl>
                                          <p:spTgt spid="4198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2005"/>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42004"/>
                                        </p:tgtEl>
                                        <p:attrNameLst>
                                          <p:attrName>style.visibility</p:attrName>
                                        </p:attrNameLst>
                                      </p:cBhvr>
                                      <p:to>
                                        <p:strVal val="visible"/>
                                      </p:to>
                                    </p:set>
                                  </p:childTnLst>
                                </p:cTn>
                              </p:par>
                            </p:childTnLst>
                          </p:cTn>
                        </p:par>
                        <p:par>
                          <p:cTn id="15" fill="hold">
                            <p:stCondLst>
                              <p:cond delay="0"/>
                            </p:stCondLst>
                            <p:childTnLst>
                              <p:par>
                                <p:cTn id="16" presetID="4" presetClass="entr" presetSubtype="32" fill="hold" nodeType="afterEffect">
                                  <p:stCondLst>
                                    <p:cond delay="0"/>
                                  </p:stCondLst>
                                  <p:childTnLst>
                                    <p:set>
                                      <p:cBhvr>
                                        <p:cTn id="17" dur="1" fill="hold">
                                          <p:stCondLst>
                                            <p:cond delay="0"/>
                                          </p:stCondLst>
                                        </p:cTn>
                                        <p:tgtEl>
                                          <p:spTgt spid="42006"/>
                                        </p:tgtEl>
                                        <p:attrNameLst>
                                          <p:attrName>style.visibility</p:attrName>
                                        </p:attrNameLst>
                                      </p:cBhvr>
                                      <p:to>
                                        <p:strVal val="visible"/>
                                      </p:to>
                                    </p:set>
                                    <p:animEffect transition="in" filter="box(out)">
                                      <p:cBhvr>
                                        <p:cTn id="18" dur="1000"/>
                                        <p:tgtEl>
                                          <p:spTgt spid="42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4" grpId="0"/>
      <p:bldP spid="4200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zh-CN"/>
              <a:t>1.3  </a:t>
            </a:r>
            <a:r>
              <a:rPr lang="zh-CN" altLang="en-US"/>
              <a:t>计算机网络的分类</a:t>
            </a:r>
          </a:p>
        </p:txBody>
      </p:sp>
      <p:sp>
        <p:nvSpPr>
          <p:cNvPr id="43011" name="Rectangle 3"/>
          <p:cNvSpPr>
            <a:spLocks noGrp="1" noChangeArrowheads="1"/>
          </p:cNvSpPr>
          <p:nvPr>
            <p:ph type="body" idx="1"/>
          </p:nvPr>
        </p:nvSpPr>
        <p:spPr>
          <a:xfrm>
            <a:off x="755650" y="1700213"/>
            <a:ext cx="7772400" cy="2447925"/>
          </a:xfrm>
        </p:spPr>
        <p:txBody>
          <a:bodyPr/>
          <a:lstStyle/>
          <a:p>
            <a:r>
              <a:rPr lang="en-US" altLang="zh-CN"/>
              <a:t>1.3.1  </a:t>
            </a:r>
            <a:r>
              <a:rPr lang="zh-CN" altLang="en-US"/>
              <a:t>计算机网络的不同定义</a:t>
            </a:r>
          </a:p>
          <a:p>
            <a:pPr lvl="1"/>
            <a:r>
              <a:rPr lang="zh-CN" altLang="en-US">
                <a:solidFill>
                  <a:srgbClr val="333399"/>
                </a:solidFill>
                <a:ea typeface="黑体" pitchFamily="49" charset="-122"/>
              </a:rPr>
              <a:t>最简单的定义：计算机网络是一些互相连接的、自治的计算机的集合。</a:t>
            </a:r>
          </a:p>
          <a:p>
            <a:pPr lvl="1"/>
            <a:r>
              <a:rPr lang="zh-CN" altLang="en-US">
                <a:solidFill>
                  <a:srgbClr val="333399"/>
                </a:solidFill>
                <a:ea typeface="黑体" pitchFamily="49" charset="-122"/>
              </a:rPr>
              <a:t>因特网</a:t>
            </a:r>
            <a:r>
              <a:rPr lang="en-US" altLang="zh-CN">
                <a:solidFill>
                  <a:srgbClr val="333399"/>
                </a:solidFill>
                <a:ea typeface="黑体" pitchFamily="49" charset="-122"/>
              </a:rPr>
              <a:t>(Internet)</a:t>
            </a:r>
            <a:r>
              <a:rPr lang="zh-CN" altLang="en-US">
                <a:solidFill>
                  <a:srgbClr val="333399"/>
                </a:solidFill>
                <a:ea typeface="黑体" pitchFamily="49" charset="-122"/>
              </a:rPr>
              <a:t>是“网络的网络”。</a:t>
            </a:r>
            <a:endParaRPr lang="zh-CN" alt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zh-CN"/>
              <a:t>1.3.2  </a:t>
            </a:r>
            <a:r>
              <a:rPr lang="zh-CN" altLang="en-US"/>
              <a:t>几种不同类别的网络</a:t>
            </a:r>
          </a:p>
        </p:txBody>
      </p:sp>
      <p:sp>
        <p:nvSpPr>
          <p:cNvPr id="45059" name="Rectangle 3"/>
          <p:cNvSpPr>
            <a:spLocks noGrp="1" noChangeArrowheads="1"/>
          </p:cNvSpPr>
          <p:nvPr>
            <p:ph type="body" idx="1"/>
          </p:nvPr>
        </p:nvSpPr>
        <p:spPr>
          <a:xfrm>
            <a:off x="1042988" y="2051050"/>
            <a:ext cx="7772400" cy="4114800"/>
          </a:xfrm>
        </p:spPr>
        <p:txBody>
          <a:bodyPr/>
          <a:lstStyle/>
          <a:p>
            <a:r>
              <a:rPr lang="zh-CN" altLang="en-US"/>
              <a:t>不同作用范围的网络</a:t>
            </a:r>
            <a:r>
              <a:rPr lang="en-US" altLang="zh-CN"/>
              <a:t>(P17)</a:t>
            </a:r>
          </a:p>
          <a:p>
            <a:pPr lvl="1"/>
            <a:r>
              <a:rPr lang="zh-CN" altLang="en-US">
                <a:solidFill>
                  <a:srgbClr val="333399"/>
                </a:solidFill>
                <a:ea typeface="黑体" pitchFamily="49" charset="-122"/>
              </a:rPr>
              <a:t>广域网 </a:t>
            </a:r>
            <a:r>
              <a:rPr lang="en-US" altLang="zh-CN" b="1">
                <a:solidFill>
                  <a:srgbClr val="333399"/>
                </a:solidFill>
                <a:ea typeface="黑体" pitchFamily="49" charset="-122"/>
              </a:rPr>
              <a:t>WAN</a:t>
            </a:r>
            <a:r>
              <a:rPr lang="en-US" altLang="zh-CN">
                <a:solidFill>
                  <a:srgbClr val="333399"/>
                </a:solidFill>
                <a:ea typeface="黑体" pitchFamily="49" charset="-122"/>
              </a:rPr>
              <a:t> (Wide Area Network)</a:t>
            </a:r>
          </a:p>
          <a:p>
            <a:pPr lvl="1"/>
            <a:r>
              <a:rPr lang="zh-CN" altLang="en-US">
                <a:solidFill>
                  <a:srgbClr val="333399"/>
                </a:solidFill>
                <a:ea typeface="黑体" pitchFamily="49" charset="-122"/>
              </a:rPr>
              <a:t>局域网 </a:t>
            </a:r>
            <a:r>
              <a:rPr lang="en-US" altLang="zh-CN" b="1">
                <a:solidFill>
                  <a:srgbClr val="333399"/>
                </a:solidFill>
                <a:ea typeface="黑体" pitchFamily="49" charset="-122"/>
              </a:rPr>
              <a:t>LAN</a:t>
            </a:r>
            <a:r>
              <a:rPr lang="en-US" altLang="zh-CN">
                <a:solidFill>
                  <a:srgbClr val="333399"/>
                </a:solidFill>
                <a:ea typeface="黑体" pitchFamily="49" charset="-122"/>
              </a:rPr>
              <a:t> (Local Area Network)</a:t>
            </a:r>
            <a:r>
              <a:rPr lang="en-US" altLang="zh-CN"/>
              <a:t> </a:t>
            </a:r>
          </a:p>
          <a:p>
            <a:pPr lvl="1"/>
            <a:r>
              <a:rPr lang="zh-CN" altLang="en-US">
                <a:solidFill>
                  <a:srgbClr val="333399"/>
                </a:solidFill>
                <a:ea typeface="黑体" pitchFamily="49" charset="-122"/>
              </a:rPr>
              <a:t>城域网 </a:t>
            </a:r>
            <a:r>
              <a:rPr lang="en-US" altLang="zh-CN" b="1">
                <a:solidFill>
                  <a:srgbClr val="333399"/>
                </a:solidFill>
                <a:ea typeface="黑体" pitchFamily="49" charset="-122"/>
              </a:rPr>
              <a:t>MAN</a:t>
            </a:r>
            <a:r>
              <a:rPr lang="en-US" altLang="zh-CN">
                <a:solidFill>
                  <a:srgbClr val="333399"/>
                </a:solidFill>
                <a:ea typeface="黑体" pitchFamily="49" charset="-122"/>
              </a:rPr>
              <a:t> (Metropolitan Area Network)</a:t>
            </a:r>
          </a:p>
          <a:p>
            <a:pPr lvl="1"/>
            <a:r>
              <a:rPr lang="zh-CN" altLang="en-US">
                <a:solidFill>
                  <a:srgbClr val="000066"/>
                </a:solidFill>
                <a:ea typeface="黑体" pitchFamily="49" charset="-122"/>
              </a:rPr>
              <a:t>个人区域网 </a:t>
            </a:r>
            <a:r>
              <a:rPr lang="en-US" altLang="zh-CN" b="1">
                <a:solidFill>
                  <a:srgbClr val="000066"/>
                </a:solidFill>
                <a:ea typeface="黑体" pitchFamily="49" charset="-122"/>
              </a:rPr>
              <a:t>PAN</a:t>
            </a:r>
            <a:r>
              <a:rPr lang="en-US" altLang="zh-CN">
                <a:solidFill>
                  <a:srgbClr val="000066"/>
                </a:solidFill>
                <a:ea typeface="黑体" pitchFamily="49" charset="-122"/>
              </a:rPr>
              <a:t> (Personal Area Network)</a:t>
            </a:r>
            <a:r>
              <a:rPr lang="en-US" altLang="zh-CN">
                <a:solidFill>
                  <a:schemeClr val="folHlink"/>
                </a:solidFill>
                <a:ea typeface="黑体" pitchFamily="49" charset="-122"/>
              </a:rPr>
              <a:t> </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zh-CN"/>
              <a:t>2.  </a:t>
            </a:r>
            <a:r>
              <a:rPr lang="zh-CN" altLang="en-US"/>
              <a:t>不同使用者的网络</a:t>
            </a:r>
          </a:p>
        </p:txBody>
      </p:sp>
      <p:sp>
        <p:nvSpPr>
          <p:cNvPr id="47107" name="Rectangle 3"/>
          <p:cNvSpPr>
            <a:spLocks noGrp="1" noChangeArrowheads="1"/>
          </p:cNvSpPr>
          <p:nvPr>
            <p:ph type="body" idx="1"/>
          </p:nvPr>
        </p:nvSpPr>
        <p:spPr>
          <a:xfrm>
            <a:off x="1042988" y="1978025"/>
            <a:ext cx="7772400" cy="4114800"/>
          </a:xfrm>
        </p:spPr>
        <p:txBody>
          <a:bodyPr/>
          <a:lstStyle/>
          <a:p>
            <a:r>
              <a:rPr lang="zh-CN" altLang="en-US"/>
              <a:t>从网络的使用者进行分类</a:t>
            </a:r>
            <a:r>
              <a:rPr lang="en-US" altLang="zh-CN"/>
              <a:t>(P18)</a:t>
            </a:r>
          </a:p>
          <a:p>
            <a:pPr lvl="1"/>
            <a:r>
              <a:rPr lang="zh-CN" altLang="en-US">
                <a:solidFill>
                  <a:srgbClr val="333399"/>
                </a:solidFill>
                <a:ea typeface="黑体" pitchFamily="49" charset="-122"/>
              </a:rPr>
              <a:t>公用网 </a:t>
            </a:r>
            <a:r>
              <a:rPr lang="en-US" altLang="zh-CN">
                <a:solidFill>
                  <a:srgbClr val="333399"/>
                </a:solidFill>
                <a:ea typeface="黑体" pitchFamily="49" charset="-122"/>
              </a:rPr>
              <a:t>(public network) </a:t>
            </a:r>
          </a:p>
          <a:p>
            <a:pPr lvl="1"/>
            <a:r>
              <a:rPr lang="zh-CN" altLang="en-US">
                <a:solidFill>
                  <a:srgbClr val="333399"/>
                </a:solidFill>
                <a:ea typeface="黑体" pitchFamily="49" charset="-122"/>
              </a:rPr>
              <a:t>专用网 </a:t>
            </a:r>
            <a:r>
              <a:rPr lang="en-US" altLang="zh-CN">
                <a:solidFill>
                  <a:srgbClr val="333399"/>
                </a:solidFill>
                <a:ea typeface="黑体" pitchFamily="49" charset="-122"/>
              </a:rPr>
              <a:t>(private network)</a:t>
            </a:r>
            <a:r>
              <a:rPr lang="en-US" altLang="zh-CN"/>
              <a:t> </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50825" y="214313"/>
            <a:ext cx="8642350" cy="1462087"/>
          </a:xfrm>
        </p:spPr>
        <p:txBody>
          <a:bodyPr/>
          <a:lstStyle/>
          <a:p>
            <a:r>
              <a:rPr lang="en-US" altLang="zh-CN" sz="4800"/>
              <a:t>1.4  </a:t>
            </a:r>
            <a:r>
              <a:rPr lang="zh-CN" altLang="en-US" sz="4800"/>
              <a:t>计算机网络的性能</a:t>
            </a:r>
            <a:r>
              <a:rPr lang="zh-CN" altLang="en-US" sz="4000"/>
              <a:t/>
            </a:r>
            <a:br>
              <a:rPr lang="zh-CN" altLang="en-US" sz="4000"/>
            </a:br>
            <a:r>
              <a:rPr lang="en-US" altLang="zh-CN" sz="3600"/>
              <a:t>1.4.1 </a:t>
            </a:r>
            <a:r>
              <a:rPr lang="zh-CN" altLang="en-US" sz="3600"/>
              <a:t>速率</a:t>
            </a:r>
            <a:r>
              <a:rPr lang="en-US" altLang="zh-CN" sz="4000"/>
              <a:t>(P19)</a:t>
            </a:r>
          </a:p>
        </p:txBody>
      </p:sp>
      <p:sp>
        <p:nvSpPr>
          <p:cNvPr id="49155" name="Rectangle 3"/>
          <p:cNvSpPr>
            <a:spLocks noGrp="1" noChangeArrowheads="1"/>
          </p:cNvSpPr>
          <p:nvPr>
            <p:ph type="body" idx="1"/>
          </p:nvPr>
        </p:nvSpPr>
        <p:spPr>
          <a:xfrm>
            <a:off x="1042988" y="1557338"/>
            <a:ext cx="7772400" cy="4546600"/>
          </a:xfrm>
        </p:spPr>
        <p:txBody>
          <a:bodyPr/>
          <a:lstStyle/>
          <a:p>
            <a:pPr marL="609600" indent="-609600">
              <a:buFontTx/>
              <a:buNone/>
            </a:pPr>
            <a:endParaRPr lang="en-US" altLang="zh-CN" sz="3600"/>
          </a:p>
          <a:p>
            <a:pPr marL="609600" indent="-609600"/>
            <a:r>
              <a:rPr lang="zh-CN" altLang="en-US" sz="2800">
                <a:solidFill>
                  <a:srgbClr val="CC0000"/>
                </a:solidFill>
              </a:rPr>
              <a:t>比特</a:t>
            </a:r>
            <a:r>
              <a:rPr lang="zh-CN" altLang="en-US" sz="2800"/>
              <a:t>（</a:t>
            </a:r>
            <a:r>
              <a:rPr lang="en-US" altLang="zh-CN" sz="2800"/>
              <a:t>bit</a:t>
            </a:r>
            <a:r>
              <a:rPr lang="zh-CN" altLang="en-US" sz="2800"/>
              <a:t>）是计算机中数据量的单位，也是信息论中使用的信息量的单位。</a:t>
            </a:r>
          </a:p>
          <a:p>
            <a:pPr marL="609600" indent="-609600"/>
            <a:r>
              <a:rPr lang="en-US" altLang="zh-CN" sz="2800"/>
              <a:t>Bit </a:t>
            </a:r>
            <a:r>
              <a:rPr lang="zh-CN" altLang="en-US" sz="2800"/>
              <a:t>来源于 </a:t>
            </a:r>
            <a:r>
              <a:rPr lang="en-US" altLang="zh-CN" sz="2800"/>
              <a:t>binary digit</a:t>
            </a:r>
            <a:r>
              <a:rPr lang="zh-CN" altLang="en-US" sz="2800"/>
              <a:t>，意思是一个“</a:t>
            </a:r>
            <a:r>
              <a:rPr lang="zh-CN" altLang="en-US" sz="2800">
                <a:solidFill>
                  <a:srgbClr val="CC0000"/>
                </a:solidFill>
              </a:rPr>
              <a:t>二进制数字</a:t>
            </a:r>
            <a:r>
              <a:rPr lang="zh-CN" altLang="en-US" sz="2800"/>
              <a:t>”，因此一个比特就是二进制数字中的一个 </a:t>
            </a:r>
            <a:r>
              <a:rPr lang="en-US" altLang="zh-CN" sz="2800"/>
              <a:t>1 </a:t>
            </a:r>
            <a:r>
              <a:rPr lang="zh-CN" altLang="en-US" sz="2800"/>
              <a:t>或 </a:t>
            </a:r>
            <a:r>
              <a:rPr lang="en-US" altLang="zh-CN" sz="2800"/>
              <a:t>0</a:t>
            </a:r>
            <a:r>
              <a:rPr lang="zh-CN" altLang="en-US" sz="2800"/>
              <a:t>。</a:t>
            </a:r>
          </a:p>
          <a:p>
            <a:pPr marL="609600" indent="-609600"/>
            <a:r>
              <a:rPr lang="zh-CN" altLang="en-US" sz="2800">
                <a:solidFill>
                  <a:srgbClr val="CC0000"/>
                </a:solidFill>
              </a:rPr>
              <a:t>速率</a:t>
            </a:r>
            <a:r>
              <a:rPr lang="zh-CN" altLang="en-US" sz="2800">
                <a:solidFill>
                  <a:schemeClr val="folHlink"/>
                </a:solidFill>
              </a:rPr>
              <a:t>即</a:t>
            </a:r>
            <a:r>
              <a:rPr lang="zh-CN" altLang="en-US" sz="2800">
                <a:solidFill>
                  <a:srgbClr val="CC0000"/>
                </a:solidFill>
              </a:rPr>
              <a:t>数据率</a:t>
            </a:r>
            <a:r>
              <a:rPr lang="en-US" altLang="zh-CN" sz="2800"/>
              <a:t>(data rate)</a:t>
            </a:r>
            <a:r>
              <a:rPr lang="zh-CN" altLang="en-US" sz="2800"/>
              <a:t>或</a:t>
            </a:r>
            <a:r>
              <a:rPr lang="zh-CN" altLang="en-US" sz="2800">
                <a:solidFill>
                  <a:srgbClr val="CC0000"/>
                </a:solidFill>
              </a:rPr>
              <a:t>比特率</a:t>
            </a:r>
            <a:r>
              <a:rPr lang="en-US" altLang="zh-CN" sz="2800"/>
              <a:t>(bit rate)</a:t>
            </a:r>
            <a:r>
              <a:rPr lang="zh-CN" altLang="en-US" sz="2800"/>
              <a:t>是计算机网络中最重要的一个性能指标。速率的单位是 </a:t>
            </a:r>
            <a:r>
              <a:rPr lang="en-US" altLang="zh-CN" sz="2800"/>
              <a:t>b/s</a:t>
            </a:r>
            <a:r>
              <a:rPr lang="zh-CN" altLang="en-US" sz="2800"/>
              <a:t>，或</a:t>
            </a:r>
            <a:r>
              <a:rPr lang="en-US" altLang="zh-CN" sz="2800"/>
              <a:t>kb/s, Mb/s, Gb/s </a:t>
            </a:r>
            <a:r>
              <a:rPr lang="zh-CN" altLang="en-US" sz="2800"/>
              <a:t>等</a:t>
            </a:r>
          </a:p>
          <a:p>
            <a:pPr marL="609600" indent="-609600"/>
            <a:endParaRPr lang="en-US" altLang="zh-CN"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1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1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250825" y="765175"/>
            <a:ext cx="8642350" cy="695325"/>
          </a:xfrm>
        </p:spPr>
        <p:txBody>
          <a:bodyPr/>
          <a:lstStyle/>
          <a:p>
            <a:r>
              <a:rPr lang="en-US" altLang="zh-CN" sz="3600"/>
              <a:t>1.4.2  </a:t>
            </a:r>
            <a:r>
              <a:rPr lang="zh-CN" altLang="en-US" sz="3600"/>
              <a:t>带宽</a:t>
            </a:r>
            <a:r>
              <a:rPr lang="en-US" altLang="zh-CN" sz="4000"/>
              <a:t>(P19)</a:t>
            </a:r>
          </a:p>
        </p:txBody>
      </p:sp>
      <p:sp>
        <p:nvSpPr>
          <p:cNvPr id="51203" name="Rectangle 3"/>
          <p:cNvSpPr>
            <a:spLocks noGrp="1" noChangeArrowheads="1"/>
          </p:cNvSpPr>
          <p:nvPr>
            <p:ph type="body" idx="1"/>
          </p:nvPr>
        </p:nvSpPr>
        <p:spPr>
          <a:xfrm>
            <a:off x="1042988" y="1978025"/>
            <a:ext cx="7772400" cy="4114800"/>
          </a:xfrm>
        </p:spPr>
        <p:txBody>
          <a:bodyPr/>
          <a:lstStyle/>
          <a:p>
            <a:r>
              <a:rPr lang="en-US" altLang="zh-CN"/>
              <a:t>“</a:t>
            </a:r>
            <a:r>
              <a:rPr lang="zh-CN" altLang="en-US">
                <a:solidFill>
                  <a:schemeClr val="hlink"/>
                </a:solidFill>
              </a:rPr>
              <a:t>带宽</a:t>
            </a:r>
            <a:r>
              <a:rPr lang="zh-CN" altLang="en-US"/>
              <a:t>”</a:t>
            </a:r>
            <a:r>
              <a:rPr lang="en-US" altLang="zh-CN"/>
              <a:t>(bandwidth)</a:t>
            </a:r>
            <a:r>
              <a:rPr lang="zh-CN" altLang="en-US"/>
              <a:t>本来是指信号具有的频带宽度，单位是赫（或千赫、兆赫、吉赫等）。</a:t>
            </a:r>
          </a:p>
          <a:p>
            <a:r>
              <a:rPr lang="zh-CN" altLang="en-US"/>
              <a:t>现在“带宽”是数字信道所能传送的“</a:t>
            </a:r>
            <a:r>
              <a:rPr lang="zh-CN" altLang="en-US">
                <a:solidFill>
                  <a:schemeClr val="hlink"/>
                </a:solidFill>
              </a:rPr>
              <a:t>最高数据率</a:t>
            </a:r>
            <a:r>
              <a:rPr lang="zh-CN" altLang="en-US"/>
              <a:t>”的同义语，单位是“比特每秒”，或 </a:t>
            </a:r>
            <a:r>
              <a:rPr lang="en-US" altLang="zh-CN"/>
              <a:t>b/s (bit/s)</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57200" y="274638"/>
            <a:ext cx="7567613" cy="1143000"/>
          </a:xfrm>
        </p:spPr>
        <p:txBody>
          <a:bodyPr/>
          <a:lstStyle/>
          <a:p>
            <a:r>
              <a:rPr lang="zh-CN" altLang="en-US"/>
              <a:t>常用的带宽单位</a:t>
            </a:r>
          </a:p>
        </p:txBody>
      </p:sp>
      <p:sp>
        <p:nvSpPr>
          <p:cNvPr id="52227" name="Rectangle 3"/>
          <p:cNvSpPr>
            <a:spLocks noGrp="1" noChangeArrowheads="1"/>
          </p:cNvSpPr>
          <p:nvPr>
            <p:ph type="body" idx="1"/>
          </p:nvPr>
        </p:nvSpPr>
        <p:spPr>
          <a:xfrm>
            <a:off x="1042988" y="1978025"/>
            <a:ext cx="7772400" cy="4114800"/>
          </a:xfrm>
        </p:spPr>
        <p:txBody>
          <a:bodyPr/>
          <a:lstStyle/>
          <a:p>
            <a:r>
              <a:rPr lang="zh-CN" altLang="en-US"/>
              <a:t>更常用的带宽单位是</a:t>
            </a:r>
          </a:p>
          <a:p>
            <a:pPr lvl="1"/>
            <a:r>
              <a:rPr lang="zh-CN" altLang="en-US">
                <a:solidFill>
                  <a:srgbClr val="333399"/>
                </a:solidFill>
                <a:ea typeface="黑体" pitchFamily="49" charset="-122"/>
              </a:rPr>
              <a:t>千比每秒，即 </a:t>
            </a:r>
            <a:r>
              <a:rPr lang="en-US" altLang="zh-CN"/>
              <a:t>K</a:t>
            </a:r>
            <a:r>
              <a:rPr lang="en-US" altLang="zh-CN">
                <a:solidFill>
                  <a:srgbClr val="333399"/>
                </a:solidFill>
                <a:ea typeface="黑体" pitchFamily="49" charset="-122"/>
              </a:rPr>
              <a:t> b/s </a:t>
            </a:r>
            <a:r>
              <a:rPr lang="zh-CN" altLang="en-US">
                <a:solidFill>
                  <a:srgbClr val="333399"/>
                </a:solidFill>
                <a:ea typeface="黑体" pitchFamily="49" charset="-122"/>
              </a:rPr>
              <a:t>（</a:t>
            </a:r>
            <a:r>
              <a:rPr lang="en-US" altLang="zh-CN">
                <a:solidFill>
                  <a:srgbClr val="333399"/>
                </a:solidFill>
                <a:ea typeface="黑体" pitchFamily="49" charset="-122"/>
              </a:rPr>
              <a:t>10</a:t>
            </a:r>
            <a:r>
              <a:rPr lang="en-US" altLang="zh-CN" baseline="30000">
                <a:solidFill>
                  <a:srgbClr val="333399"/>
                </a:solidFill>
                <a:ea typeface="黑体" pitchFamily="49" charset="-122"/>
              </a:rPr>
              <a:t>3</a:t>
            </a:r>
            <a:r>
              <a:rPr lang="en-US" altLang="zh-CN">
                <a:solidFill>
                  <a:srgbClr val="333399"/>
                </a:solidFill>
                <a:ea typeface="黑体" pitchFamily="49" charset="-122"/>
              </a:rPr>
              <a:t> b/s</a:t>
            </a:r>
            <a:r>
              <a:rPr lang="zh-CN" altLang="en-US">
                <a:solidFill>
                  <a:srgbClr val="333399"/>
                </a:solidFill>
                <a:ea typeface="黑体" pitchFamily="49" charset="-122"/>
              </a:rPr>
              <a:t>）</a:t>
            </a:r>
          </a:p>
          <a:p>
            <a:pPr lvl="1"/>
            <a:r>
              <a:rPr lang="zh-CN" altLang="en-US">
                <a:solidFill>
                  <a:srgbClr val="333399"/>
                </a:solidFill>
                <a:ea typeface="黑体" pitchFamily="49" charset="-122"/>
              </a:rPr>
              <a:t>兆比每秒，即 </a:t>
            </a:r>
            <a:r>
              <a:rPr lang="en-US" altLang="zh-CN">
                <a:solidFill>
                  <a:srgbClr val="333399"/>
                </a:solidFill>
                <a:ea typeface="黑体" pitchFamily="49" charset="-122"/>
              </a:rPr>
              <a:t>Mb/s</a:t>
            </a:r>
            <a:r>
              <a:rPr lang="zh-CN" altLang="en-US">
                <a:solidFill>
                  <a:srgbClr val="333399"/>
                </a:solidFill>
                <a:ea typeface="黑体" pitchFamily="49" charset="-122"/>
              </a:rPr>
              <a:t>（</a:t>
            </a:r>
            <a:r>
              <a:rPr lang="en-US" altLang="zh-CN">
                <a:solidFill>
                  <a:srgbClr val="333399"/>
                </a:solidFill>
                <a:ea typeface="黑体" pitchFamily="49" charset="-122"/>
              </a:rPr>
              <a:t>10</a:t>
            </a:r>
            <a:r>
              <a:rPr lang="en-US" altLang="zh-CN" baseline="30000">
                <a:solidFill>
                  <a:srgbClr val="333399"/>
                </a:solidFill>
                <a:ea typeface="黑体" pitchFamily="49" charset="-122"/>
              </a:rPr>
              <a:t>6</a:t>
            </a:r>
            <a:r>
              <a:rPr lang="en-US" altLang="zh-CN">
                <a:solidFill>
                  <a:srgbClr val="333399"/>
                </a:solidFill>
                <a:ea typeface="黑体" pitchFamily="49" charset="-122"/>
              </a:rPr>
              <a:t> b/s</a:t>
            </a:r>
            <a:r>
              <a:rPr lang="zh-CN" altLang="en-US">
                <a:solidFill>
                  <a:srgbClr val="333399"/>
                </a:solidFill>
                <a:ea typeface="黑体" pitchFamily="49" charset="-122"/>
              </a:rPr>
              <a:t>）</a:t>
            </a:r>
          </a:p>
          <a:p>
            <a:pPr lvl="1"/>
            <a:r>
              <a:rPr lang="zh-CN" altLang="en-US">
                <a:solidFill>
                  <a:srgbClr val="333399"/>
                </a:solidFill>
                <a:ea typeface="黑体" pitchFamily="49" charset="-122"/>
              </a:rPr>
              <a:t>吉比每秒，即 </a:t>
            </a:r>
            <a:r>
              <a:rPr lang="en-US" altLang="zh-CN">
                <a:solidFill>
                  <a:srgbClr val="333399"/>
                </a:solidFill>
                <a:ea typeface="黑体" pitchFamily="49" charset="-122"/>
              </a:rPr>
              <a:t>Gb/s</a:t>
            </a:r>
            <a:r>
              <a:rPr lang="zh-CN" altLang="en-US">
                <a:solidFill>
                  <a:srgbClr val="333399"/>
                </a:solidFill>
                <a:ea typeface="黑体" pitchFamily="49" charset="-122"/>
              </a:rPr>
              <a:t>（</a:t>
            </a:r>
            <a:r>
              <a:rPr lang="en-US" altLang="zh-CN">
                <a:solidFill>
                  <a:srgbClr val="333399"/>
                </a:solidFill>
                <a:ea typeface="黑体" pitchFamily="49" charset="-122"/>
              </a:rPr>
              <a:t>10</a:t>
            </a:r>
            <a:r>
              <a:rPr lang="en-US" altLang="zh-CN" baseline="30000">
                <a:solidFill>
                  <a:srgbClr val="333399"/>
                </a:solidFill>
                <a:ea typeface="黑体" pitchFamily="49" charset="-122"/>
              </a:rPr>
              <a:t>9</a:t>
            </a:r>
            <a:r>
              <a:rPr lang="en-US" altLang="zh-CN">
                <a:solidFill>
                  <a:srgbClr val="333399"/>
                </a:solidFill>
                <a:ea typeface="黑体" pitchFamily="49" charset="-122"/>
              </a:rPr>
              <a:t> b/s</a:t>
            </a:r>
            <a:r>
              <a:rPr lang="zh-CN" altLang="en-US">
                <a:solidFill>
                  <a:srgbClr val="333399"/>
                </a:solidFill>
                <a:ea typeface="黑体" pitchFamily="49" charset="-122"/>
              </a:rPr>
              <a:t>）</a:t>
            </a:r>
          </a:p>
          <a:p>
            <a:pPr lvl="1"/>
            <a:r>
              <a:rPr lang="zh-CN" altLang="en-US">
                <a:solidFill>
                  <a:srgbClr val="333399"/>
                </a:solidFill>
                <a:ea typeface="黑体" pitchFamily="49" charset="-122"/>
              </a:rPr>
              <a:t>太比每秒，即 </a:t>
            </a:r>
            <a:r>
              <a:rPr lang="en-US" altLang="zh-CN">
                <a:solidFill>
                  <a:srgbClr val="333399"/>
                </a:solidFill>
                <a:ea typeface="黑体" pitchFamily="49" charset="-122"/>
              </a:rPr>
              <a:t>Tb/s</a:t>
            </a:r>
            <a:r>
              <a:rPr lang="zh-CN" altLang="en-US">
                <a:solidFill>
                  <a:srgbClr val="333399"/>
                </a:solidFill>
                <a:ea typeface="黑体" pitchFamily="49" charset="-122"/>
              </a:rPr>
              <a:t>（</a:t>
            </a:r>
            <a:r>
              <a:rPr lang="en-US" altLang="zh-CN">
                <a:solidFill>
                  <a:srgbClr val="333399"/>
                </a:solidFill>
                <a:ea typeface="黑体" pitchFamily="49" charset="-122"/>
              </a:rPr>
              <a:t>10</a:t>
            </a:r>
            <a:r>
              <a:rPr lang="en-US" altLang="zh-CN" baseline="30000">
                <a:solidFill>
                  <a:srgbClr val="333399"/>
                </a:solidFill>
                <a:ea typeface="黑体" pitchFamily="49" charset="-122"/>
              </a:rPr>
              <a:t>12</a:t>
            </a:r>
            <a:r>
              <a:rPr lang="en-US" altLang="zh-CN">
                <a:solidFill>
                  <a:srgbClr val="333399"/>
                </a:solidFill>
                <a:ea typeface="黑体" pitchFamily="49" charset="-122"/>
              </a:rPr>
              <a:t> b/s</a:t>
            </a:r>
            <a:r>
              <a:rPr lang="zh-CN" altLang="en-US">
                <a:solidFill>
                  <a:srgbClr val="333399"/>
                </a:solidFill>
                <a:ea typeface="黑体" pitchFamily="49" charset="-122"/>
              </a:rPr>
              <a:t>）</a:t>
            </a:r>
          </a:p>
          <a:p>
            <a:r>
              <a:rPr lang="zh-CN" altLang="en-US"/>
              <a:t>请注意：在计算机界，</a:t>
            </a:r>
            <a:r>
              <a:rPr lang="en-US" altLang="zh-CN"/>
              <a:t>K = 2</a:t>
            </a:r>
            <a:r>
              <a:rPr lang="en-US" altLang="zh-CN" baseline="30000"/>
              <a:t>10</a:t>
            </a:r>
            <a:r>
              <a:rPr lang="en-US" altLang="zh-CN"/>
              <a:t> = 1024</a:t>
            </a:r>
          </a:p>
          <a:p>
            <a:pPr>
              <a:buFontTx/>
              <a:buNone/>
            </a:pPr>
            <a:r>
              <a:rPr lang="en-US" altLang="zh-CN"/>
              <a:t>   M = 2</a:t>
            </a:r>
            <a:r>
              <a:rPr lang="en-US" altLang="zh-CN" baseline="30000"/>
              <a:t>20</a:t>
            </a:r>
            <a:r>
              <a:rPr lang="en-US" altLang="zh-CN"/>
              <a:t>, G = 2</a:t>
            </a:r>
            <a:r>
              <a:rPr lang="en-US" altLang="zh-CN" baseline="30000"/>
              <a:t>30</a:t>
            </a:r>
            <a:r>
              <a:rPr lang="en-US" altLang="zh-CN"/>
              <a:t>, T = 2</a:t>
            </a:r>
            <a:r>
              <a:rPr lang="en-US" altLang="zh-CN" baseline="30000"/>
              <a:t>40</a:t>
            </a:r>
            <a:r>
              <a:rPr lang="zh-CN" altLang="en-US"/>
              <a:t>。</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body" idx="1"/>
          </p:nvPr>
        </p:nvSpPr>
        <p:spPr>
          <a:xfrm>
            <a:off x="1042988" y="1484313"/>
            <a:ext cx="7772400" cy="2808287"/>
          </a:xfrm>
        </p:spPr>
        <p:txBody>
          <a:bodyPr/>
          <a:lstStyle/>
          <a:p>
            <a:r>
              <a:rPr lang="zh-CN" altLang="en-US" sz="2800">
                <a:solidFill>
                  <a:schemeClr val="hlink"/>
                </a:solidFill>
              </a:rPr>
              <a:t>发送时延</a:t>
            </a:r>
            <a:r>
              <a:rPr lang="zh-CN" altLang="en-US" sz="2800"/>
              <a:t>（传输时延 ）</a:t>
            </a:r>
            <a:r>
              <a:rPr lang="en-US" altLang="zh-CN" sz="2800"/>
              <a:t>: </a:t>
            </a:r>
            <a:r>
              <a:rPr lang="zh-CN" altLang="en-US" sz="2800"/>
              <a:t>发送数据时，数据块从结点进入到传输媒体所需要的时间。</a:t>
            </a:r>
          </a:p>
          <a:p>
            <a:pPr>
              <a:buFontTx/>
              <a:buNone/>
            </a:pPr>
            <a:r>
              <a:rPr lang="zh-CN" altLang="en-US" sz="2800"/>
              <a:t>          也就是从发送数据帧的第一个比特算起，到该帧的最后一个比特发送完毕所需的时间。</a:t>
            </a:r>
          </a:p>
        </p:txBody>
      </p:sp>
      <p:sp>
        <p:nvSpPr>
          <p:cNvPr id="53251" name="Rectangle 3"/>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zh-CN" altLang="en-US"/>
          </a:p>
        </p:txBody>
      </p:sp>
      <p:grpSp>
        <p:nvGrpSpPr>
          <p:cNvPr id="53252" name="Group 4"/>
          <p:cNvGrpSpPr>
            <a:grpSpLocks/>
          </p:cNvGrpSpPr>
          <p:nvPr/>
        </p:nvGrpSpPr>
        <p:grpSpPr bwMode="auto">
          <a:xfrm>
            <a:off x="2195513" y="4149725"/>
            <a:ext cx="5097462" cy="1225550"/>
            <a:chOff x="1574" y="3066"/>
            <a:chExt cx="3211" cy="772"/>
          </a:xfrm>
        </p:grpSpPr>
        <p:sp>
          <p:nvSpPr>
            <p:cNvPr id="53253" name="Rectangle 5"/>
            <p:cNvSpPr>
              <a:spLocks noChangeArrowheads="1"/>
            </p:cNvSpPr>
            <p:nvPr/>
          </p:nvSpPr>
          <p:spPr bwMode="auto">
            <a:xfrm>
              <a:off x="1574" y="3066"/>
              <a:ext cx="3211" cy="772"/>
            </a:xfrm>
            <a:prstGeom prst="rect">
              <a:avLst/>
            </a:prstGeom>
            <a:solidFill>
              <a:srgbClr val="FFFF99"/>
            </a:solidFill>
            <a:ln w="76200" cmpd="tri">
              <a:solidFill>
                <a:schemeClr val="folHlink"/>
              </a:solidFill>
              <a:miter lim="800000"/>
              <a:headEnd/>
              <a:tailEnd/>
            </a:ln>
            <a:effectLst/>
          </p:spPr>
          <p:txBody>
            <a:bodyPr wrap="none" anchor="ctr"/>
            <a:lstStyle/>
            <a:p>
              <a:endParaRPr lang="zh-CN" altLang="en-US"/>
            </a:p>
          </p:txBody>
        </p:sp>
        <p:sp>
          <p:nvSpPr>
            <p:cNvPr id="53254" name="Text Box 6"/>
            <p:cNvSpPr txBox="1">
              <a:spLocks noChangeArrowheads="1"/>
            </p:cNvSpPr>
            <p:nvPr/>
          </p:nvSpPr>
          <p:spPr bwMode="auto">
            <a:xfrm>
              <a:off x="1688" y="3286"/>
              <a:ext cx="1144" cy="288"/>
            </a:xfrm>
            <a:prstGeom prst="rect">
              <a:avLst/>
            </a:prstGeom>
            <a:solidFill>
              <a:srgbClr val="FFFF99"/>
            </a:solidFill>
            <a:ln w="9525">
              <a:noFill/>
              <a:miter lim="800000"/>
              <a:headEnd/>
              <a:tailEnd/>
            </a:ln>
            <a:effectLst/>
          </p:spPr>
          <p:txBody>
            <a:bodyPr wrap="none">
              <a:spAutoFit/>
            </a:bodyPr>
            <a:lstStyle/>
            <a:p>
              <a:r>
                <a:rPr lang="zh-CN" altLang="en-US" sz="2400">
                  <a:solidFill>
                    <a:srgbClr val="333399"/>
                  </a:solidFill>
                  <a:latin typeface="Tahoma" pitchFamily="34" charset="0"/>
                  <a:ea typeface="黑体" pitchFamily="49" charset="-122"/>
                </a:rPr>
                <a:t>发送时延 </a:t>
              </a:r>
              <a:r>
                <a:rPr lang="en-US" altLang="zh-CN" sz="2400">
                  <a:solidFill>
                    <a:srgbClr val="333399"/>
                  </a:solidFill>
                  <a:latin typeface="Tahoma" pitchFamily="34" charset="0"/>
                  <a:ea typeface="黑体" pitchFamily="49" charset="-122"/>
                </a:rPr>
                <a:t>= </a:t>
              </a:r>
            </a:p>
          </p:txBody>
        </p:sp>
        <p:sp>
          <p:nvSpPr>
            <p:cNvPr id="53255" name="Text Box 7"/>
            <p:cNvSpPr txBox="1">
              <a:spLocks noChangeArrowheads="1"/>
            </p:cNvSpPr>
            <p:nvPr/>
          </p:nvSpPr>
          <p:spPr bwMode="auto">
            <a:xfrm>
              <a:off x="2789" y="3142"/>
              <a:ext cx="1844" cy="288"/>
            </a:xfrm>
            <a:prstGeom prst="rect">
              <a:avLst/>
            </a:prstGeom>
            <a:solidFill>
              <a:srgbClr val="FFFF99"/>
            </a:solidFill>
            <a:ln w="9525">
              <a:noFill/>
              <a:miter lim="800000"/>
              <a:headEnd/>
              <a:tailEnd/>
            </a:ln>
            <a:effectLst/>
          </p:spPr>
          <p:txBody>
            <a:bodyPr wrap="none">
              <a:spAutoFit/>
            </a:bodyPr>
            <a:lstStyle/>
            <a:p>
              <a:r>
                <a:rPr lang="zh-CN" altLang="en-US" sz="2400">
                  <a:solidFill>
                    <a:srgbClr val="333399"/>
                  </a:solidFill>
                  <a:latin typeface="Tahoma" pitchFamily="34" charset="0"/>
                  <a:ea typeface="黑体" pitchFamily="49" charset="-122"/>
                </a:rPr>
                <a:t>数据块长度（</a:t>
              </a:r>
              <a:r>
                <a:rPr lang="zh-CN" altLang="en-US" sz="2400">
                  <a:solidFill>
                    <a:schemeClr val="hlink"/>
                  </a:solidFill>
                  <a:latin typeface="Tahoma" pitchFamily="34" charset="0"/>
                  <a:ea typeface="黑体" pitchFamily="49" charset="-122"/>
                </a:rPr>
                <a:t>比特</a:t>
              </a:r>
              <a:r>
                <a:rPr lang="zh-CN" altLang="en-US" sz="2400">
                  <a:solidFill>
                    <a:srgbClr val="333399"/>
                  </a:solidFill>
                  <a:latin typeface="Tahoma" pitchFamily="34" charset="0"/>
                  <a:ea typeface="黑体" pitchFamily="49" charset="-122"/>
                </a:rPr>
                <a:t>）</a:t>
              </a:r>
            </a:p>
          </p:txBody>
        </p:sp>
        <p:sp>
          <p:nvSpPr>
            <p:cNvPr id="53256" name="Text Box 8"/>
            <p:cNvSpPr txBox="1">
              <a:spLocks noChangeArrowheads="1"/>
            </p:cNvSpPr>
            <p:nvPr/>
          </p:nvSpPr>
          <p:spPr bwMode="auto">
            <a:xfrm>
              <a:off x="2858" y="3467"/>
              <a:ext cx="1917" cy="288"/>
            </a:xfrm>
            <a:prstGeom prst="rect">
              <a:avLst/>
            </a:prstGeom>
            <a:solidFill>
              <a:srgbClr val="FFFF99"/>
            </a:solidFill>
            <a:ln w="9525">
              <a:noFill/>
              <a:miter lim="800000"/>
              <a:headEnd/>
              <a:tailEnd/>
            </a:ln>
            <a:effectLst/>
          </p:spPr>
          <p:txBody>
            <a:bodyPr wrap="none">
              <a:spAutoFit/>
            </a:bodyPr>
            <a:lstStyle/>
            <a:p>
              <a:r>
                <a:rPr lang="zh-CN" altLang="en-US" sz="2400">
                  <a:solidFill>
                    <a:srgbClr val="333399"/>
                  </a:solidFill>
                  <a:latin typeface="Tahoma" pitchFamily="34" charset="0"/>
                  <a:ea typeface="黑体" pitchFamily="49" charset="-122"/>
                </a:rPr>
                <a:t>发送速率（</a:t>
              </a:r>
              <a:r>
                <a:rPr lang="zh-CN" altLang="en-US" sz="2400">
                  <a:solidFill>
                    <a:schemeClr val="hlink"/>
                  </a:solidFill>
                  <a:latin typeface="Tahoma" pitchFamily="34" charset="0"/>
                  <a:ea typeface="黑体" pitchFamily="49" charset="-122"/>
                </a:rPr>
                <a:t>比特</a:t>
              </a:r>
              <a:r>
                <a:rPr lang="en-US" altLang="zh-CN" sz="2400">
                  <a:solidFill>
                    <a:schemeClr val="hlink"/>
                  </a:solidFill>
                  <a:latin typeface="Tahoma" pitchFamily="34" charset="0"/>
                  <a:ea typeface="黑体" pitchFamily="49" charset="-122"/>
                </a:rPr>
                <a:t>/</a:t>
              </a:r>
              <a:r>
                <a:rPr lang="zh-CN" altLang="en-US" sz="2400">
                  <a:solidFill>
                    <a:schemeClr val="hlink"/>
                  </a:solidFill>
                  <a:latin typeface="Tahoma" pitchFamily="34" charset="0"/>
                  <a:ea typeface="黑体" pitchFamily="49" charset="-122"/>
                </a:rPr>
                <a:t>秒</a:t>
              </a:r>
              <a:r>
                <a:rPr lang="zh-CN" altLang="en-US" sz="2400">
                  <a:solidFill>
                    <a:srgbClr val="333399"/>
                  </a:solidFill>
                  <a:latin typeface="Tahoma" pitchFamily="34" charset="0"/>
                  <a:ea typeface="黑体" pitchFamily="49" charset="-122"/>
                </a:rPr>
                <a:t>）</a:t>
              </a:r>
            </a:p>
          </p:txBody>
        </p:sp>
        <p:sp>
          <p:nvSpPr>
            <p:cNvPr id="53257" name="Line 9"/>
            <p:cNvSpPr>
              <a:spLocks noChangeShapeType="1"/>
            </p:cNvSpPr>
            <p:nvPr/>
          </p:nvSpPr>
          <p:spPr bwMode="auto">
            <a:xfrm flipV="1">
              <a:off x="2789" y="3449"/>
              <a:ext cx="1819" cy="10"/>
            </a:xfrm>
            <a:prstGeom prst="line">
              <a:avLst/>
            </a:prstGeom>
            <a:noFill/>
            <a:ln w="28575">
              <a:solidFill>
                <a:schemeClr val="folHlink"/>
              </a:solidFill>
              <a:round/>
              <a:headEnd/>
              <a:tailEnd/>
            </a:ln>
            <a:effectLst/>
          </p:spPr>
          <p:txBody>
            <a:bodyPr/>
            <a:lstStyle/>
            <a:p>
              <a:endParaRPr lang="zh-CN" altLang="en-US"/>
            </a:p>
          </p:txBody>
        </p:sp>
      </p:grpSp>
      <p:sp>
        <p:nvSpPr>
          <p:cNvPr id="53258" name="Rectangle 10"/>
          <p:cNvSpPr>
            <a:spLocks noChangeArrowheads="1"/>
          </p:cNvSpPr>
          <p:nvPr/>
        </p:nvSpPr>
        <p:spPr bwMode="auto">
          <a:xfrm>
            <a:off x="250825" y="333375"/>
            <a:ext cx="8642350" cy="695325"/>
          </a:xfrm>
          <a:prstGeom prst="rect">
            <a:avLst/>
          </a:prstGeom>
          <a:noFill/>
          <a:ln w="9525">
            <a:noFill/>
            <a:miter lim="800000"/>
            <a:headEnd/>
            <a:tailEnd/>
          </a:ln>
          <a:effectLst/>
        </p:spPr>
        <p:txBody>
          <a:bodyPr anchor="b"/>
          <a:lstStyle/>
          <a:p>
            <a:pPr algn="ctr"/>
            <a:r>
              <a:rPr lang="en-US" altLang="zh-CN" sz="3600">
                <a:solidFill>
                  <a:schemeClr val="tx2"/>
                </a:solidFill>
              </a:rPr>
              <a:t>1.4.3 </a:t>
            </a:r>
            <a:r>
              <a:rPr lang="zh-CN" altLang="en-US" sz="3600">
                <a:solidFill>
                  <a:schemeClr val="tx2"/>
                </a:solidFill>
              </a:rPr>
              <a:t>时延</a:t>
            </a:r>
            <a:r>
              <a:rPr lang="en-US" altLang="zh-CN" sz="3600">
                <a:solidFill>
                  <a:schemeClr val="tx2"/>
                </a:solidFill>
              </a:rPr>
              <a:t>(delay </a:t>
            </a:r>
            <a:r>
              <a:rPr lang="zh-CN" altLang="en-US" sz="3600">
                <a:solidFill>
                  <a:schemeClr val="tx2"/>
                </a:solidFill>
              </a:rPr>
              <a:t>或 </a:t>
            </a:r>
            <a:r>
              <a:rPr lang="en-US" altLang="zh-CN" sz="3600">
                <a:solidFill>
                  <a:schemeClr val="tx2"/>
                </a:solidFill>
              </a:rPr>
              <a:t>latency)(P19)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2"/>
                                        </p:tgtEl>
                                        <p:attrNameLst>
                                          <p:attrName>style.visibility</p:attrName>
                                        </p:attrNameLst>
                                      </p:cBhvr>
                                      <p:to>
                                        <p:strVal val="visible"/>
                                      </p:to>
                                    </p:set>
                                  </p:childTnLst>
                                </p:cTn>
                              </p:par>
                            </p:childTnLst>
                          </p:cTn>
                        </p:par>
                        <p:par>
                          <p:cTn id="15" fill="hold">
                            <p:stCondLst>
                              <p:cond delay="0"/>
                            </p:stCondLst>
                            <p:childTnLst>
                              <p:par>
                                <p:cTn id="16" presetID="6" presetClass="emph" presetSubtype="0" fill="hold" nodeType="afterEffect">
                                  <p:stCondLst>
                                    <p:cond delay="0"/>
                                  </p:stCondLst>
                                  <p:childTnLst>
                                    <p:animScale>
                                      <p:cBhvr>
                                        <p:cTn id="17" dur="1000" fill="hold"/>
                                        <p:tgtEl>
                                          <p:spTgt spid="5325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57200" y="274638"/>
            <a:ext cx="7567613" cy="1143000"/>
          </a:xfrm>
        </p:spPr>
        <p:txBody>
          <a:bodyPr/>
          <a:lstStyle/>
          <a:p>
            <a:r>
              <a:rPr lang="zh-CN" altLang="en-US"/>
              <a:t>时延</a:t>
            </a:r>
            <a:r>
              <a:rPr lang="en-US" altLang="zh-CN"/>
              <a:t>(delay </a:t>
            </a:r>
            <a:r>
              <a:rPr lang="zh-CN" altLang="en-US"/>
              <a:t>或 </a:t>
            </a:r>
            <a:r>
              <a:rPr lang="en-US" altLang="zh-CN"/>
              <a:t>latency)</a:t>
            </a:r>
          </a:p>
        </p:txBody>
      </p:sp>
      <p:sp>
        <p:nvSpPr>
          <p:cNvPr id="54275" name="Rectangle 3"/>
          <p:cNvSpPr>
            <a:spLocks noGrp="1" noChangeArrowheads="1"/>
          </p:cNvSpPr>
          <p:nvPr>
            <p:ph type="body" idx="1"/>
          </p:nvPr>
        </p:nvSpPr>
        <p:spPr>
          <a:xfrm>
            <a:off x="457200" y="1838325"/>
            <a:ext cx="8229600" cy="2928938"/>
          </a:xfrm>
        </p:spPr>
        <p:txBody>
          <a:bodyPr/>
          <a:lstStyle/>
          <a:p>
            <a:r>
              <a:rPr lang="zh-CN" altLang="en-US">
                <a:solidFill>
                  <a:schemeClr val="hlink"/>
                </a:solidFill>
              </a:rPr>
              <a:t>传播时延    </a:t>
            </a:r>
            <a:r>
              <a:rPr lang="zh-CN" altLang="en-US"/>
              <a:t>电磁波在信道中需要传播一定的距离而花费的时间。 </a:t>
            </a:r>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zh-CN" altLang="en-US"/>
          </a:p>
        </p:txBody>
      </p:sp>
      <p:grpSp>
        <p:nvGrpSpPr>
          <p:cNvPr id="54277" name="Group 5"/>
          <p:cNvGrpSpPr>
            <a:grpSpLocks/>
          </p:cNvGrpSpPr>
          <p:nvPr/>
        </p:nvGrpSpPr>
        <p:grpSpPr bwMode="auto">
          <a:xfrm>
            <a:off x="1258888" y="3716338"/>
            <a:ext cx="7088187" cy="1225550"/>
            <a:chOff x="1020" y="2840"/>
            <a:chExt cx="4264" cy="772"/>
          </a:xfrm>
        </p:grpSpPr>
        <p:sp>
          <p:nvSpPr>
            <p:cNvPr id="54278" name="Rectangle 6"/>
            <p:cNvSpPr>
              <a:spLocks noChangeArrowheads="1"/>
            </p:cNvSpPr>
            <p:nvPr/>
          </p:nvSpPr>
          <p:spPr bwMode="auto">
            <a:xfrm>
              <a:off x="1020" y="2840"/>
              <a:ext cx="4264" cy="772"/>
            </a:xfrm>
            <a:prstGeom prst="rect">
              <a:avLst/>
            </a:prstGeom>
            <a:solidFill>
              <a:srgbClr val="FFFF99"/>
            </a:solidFill>
            <a:ln w="76200" cmpd="tri">
              <a:solidFill>
                <a:schemeClr val="folHlink"/>
              </a:solidFill>
              <a:miter lim="800000"/>
              <a:headEnd/>
              <a:tailEnd/>
            </a:ln>
            <a:effectLst/>
          </p:spPr>
          <p:txBody>
            <a:bodyPr wrap="none" anchor="ctr"/>
            <a:lstStyle/>
            <a:p>
              <a:endParaRPr lang="zh-CN" altLang="en-US"/>
            </a:p>
          </p:txBody>
        </p:sp>
        <p:sp>
          <p:nvSpPr>
            <p:cNvPr id="54279" name="Text Box 7"/>
            <p:cNvSpPr txBox="1">
              <a:spLocks noChangeArrowheads="1"/>
            </p:cNvSpPr>
            <p:nvPr/>
          </p:nvSpPr>
          <p:spPr bwMode="auto">
            <a:xfrm>
              <a:off x="1134" y="3060"/>
              <a:ext cx="1092" cy="288"/>
            </a:xfrm>
            <a:prstGeom prst="rect">
              <a:avLst/>
            </a:prstGeom>
            <a:solidFill>
              <a:srgbClr val="FFFF99"/>
            </a:solidFill>
            <a:ln w="9525">
              <a:noFill/>
              <a:miter lim="800000"/>
              <a:headEnd/>
              <a:tailEnd/>
            </a:ln>
            <a:effectLst/>
          </p:spPr>
          <p:txBody>
            <a:bodyPr wrap="none">
              <a:spAutoFit/>
            </a:bodyPr>
            <a:lstStyle/>
            <a:p>
              <a:r>
                <a:rPr lang="zh-CN" altLang="en-US" sz="2400">
                  <a:solidFill>
                    <a:srgbClr val="333399"/>
                  </a:solidFill>
                  <a:latin typeface="Tahoma" pitchFamily="34" charset="0"/>
                  <a:ea typeface="黑体" pitchFamily="49" charset="-122"/>
                </a:rPr>
                <a:t>传播时延 </a:t>
              </a:r>
              <a:r>
                <a:rPr lang="en-US" altLang="zh-CN" sz="2400">
                  <a:solidFill>
                    <a:srgbClr val="333399"/>
                  </a:solidFill>
                  <a:latin typeface="Tahoma" pitchFamily="34" charset="0"/>
                  <a:ea typeface="黑体" pitchFamily="49" charset="-122"/>
                </a:rPr>
                <a:t>= </a:t>
              </a:r>
            </a:p>
          </p:txBody>
        </p:sp>
        <p:sp>
          <p:nvSpPr>
            <p:cNvPr id="54280" name="Text Box 8"/>
            <p:cNvSpPr txBox="1">
              <a:spLocks noChangeArrowheads="1"/>
            </p:cNvSpPr>
            <p:nvPr/>
          </p:nvSpPr>
          <p:spPr bwMode="auto">
            <a:xfrm>
              <a:off x="3053" y="2924"/>
              <a:ext cx="1365" cy="288"/>
            </a:xfrm>
            <a:prstGeom prst="rect">
              <a:avLst/>
            </a:prstGeom>
            <a:solidFill>
              <a:srgbClr val="FFFF99"/>
            </a:solidFill>
            <a:ln w="9525">
              <a:noFill/>
              <a:miter lim="800000"/>
              <a:headEnd/>
              <a:tailEnd/>
            </a:ln>
            <a:effectLst/>
          </p:spPr>
          <p:txBody>
            <a:bodyPr wrap="none">
              <a:spAutoFit/>
            </a:bodyPr>
            <a:lstStyle/>
            <a:p>
              <a:r>
                <a:rPr lang="zh-CN" altLang="en-US" sz="2400">
                  <a:solidFill>
                    <a:srgbClr val="333399"/>
                  </a:solidFill>
                  <a:latin typeface="Tahoma" pitchFamily="34" charset="0"/>
                  <a:ea typeface="黑体" pitchFamily="49" charset="-122"/>
                </a:rPr>
                <a:t>信道长度（</a:t>
              </a:r>
              <a:r>
                <a:rPr lang="en-US" altLang="zh-CN" sz="2400">
                  <a:solidFill>
                    <a:schemeClr val="hlink"/>
                  </a:solidFill>
                  <a:latin typeface="Tahoma" pitchFamily="34" charset="0"/>
                  <a:ea typeface="黑体" pitchFamily="49" charset="-122"/>
                </a:rPr>
                <a:t>m</a:t>
              </a:r>
              <a:r>
                <a:rPr lang="zh-CN" altLang="en-US" sz="2400">
                  <a:solidFill>
                    <a:srgbClr val="333399"/>
                  </a:solidFill>
                  <a:latin typeface="Tahoma" pitchFamily="34" charset="0"/>
                  <a:ea typeface="黑体" pitchFamily="49" charset="-122"/>
                </a:rPr>
                <a:t>）</a:t>
              </a:r>
            </a:p>
          </p:txBody>
        </p:sp>
        <p:sp>
          <p:nvSpPr>
            <p:cNvPr id="54281" name="Text Box 9"/>
            <p:cNvSpPr txBox="1">
              <a:spLocks noChangeArrowheads="1"/>
            </p:cNvSpPr>
            <p:nvPr/>
          </p:nvSpPr>
          <p:spPr bwMode="auto">
            <a:xfrm>
              <a:off x="2185" y="3241"/>
              <a:ext cx="2984" cy="288"/>
            </a:xfrm>
            <a:prstGeom prst="rect">
              <a:avLst/>
            </a:prstGeom>
            <a:solidFill>
              <a:srgbClr val="FFFF99"/>
            </a:solidFill>
            <a:ln w="9525">
              <a:noFill/>
              <a:miter lim="800000"/>
              <a:headEnd/>
              <a:tailEnd/>
            </a:ln>
            <a:effectLst/>
          </p:spPr>
          <p:txBody>
            <a:bodyPr wrap="none">
              <a:spAutoFit/>
            </a:bodyPr>
            <a:lstStyle/>
            <a:p>
              <a:r>
                <a:rPr lang="zh-CN" altLang="en-US" sz="2400">
                  <a:solidFill>
                    <a:srgbClr val="333399"/>
                  </a:solidFill>
                  <a:latin typeface="Tahoma" pitchFamily="34" charset="0"/>
                  <a:ea typeface="黑体" pitchFamily="49" charset="-122"/>
                </a:rPr>
                <a:t>电磁波在信道上的传播速率（</a:t>
              </a:r>
              <a:r>
                <a:rPr lang="en-US" altLang="zh-CN" sz="2400">
                  <a:solidFill>
                    <a:schemeClr val="hlink"/>
                  </a:solidFill>
                  <a:latin typeface="Tahoma" pitchFamily="34" charset="0"/>
                  <a:ea typeface="黑体" pitchFamily="49" charset="-122"/>
                </a:rPr>
                <a:t>m/s</a:t>
              </a:r>
              <a:r>
                <a:rPr lang="zh-CN" altLang="en-US" sz="2400">
                  <a:solidFill>
                    <a:srgbClr val="333399"/>
                  </a:solidFill>
                  <a:latin typeface="Tahoma" pitchFamily="34" charset="0"/>
                  <a:ea typeface="黑体" pitchFamily="49" charset="-122"/>
                </a:rPr>
                <a:t>）</a:t>
              </a:r>
            </a:p>
          </p:txBody>
        </p:sp>
        <p:sp>
          <p:nvSpPr>
            <p:cNvPr id="54282" name="Line 10"/>
            <p:cNvSpPr>
              <a:spLocks noChangeShapeType="1"/>
            </p:cNvSpPr>
            <p:nvPr/>
          </p:nvSpPr>
          <p:spPr bwMode="auto">
            <a:xfrm>
              <a:off x="2190" y="3233"/>
              <a:ext cx="2913" cy="16"/>
            </a:xfrm>
            <a:prstGeom prst="line">
              <a:avLst/>
            </a:prstGeom>
            <a:noFill/>
            <a:ln w="28575">
              <a:solidFill>
                <a:schemeClr val="folHlink"/>
              </a:solidFill>
              <a:round/>
              <a:headEnd/>
              <a:tailEnd/>
            </a:ln>
            <a:effec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7"/>
                                        </p:tgtEl>
                                        <p:attrNameLst>
                                          <p:attrName>style.visibility</p:attrName>
                                        </p:attrNameLst>
                                      </p:cBhvr>
                                      <p:to>
                                        <p:strVal val="visible"/>
                                      </p:to>
                                    </p:set>
                                  </p:childTnLst>
                                </p:cTn>
                              </p:par>
                            </p:childTnLst>
                          </p:cTn>
                        </p:par>
                        <p:par>
                          <p:cTn id="11" fill="hold">
                            <p:stCondLst>
                              <p:cond delay="0"/>
                            </p:stCondLst>
                            <p:childTnLst>
                              <p:par>
                                <p:cTn id="12" presetID="6" presetClass="emph" presetSubtype="0" fill="hold" nodeType="afterEffect">
                                  <p:stCondLst>
                                    <p:cond delay="0"/>
                                  </p:stCondLst>
                                  <p:childTnLst>
                                    <p:animScale>
                                      <p:cBhvr>
                                        <p:cTn id="13" dur="1000" fill="hold"/>
                                        <p:tgtEl>
                                          <p:spTgt spid="54277"/>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57200" y="274638"/>
            <a:ext cx="7567613" cy="1143000"/>
          </a:xfrm>
        </p:spPr>
        <p:txBody>
          <a:bodyPr/>
          <a:lstStyle/>
          <a:p>
            <a:r>
              <a:rPr lang="zh-CN" altLang="en-US"/>
              <a:t>时延</a:t>
            </a:r>
            <a:r>
              <a:rPr lang="en-US" altLang="zh-CN"/>
              <a:t>(delay </a:t>
            </a:r>
            <a:r>
              <a:rPr lang="zh-CN" altLang="en-US"/>
              <a:t>或 </a:t>
            </a:r>
            <a:r>
              <a:rPr lang="en-US" altLang="zh-CN"/>
              <a:t>latency)</a:t>
            </a:r>
          </a:p>
        </p:txBody>
      </p:sp>
      <p:sp>
        <p:nvSpPr>
          <p:cNvPr id="55299" name="Rectangle 3"/>
          <p:cNvSpPr>
            <a:spLocks noGrp="1" noChangeArrowheads="1"/>
          </p:cNvSpPr>
          <p:nvPr>
            <p:ph type="body" idx="1"/>
          </p:nvPr>
        </p:nvSpPr>
        <p:spPr>
          <a:xfrm>
            <a:off x="1042988" y="1989138"/>
            <a:ext cx="7772400" cy="4679950"/>
          </a:xfrm>
        </p:spPr>
        <p:txBody>
          <a:bodyPr/>
          <a:lstStyle/>
          <a:p>
            <a:r>
              <a:rPr lang="zh-CN" altLang="en-US">
                <a:solidFill>
                  <a:schemeClr val="hlink"/>
                </a:solidFill>
              </a:rPr>
              <a:t>处理时延    </a:t>
            </a:r>
            <a:r>
              <a:rPr lang="zh-CN" altLang="en-US"/>
              <a:t>交换结点为存储转发而进行一些必要的处理所花费的时间。 </a:t>
            </a:r>
          </a:p>
          <a:p>
            <a:r>
              <a:rPr lang="zh-CN" altLang="en-US">
                <a:solidFill>
                  <a:schemeClr val="hlink"/>
                </a:solidFill>
              </a:rPr>
              <a:t>排队时延    </a:t>
            </a:r>
            <a:r>
              <a:rPr lang="zh-CN" altLang="en-US"/>
              <a:t>结点缓存队列中分组</a:t>
            </a:r>
            <a:r>
              <a:rPr lang="zh-CN" altLang="en-US">
                <a:solidFill>
                  <a:schemeClr val="hlink"/>
                </a:solidFill>
              </a:rPr>
              <a:t>排队</a:t>
            </a:r>
            <a:r>
              <a:rPr lang="zh-CN" altLang="en-US"/>
              <a:t>所经历的时延。</a:t>
            </a:r>
          </a:p>
          <a:p>
            <a:endParaRPr lang="en-US" altLang="zh-CN"/>
          </a:p>
        </p:txBody>
      </p:sp>
      <p:sp>
        <p:nvSpPr>
          <p:cNvPr id="55300" name="Rectangle 4"/>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29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57200" y="274638"/>
            <a:ext cx="7567613" cy="1143000"/>
          </a:xfrm>
        </p:spPr>
        <p:txBody>
          <a:bodyPr/>
          <a:lstStyle/>
          <a:p>
            <a:r>
              <a:rPr lang="zh-CN" altLang="en-US"/>
              <a:t>时延</a:t>
            </a:r>
            <a:r>
              <a:rPr lang="en-US" altLang="zh-CN"/>
              <a:t>(delay </a:t>
            </a:r>
            <a:r>
              <a:rPr lang="zh-CN" altLang="en-US"/>
              <a:t>或 </a:t>
            </a:r>
            <a:r>
              <a:rPr lang="en-US" altLang="zh-CN"/>
              <a:t>latency)</a:t>
            </a:r>
          </a:p>
        </p:txBody>
      </p:sp>
      <p:sp>
        <p:nvSpPr>
          <p:cNvPr id="56323" name="Rectangle 3"/>
          <p:cNvSpPr>
            <a:spLocks noGrp="1" noChangeArrowheads="1"/>
          </p:cNvSpPr>
          <p:nvPr>
            <p:ph type="body" idx="1"/>
          </p:nvPr>
        </p:nvSpPr>
        <p:spPr>
          <a:xfrm>
            <a:off x="457200" y="1838325"/>
            <a:ext cx="8229600" cy="1504950"/>
          </a:xfrm>
        </p:spPr>
        <p:txBody>
          <a:bodyPr/>
          <a:lstStyle/>
          <a:p>
            <a:r>
              <a:rPr lang="zh-CN" altLang="en-US"/>
              <a:t>数据经历的总时延就是发送时延、传播时延、处理时延和排队时延之和： </a:t>
            </a:r>
          </a:p>
          <a:p>
            <a:endParaRPr lang="zh-CN" altLang="en-US"/>
          </a:p>
          <a:p>
            <a:endParaRPr lang="zh-CN" altLang="en-US"/>
          </a:p>
          <a:p>
            <a:endParaRPr lang="en-US" altLang="zh-CN"/>
          </a:p>
        </p:txBody>
      </p:sp>
      <p:sp>
        <p:nvSpPr>
          <p:cNvPr id="56324" name="Rectangle 4"/>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56325" name="Text Box 5"/>
          <p:cNvSpPr txBox="1">
            <a:spLocks noChangeArrowheads="1"/>
          </p:cNvSpPr>
          <p:nvPr/>
        </p:nvSpPr>
        <p:spPr bwMode="auto">
          <a:xfrm>
            <a:off x="1042988" y="3789363"/>
            <a:ext cx="7561262" cy="457200"/>
          </a:xfrm>
          <a:prstGeom prst="rect">
            <a:avLst/>
          </a:prstGeom>
          <a:solidFill>
            <a:srgbClr val="FFFF99"/>
          </a:solidFill>
          <a:ln w="76200" cmpd="tri">
            <a:noFill/>
            <a:miter lim="800000"/>
            <a:headEnd/>
            <a:tailEnd/>
          </a:ln>
          <a:effectLst/>
        </p:spPr>
        <p:txBody>
          <a:bodyPr>
            <a:spAutoFit/>
          </a:bodyPr>
          <a:lstStyle/>
          <a:p>
            <a:r>
              <a:rPr lang="zh-CN" altLang="en-US" sz="2400">
                <a:solidFill>
                  <a:srgbClr val="333399"/>
                </a:solidFill>
                <a:latin typeface="Tahoma" pitchFamily="34" charset="0"/>
                <a:ea typeface="黑体" pitchFamily="49" charset="-122"/>
              </a:rPr>
              <a:t>总时延 </a:t>
            </a:r>
            <a:r>
              <a:rPr lang="en-US" altLang="zh-CN" sz="2400">
                <a:solidFill>
                  <a:srgbClr val="333399"/>
                </a:solidFill>
                <a:latin typeface="Tahoma" pitchFamily="34" charset="0"/>
                <a:ea typeface="黑体" pitchFamily="49" charset="-122"/>
              </a:rPr>
              <a:t>= </a:t>
            </a:r>
            <a:r>
              <a:rPr lang="zh-CN" altLang="en-US" sz="2400">
                <a:solidFill>
                  <a:srgbClr val="333399"/>
                </a:solidFill>
                <a:latin typeface="Tahoma" pitchFamily="34" charset="0"/>
                <a:ea typeface="黑体" pitchFamily="49" charset="-122"/>
              </a:rPr>
              <a:t>发送时延</a:t>
            </a:r>
            <a:r>
              <a:rPr lang="en-US" altLang="zh-CN" sz="2400">
                <a:solidFill>
                  <a:srgbClr val="333399"/>
                </a:solidFill>
                <a:latin typeface="Tahoma" pitchFamily="34" charset="0"/>
                <a:ea typeface="黑体" pitchFamily="49" charset="-122"/>
              </a:rPr>
              <a:t>+</a:t>
            </a:r>
            <a:r>
              <a:rPr lang="zh-CN" altLang="en-US" sz="2400">
                <a:solidFill>
                  <a:srgbClr val="333399"/>
                </a:solidFill>
                <a:latin typeface="Tahoma" pitchFamily="34" charset="0"/>
                <a:ea typeface="黑体" pitchFamily="49" charset="-122"/>
              </a:rPr>
              <a:t>传播时延</a:t>
            </a:r>
            <a:r>
              <a:rPr lang="en-US" altLang="zh-CN" sz="2400">
                <a:solidFill>
                  <a:srgbClr val="333399"/>
                </a:solidFill>
                <a:latin typeface="Tahoma" pitchFamily="34" charset="0"/>
                <a:ea typeface="黑体" pitchFamily="49" charset="-122"/>
              </a:rPr>
              <a:t>+</a:t>
            </a:r>
            <a:r>
              <a:rPr lang="zh-CN" altLang="en-US" sz="2400">
                <a:solidFill>
                  <a:srgbClr val="333399"/>
                </a:solidFill>
                <a:latin typeface="Tahoma" pitchFamily="34" charset="0"/>
                <a:ea typeface="黑体" pitchFamily="49" charset="-122"/>
              </a:rPr>
              <a:t>处理时延</a:t>
            </a:r>
            <a:r>
              <a:rPr lang="en-US" altLang="zh-CN" sz="2400">
                <a:solidFill>
                  <a:srgbClr val="333399"/>
                </a:solidFill>
                <a:latin typeface="Tahoma" pitchFamily="34" charset="0"/>
              </a:rPr>
              <a:t>+</a:t>
            </a:r>
            <a:r>
              <a:rPr lang="zh-CN" altLang="en-US" sz="2400">
                <a:solidFill>
                  <a:srgbClr val="333399"/>
                </a:solidFill>
                <a:latin typeface="Tahoma" pitchFamily="34" charset="0"/>
                <a:ea typeface="黑体" pitchFamily="49" charset="-122"/>
              </a:rPr>
              <a:t>排队时延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5"/>
                                        </p:tgtEl>
                                        <p:attrNameLst>
                                          <p:attrName>style.visibility</p:attrName>
                                        </p:attrNameLst>
                                      </p:cBhvr>
                                      <p:to>
                                        <p:strVal val="visible"/>
                                      </p:to>
                                    </p:set>
                                  </p:childTnLst>
                                </p:cTn>
                              </p:par>
                            </p:childTnLst>
                          </p:cTn>
                        </p:par>
                        <p:par>
                          <p:cTn id="11" fill="hold">
                            <p:stCondLst>
                              <p:cond delay="0"/>
                            </p:stCondLst>
                            <p:childTnLst>
                              <p:par>
                                <p:cTn id="12" presetID="6" presetClass="emph" presetSubtype="0" fill="hold" grpId="1" nodeType="afterEffect">
                                  <p:stCondLst>
                                    <p:cond delay="0"/>
                                  </p:stCondLst>
                                  <p:childTnLst>
                                    <p:animScale>
                                      <p:cBhvr>
                                        <p:cTn id="13" dur="1000" fill="hold"/>
                                        <p:tgtEl>
                                          <p:spTgt spid="56325"/>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P spid="56325" grpId="0" animBg="1"/>
      <p:bldP spid="56325"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258888" y="115888"/>
            <a:ext cx="7165975" cy="768350"/>
          </a:xfrm>
        </p:spPr>
        <p:txBody>
          <a:bodyPr/>
          <a:lstStyle/>
          <a:p>
            <a:r>
              <a:rPr lang="zh-CN" altLang="en-US"/>
              <a:t>四种时延所产生的地方 </a:t>
            </a:r>
          </a:p>
        </p:txBody>
      </p:sp>
      <p:sp>
        <p:nvSpPr>
          <p:cNvPr id="57347" name="Rectangle 3"/>
          <p:cNvSpPr>
            <a:spLocks noChangeArrowheads="1"/>
          </p:cNvSpPr>
          <p:nvPr/>
        </p:nvSpPr>
        <p:spPr bwMode="auto">
          <a:xfrm>
            <a:off x="107950" y="0"/>
            <a:ext cx="9144000" cy="0"/>
          </a:xfrm>
          <a:prstGeom prst="rect">
            <a:avLst/>
          </a:prstGeom>
          <a:noFill/>
          <a:ln w="9525">
            <a:noFill/>
            <a:miter lim="800000"/>
            <a:headEnd/>
            <a:tailEnd/>
          </a:ln>
          <a:effectLst/>
        </p:spPr>
        <p:txBody>
          <a:bodyPr wrap="none" anchor="ctr">
            <a:spAutoFit/>
          </a:bodyPr>
          <a:lstStyle/>
          <a:p>
            <a:endParaRPr lang="zh-CN" altLang="en-US"/>
          </a:p>
        </p:txBody>
      </p:sp>
      <p:sp>
        <p:nvSpPr>
          <p:cNvPr id="57348" name="Rectangle 4"/>
          <p:cNvSpPr>
            <a:spLocks noChangeArrowheads="1"/>
          </p:cNvSpPr>
          <p:nvPr/>
        </p:nvSpPr>
        <p:spPr bwMode="auto">
          <a:xfrm>
            <a:off x="2136775" y="4702175"/>
            <a:ext cx="5522913" cy="265113"/>
          </a:xfrm>
          <a:prstGeom prst="rect">
            <a:avLst/>
          </a:prstGeom>
          <a:gradFill rotWithShape="1">
            <a:gsLst>
              <a:gs pos="0">
                <a:srgbClr val="B2B2B2">
                  <a:gamma/>
                  <a:shade val="27451"/>
                  <a:invGamma/>
                </a:srgbClr>
              </a:gs>
              <a:gs pos="50000">
                <a:srgbClr val="B2B2B2"/>
              </a:gs>
              <a:gs pos="100000">
                <a:srgbClr val="B2B2B2">
                  <a:gamma/>
                  <a:shade val="27451"/>
                  <a:invGamma/>
                </a:srgbClr>
              </a:gs>
            </a:gsLst>
            <a:lin ang="5400000" scaled="1"/>
          </a:gradFill>
          <a:ln w="9525">
            <a:solidFill>
              <a:schemeClr val="folHlink"/>
            </a:solidFill>
            <a:miter lim="800000"/>
            <a:headEnd/>
            <a:tailEnd/>
          </a:ln>
          <a:effectLst/>
        </p:spPr>
        <p:txBody>
          <a:bodyPr wrap="none" anchor="ctr"/>
          <a:lstStyle/>
          <a:p>
            <a:endParaRPr lang="zh-CN" altLang="en-US"/>
          </a:p>
        </p:txBody>
      </p:sp>
      <p:sp>
        <p:nvSpPr>
          <p:cNvPr id="57349" name="Oval 5"/>
          <p:cNvSpPr>
            <a:spLocks noChangeArrowheads="1"/>
          </p:cNvSpPr>
          <p:nvPr/>
        </p:nvSpPr>
        <p:spPr bwMode="auto">
          <a:xfrm>
            <a:off x="868363" y="4168775"/>
            <a:ext cx="1358900" cy="1331913"/>
          </a:xfrm>
          <a:prstGeom prst="ellipse">
            <a:avLst/>
          </a:prstGeom>
          <a:gradFill rotWithShape="1">
            <a:gsLst>
              <a:gs pos="0">
                <a:srgbClr val="FFFF99"/>
              </a:gs>
              <a:gs pos="100000">
                <a:srgbClr val="FFFF99">
                  <a:gamma/>
                  <a:shade val="69804"/>
                  <a:invGamma/>
                </a:srgbClr>
              </a:gs>
            </a:gsLst>
            <a:path path="shape">
              <a:fillToRect l="50000" t="50000" r="50000" b="50000"/>
            </a:path>
          </a:gradFill>
          <a:ln w="9525">
            <a:solidFill>
              <a:schemeClr val="folHlink"/>
            </a:solidFill>
            <a:round/>
            <a:headEnd/>
            <a:tailEnd/>
          </a:ln>
          <a:effectLst/>
        </p:spPr>
        <p:txBody>
          <a:bodyPr wrap="none" anchor="ctr"/>
          <a:lstStyle/>
          <a:p>
            <a:endParaRPr lang="zh-CN" altLang="en-US"/>
          </a:p>
        </p:txBody>
      </p:sp>
      <p:sp>
        <p:nvSpPr>
          <p:cNvPr id="57350" name="Oval 6"/>
          <p:cNvSpPr>
            <a:spLocks noChangeArrowheads="1"/>
          </p:cNvSpPr>
          <p:nvPr/>
        </p:nvSpPr>
        <p:spPr bwMode="auto">
          <a:xfrm>
            <a:off x="7569200" y="4168775"/>
            <a:ext cx="1358900" cy="1331913"/>
          </a:xfrm>
          <a:prstGeom prst="ellipse">
            <a:avLst/>
          </a:prstGeom>
          <a:gradFill rotWithShape="1">
            <a:gsLst>
              <a:gs pos="0">
                <a:srgbClr val="FFFF99"/>
              </a:gs>
              <a:gs pos="100000">
                <a:srgbClr val="FFFF99">
                  <a:gamma/>
                  <a:shade val="66667"/>
                  <a:invGamma/>
                </a:srgbClr>
              </a:gs>
            </a:gsLst>
            <a:path path="shape">
              <a:fillToRect l="50000" t="50000" r="50000" b="50000"/>
            </a:path>
          </a:gradFill>
          <a:ln w="9525">
            <a:solidFill>
              <a:schemeClr val="folHlink"/>
            </a:solidFill>
            <a:round/>
            <a:headEnd/>
            <a:tailEnd/>
          </a:ln>
          <a:effectLst/>
        </p:spPr>
        <p:txBody>
          <a:bodyPr wrap="none" anchor="ctr"/>
          <a:lstStyle/>
          <a:p>
            <a:endParaRPr lang="zh-CN" altLang="en-US"/>
          </a:p>
        </p:txBody>
      </p:sp>
      <p:grpSp>
        <p:nvGrpSpPr>
          <p:cNvPr id="57351" name="Group 7"/>
          <p:cNvGrpSpPr>
            <a:grpSpLocks/>
          </p:cNvGrpSpPr>
          <p:nvPr/>
        </p:nvGrpSpPr>
        <p:grpSpPr bwMode="auto">
          <a:xfrm>
            <a:off x="1230313" y="4576763"/>
            <a:ext cx="723900" cy="458787"/>
            <a:chOff x="1567" y="1056"/>
            <a:chExt cx="384" cy="336"/>
          </a:xfrm>
        </p:grpSpPr>
        <p:sp>
          <p:nvSpPr>
            <p:cNvPr id="57352" name="Rectangle 8"/>
            <p:cNvSpPr>
              <a:spLocks noChangeArrowheads="1"/>
            </p:cNvSpPr>
            <p:nvPr/>
          </p:nvSpPr>
          <p:spPr bwMode="auto">
            <a:xfrm>
              <a:off x="1663" y="1056"/>
              <a:ext cx="288" cy="336"/>
            </a:xfrm>
            <a:prstGeom prst="rect">
              <a:avLst/>
            </a:prstGeom>
            <a:solidFill>
              <a:srgbClr val="99CCFF"/>
            </a:solidFill>
            <a:ln w="9525">
              <a:solidFill>
                <a:schemeClr val="folHlink"/>
              </a:solidFill>
              <a:miter lim="800000"/>
              <a:headEnd/>
              <a:tailEnd/>
            </a:ln>
            <a:effectLst/>
          </p:spPr>
          <p:txBody>
            <a:bodyPr wrap="none" anchor="ctr"/>
            <a:lstStyle/>
            <a:p>
              <a:endParaRPr lang="zh-CN" altLang="en-US"/>
            </a:p>
          </p:txBody>
        </p:sp>
        <p:sp>
          <p:nvSpPr>
            <p:cNvPr id="57353" name="Freeform 9"/>
            <p:cNvSpPr>
              <a:spLocks/>
            </p:cNvSpPr>
            <p:nvPr/>
          </p:nvSpPr>
          <p:spPr bwMode="auto">
            <a:xfrm>
              <a:off x="1567" y="1056"/>
              <a:ext cx="384" cy="336"/>
            </a:xfrm>
            <a:custGeom>
              <a:avLst/>
              <a:gdLst/>
              <a:ahLst/>
              <a:cxnLst>
                <a:cxn ang="0">
                  <a:pos x="0" y="0"/>
                </a:cxn>
                <a:cxn ang="0">
                  <a:pos x="384" y="0"/>
                </a:cxn>
                <a:cxn ang="0">
                  <a:pos x="384" y="336"/>
                </a:cxn>
                <a:cxn ang="0">
                  <a:pos x="0" y="336"/>
                </a:cxn>
              </a:cxnLst>
              <a:rect l="0" t="0" r="r" b="b"/>
              <a:pathLst>
                <a:path w="384" h="336">
                  <a:moveTo>
                    <a:pt x="0" y="0"/>
                  </a:moveTo>
                  <a:lnTo>
                    <a:pt x="384" y="0"/>
                  </a:lnTo>
                  <a:lnTo>
                    <a:pt x="384" y="336"/>
                  </a:lnTo>
                  <a:lnTo>
                    <a:pt x="0" y="336"/>
                  </a:lnTo>
                </a:path>
              </a:pathLst>
            </a:custGeom>
            <a:noFill/>
            <a:ln w="28575" cmpd="sng">
              <a:solidFill>
                <a:schemeClr val="folHlink"/>
              </a:solidFill>
              <a:round/>
              <a:headEnd/>
              <a:tailEnd/>
            </a:ln>
            <a:effectLst/>
          </p:spPr>
          <p:txBody>
            <a:bodyPr/>
            <a:lstStyle/>
            <a:p>
              <a:endParaRPr lang="zh-CN" altLang="en-US"/>
            </a:p>
          </p:txBody>
        </p:sp>
        <p:sp>
          <p:nvSpPr>
            <p:cNvPr id="57354" name="Line 10"/>
            <p:cNvSpPr>
              <a:spLocks noChangeShapeType="1"/>
            </p:cNvSpPr>
            <p:nvPr/>
          </p:nvSpPr>
          <p:spPr bwMode="auto">
            <a:xfrm>
              <a:off x="1855" y="1056"/>
              <a:ext cx="0" cy="336"/>
            </a:xfrm>
            <a:prstGeom prst="line">
              <a:avLst/>
            </a:prstGeom>
            <a:noFill/>
            <a:ln w="9525">
              <a:solidFill>
                <a:schemeClr val="folHlink"/>
              </a:solidFill>
              <a:round/>
              <a:headEnd/>
              <a:tailEnd/>
            </a:ln>
            <a:effectLst/>
          </p:spPr>
          <p:txBody>
            <a:bodyPr/>
            <a:lstStyle/>
            <a:p>
              <a:endParaRPr lang="zh-CN" altLang="en-US"/>
            </a:p>
          </p:txBody>
        </p:sp>
        <p:sp>
          <p:nvSpPr>
            <p:cNvPr id="57355" name="Line 11"/>
            <p:cNvSpPr>
              <a:spLocks noChangeShapeType="1"/>
            </p:cNvSpPr>
            <p:nvPr/>
          </p:nvSpPr>
          <p:spPr bwMode="auto">
            <a:xfrm>
              <a:off x="1759" y="1056"/>
              <a:ext cx="0" cy="336"/>
            </a:xfrm>
            <a:prstGeom prst="line">
              <a:avLst/>
            </a:prstGeom>
            <a:noFill/>
            <a:ln w="9525">
              <a:solidFill>
                <a:schemeClr val="folHlink"/>
              </a:solidFill>
              <a:round/>
              <a:headEnd/>
              <a:tailEnd/>
            </a:ln>
            <a:effectLst/>
          </p:spPr>
          <p:txBody>
            <a:bodyPr/>
            <a:lstStyle/>
            <a:p>
              <a:endParaRPr lang="zh-CN" altLang="en-US"/>
            </a:p>
          </p:txBody>
        </p:sp>
        <p:sp>
          <p:nvSpPr>
            <p:cNvPr id="57356" name="Line 12"/>
            <p:cNvSpPr>
              <a:spLocks noChangeShapeType="1"/>
            </p:cNvSpPr>
            <p:nvPr/>
          </p:nvSpPr>
          <p:spPr bwMode="auto">
            <a:xfrm>
              <a:off x="1663" y="1056"/>
              <a:ext cx="0" cy="336"/>
            </a:xfrm>
            <a:prstGeom prst="line">
              <a:avLst/>
            </a:prstGeom>
            <a:noFill/>
            <a:ln w="9525">
              <a:solidFill>
                <a:schemeClr val="folHlink"/>
              </a:solidFill>
              <a:round/>
              <a:headEnd/>
              <a:tailEnd/>
            </a:ln>
            <a:effectLst/>
          </p:spPr>
          <p:txBody>
            <a:bodyPr/>
            <a:lstStyle/>
            <a:p>
              <a:endParaRPr lang="zh-CN" altLang="en-US"/>
            </a:p>
          </p:txBody>
        </p:sp>
      </p:grpSp>
      <p:sp>
        <p:nvSpPr>
          <p:cNvPr id="57357" name="Line 13"/>
          <p:cNvSpPr>
            <a:spLocks noChangeShapeType="1"/>
          </p:cNvSpPr>
          <p:nvPr/>
        </p:nvSpPr>
        <p:spPr bwMode="auto">
          <a:xfrm>
            <a:off x="1949450" y="4822825"/>
            <a:ext cx="271463" cy="6350"/>
          </a:xfrm>
          <a:prstGeom prst="line">
            <a:avLst/>
          </a:prstGeom>
          <a:noFill/>
          <a:ln w="28575">
            <a:solidFill>
              <a:schemeClr val="folHlink"/>
            </a:solidFill>
            <a:round/>
            <a:headEnd/>
            <a:tailEnd/>
          </a:ln>
          <a:effectLst/>
        </p:spPr>
        <p:txBody>
          <a:bodyPr/>
          <a:lstStyle/>
          <a:p>
            <a:endParaRPr lang="zh-CN" altLang="en-US"/>
          </a:p>
        </p:txBody>
      </p:sp>
      <p:sp>
        <p:nvSpPr>
          <p:cNvPr id="57358" name="Rectangle 14"/>
          <p:cNvSpPr>
            <a:spLocks noChangeArrowheads="1"/>
          </p:cNvSpPr>
          <p:nvPr/>
        </p:nvSpPr>
        <p:spPr bwMode="auto">
          <a:xfrm>
            <a:off x="2011363" y="4729163"/>
            <a:ext cx="169862" cy="193675"/>
          </a:xfrm>
          <a:prstGeom prst="rect">
            <a:avLst/>
          </a:prstGeom>
          <a:solidFill>
            <a:schemeClr val="hlink"/>
          </a:solidFill>
          <a:ln w="9525">
            <a:solidFill>
              <a:schemeClr val="folHlink"/>
            </a:solidFill>
            <a:miter lim="800000"/>
            <a:headEnd/>
            <a:tailEnd/>
          </a:ln>
          <a:effectLst/>
        </p:spPr>
        <p:txBody>
          <a:bodyPr wrap="none" anchor="ctr"/>
          <a:lstStyle/>
          <a:p>
            <a:endParaRPr lang="zh-CN" altLang="en-US"/>
          </a:p>
        </p:txBody>
      </p:sp>
      <p:sp>
        <p:nvSpPr>
          <p:cNvPr id="57359" name="AutoShape 15"/>
          <p:cNvSpPr>
            <a:spLocks noChangeArrowheads="1"/>
          </p:cNvSpPr>
          <p:nvPr/>
        </p:nvSpPr>
        <p:spPr bwMode="auto">
          <a:xfrm>
            <a:off x="2770188" y="4754563"/>
            <a:ext cx="1266825" cy="177800"/>
          </a:xfrm>
          <a:prstGeom prst="rightArrow">
            <a:avLst>
              <a:gd name="adj1" fmla="val 50000"/>
              <a:gd name="adj2" fmla="val 178125"/>
            </a:avLst>
          </a:prstGeom>
          <a:solidFill>
            <a:srgbClr val="00FFCC"/>
          </a:solidFill>
          <a:ln w="9525" algn="ctr">
            <a:solidFill>
              <a:schemeClr val="folHlink"/>
            </a:solidFill>
            <a:miter lim="800000"/>
            <a:headEnd/>
            <a:tailEnd/>
          </a:ln>
          <a:effectLst/>
        </p:spPr>
        <p:txBody>
          <a:bodyPr wrap="none" anchor="ctr"/>
          <a:lstStyle/>
          <a:p>
            <a:endParaRPr lang="zh-CN" altLang="en-US"/>
          </a:p>
        </p:txBody>
      </p:sp>
      <p:sp>
        <p:nvSpPr>
          <p:cNvPr id="57360" name="AutoShape 16"/>
          <p:cNvSpPr>
            <a:spLocks noChangeArrowheads="1"/>
          </p:cNvSpPr>
          <p:nvPr/>
        </p:nvSpPr>
        <p:spPr bwMode="auto">
          <a:xfrm>
            <a:off x="139700" y="4754563"/>
            <a:ext cx="1268413" cy="177800"/>
          </a:xfrm>
          <a:prstGeom prst="rightArrow">
            <a:avLst>
              <a:gd name="adj1" fmla="val 50000"/>
              <a:gd name="adj2" fmla="val 178348"/>
            </a:avLst>
          </a:prstGeom>
          <a:solidFill>
            <a:srgbClr val="00FFCC"/>
          </a:solidFill>
          <a:ln w="9525">
            <a:solidFill>
              <a:schemeClr val="folHlink"/>
            </a:solidFill>
            <a:miter lim="800000"/>
            <a:headEnd/>
            <a:tailEnd/>
          </a:ln>
          <a:effectLst/>
        </p:spPr>
        <p:txBody>
          <a:bodyPr wrap="none" anchor="ctr"/>
          <a:lstStyle/>
          <a:p>
            <a:endParaRPr lang="zh-CN" altLang="en-US"/>
          </a:p>
        </p:txBody>
      </p:sp>
      <p:sp>
        <p:nvSpPr>
          <p:cNvPr id="57361" name="AutoShape 17"/>
          <p:cNvSpPr>
            <a:spLocks noChangeArrowheads="1"/>
          </p:cNvSpPr>
          <p:nvPr/>
        </p:nvSpPr>
        <p:spPr bwMode="auto">
          <a:xfrm>
            <a:off x="6564313" y="4746625"/>
            <a:ext cx="1266825" cy="176213"/>
          </a:xfrm>
          <a:prstGeom prst="rightArrow">
            <a:avLst>
              <a:gd name="adj1" fmla="val 50000"/>
              <a:gd name="adj2" fmla="val 179729"/>
            </a:avLst>
          </a:prstGeom>
          <a:solidFill>
            <a:srgbClr val="00FFCC"/>
          </a:solidFill>
          <a:ln w="9525" algn="ctr">
            <a:solidFill>
              <a:schemeClr val="folHlink"/>
            </a:solidFill>
            <a:miter lim="800000"/>
            <a:headEnd/>
            <a:tailEnd/>
          </a:ln>
          <a:effectLst/>
        </p:spPr>
        <p:txBody>
          <a:bodyPr wrap="none" anchor="ctr"/>
          <a:lstStyle/>
          <a:p>
            <a:endParaRPr lang="zh-CN" altLang="en-US"/>
          </a:p>
        </p:txBody>
      </p:sp>
      <p:sp>
        <p:nvSpPr>
          <p:cNvPr id="57362" name="Text Box 18"/>
          <p:cNvSpPr txBox="1">
            <a:spLocks noChangeArrowheads="1"/>
          </p:cNvSpPr>
          <p:nvPr/>
        </p:nvSpPr>
        <p:spPr bwMode="auto">
          <a:xfrm>
            <a:off x="4060825" y="4645025"/>
            <a:ext cx="1592263" cy="396875"/>
          </a:xfrm>
          <a:prstGeom prst="rect">
            <a:avLst/>
          </a:prstGeom>
          <a:noFill/>
          <a:ln w="9525">
            <a:noFill/>
            <a:miter lim="800000"/>
            <a:headEnd/>
            <a:tailEnd/>
          </a:ln>
          <a:effectLst/>
        </p:spPr>
        <p:txBody>
          <a:bodyPr wrap="none">
            <a:spAutoFit/>
          </a:bodyPr>
          <a:lstStyle/>
          <a:p>
            <a:r>
              <a:rPr kumimoji="1" lang="en-US" altLang="zh-CN" sz="2000" b="1">
                <a:solidFill>
                  <a:srgbClr val="333399"/>
                </a:solidFill>
              </a:rPr>
              <a:t>1 0 1 1 0 0 1</a:t>
            </a:r>
          </a:p>
        </p:txBody>
      </p:sp>
      <p:sp>
        <p:nvSpPr>
          <p:cNvPr id="57363" name="Text Box 19"/>
          <p:cNvSpPr txBox="1">
            <a:spLocks noChangeArrowheads="1"/>
          </p:cNvSpPr>
          <p:nvPr/>
        </p:nvSpPr>
        <p:spPr bwMode="auto">
          <a:xfrm>
            <a:off x="5675313" y="4511675"/>
            <a:ext cx="488950" cy="457200"/>
          </a:xfrm>
          <a:prstGeom prst="rect">
            <a:avLst/>
          </a:prstGeom>
          <a:noFill/>
          <a:ln w="9525">
            <a:noFill/>
            <a:miter lim="800000"/>
            <a:headEnd/>
            <a:tailEnd/>
          </a:ln>
          <a:effectLst/>
        </p:spPr>
        <p:txBody>
          <a:bodyPr wrap="none">
            <a:spAutoFit/>
          </a:bodyPr>
          <a:lstStyle/>
          <a:p>
            <a:r>
              <a:rPr kumimoji="1" lang="en-US" altLang="zh-CN" sz="2400" b="1">
                <a:solidFill>
                  <a:srgbClr val="333399"/>
                </a:solidFill>
                <a:latin typeface="Times New Roman" pitchFamily="18" charset="0"/>
              </a:rPr>
              <a:t>…</a:t>
            </a:r>
          </a:p>
        </p:txBody>
      </p:sp>
      <p:sp>
        <p:nvSpPr>
          <p:cNvPr id="57364" name="Text Box 20"/>
          <p:cNvSpPr txBox="1">
            <a:spLocks noChangeArrowheads="1"/>
          </p:cNvSpPr>
          <p:nvPr/>
        </p:nvSpPr>
        <p:spPr bwMode="auto">
          <a:xfrm>
            <a:off x="2232025" y="5473700"/>
            <a:ext cx="1098550" cy="457200"/>
          </a:xfrm>
          <a:prstGeom prst="rect">
            <a:avLst/>
          </a:prstGeom>
          <a:noFill/>
          <a:ln w="9525">
            <a:noFill/>
            <a:miter lim="800000"/>
            <a:headEnd/>
            <a:tailEnd/>
          </a:ln>
          <a:effectLst/>
        </p:spPr>
        <p:txBody>
          <a:bodyPr wrap="none">
            <a:spAutoFit/>
          </a:bodyPr>
          <a:lstStyle/>
          <a:p>
            <a:r>
              <a:rPr kumimoji="1" lang="zh-CN" altLang="en-US" sz="2400">
                <a:solidFill>
                  <a:srgbClr val="333399"/>
                </a:solidFill>
                <a:latin typeface="Times New Roman" pitchFamily="18" charset="0"/>
                <a:ea typeface="黑体" pitchFamily="49" charset="-122"/>
              </a:rPr>
              <a:t>发送器</a:t>
            </a:r>
          </a:p>
        </p:txBody>
      </p:sp>
      <p:sp>
        <p:nvSpPr>
          <p:cNvPr id="57365" name="Text Box 21"/>
          <p:cNvSpPr txBox="1">
            <a:spLocks noChangeArrowheads="1"/>
          </p:cNvSpPr>
          <p:nvPr/>
        </p:nvSpPr>
        <p:spPr bwMode="auto">
          <a:xfrm>
            <a:off x="1187450" y="4987925"/>
            <a:ext cx="793750" cy="457200"/>
          </a:xfrm>
          <a:prstGeom prst="rect">
            <a:avLst/>
          </a:prstGeom>
          <a:noFill/>
          <a:ln w="9525">
            <a:noFill/>
            <a:miter lim="800000"/>
            <a:headEnd/>
            <a:tailEnd/>
          </a:ln>
          <a:effectLst/>
        </p:spPr>
        <p:txBody>
          <a:bodyPr wrap="none">
            <a:spAutoFit/>
          </a:bodyPr>
          <a:lstStyle/>
          <a:p>
            <a:r>
              <a:rPr kumimoji="1" lang="zh-CN" altLang="en-US" sz="2400">
                <a:solidFill>
                  <a:srgbClr val="333399"/>
                </a:solidFill>
                <a:latin typeface="Times New Roman" pitchFamily="18" charset="0"/>
                <a:ea typeface="黑体" pitchFamily="49" charset="-122"/>
              </a:rPr>
              <a:t>队列</a:t>
            </a:r>
          </a:p>
        </p:txBody>
      </p:sp>
      <p:grpSp>
        <p:nvGrpSpPr>
          <p:cNvPr id="57366" name="Group 22"/>
          <p:cNvGrpSpPr>
            <a:grpSpLocks/>
          </p:cNvGrpSpPr>
          <p:nvPr/>
        </p:nvGrpSpPr>
        <p:grpSpPr bwMode="auto">
          <a:xfrm>
            <a:off x="5535613" y="3068638"/>
            <a:ext cx="2089150" cy="1612900"/>
            <a:chOff x="3419" y="1933"/>
            <a:chExt cx="1316" cy="1016"/>
          </a:xfrm>
        </p:grpSpPr>
        <p:sp>
          <p:nvSpPr>
            <p:cNvPr id="57367" name="Line 23"/>
            <p:cNvSpPr>
              <a:spLocks noChangeShapeType="1"/>
            </p:cNvSpPr>
            <p:nvPr/>
          </p:nvSpPr>
          <p:spPr bwMode="auto">
            <a:xfrm flipH="1">
              <a:off x="3602" y="2495"/>
              <a:ext cx="276" cy="454"/>
            </a:xfrm>
            <a:prstGeom prst="line">
              <a:avLst/>
            </a:prstGeom>
            <a:noFill/>
            <a:ln w="28575">
              <a:solidFill>
                <a:schemeClr val="folHlink"/>
              </a:solidFill>
              <a:round/>
              <a:headEnd/>
              <a:tailEnd type="triangle" w="med" len="lg"/>
            </a:ln>
            <a:effectLst/>
          </p:spPr>
          <p:txBody>
            <a:bodyPr/>
            <a:lstStyle/>
            <a:p>
              <a:endParaRPr lang="zh-CN" altLang="en-US"/>
            </a:p>
          </p:txBody>
        </p:sp>
        <p:sp>
          <p:nvSpPr>
            <p:cNvPr id="57368" name="Text Box 24"/>
            <p:cNvSpPr txBox="1">
              <a:spLocks noChangeArrowheads="1"/>
            </p:cNvSpPr>
            <p:nvPr/>
          </p:nvSpPr>
          <p:spPr bwMode="auto">
            <a:xfrm>
              <a:off x="3419" y="1933"/>
              <a:ext cx="1316" cy="566"/>
            </a:xfrm>
            <a:prstGeom prst="rect">
              <a:avLst/>
            </a:prstGeom>
            <a:solidFill>
              <a:srgbClr val="FFFF99"/>
            </a:solidFill>
            <a:ln w="76200" cmpd="tri">
              <a:solidFill>
                <a:schemeClr val="folHlink"/>
              </a:solidFill>
              <a:miter lim="800000"/>
              <a:headEnd/>
              <a:tailEnd/>
            </a:ln>
            <a:effectLst/>
          </p:spPr>
          <p:txBody>
            <a:bodyPr wrap="none">
              <a:spAutoFit/>
            </a:bodyPr>
            <a:lstStyle/>
            <a:p>
              <a:pPr algn="ctr"/>
              <a:r>
                <a:rPr kumimoji="1" lang="zh-CN" altLang="en-US" sz="2400">
                  <a:solidFill>
                    <a:srgbClr val="333399"/>
                  </a:solidFill>
                  <a:latin typeface="黑体" pitchFamily="49" charset="-122"/>
                  <a:ea typeface="黑体" pitchFamily="49" charset="-122"/>
                </a:rPr>
                <a:t>在链路上产生</a:t>
              </a:r>
            </a:p>
            <a:p>
              <a:pPr algn="ctr"/>
              <a:r>
                <a:rPr kumimoji="1" lang="zh-CN" altLang="en-US" sz="2400">
                  <a:solidFill>
                    <a:srgbClr val="333399"/>
                  </a:solidFill>
                  <a:latin typeface="黑体" pitchFamily="49" charset="-122"/>
                  <a:ea typeface="黑体" pitchFamily="49" charset="-122"/>
                </a:rPr>
                <a:t>传播时延</a:t>
              </a:r>
            </a:p>
          </p:txBody>
        </p:sp>
      </p:grpSp>
      <p:sp>
        <p:nvSpPr>
          <p:cNvPr id="57369" name="Text Box 25"/>
          <p:cNvSpPr txBox="1">
            <a:spLocks noChangeArrowheads="1"/>
          </p:cNvSpPr>
          <p:nvPr/>
        </p:nvSpPr>
        <p:spPr bwMode="auto">
          <a:xfrm>
            <a:off x="7704138" y="5564188"/>
            <a:ext cx="1054100" cy="457200"/>
          </a:xfrm>
          <a:prstGeom prst="rect">
            <a:avLst/>
          </a:prstGeom>
          <a:noFill/>
          <a:ln w="9525">
            <a:noFill/>
            <a:miter lim="800000"/>
            <a:headEnd/>
            <a:tailEnd/>
          </a:ln>
          <a:effectLst/>
        </p:spPr>
        <p:txBody>
          <a:bodyPr wrap="none">
            <a:spAutoFit/>
          </a:bodyPr>
          <a:lstStyle/>
          <a:p>
            <a:r>
              <a:rPr kumimoji="1" lang="zh-CN" altLang="en-US" sz="2400">
                <a:solidFill>
                  <a:srgbClr val="333399"/>
                </a:solidFill>
                <a:latin typeface="Times New Roman" pitchFamily="18" charset="0"/>
                <a:ea typeface="黑体" pitchFamily="49" charset="-122"/>
              </a:rPr>
              <a:t>结点</a:t>
            </a:r>
            <a:r>
              <a:rPr kumimoji="1" lang="zh-CN" altLang="en-US" sz="1600">
                <a:solidFill>
                  <a:srgbClr val="333399"/>
                </a:solidFill>
                <a:ea typeface="黑体" pitchFamily="49" charset="-122"/>
              </a:rPr>
              <a:t> </a:t>
            </a:r>
            <a:r>
              <a:rPr kumimoji="1" lang="en-US" altLang="zh-CN" sz="2400">
                <a:solidFill>
                  <a:srgbClr val="333399"/>
                </a:solidFill>
                <a:ea typeface="黑体" pitchFamily="49" charset="-122"/>
              </a:rPr>
              <a:t>B</a:t>
            </a:r>
          </a:p>
        </p:txBody>
      </p:sp>
      <p:sp>
        <p:nvSpPr>
          <p:cNvPr id="57370" name="Text Box 26"/>
          <p:cNvSpPr txBox="1">
            <a:spLocks noChangeArrowheads="1"/>
          </p:cNvSpPr>
          <p:nvPr/>
        </p:nvSpPr>
        <p:spPr bwMode="auto">
          <a:xfrm>
            <a:off x="1008063" y="5473700"/>
            <a:ext cx="1054100" cy="457200"/>
          </a:xfrm>
          <a:prstGeom prst="rect">
            <a:avLst/>
          </a:prstGeom>
          <a:noFill/>
          <a:ln w="9525">
            <a:noFill/>
            <a:miter lim="800000"/>
            <a:headEnd/>
            <a:tailEnd/>
          </a:ln>
          <a:effectLst/>
        </p:spPr>
        <p:txBody>
          <a:bodyPr wrap="none">
            <a:spAutoFit/>
          </a:bodyPr>
          <a:lstStyle/>
          <a:p>
            <a:r>
              <a:rPr kumimoji="1" lang="zh-CN" altLang="en-US" sz="2400">
                <a:solidFill>
                  <a:srgbClr val="333399"/>
                </a:solidFill>
                <a:latin typeface="Times New Roman" pitchFamily="18" charset="0"/>
                <a:ea typeface="黑体" pitchFamily="49" charset="-122"/>
              </a:rPr>
              <a:t>结点</a:t>
            </a:r>
            <a:r>
              <a:rPr kumimoji="1" lang="zh-CN" altLang="en-US" sz="1600">
                <a:solidFill>
                  <a:srgbClr val="333399"/>
                </a:solidFill>
                <a:ea typeface="黑体" pitchFamily="49" charset="-122"/>
              </a:rPr>
              <a:t> </a:t>
            </a:r>
            <a:r>
              <a:rPr kumimoji="1" lang="en-US" altLang="zh-CN" sz="2400">
                <a:solidFill>
                  <a:srgbClr val="333399"/>
                </a:solidFill>
                <a:ea typeface="黑体" pitchFamily="49" charset="-122"/>
              </a:rPr>
              <a:t>A</a:t>
            </a:r>
          </a:p>
        </p:txBody>
      </p:sp>
      <p:grpSp>
        <p:nvGrpSpPr>
          <p:cNvPr id="57371" name="Group 27"/>
          <p:cNvGrpSpPr>
            <a:grpSpLocks/>
          </p:cNvGrpSpPr>
          <p:nvPr/>
        </p:nvGrpSpPr>
        <p:grpSpPr bwMode="auto">
          <a:xfrm>
            <a:off x="1935163" y="3284538"/>
            <a:ext cx="3308350" cy="1470025"/>
            <a:chOff x="1151" y="2069"/>
            <a:chExt cx="2084" cy="926"/>
          </a:xfrm>
        </p:grpSpPr>
        <p:sp>
          <p:nvSpPr>
            <p:cNvPr id="57372" name="Text Box 28"/>
            <p:cNvSpPr txBox="1">
              <a:spLocks noChangeArrowheads="1"/>
            </p:cNvSpPr>
            <p:nvPr/>
          </p:nvSpPr>
          <p:spPr bwMode="auto">
            <a:xfrm>
              <a:off x="1151" y="2069"/>
              <a:ext cx="2084" cy="566"/>
            </a:xfrm>
            <a:prstGeom prst="rect">
              <a:avLst/>
            </a:prstGeom>
            <a:solidFill>
              <a:srgbClr val="FFFF99"/>
            </a:solidFill>
            <a:ln w="76200" cmpd="tri">
              <a:solidFill>
                <a:schemeClr val="folHlink"/>
              </a:solidFill>
              <a:miter lim="800000"/>
              <a:headEnd/>
              <a:tailEnd/>
            </a:ln>
            <a:effectLst/>
          </p:spPr>
          <p:txBody>
            <a:bodyPr wrap="none">
              <a:spAutoFit/>
            </a:bodyPr>
            <a:lstStyle/>
            <a:p>
              <a:pPr algn="ctr"/>
              <a:r>
                <a:rPr kumimoji="1" lang="zh-CN" altLang="en-US" sz="2400">
                  <a:solidFill>
                    <a:srgbClr val="333399"/>
                  </a:solidFill>
                  <a:latin typeface="黑体" pitchFamily="49" charset="-122"/>
                  <a:ea typeface="黑体" pitchFamily="49" charset="-122"/>
                </a:rPr>
                <a:t>在发送器产生传输时延</a:t>
              </a:r>
            </a:p>
            <a:p>
              <a:pPr algn="ctr"/>
              <a:r>
                <a:rPr kumimoji="1" lang="en-US" altLang="zh-CN" sz="2400">
                  <a:solidFill>
                    <a:srgbClr val="333399"/>
                  </a:solidFill>
                  <a:latin typeface="黑体" pitchFamily="49" charset="-122"/>
                  <a:ea typeface="黑体" pitchFamily="49" charset="-122"/>
                </a:rPr>
                <a:t>(</a:t>
              </a:r>
              <a:r>
                <a:rPr kumimoji="1" lang="zh-CN" altLang="en-US" sz="2400">
                  <a:solidFill>
                    <a:srgbClr val="333399"/>
                  </a:solidFill>
                  <a:latin typeface="黑体" pitchFamily="49" charset="-122"/>
                  <a:ea typeface="黑体" pitchFamily="49" charset="-122"/>
                </a:rPr>
                <a:t>即发送时延</a:t>
              </a:r>
              <a:r>
                <a:rPr kumimoji="1" lang="en-US" altLang="zh-CN" sz="2400">
                  <a:solidFill>
                    <a:srgbClr val="333399"/>
                  </a:solidFill>
                  <a:latin typeface="黑体" pitchFamily="49" charset="-122"/>
                  <a:ea typeface="黑体" pitchFamily="49" charset="-122"/>
                </a:rPr>
                <a:t>)</a:t>
              </a:r>
            </a:p>
          </p:txBody>
        </p:sp>
        <p:sp>
          <p:nvSpPr>
            <p:cNvPr id="57373" name="Line 29"/>
            <p:cNvSpPr>
              <a:spLocks noChangeShapeType="1"/>
            </p:cNvSpPr>
            <p:nvPr/>
          </p:nvSpPr>
          <p:spPr bwMode="auto">
            <a:xfrm flipH="1">
              <a:off x="1247" y="2614"/>
              <a:ext cx="454" cy="381"/>
            </a:xfrm>
            <a:prstGeom prst="line">
              <a:avLst/>
            </a:prstGeom>
            <a:noFill/>
            <a:ln w="28575">
              <a:solidFill>
                <a:schemeClr val="folHlink"/>
              </a:solidFill>
              <a:round/>
              <a:headEnd/>
              <a:tailEnd type="triangle" w="med" len="lg"/>
            </a:ln>
            <a:effectLst/>
          </p:spPr>
          <p:txBody>
            <a:bodyPr/>
            <a:lstStyle/>
            <a:p>
              <a:endParaRPr lang="zh-CN" altLang="en-US"/>
            </a:p>
          </p:txBody>
        </p:sp>
      </p:grpSp>
      <p:sp>
        <p:nvSpPr>
          <p:cNvPr id="57374" name="Line 30"/>
          <p:cNvSpPr>
            <a:spLocks noChangeShapeType="1"/>
          </p:cNvSpPr>
          <p:nvPr/>
        </p:nvSpPr>
        <p:spPr bwMode="auto">
          <a:xfrm flipH="1" flipV="1">
            <a:off x="2087563" y="4897438"/>
            <a:ext cx="431800" cy="647700"/>
          </a:xfrm>
          <a:prstGeom prst="line">
            <a:avLst/>
          </a:prstGeom>
          <a:noFill/>
          <a:ln w="28575">
            <a:solidFill>
              <a:schemeClr val="folHlink"/>
            </a:solidFill>
            <a:round/>
            <a:headEnd/>
            <a:tailEnd type="triangle" w="med" len="lg"/>
          </a:ln>
          <a:effectLst/>
        </p:spPr>
        <p:txBody>
          <a:bodyPr/>
          <a:lstStyle/>
          <a:p>
            <a:endParaRPr lang="zh-CN" altLang="en-US"/>
          </a:p>
        </p:txBody>
      </p:sp>
      <p:sp>
        <p:nvSpPr>
          <p:cNvPr id="57375" name="Line 31"/>
          <p:cNvSpPr>
            <a:spLocks noChangeShapeType="1"/>
          </p:cNvSpPr>
          <p:nvPr/>
        </p:nvSpPr>
        <p:spPr bwMode="auto">
          <a:xfrm flipH="1">
            <a:off x="1547813" y="3141663"/>
            <a:ext cx="55562" cy="1008062"/>
          </a:xfrm>
          <a:prstGeom prst="line">
            <a:avLst/>
          </a:prstGeom>
          <a:noFill/>
          <a:ln w="28575">
            <a:solidFill>
              <a:schemeClr val="folHlink"/>
            </a:solidFill>
            <a:round/>
            <a:headEnd/>
            <a:tailEnd type="triangle" w="med" len="lg"/>
          </a:ln>
          <a:effectLst/>
        </p:spPr>
        <p:txBody>
          <a:bodyPr/>
          <a:lstStyle/>
          <a:p>
            <a:endParaRPr lang="zh-CN" altLang="en-US"/>
          </a:p>
        </p:txBody>
      </p:sp>
      <p:sp>
        <p:nvSpPr>
          <p:cNvPr id="57376" name="Text Box 32"/>
          <p:cNvSpPr txBox="1">
            <a:spLocks noChangeArrowheads="1"/>
          </p:cNvSpPr>
          <p:nvPr/>
        </p:nvSpPr>
        <p:spPr bwMode="auto">
          <a:xfrm>
            <a:off x="128588" y="2224088"/>
            <a:ext cx="3003550" cy="898525"/>
          </a:xfrm>
          <a:prstGeom prst="rect">
            <a:avLst/>
          </a:prstGeom>
          <a:solidFill>
            <a:srgbClr val="FFFF99"/>
          </a:solidFill>
          <a:ln w="76200" cmpd="tri">
            <a:solidFill>
              <a:schemeClr val="folHlink"/>
            </a:solidFill>
            <a:miter lim="800000"/>
            <a:headEnd/>
            <a:tailEnd/>
          </a:ln>
          <a:effectLst/>
        </p:spPr>
        <p:txBody>
          <a:bodyPr wrap="none">
            <a:spAutoFit/>
          </a:bodyPr>
          <a:lstStyle/>
          <a:p>
            <a:pPr algn="ctr"/>
            <a:r>
              <a:rPr kumimoji="1" lang="zh-CN" altLang="en-US" sz="2400">
                <a:solidFill>
                  <a:srgbClr val="333399"/>
                </a:solidFill>
                <a:latin typeface="黑体" pitchFamily="49" charset="-122"/>
                <a:ea typeface="黑体" pitchFamily="49" charset="-122"/>
              </a:rPr>
              <a:t>在结点</a:t>
            </a:r>
            <a:r>
              <a:rPr kumimoji="1" lang="zh-CN" altLang="en-US" sz="2400">
                <a:solidFill>
                  <a:srgbClr val="333399"/>
                </a:solidFill>
                <a:ea typeface="黑体" pitchFamily="49" charset="-122"/>
              </a:rPr>
              <a:t> </a:t>
            </a:r>
            <a:r>
              <a:rPr kumimoji="1" lang="en-US" altLang="zh-CN" sz="2400">
                <a:solidFill>
                  <a:srgbClr val="333399"/>
                </a:solidFill>
                <a:ea typeface="黑体" pitchFamily="49" charset="-122"/>
              </a:rPr>
              <a:t>A </a:t>
            </a:r>
            <a:r>
              <a:rPr kumimoji="1" lang="zh-CN" altLang="en-US" sz="2400">
                <a:solidFill>
                  <a:srgbClr val="333399"/>
                </a:solidFill>
                <a:latin typeface="黑体" pitchFamily="49" charset="-122"/>
                <a:ea typeface="黑体" pitchFamily="49" charset="-122"/>
              </a:rPr>
              <a:t>中产生</a:t>
            </a:r>
          </a:p>
          <a:p>
            <a:pPr algn="ctr"/>
            <a:r>
              <a:rPr kumimoji="1" lang="zh-CN" altLang="en-US" sz="2400">
                <a:solidFill>
                  <a:srgbClr val="333399"/>
                </a:solidFill>
                <a:latin typeface="黑体" pitchFamily="49" charset="-122"/>
                <a:ea typeface="黑体" pitchFamily="49" charset="-122"/>
              </a:rPr>
              <a:t>处理时延和排队时延</a:t>
            </a:r>
          </a:p>
        </p:txBody>
      </p:sp>
      <p:sp>
        <p:nvSpPr>
          <p:cNvPr id="57377" name="Text Box 33"/>
          <p:cNvSpPr txBox="1">
            <a:spLocks noChangeArrowheads="1"/>
          </p:cNvSpPr>
          <p:nvPr/>
        </p:nvSpPr>
        <p:spPr bwMode="auto">
          <a:xfrm>
            <a:off x="107950" y="4292600"/>
            <a:ext cx="793750" cy="457200"/>
          </a:xfrm>
          <a:prstGeom prst="rect">
            <a:avLst/>
          </a:prstGeom>
          <a:noFill/>
          <a:ln w="9525">
            <a:noFill/>
            <a:miter lim="800000"/>
            <a:headEnd/>
            <a:tailEnd/>
          </a:ln>
          <a:effectLst/>
        </p:spPr>
        <p:txBody>
          <a:bodyPr wrap="none">
            <a:spAutoFit/>
          </a:bodyPr>
          <a:lstStyle/>
          <a:p>
            <a:r>
              <a:rPr kumimoji="1" lang="zh-CN" altLang="en-US" sz="2400">
                <a:solidFill>
                  <a:srgbClr val="333399"/>
                </a:solidFill>
                <a:latin typeface="Times New Roman" pitchFamily="18" charset="0"/>
                <a:ea typeface="黑体" pitchFamily="49" charset="-122"/>
              </a:rPr>
              <a:t>数据</a:t>
            </a:r>
            <a:endParaRPr kumimoji="1" lang="zh-CN" altLang="en-US" sz="2400">
              <a:solidFill>
                <a:srgbClr val="333399"/>
              </a:solidFill>
              <a:ea typeface="黑体" pitchFamily="49" charset="-122"/>
            </a:endParaRPr>
          </a:p>
        </p:txBody>
      </p:sp>
      <p:sp>
        <p:nvSpPr>
          <p:cNvPr id="57378" name="Text Box 34"/>
          <p:cNvSpPr txBox="1">
            <a:spLocks noChangeArrowheads="1"/>
          </p:cNvSpPr>
          <p:nvPr/>
        </p:nvSpPr>
        <p:spPr bwMode="auto">
          <a:xfrm>
            <a:off x="2124075" y="981075"/>
            <a:ext cx="5241925" cy="579438"/>
          </a:xfrm>
          <a:prstGeom prst="rect">
            <a:avLst/>
          </a:prstGeom>
          <a:noFill/>
          <a:ln w="9525">
            <a:noFill/>
            <a:miter lim="800000"/>
            <a:headEnd/>
            <a:tailEnd/>
          </a:ln>
          <a:effectLst/>
        </p:spPr>
        <p:txBody>
          <a:bodyPr wrap="none">
            <a:spAutoFit/>
          </a:bodyPr>
          <a:lstStyle/>
          <a:p>
            <a:r>
              <a:rPr kumimoji="1" lang="zh-CN" altLang="en-US" sz="3200">
                <a:solidFill>
                  <a:srgbClr val="333399"/>
                </a:solidFill>
                <a:ea typeface="黑体" pitchFamily="49" charset="-122"/>
              </a:rPr>
              <a:t>从结点 </a:t>
            </a:r>
            <a:r>
              <a:rPr kumimoji="1" lang="en-US" altLang="zh-CN" sz="3200">
                <a:solidFill>
                  <a:srgbClr val="333399"/>
                </a:solidFill>
                <a:ea typeface="黑体" pitchFamily="49" charset="-122"/>
              </a:rPr>
              <a:t>A </a:t>
            </a:r>
            <a:r>
              <a:rPr kumimoji="1" lang="zh-CN" altLang="en-US" sz="3200">
                <a:solidFill>
                  <a:srgbClr val="333399"/>
                </a:solidFill>
                <a:ea typeface="黑体" pitchFamily="49" charset="-122"/>
              </a:rPr>
              <a:t>向结点 </a:t>
            </a:r>
            <a:r>
              <a:rPr kumimoji="1" lang="en-US" altLang="zh-CN" sz="3200">
                <a:solidFill>
                  <a:srgbClr val="333399"/>
                </a:solidFill>
                <a:ea typeface="黑体" pitchFamily="49" charset="-122"/>
              </a:rPr>
              <a:t>B </a:t>
            </a:r>
            <a:r>
              <a:rPr kumimoji="1" lang="zh-CN" altLang="en-US" sz="3200">
                <a:solidFill>
                  <a:srgbClr val="333399"/>
                </a:solidFill>
                <a:ea typeface="黑体" pitchFamily="49" charset="-122"/>
              </a:rPr>
              <a:t>发送数据</a:t>
            </a:r>
          </a:p>
        </p:txBody>
      </p:sp>
      <p:sp>
        <p:nvSpPr>
          <p:cNvPr id="57379" name="Text Box 35"/>
          <p:cNvSpPr txBox="1">
            <a:spLocks noChangeArrowheads="1"/>
          </p:cNvSpPr>
          <p:nvPr/>
        </p:nvSpPr>
        <p:spPr bwMode="auto">
          <a:xfrm>
            <a:off x="4356100" y="5013325"/>
            <a:ext cx="793750" cy="457200"/>
          </a:xfrm>
          <a:prstGeom prst="rect">
            <a:avLst/>
          </a:prstGeom>
          <a:noFill/>
          <a:ln w="9525">
            <a:noFill/>
            <a:miter lim="800000"/>
            <a:headEnd/>
            <a:tailEnd/>
          </a:ln>
          <a:effectLst/>
        </p:spPr>
        <p:txBody>
          <a:bodyPr wrap="none">
            <a:spAutoFit/>
          </a:bodyPr>
          <a:lstStyle/>
          <a:p>
            <a:r>
              <a:rPr kumimoji="1" lang="zh-CN" altLang="en-US" sz="2400">
                <a:solidFill>
                  <a:srgbClr val="333399"/>
                </a:solidFill>
                <a:latin typeface="Times New Roman" pitchFamily="18" charset="0"/>
                <a:ea typeface="黑体" pitchFamily="49" charset="-122"/>
              </a:rPr>
              <a:t>链路</a:t>
            </a:r>
            <a:endParaRPr kumimoji="1" lang="zh-CN" altLang="en-US" sz="2400">
              <a:solidFill>
                <a:srgbClr val="333399"/>
              </a:solidFill>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583</TotalTime>
  <Words>2152</Words>
  <Application>Microsoft Office PowerPoint</Application>
  <PresentationFormat>全屏显示(4:3)</PresentationFormat>
  <Paragraphs>397</Paragraphs>
  <Slides>46</Slides>
  <Notes>6</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46</vt:i4>
      </vt:variant>
    </vt:vector>
  </HeadingPairs>
  <TitlesOfParts>
    <vt:vector size="54" baseType="lpstr">
      <vt:lpstr>黑体</vt:lpstr>
      <vt:lpstr>宋体</vt:lpstr>
      <vt:lpstr>Arial</vt:lpstr>
      <vt:lpstr>Tahoma</vt:lpstr>
      <vt:lpstr>Times New Roman</vt:lpstr>
      <vt:lpstr>Wingdings</vt:lpstr>
      <vt:lpstr>默认设计模板</vt:lpstr>
      <vt:lpstr>VISIO</vt:lpstr>
      <vt:lpstr>PowerPoint 演示文稿</vt:lpstr>
      <vt:lpstr>第 1 章   概述</vt:lpstr>
      <vt:lpstr>1.1  计算机网络 在信息时代的作用</vt:lpstr>
      <vt:lpstr> 1.2  计算机网络的发展过程</vt:lpstr>
      <vt:lpstr>PowerPoint 演示文稿</vt:lpstr>
      <vt:lpstr>PowerPoint 演示文稿</vt:lpstr>
      <vt:lpstr>PowerPoint 演示文稿</vt:lpstr>
      <vt:lpstr>PowerPoint 演示文稿</vt:lpstr>
      <vt:lpstr>PowerPoint 演示文稿</vt:lpstr>
      <vt:lpstr>PowerPoint 演示文稿</vt:lpstr>
      <vt:lpstr> 1.2.2  分组交换网的产生</vt:lpstr>
      <vt:lpstr>回顾一下电路交换的特点 </vt:lpstr>
      <vt:lpstr>更多的电话机互相连通</vt:lpstr>
      <vt:lpstr>使用交换机</vt:lpstr>
      <vt:lpstr>电路交换的特点</vt:lpstr>
      <vt:lpstr>电路交换举例</vt:lpstr>
      <vt:lpstr>电路交换举例</vt:lpstr>
      <vt:lpstr>电路交换传送计算机数据效率低</vt:lpstr>
      <vt:lpstr>新型网络的基本特点</vt:lpstr>
      <vt:lpstr>分组交换的主要特点</vt:lpstr>
      <vt:lpstr>分组交换的主要特点</vt:lpstr>
      <vt:lpstr>分组交换的主要特点</vt:lpstr>
      <vt:lpstr>分组首部的重要性</vt:lpstr>
      <vt:lpstr>分组交换的主要特点</vt:lpstr>
      <vt:lpstr>分组交换的主要特点</vt:lpstr>
      <vt:lpstr>分组交换网的示意图</vt:lpstr>
      <vt:lpstr>注意分组的存储转发过程</vt:lpstr>
      <vt:lpstr>路由器</vt:lpstr>
      <vt:lpstr>主机和路由器的作用不同</vt:lpstr>
      <vt:lpstr>分组交换的优点</vt:lpstr>
      <vt:lpstr>分组交换带来的问题</vt:lpstr>
      <vt:lpstr>存储转发原理 并非完全新的概念 </vt:lpstr>
      <vt:lpstr>三种交换的比较(P15) </vt:lpstr>
      <vt:lpstr>ARPANET的成功使 计算机网络的概念发生根本变化 </vt:lpstr>
      <vt:lpstr>从主机为中心到以网络为中心</vt:lpstr>
      <vt:lpstr>1.3  计算机网络的分类</vt:lpstr>
      <vt:lpstr>1.3.2  几种不同类别的网络</vt:lpstr>
      <vt:lpstr>2.  不同使用者的网络</vt:lpstr>
      <vt:lpstr>1.4  计算机网络的性能 1.4.1 速率(P19)</vt:lpstr>
      <vt:lpstr>1.4.2  带宽(P19)</vt:lpstr>
      <vt:lpstr>常用的带宽单位</vt:lpstr>
      <vt:lpstr>PowerPoint 演示文稿</vt:lpstr>
      <vt:lpstr>时延(delay 或 latency)</vt:lpstr>
      <vt:lpstr>时延(delay 或 latency)</vt:lpstr>
      <vt:lpstr>时延(delay 或 latency)</vt:lpstr>
      <vt:lpstr>四种时延所产生的地方 </vt:lpstr>
    </vt:vector>
  </TitlesOfParts>
  <Company>番茄花园</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番茄花园</dc:creator>
  <cp:lastModifiedBy>Lenovo</cp:lastModifiedBy>
  <cp:revision>22</cp:revision>
  <dcterms:created xsi:type="dcterms:W3CDTF">2009-02-17T00:01:21Z</dcterms:created>
  <dcterms:modified xsi:type="dcterms:W3CDTF">2017-02-17T11:23:20Z</dcterms:modified>
</cp:coreProperties>
</file>