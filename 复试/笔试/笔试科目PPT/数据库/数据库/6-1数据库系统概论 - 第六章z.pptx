
<file path=[Content_Types].xml><?xml version="1.0" encoding="utf-8"?>
<Types xmlns="http://schemas.openxmlformats.org/package/2006/content-types">
  <Default Extension="xml" ContentType="application/xml"/>
  <Default Extension="wmf" ContentType="image/x-wmf"/>
  <Default Extension="doc" ContentType="application/msword"/>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61"/>
  </p:notesMasterIdLst>
  <p:sldIdLst>
    <p:sldId id="344" r:id="rId2"/>
    <p:sldId id="352" r:id="rId3"/>
    <p:sldId id="345" r:id="rId4"/>
    <p:sldId id="346" r:id="rId5"/>
    <p:sldId id="353" r:id="rId6"/>
    <p:sldId id="356" r:id="rId7"/>
    <p:sldId id="347" r:id="rId8"/>
    <p:sldId id="351" r:id="rId9"/>
    <p:sldId id="357" r:id="rId10"/>
    <p:sldId id="349" r:id="rId11"/>
    <p:sldId id="350" r:id="rId12"/>
    <p:sldId id="355" r:id="rId13"/>
    <p:sldId id="384" r:id="rId14"/>
    <p:sldId id="385" r:id="rId15"/>
    <p:sldId id="386" r:id="rId16"/>
    <p:sldId id="388" r:id="rId17"/>
    <p:sldId id="387" r:id="rId18"/>
    <p:sldId id="389" r:id="rId19"/>
    <p:sldId id="390" r:id="rId20"/>
    <p:sldId id="391" r:id="rId21"/>
    <p:sldId id="392" r:id="rId22"/>
    <p:sldId id="393" r:id="rId23"/>
    <p:sldId id="394" r:id="rId24"/>
    <p:sldId id="395" r:id="rId25"/>
    <p:sldId id="396" r:id="rId26"/>
    <p:sldId id="398" r:id="rId27"/>
    <p:sldId id="399" r:id="rId28"/>
    <p:sldId id="401" r:id="rId29"/>
    <p:sldId id="402" r:id="rId30"/>
    <p:sldId id="404" r:id="rId31"/>
    <p:sldId id="406" r:id="rId32"/>
    <p:sldId id="455" r:id="rId33"/>
    <p:sldId id="417" r:id="rId34"/>
    <p:sldId id="418" r:id="rId35"/>
    <p:sldId id="419" r:id="rId36"/>
    <p:sldId id="420" r:id="rId37"/>
    <p:sldId id="408" r:id="rId38"/>
    <p:sldId id="409" r:id="rId39"/>
    <p:sldId id="410" r:id="rId40"/>
    <p:sldId id="411" r:id="rId41"/>
    <p:sldId id="413" r:id="rId42"/>
    <p:sldId id="412" r:id="rId43"/>
    <p:sldId id="439" r:id="rId44"/>
    <p:sldId id="440" r:id="rId45"/>
    <p:sldId id="442" r:id="rId46"/>
    <p:sldId id="443" r:id="rId47"/>
    <p:sldId id="445" r:id="rId48"/>
    <p:sldId id="447" r:id="rId49"/>
    <p:sldId id="448" r:id="rId50"/>
    <p:sldId id="456" r:id="rId51"/>
    <p:sldId id="449" r:id="rId52"/>
    <p:sldId id="444" r:id="rId53"/>
    <p:sldId id="450" r:id="rId54"/>
    <p:sldId id="451" r:id="rId55"/>
    <p:sldId id="414" r:id="rId56"/>
    <p:sldId id="453" r:id="rId57"/>
    <p:sldId id="415" r:id="rId58"/>
    <p:sldId id="416" r:id="rId59"/>
    <p:sldId id="454" r:id="rId6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0"/>
        <a:cs typeface="宋体" charset="0"/>
      </a:defRPr>
    </a:lvl1pPr>
    <a:lvl2pPr marL="457200" algn="l" rtl="0" fontAlgn="base">
      <a:spcBef>
        <a:spcPct val="0"/>
      </a:spcBef>
      <a:spcAft>
        <a:spcPct val="0"/>
      </a:spcAft>
      <a:defRPr kern="1200">
        <a:solidFill>
          <a:schemeClr val="tx1"/>
        </a:solidFill>
        <a:latin typeface="Arial" charset="0"/>
        <a:ea typeface="宋体" charset="0"/>
        <a:cs typeface="宋体" charset="0"/>
      </a:defRPr>
    </a:lvl2pPr>
    <a:lvl3pPr marL="914400" algn="l" rtl="0" fontAlgn="base">
      <a:spcBef>
        <a:spcPct val="0"/>
      </a:spcBef>
      <a:spcAft>
        <a:spcPct val="0"/>
      </a:spcAft>
      <a:defRPr kern="1200">
        <a:solidFill>
          <a:schemeClr val="tx1"/>
        </a:solidFill>
        <a:latin typeface="Arial" charset="0"/>
        <a:ea typeface="宋体" charset="0"/>
        <a:cs typeface="宋体" charset="0"/>
      </a:defRPr>
    </a:lvl3pPr>
    <a:lvl4pPr marL="1371600" algn="l" rtl="0" fontAlgn="base">
      <a:spcBef>
        <a:spcPct val="0"/>
      </a:spcBef>
      <a:spcAft>
        <a:spcPct val="0"/>
      </a:spcAft>
      <a:defRPr kern="1200">
        <a:solidFill>
          <a:schemeClr val="tx1"/>
        </a:solidFill>
        <a:latin typeface="Arial" charset="0"/>
        <a:ea typeface="宋体" charset="0"/>
        <a:cs typeface="宋体" charset="0"/>
      </a:defRPr>
    </a:lvl4pPr>
    <a:lvl5pPr marL="1828800" algn="l" rtl="0" fontAlgn="base">
      <a:spcBef>
        <a:spcPct val="0"/>
      </a:spcBef>
      <a:spcAft>
        <a:spcPct val="0"/>
      </a:spcAft>
      <a:defRPr kern="1200">
        <a:solidFill>
          <a:schemeClr val="tx1"/>
        </a:solidFill>
        <a:latin typeface="Arial" charset="0"/>
        <a:ea typeface="宋体" charset="0"/>
        <a:cs typeface="宋体" charset="0"/>
      </a:defRPr>
    </a:lvl5pPr>
    <a:lvl6pPr marL="2286000" algn="l" defTabSz="457200" rtl="0" eaLnBrk="1" latinLnBrk="0" hangingPunct="1">
      <a:defRPr kern="1200">
        <a:solidFill>
          <a:schemeClr val="tx1"/>
        </a:solidFill>
        <a:latin typeface="Arial" charset="0"/>
        <a:ea typeface="宋体" charset="0"/>
        <a:cs typeface="宋体" charset="0"/>
      </a:defRPr>
    </a:lvl6pPr>
    <a:lvl7pPr marL="2743200" algn="l" defTabSz="457200" rtl="0" eaLnBrk="1" latinLnBrk="0" hangingPunct="1">
      <a:defRPr kern="1200">
        <a:solidFill>
          <a:schemeClr val="tx1"/>
        </a:solidFill>
        <a:latin typeface="Arial" charset="0"/>
        <a:ea typeface="宋体" charset="0"/>
        <a:cs typeface="宋体" charset="0"/>
      </a:defRPr>
    </a:lvl7pPr>
    <a:lvl8pPr marL="3200400" algn="l" defTabSz="457200" rtl="0" eaLnBrk="1" latinLnBrk="0" hangingPunct="1">
      <a:defRPr kern="1200">
        <a:solidFill>
          <a:schemeClr val="tx1"/>
        </a:solidFill>
        <a:latin typeface="Arial" charset="0"/>
        <a:ea typeface="宋体" charset="0"/>
        <a:cs typeface="宋体" charset="0"/>
      </a:defRPr>
    </a:lvl8pPr>
    <a:lvl9pPr marL="3657600" algn="l" defTabSz="457200" rtl="0" eaLnBrk="1" latinLnBrk="0" hangingPunct="1">
      <a:defRPr kern="1200">
        <a:solidFill>
          <a:schemeClr val="tx1"/>
        </a:solidFill>
        <a:latin typeface="Arial" charset="0"/>
        <a:ea typeface="宋体" charset="0"/>
        <a:cs typeface="宋体"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56" autoAdjust="0"/>
    <p:restoredTop sz="67751" autoAdjust="0"/>
  </p:normalViewPr>
  <p:slideViewPr>
    <p:cSldViewPr snapToGrid="0" snapToObjects="1">
      <p:cViewPr varScale="1">
        <p:scale>
          <a:sx n="46" d="100"/>
          <a:sy n="46" d="100"/>
        </p:scale>
        <p:origin x="-1584" y="-112"/>
      </p:cViewPr>
      <p:guideLst>
        <p:guide orient="horz" pos="2160"/>
        <p:guide pos="2880"/>
      </p:guideLst>
    </p:cSldViewPr>
  </p:slideViewPr>
  <p:outlineViewPr>
    <p:cViewPr>
      <p:scale>
        <a:sx n="33" d="100"/>
        <a:sy n="33" d="100"/>
      </p:scale>
      <p:origin x="0" y="224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CE6128-29D7-3A46-825C-2D55F9965034}" type="datetimeFigureOut">
              <a:rPr lang="en-US" smtClean="0"/>
              <a:t>17-4-28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F563F0-6A59-9B46-8E49-D11C08EF4925}" type="slidenum">
              <a:rPr lang="en-US" smtClean="0"/>
              <a:t>‹#›</a:t>
            </a:fld>
            <a:endParaRPr lang="en-US"/>
          </a:p>
        </p:txBody>
      </p:sp>
    </p:spTree>
    <p:extLst>
      <p:ext uri="{BB962C8B-B14F-4D97-AF65-F5344CB8AC3E}">
        <p14:creationId xmlns:p14="http://schemas.microsoft.com/office/powerpoint/2010/main" val="349072794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设</a:t>
            </a:r>
            <a:r>
              <a:rPr lang="en-US" altLang="zh-CN" dirty="0" smtClean="0"/>
              <a:t>R(U)</a:t>
            </a:r>
            <a:r>
              <a:rPr lang="zh-CN" altLang="en-US" dirty="0" smtClean="0"/>
              <a:t>是属性集</a:t>
            </a:r>
            <a:r>
              <a:rPr lang="en-US" altLang="zh-CN" dirty="0" smtClean="0"/>
              <a:t>U</a:t>
            </a:r>
            <a:r>
              <a:rPr lang="zh-CN" altLang="en-US" dirty="0" smtClean="0"/>
              <a:t>上的关系模式。</a:t>
            </a:r>
            <a:r>
              <a:rPr lang="en-US" altLang="zh-CN" dirty="0" smtClean="0"/>
              <a:t>X</a:t>
            </a:r>
            <a:r>
              <a:rPr lang="zh-CN" altLang="en-US" dirty="0" smtClean="0"/>
              <a:t>，</a:t>
            </a:r>
            <a:r>
              <a:rPr lang="en-US" altLang="zh-CN" dirty="0" smtClean="0"/>
              <a:t>Y</a:t>
            </a:r>
            <a:r>
              <a:rPr lang="zh-CN" altLang="en-US" dirty="0" smtClean="0"/>
              <a:t>是</a:t>
            </a:r>
            <a:r>
              <a:rPr lang="en-US" altLang="zh-CN" dirty="0" smtClean="0"/>
              <a:t>U</a:t>
            </a:r>
            <a:r>
              <a:rPr lang="zh-CN" altLang="en-US" dirty="0" smtClean="0"/>
              <a:t>的子集。若对于</a:t>
            </a:r>
            <a:r>
              <a:rPr lang="en-US" altLang="zh-CN" dirty="0" smtClean="0"/>
              <a:t>R</a:t>
            </a:r>
            <a:r>
              <a:rPr lang="zh-CN" altLang="en-US" dirty="0" smtClean="0"/>
              <a:t>的任何一个可能的关系</a:t>
            </a:r>
            <a:r>
              <a:rPr lang="en-US" altLang="zh-CN" dirty="0" smtClean="0"/>
              <a:t>r</a:t>
            </a:r>
            <a:r>
              <a:rPr lang="zh-CN" altLang="en-US" dirty="0" smtClean="0"/>
              <a:t>，</a:t>
            </a:r>
            <a:r>
              <a:rPr lang="en-US" altLang="zh-CN" dirty="0" smtClean="0"/>
              <a:t>r</a:t>
            </a:r>
            <a:r>
              <a:rPr lang="zh-CN" altLang="en-US" dirty="0" smtClean="0"/>
              <a:t>中不可能存在两个元组在</a:t>
            </a:r>
            <a:r>
              <a:rPr lang="en-US" altLang="zh-CN" dirty="0" smtClean="0"/>
              <a:t>X</a:t>
            </a:r>
            <a:r>
              <a:rPr lang="zh-CN" altLang="en-US" dirty="0" smtClean="0"/>
              <a:t>属性值上相等而在</a:t>
            </a:r>
            <a:r>
              <a:rPr lang="en-US" altLang="zh-CN" dirty="0" smtClean="0"/>
              <a:t>Y</a:t>
            </a:r>
            <a:r>
              <a:rPr lang="zh-CN" altLang="en-US" dirty="0" smtClean="0"/>
              <a:t>属性值上不等，则称</a:t>
            </a:r>
            <a:r>
              <a:rPr lang="en-US" altLang="zh-CN" dirty="0" smtClean="0">
                <a:solidFill>
                  <a:srgbClr val="D60093"/>
                </a:solidFill>
              </a:rPr>
              <a:t>X</a:t>
            </a:r>
            <a:r>
              <a:rPr lang="zh-CN" altLang="en-US" dirty="0" smtClean="0">
                <a:solidFill>
                  <a:srgbClr val="D60093"/>
                </a:solidFill>
              </a:rPr>
              <a:t>函数确定</a:t>
            </a:r>
            <a:r>
              <a:rPr lang="en-US" altLang="zh-CN" dirty="0" smtClean="0">
                <a:solidFill>
                  <a:srgbClr val="D60093"/>
                </a:solidFill>
              </a:rPr>
              <a:t>Y</a:t>
            </a:r>
            <a:r>
              <a:rPr lang="zh-CN" altLang="en-US" dirty="0" smtClean="0"/>
              <a:t>或</a:t>
            </a:r>
            <a:r>
              <a:rPr lang="en-US" altLang="zh-CN" dirty="0" smtClean="0">
                <a:solidFill>
                  <a:srgbClr val="D60093"/>
                </a:solidFill>
              </a:rPr>
              <a:t>Y</a:t>
            </a:r>
            <a:r>
              <a:rPr lang="zh-CN" altLang="en-US" dirty="0" smtClean="0">
                <a:solidFill>
                  <a:srgbClr val="D60093"/>
                </a:solidFill>
              </a:rPr>
              <a:t>函数依赖于</a:t>
            </a:r>
            <a:r>
              <a:rPr lang="en-US" altLang="zh-CN" dirty="0" smtClean="0">
                <a:solidFill>
                  <a:srgbClr val="D60093"/>
                </a:solidFill>
              </a:rPr>
              <a:t>X.</a:t>
            </a:r>
            <a:endParaRPr lang="en-US" dirty="0"/>
          </a:p>
        </p:txBody>
      </p:sp>
      <p:sp>
        <p:nvSpPr>
          <p:cNvPr id="4" name="Slide Number Placeholder 3"/>
          <p:cNvSpPr>
            <a:spLocks noGrp="1"/>
          </p:cNvSpPr>
          <p:nvPr>
            <p:ph type="sldNum" sz="quarter" idx="10"/>
          </p:nvPr>
        </p:nvSpPr>
        <p:spPr/>
        <p:txBody>
          <a:bodyPr/>
          <a:lstStyle/>
          <a:p>
            <a:fld id="{8CF563F0-6A59-9B46-8E49-D11C08EF4925}" type="slidenum">
              <a:rPr lang="en-US" smtClean="0"/>
              <a:t>14</a:t>
            </a:fld>
            <a:endParaRPr lang="en-US"/>
          </a:p>
        </p:txBody>
      </p:sp>
    </p:spTree>
    <p:extLst>
      <p:ext uri="{BB962C8B-B14F-4D97-AF65-F5344CB8AC3E}">
        <p14:creationId xmlns:p14="http://schemas.microsoft.com/office/powerpoint/2010/main" val="2627004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zh-CN" altLang="en-US" sz="1200" dirty="0" smtClean="0"/>
              <a:t>在关系数据库系统中只讨论规范化的关系，凡是非规范化的关系模式必须化成规范化的关系。</a:t>
            </a:r>
          </a:p>
          <a:p>
            <a:endParaRPr lang="en-US" dirty="0"/>
          </a:p>
        </p:txBody>
      </p:sp>
      <p:sp>
        <p:nvSpPr>
          <p:cNvPr id="4" name="Slide Number Placeholder 3"/>
          <p:cNvSpPr>
            <a:spLocks noGrp="1"/>
          </p:cNvSpPr>
          <p:nvPr>
            <p:ph type="sldNum" sz="quarter" idx="10"/>
          </p:nvPr>
        </p:nvSpPr>
        <p:spPr/>
        <p:txBody>
          <a:bodyPr/>
          <a:lstStyle/>
          <a:p>
            <a:fld id="{8CF563F0-6A59-9B46-8E49-D11C08EF4925}" type="slidenum">
              <a:rPr lang="en-US" smtClean="0"/>
              <a:t>23</a:t>
            </a:fld>
            <a:endParaRPr lang="en-US"/>
          </a:p>
        </p:txBody>
      </p:sp>
    </p:spTree>
    <p:extLst>
      <p:ext uri="{BB962C8B-B14F-4D97-AF65-F5344CB8AC3E}">
        <p14:creationId xmlns:p14="http://schemas.microsoft.com/office/powerpoint/2010/main" val="3746909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2800" dirty="0" smtClean="0"/>
              <a:t>Teaching</a:t>
            </a:r>
            <a:r>
              <a:rPr lang="zh-CN" altLang="en-US" sz="2800" dirty="0" smtClean="0"/>
              <a:t>模式中存在的问题</a:t>
            </a:r>
            <a:endParaRPr lang="en-US" altLang="zh-CN" sz="2800" dirty="0" smtClean="0"/>
          </a:p>
          <a:p>
            <a:pPr>
              <a:lnSpc>
                <a:spcPct val="140000"/>
              </a:lnSpc>
              <a:buFontTx/>
              <a:buNone/>
            </a:pPr>
            <a:r>
              <a:rPr lang="en-US" altLang="zh-CN" sz="2800" dirty="0" smtClean="0"/>
              <a:t> (1)</a:t>
            </a:r>
            <a:r>
              <a:rPr lang="zh-CN" altLang="en-US" sz="2800" dirty="0" smtClean="0"/>
              <a:t>数据冗余度大：有多少名任课教师，参考书就要存储多少次</a:t>
            </a:r>
            <a:endParaRPr lang="en-US" altLang="zh-CN" sz="2800" dirty="0" smtClean="0"/>
          </a:p>
          <a:p>
            <a:pPr>
              <a:lnSpc>
                <a:spcPct val="140000"/>
              </a:lnSpc>
              <a:buFontTx/>
              <a:buNone/>
            </a:pPr>
            <a:r>
              <a:rPr lang="en-US" altLang="zh-CN" dirty="0" smtClean="0"/>
              <a:t> </a:t>
            </a:r>
            <a:r>
              <a:rPr lang="en-US" altLang="zh-CN" sz="2800" dirty="0" smtClean="0"/>
              <a:t>(2)</a:t>
            </a:r>
            <a:r>
              <a:rPr lang="zh-CN" altLang="en-US" sz="2400" dirty="0" smtClean="0"/>
              <a:t>插入操作复杂：当某一课程增加一名任课教师时，该课程有多少本参照书，就必须插入多少个元组</a:t>
            </a:r>
            <a:endParaRPr lang="en-US" altLang="zh-CN" sz="2800" dirty="0" smtClean="0"/>
          </a:p>
          <a:p>
            <a:pPr lvl="1">
              <a:lnSpc>
                <a:spcPct val="170000"/>
              </a:lnSpc>
              <a:buFontTx/>
              <a:buNone/>
            </a:pPr>
            <a:r>
              <a:rPr lang="zh-CN" altLang="en-US" sz="2400" dirty="0" smtClean="0"/>
              <a:t>例如物理课增加一名教师刘关，需要插入两个元组：</a:t>
            </a:r>
            <a:r>
              <a:rPr lang="en-US" altLang="zh-CN" sz="2400" dirty="0" smtClean="0"/>
              <a:t> </a:t>
            </a:r>
          </a:p>
          <a:p>
            <a:pPr>
              <a:lnSpc>
                <a:spcPct val="170000"/>
              </a:lnSpc>
              <a:buFontTx/>
              <a:buNone/>
            </a:pPr>
            <a:r>
              <a:rPr lang="en-US" altLang="zh-CN" sz="2800" dirty="0" smtClean="0"/>
              <a:t>         </a:t>
            </a:r>
            <a:r>
              <a:rPr lang="zh-CN" altLang="en-US" sz="2400" dirty="0" smtClean="0"/>
              <a:t>（物理，刘关，普通物理学）</a:t>
            </a:r>
            <a:r>
              <a:rPr lang="en-US" altLang="zh-CN" sz="2400" dirty="0" smtClean="0"/>
              <a:t> </a:t>
            </a:r>
          </a:p>
          <a:p>
            <a:pPr>
              <a:lnSpc>
                <a:spcPct val="170000"/>
              </a:lnSpc>
              <a:buFontTx/>
              <a:buNone/>
            </a:pPr>
            <a:r>
              <a:rPr lang="en-US" altLang="zh-CN" sz="2400" dirty="0" smtClean="0"/>
              <a:t>          </a:t>
            </a:r>
            <a:r>
              <a:rPr lang="zh-CN" altLang="en-US" sz="2400" dirty="0" smtClean="0"/>
              <a:t>（物理，刘关，光学原理）</a:t>
            </a:r>
            <a:endParaRPr lang="en-US" altLang="zh-CN" sz="2400" dirty="0" smtClean="0"/>
          </a:p>
          <a:p>
            <a:pPr>
              <a:lnSpc>
                <a:spcPct val="160000"/>
              </a:lnSpc>
              <a:buFontTx/>
              <a:buNone/>
            </a:pPr>
            <a:r>
              <a:rPr lang="en-US" altLang="zh-CN" sz="2400" dirty="0" smtClean="0"/>
              <a:t>(3) </a:t>
            </a:r>
            <a:r>
              <a:rPr lang="zh-CN" altLang="en-US" sz="2400" dirty="0" smtClean="0"/>
              <a:t>删除操作复杂：某一门课要去掉一本参考书，该课程有多少名教师，就必须删除多少个元组</a:t>
            </a:r>
            <a:endParaRPr lang="en-US" altLang="zh-CN" sz="2400" dirty="0" smtClean="0"/>
          </a:p>
          <a:p>
            <a:pPr>
              <a:lnSpc>
                <a:spcPct val="160000"/>
              </a:lnSpc>
              <a:buFontTx/>
              <a:buNone/>
            </a:pPr>
            <a:r>
              <a:rPr lang="en-US" altLang="zh-CN" sz="2400" dirty="0" smtClean="0"/>
              <a:t>(4) </a:t>
            </a:r>
            <a:r>
              <a:rPr lang="zh-CN" altLang="en-US" sz="2400" dirty="0" smtClean="0"/>
              <a:t>修改操作复杂：某一门课要修改一本参考书，该课程有多少名教师，就必须修改多少个元组</a:t>
            </a:r>
            <a:r>
              <a:rPr lang="en-US" altLang="zh-CN" sz="2400" dirty="0" smtClean="0"/>
              <a:t>    </a:t>
            </a:r>
          </a:p>
          <a:p>
            <a:pPr>
              <a:lnSpc>
                <a:spcPct val="160000"/>
              </a:lnSpc>
            </a:pPr>
            <a:r>
              <a:rPr lang="zh-CN" altLang="en-US" sz="2400" dirty="0" smtClean="0">
                <a:solidFill>
                  <a:schemeClr val="accent2"/>
                </a:solidFill>
              </a:rPr>
              <a:t>产生原因：</a:t>
            </a:r>
            <a:r>
              <a:rPr lang="en-US" altLang="zh-CN" sz="2400" dirty="0" smtClean="0"/>
              <a:t>	</a:t>
            </a:r>
            <a:r>
              <a:rPr lang="zh-CN" altLang="en-US" sz="2400" dirty="0" smtClean="0"/>
              <a:t>存在多值依赖</a:t>
            </a:r>
            <a:endParaRPr lang="en-US" altLang="zh-CN" sz="2400" dirty="0" smtClean="0"/>
          </a:p>
          <a:p>
            <a:pPr>
              <a:lnSpc>
                <a:spcPct val="170000"/>
              </a:lnSpc>
              <a:buFontTx/>
              <a:buNone/>
            </a:pPr>
            <a:endParaRPr lang="en-US" altLang="zh-CN" sz="2400" dirty="0" smtClean="0"/>
          </a:p>
          <a:p>
            <a:pPr lvl="1">
              <a:buFontTx/>
              <a:buNone/>
            </a:pPr>
            <a:r>
              <a:rPr lang="en-US" altLang="zh-CN" dirty="0" smtClean="0"/>
              <a:t> </a:t>
            </a:r>
            <a:r>
              <a:rPr lang="en-US" altLang="zh-CN" sz="2400" dirty="0" smtClean="0"/>
              <a:t>     </a:t>
            </a:r>
          </a:p>
          <a:p>
            <a:endParaRPr lang="en-US" dirty="0"/>
          </a:p>
        </p:txBody>
      </p:sp>
      <p:sp>
        <p:nvSpPr>
          <p:cNvPr id="4" name="Slide Number Placeholder 3"/>
          <p:cNvSpPr>
            <a:spLocks noGrp="1"/>
          </p:cNvSpPr>
          <p:nvPr>
            <p:ph type="sldNum" sz="quarter" idx="10"/>
          </p:nvPr>
        </p:nvSpPr>
        <p:spPr/>
        <p:txBody>
          <a:bodyPr/>
          <a:lstStyle/>
          <a:p>
            <a:fld id="{8CF563F0-6A59-9B46-8E49-D11C08EF4925}" type="slidenum">
              <a:rPr lang="en-US" smtClean="0"/>
              <a:t>44</a:t>
            </a:fld>
            <a:endParaRPr lang="en-US"/>
          </a:p>
        </p:txBody>
      </p:sp>
    </p:spTree>
    <p:extLst>
      <p:ext uri="{BB962C8B-B14F-4D97-AF65-F5344CB8AC3E}">
        <p14:creationId xmlns:p14="http://schemas.microsoft.com/office/powerpoint/2010/main" val="2637807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对于</a:t>
            </a:r>
            <a:r>
              <a:rPr lang="en-US" altLang="zh-CN" dirty="0" smtClean="0"/>
              <a:t>R</a:t>
            </a:r>
            <a:r>
              <a:rPr lang="zh-CN" altLang="en-US" dirty="0" smtClean="0"/>
              <a:t>(</a:t>
            </a:r>
            <a:r>
              <a:rPr lang="en-US" altLang="zh-CN" dirty="0" smtClean="0"/>
              <a:t>U)</a:t>
            </a:r>
            <a:r>
              <a:rPr lang="zh-CN" altLang="en-US" dirty="0" smtClean="0"/>
              <a:t>中的任意</a:t>
            </a:r>
            <a:r>
              <a:rPr lang="en-US" altLang="zh-CN" dirty="0" smtClean="0"/>
              <a:t>2</a:t>
            </a:r>
            <a:r>
              <a:rPr lang="zh-CN" altLang="en-US" dirty="0" smtClean="0"/>
              <a:t>个属性子集</a:t>
            </a:r>
            <a:r>
              <a:rPr lang="en-US" altLang="zh-CN" dirty="0" smtClean="0"/>
              <a:t>X</a:t>
            </a:r>
            <a:r>
              <a:rPr lang="zh-CN" altLang="en-US" dirty="0" smtClean="0"/>
              <a:t>和</a:t>
            </a:r>
            <a:r>
              <a:rPr lang="en-US" altLang="zh-CN" dirty="0" smtClean="0"/>
              <a:t>Y</a:t>
            </a:r>
            <a:r>
              <a:rPr lang="zh-CN" altLang="en-US" dirty="0" smtClean="0"/>
              <a:t>，如果成立非平凡多值依赖</a:t>
            </a:r>
            <a:r>
              <a:rPr lang="en-US" altLang="zh-CN" dirty="0" smtClean="0"/>
              <a:t>X</a:t>
            </a:r>
            <a:r>
              <a:rPr lang="en-US" altLang="zh-CN" dirty="0" smtClean="0">
                <a:sym typeface="Wingdings"/>
              </a:rPr>
              <a:t>Y</a:t>
            </a:r>
            <a:r>
              <a:rPr lang="zh-CN" altLang="en-US" dirty="0" smtClean="0">
                <a:sym typeface="Wingdings"/>
              </a:rPr>
              <a:t>，则</a:t>
            </a:r>
            <a:r>
              <a:rPr lang="en-US" altLang="zh-CN" dirty="0" smtClean="0">
                <a:sym typeface="Wingdings"/>
              </a:rPr>
              <a:t>X</a:t>
            </a:r>
            <a:r>
              <a:rPr lang="zh-CN" altLang="en-US" dirty="0" smtClean="0">
                <a:sym typeface="Wingdings"/>
              </a:rPr>
              <a:t>必为超键，则称</a:t>
            </a:r>
            <a:r>
              <a:rPr lang="en-US" altLang="zh-CN" dirty="0" smtClean="0">
                <a:sym typeface="Wingdings"/>
              </a:rPr>
              <a:t>R</a:t>
            </a:r>
            <a:r>
              <a:rPr lang="zh-CN" altLang="en-US" dirty="0" smtClean="0">
                <a:sym typeface="Wingdings"/>
              </a:rPr>
              <a:t>(</a:t>
            </a:r>
            <a:r>
              <a:rPr lang="en-US" altLang="zh-CN" dirty="0" smtClean="0">
                <a:sym typeface="Wingdings"/>
              </a:rPr>
              <a:t>U)</a:t>
            </a:r>
            <a:r>
              <a:rPr lang="zh-CN" altLang="en-US" dirty="0" smtClean="0">
                <a:sym typeface="Wingdings"/>
              </a:rPr>
              <a:t>为</a:t>
            </a:r>
            <a:r>
              <a:rPr lang="en-US" altLang="zh-CN" dirty="0" smtClean="0">
                <a:sym typeface="Wingdings"/>
              </a:rPr>
              <a:t>4NF</a:t>
            </a:r>
            <a:r>
              <a:rPr lang="zh-CN" altLang="en-US" dirty="0" smtClean="0">
                <a:sym typeface="Wingdings"/>
              </a:rPr>
              <a:t>。</a:t>
            </a:r>
            <a:endParaRPr lang="en-US" altLang="zh-CN" dirty="0" smtClean="0">
              <a:sym typeface="Wingdings"/>
            </a:endParaRPr>
          </a:p>
          <a:p>
            <a:r>
              <a:rPr lang="en-US" altLang="zh-CN" dirty="0" smtClean="0">
                <a:sym typeface="Wingdings"/>
              </a:rPr>
              <a:t>XY</a:t>
            </a:r>
            <a:r>
              <a:rPr lang="zh-CN" altLang="en-US" dirty="0" smtClean="0">
                <a:sym typeface="Wingdings"/>
              </a:rPr>
              <a:t>满足</a:t>
            </a:r>
            <a:r>
              <a:rPr lang="en-US" altLang="zh-CN" dirty="0" smtClean="0">
                <a:sym typeface="Wingdings"/>
              </a:rPr>
              <a:t>BCNF</a:t>
            </a:r>
            <a:r>
              <a:rPr lang="zh-CN" altLang="en-US" dirty="0" smtClean="0">
                <a:sym typeface="Wingdings"/>
              </a:rPr>
              <a:t>。</a:t>
            </a:r>
            <a:endParaRPr lang="en-US" dirty="0"/>
          </a:p>
        </p:txBody>
      </p:sp>
      <p:sp>
        <p:nvSpPr>
          <p:cNvPr id="4" name="Slide Number Placeholder 3"/>
          <p:cNvSpPr>
            <a:spLocks noGrp="1"/>
          </p:cNvSpPr>
          <p:nvPr>
            <p:ph type="sldNum" sz="quarter" idx="10"/>
          </p:nvPr>
        </p:nvSpPr>
        <p:spPr/>
        <p:txBody>
          <a:bodyPr/>
          <a:lstStyle/>
          <a:p>
            <a:fld id="{8CF563F0-6A59-9B46-8E49-D11C08EF4925}" type="slidenum">
              <a:rPr lang="en-US" smtClean="0"/>
              <a:t>54</a:t>
            </a:fld>
            <a:endParaRPr lang="en-US"/>
          </a:p>
        </p:txBody>
      </p:sp>
    </p:spTree>
    <p:extLst>
      <p:ext uri="{BB962C8B-B14F-4D97-AF65-F5344CB8AC3E}">
        <p14:creationId xmlns:p14="http://schemas.microsoft.com/office/powerpoint/2010/main" val="2291305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zh-CN" altLang="en-US" dirty="0" smtClean="0"/>
              <a:t>是；是</a:t>
            </a:r>
            <a:endParaRPr lang="en-US" altLang="zh-CN" dirty="0" smtClean="0"/>
          </a:p>
          <a:p>
            <a:pPr marL="228600" indent="-228600">
              <a:buAutoNum type="arabicPeriod"/>
            </a:pPr>
            <a:r>
              <a:rPr lang="zh-CN" altLang="en-US" dirty="0" smtClean="0"/>
              <a:t>是</a:t>
            </a:r>
            <a:endParaRPr lang="en-US" altLang="zh-CN" dirty="0" smtClean="0"/>
          </a:p>
          <a:p>
            <a:pPr marL="228600" indent="-228600">
              <a:buAutoNum type="arabicPeriod"/>
            </a:pPr>
            <a:r>
              <a:rPr lang="zh-CN" altLang="zh-CN" dirty="0" smtClean="0"/>
              <a:t>3</a:t>
            </a:r>
            <a:r>
              <a:rPr lang="en-US" altLang="zh-CN" dirty="0" smtClean="0"/>
              <a:t>NF</a:t>
            </a:r>
          </a:p>
          <a:p>
            <a:pPr marL="228600" indent="-228600">
              <a:buAutoNum type="arabicPeriod"/>
            </a:pPr>
            <a:r>
              <a:rPr lang="en-US" altLang="zh-CN" dirty="0" smtClean="0"/>
              <a:t>BCNF</a:t>
            </a:r>
            <a:endParaRPr lang="en-US" dirty="0"/>
          </a:p>
        </p:txBody>
      </p:sp>
      <p:sp>
        <p:nvSpPr>
          <p:cNvPr id="4" name="Slide Number Placeholder 3"/>
          <p:cNvSpPr>
            <a:spLocks noGrp="1"/>
          </p:cNvSpPr>
          <p:nvPr>
            <p:ph type="sldNum" sz="quarter" idx="10"/>
          </p:nvPr>
        </p:nvSpPr>
        <p:spPr/>
        <p:txBody>
          <a:bodyPr/>
          <a:lstStyle/>
          <a:p>
            <a:fld id="{8CF563F0-6A59-9B46-8E49-D11C08EF4925}" type="slidenum">
              <a:rPr lang="en-US" smtClean="0"/>
              <a:t>59</a:t>
            </a:fld>
            <a:endParaRPr lang="en-US"/>
          </a:p>
        </p:txBody>
      </p:sp>
    </p:spTree>
    <p:extLst>
      <p:ext uri="{BB962C8B-B14F-4D97-AF65-F5344CB8AC3E}">
        <p14:creationId xmlns:p14="http://schemas.microsoft.com/office/powerpoint/2010/main" val="23165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6"/>
          <p:cNvSpPr/>
          <p:nvPr/>
        </p:nvSpPr>
        <p:spPr>
          <a:xfrm>
            <a:off x="685800" y="1346947"/>
            <a:ext cx="7772400" cy="80683"/>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685800" y="4282763"/>
            <a:ext cx="7772400" cy="80683"/>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685800" y="1484779"/>
            <a:ext cx="7772400" cy="2743200"/>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7" name="Footer Placeholder 4"/>
          <p:cNvSpPr txBox="1">
            <a:spLocks/>
          </p:cNvSpPr>
          <p:nvPr userDrawn="1"/>
        </p:nvSpPr>
        <p:spPr>
          <a:xfrm>
            <a:off x="801688" y="6272213"/>
            <a:ext cx="4746625" cy="365125"/>
          </a:xfrm>
          <a:prstGeom prst="rect">
            <a:avLst/>
          </a:prstGeom>
        </p:spPr>
        <p:txBody>
          <a:bodyPr anchor="ctr"/>
          <a:lstStyle>
            <a:lvl1pPr>
              <a:defRPr kumimoji="1" sz="3600" b="1">
                <a:solidFill>
                  <a:schemeClr val="tx1"/>
                </a:solidFill>
                <a:latin typeface="宋体" charset="0"/>
                <a:ea typeface="宋体" charset="0"/>
                <a:cs typeface="宋体" charset="0"/>
              </a:defRPr>
            </a:lvl1pPr>
            <a:lvl2pPr marL="742950" indent="-285750">
              <a:defRPr kumimoji="1" sz="3600" b="1">
                <a:solidFill>
                  <a:schemeClr val="tx1"/>
                </a:solidFill>
                <a:latin typeface="宋体" charset="0"/>
                <a:ea typeface="宋体" charset="0"/>
                <a:cs typeface="宋体" charset="0"/>
              </a:defRPr>
            </a:lvl2pPr>
            <a:lvl3pPr marL="1143000" indent="-228600">
              <a:defRPr kumimoji="1" sz="3600" b="1">
                <a:solidFill>
                  <a:schemeClr val="tx1"/>
                </a:solidFill>
                <a:latin typeface="宋体" charset="0"/>
                <a:ea typeface="宋体" charset="0"/>
                <a:cs typeface="宋体" charset="0"/>
              </a:defRPr>
            </a:lvl3pPr>
            <a:lvl4pPr marL="1600200" indent="-228600">
              <a:defRPr kumimoji="1" sz="3600" b="1">
                <a:solidFill>
                  <a:schemeClr val="tx1"/>
                </a:solidFill>
                <a:latin typeface="宋体" charset="0"/>
                <a:ea typeface="宋体" charset="0"/>
                <a:cs typeface="宋体" charset="0"/>
              </a:defRPr>
            </a:lvl4pPr>
            <a:lvl5pPr marL="2057400" indent="-228600">
              <a:defRPr kumimoji="1" sz="3600" b="1">
                <a:solidFill>
                  <a:schemeClr val="tx1"/>
                </a:solidFill>
                <a:latin typeface="宋体" charset="0"/>
                <a:ea typeface="宋体" charset="0"/>
                <a:cs typeface="宋体" charset="0"/>
              </a:defRPr>
            </a:lvl5pPr>
            <a:lvl6pPr marL="2514600" indent="-228600"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defRPr/>
            </a:pPr>
            <a:r>
              <a:rPr kumimoji="0" lang="zh-CN" altLang="en-US" sz="1000" b="0" dirty="0" smtClean="0">
                <a:solidFill>
                  <a:srgbClr val="FF0000"/>
                </a:solidFill>
                <a:latin typeface="新宋体" charset="0"/>
                <a:ea typeface="华文行楷" charset="0"/>
                <a:cs typeface="华文行楷" charset="0"/>
              </a:rPr>
              <a:t>计算机学院数据库所</a:t>
            </a:r>
            <a:r>
              <a:rPr kumimoji="0" lang="en-US" altLang="zh-CN" sz="1000" b="0" dirty="0" smtClean="0">
                <a:solidFill>
                  <a:srgbClr val="FF0000"/>
                </a:solidFill>
                <a:latin typeface="新宋体" charset="0"/>
                <a:ea typeface="华文行楷" charset="0"/>
                <a:cs typeface="华文行楷" charset="0"/>
              </a:rPr>
              <a:t> Zuo</a:t>
            </a:r>
            <a:endParaRPr lang="en-US" altLang="zh-CN" sz="1000" dirty="0" smtClean="0">
              <a:solidFill>
                <a:srgbClr val="456968"/>
              </a:solidFill>
            </a:endParaRPr>
          </a:p>
        </p:txBody>
      </p:sp>
      <p:sp>
        <p:nvSpPr>
          <p:cNvPr id="2" name="Title 1"/>
          <p:cNvSpPr>
            <a:spLocks noGrp="1"/>
          </p:cNvSpPr>
          <p:nvPr>
            <p:ph type="ctrTitle"/>
          </p:nvPr>
        </p:nvSpPr>
        <p:spPr>
          <a:xfrm>
            <a:off x="788670" y="1432223"/>
            <a:ext cx="7517130" cy="3035808"/>
          </a:xfrm>
        </p:spPr>
        <p:txBody>
          <a:bodyPr>
            <a:noAutofit/>
          </a:bodyPr>
          <a:lstStyle>
            <a:lvl1pPr algn="l">
              <a:lnSpc>
                <a:spcPct val="85000"/>
              </a:lnSpc>
              <a:defRPr sz="6000" b="1" cap="none" baseline="0">
                <a:blipFill dpi="0" rotWithShape="1">
                  <a:blip r:embed="rId3"/>
                  <a:srcRect/>
                  <a:tile tx="6350" ty="-127000" sx="65000" sy="64000" flip="none" algn="tl"/>
                </a:blip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smtClean="0"/>
              <a:t>单击此处编辑母版副标题样式</a:t>
            </a:r>
            <a:endParaRPr lang="en-US" dirty="0"/>
          </a:p>
        </p:txBody>
      </p:sp>
      <p:sp>
        <p:nvSpPr>
          <p:cNvPr id="8" name="Date Placeholder 3"/>
          <p:cNvSpPr>
            <a:spLocks noGrp="1"/>
          </p:cNvSpPr>
          <p:nvPr>
            <p:ph type="dt" sz="half" idx="10"/>
          </p:nvPr>
        </p:nvSpPr>
        <p:spPr/>
        <p:txBody>
          <a:bodyPr/>
          <a:lstStyle>
            <a:lvl1pPr>
              <a:defRPr/>
            </a:lvl1pPr>
          </a:lstStyle>
          <a:p>
            <a:pPr>
              <a:defRPr/>
            </a:pPr>
            <a:fld id="{AF48ACBE-FE23-1A4F-AB31-9F74FED02498}" type="datetimeFigureOut">
              <a:rPr lang="en-US" altLang="zh-CN"/>
              <a:pPr>
                <a:defRPr/>
              </a:pPr>
              <a:t>17-4-28</a:t>
            </a:fld>
            <a:endParaRPr lang="en-US" altLang="zh-CN"/>
          </a:p>
        </p:txBody>
      </p:sp>
      <p:sp>
        <p:nvSpPr>
          <p:cNvPr id="9" name="Footer Placeholder 4"/>
          <p:cNvSpPr>
            <a:spLocks noGrp="1"/>
          </p:cNvSpPr>
          <p:nvPr>
            <p:ph type="ftr" sz="quarter" idx="11"/>
          </p:nvPr>
        </p:nvSpPr>
        <p:spPr>
          <a:xfrm>
            <a:off x="788988" y="5041900"/>
            <a:ext cx="4745037" cy="365125"/>
          </a:xfrm>
        </p:spPr>
        <p:txBody>
          <a:bodyPr rtlCol="0"/>
          <a:lstStyle>
            <a:lvl1pPr>
              <a:defRPr>
                <a:solidFill>
                  <a:schemeClr val="accent1">
                    <a:lumMod val="50000"/>
                  </a:schemeClr>
                </a:solidFill>
                <a:latin typeface="宋体" panose="02010600030101010101" pitchFamily="2" charset="-122"/>
                <a:ea typeface="宋体" panose="02010600030101010101" pitchFamily="2" charset="-122"/>
                <a:cs typeface="+mn-cs"/>
              </a:defRPr>
            </a:lvl1pPr>
          </a:lstStyle>
          <a:p>
            <a:pPr>
              <a:defRPr/>
            </a:pPr>
            <a:r>
              <a:rPr lang="en-US" altLang="zh-CN"/>
              <a:t>An Introduction to Database System</a:t>
            </a:r>
          </a:p>
        </p:txBody>
      </p:sp>
      <p:sp>
        <p:nvSpPr>
          <p:cNvPr id="10" name="Slide Number Placeholder 5"/>
          <p:cNvSpPr>
            <a:spLocks noGrp="1"/>
          </p:cNvSpPr>
          <p:nvPr>
            <p:ph type="sldNum" sz="quarter" idx="12"/>
          </p:nvPr>
        </p:nvSpPr>
        <p:spPr>
          <a:xfrm>
            <a:off x="7243763" y="4227513"/>
            <a:ext cx="895350" cy="639762"/>
          </a:xfrm>
        </p:spPr>
        <p:txBody>
          <a:bodyPr/>
          <a:lstStyle>
            <a:lvl1pPr>
              <a:defRPr sz="2800"/>
            </a:lvl1pPr>
          </a:lstStyle>
          <a:p>
            <a:pPr>
              <a:defRPr/>
            </a:pPr>
            <a:fld id="{D7D61247-0145-EB4A-AEF3-01F9A49C7019}" type="slidenum">
              <a:rPr lang="en-US" altLang="zh-CN"/>
              <a:pPr>
                <a:defRPr/>
              </a:pPr>
              <a:t>‹#›</a:t>
            </a:fld>
            <a:endParaRPr lang="en-US" altLang="zh-CN"/>
          </a:p>
        </p:txBody>
      </p:sp>
    </p:spTree>
    <p:extLst>
      <p:ext uri="{BB962C8B-B14F-4D97-AF65-F5344CB8AC3E}">
        <p14:creationId xmlns:p14="http://schemas.microsoft.com/office/powerpoint/2010/main" val="2039075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Footer Placeholder 4"/>
          <p:cNvSpPr txBox="1">
            <a:spLocks/>
          </p:cNvSpPr>
          <p:nvPr userDrawn="1"/>
        </p:nvSpPr>
        <p:spPr>
          <a:xfrm>
            <a:off x="879475" y="6272213"/>
            <a:ext cx="4745038" cy="365125"/>
          </a:xfrm>
          <a:prstGeom prst="rect">
            <a:avLst/>
          </a:prstGeom>
        </p:spPr>
        <p:txBody>
          <a:bodyPr anchor="ctr"/>
          <a:lstStyle>
            <a:lvl1pPr>
              <a:defRPr kumimoji="1" sz="3600" b="1">
                <a:solidFill>
                  <a:schemeClr val="tx1"/>
                </a:solidFill>
                <a:latin typeface="宋体" charset="0"/>
                <a:ea typeface="宋体" charset="0"/>
                <a:cs typeface="宋体" charset="0"/>
              </a:defRPr>
            </a:lvl1pPr>
            <a:lvl2pPr marL="742950" indent="-285750">
              <a:defRPr kumimoji="1" sz="3600" b="1">
                <a:solidFill>
                  <a:schemeClr val="tx1"/>
                </a:solidFill>
                <a:latin typeface="宋体" charset="0"/>
                <a:ea typeface="宋体" charset="0"/>
                <a:cs typeface="宋体" charset="0"/>
              </a:defRPr>
            </a:lvl2pPr>
            <a:lvl3pPr marL="1143000" indent="-228600">
              <a:defRPr kumimoji="1" sz="3600" b="1">
                <a:solidFill>
                  <a:schemeClr val="tx1"/>
                </a:solidFill>
                <a:latin typeface="宋体" charset="0"/>
                <a:ea typeface="宋体" charset="0"/>
                <a:cs typeface="宋体" charset="0"/>
              </a:defRPr>
            </a:lvl3pPr>
            <a:lvl4pPr marL="1600200" indent="-228600">
              <a:defRPr kumimoji="1" sz="3600" b="1">
                <a:solidFill>
                  <a:schemeClr val="tx1"/>
                </a:solidFill>
                <a:latin typeface="宋体" charset="0"/>
                <a:ea typeface="宋体" charset="0"/>
                <a:cs typeface="宋体" charset="0"/>
              </a:defRPr>
            </a:lvl4pPr>
            <a:lvl5pPr marL="2057400" indent="-228600">
              <a:defRPr kumimoji="1" sz="3600" b="1">
                <a:solidFill>
                  <a:schemeClr val="tx1"/>
                </a:solidFill>
                <a:latin typeface="宋体" charset="0"/>
                <a:ea typeface="宋体" charset="0"/>
                <a:cs typeface="宋体" charset="0"/>
              </a:defRPr>
            </a:lvl5pPr>
            <a:lvl6pPr marL="2514600" indent="-228600"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defRPr/>
            </a:pPr>
            <a:r>
              <a:rPr kumimoji="0" lang="zh-CN" altLang="en-US" sz="1000" b="0" dirty="0" smtClean="0">
                <a:solidFill>
                  <a:srgbClr val="FF0000"/>
                </a:solidFill>
                <a:latin typeface="新宋体" charset="0"/>
                <a:ea typeface="华文行楷" charset="0"/>
                <a:cs typeface="华文行楷" charset="0"/>
              </a:rPr>
              <a:t>计算机学院数据库所 </a:t>
            </a:r>
            <a:r>
              <a:rPr kumimoji="0" lang="en-US" altLang="zh-CN" sz="1000" b="0" dirty="0" smtClean="0">
                <a:solidFill>
                  <a:srgbClr val="FF0000"/>
                </a:solidFill>
                <a:latin typeface="Blackadder ITC" charset="0"/>
                <a:ea typeface="黑体" charset="0"/>
                <a:cs typeface="黑体" charset="0"/>
              </a:rPr>
              <a:t>Zuo</a:t>
            </a:r>
            <a:endParaRPr lang="en-US" altLang="zh-CN" sz="1000" dirty="0" smtClean="0">
              <a:solidFill>
                <a:srgbClr val="456968"/>
              </a:solidFill>
              <a:latin typeface="Blackadder ITC" charset="0"/>
              <a:ea typeface="黑体" charset="0"/>
              <a:cs typeface="黑体" charset="0"/>
            </a:endParaRPr>
          </a:p>
        </p:txBody>
      </p:sp>
      <p:sp>
        <p:nvSpPr>
          <p:cNvPr id="2" name="Title 1"/>
          <p:cNvSpPr>
            <a:spLocks noGrp="1"/>
          </p:cNvSpPr>
          <p:nvPr>
            <p:ph type="title"/>
          </p:nvPr>
        </p:nvSpPr>
        <p:spPr>
          <a:xfrm>
            <a:off x="685800" y="116632"/>
            <a:ext cx="7772400" cy="784128"/>
          </a:xfrm>
        </p:spPr>
        <p:txBody>
          <a:bodyPr/>
          <a:lstStyle>
            <a:lvl1pPr>
              <a:defRPr sz="3600"/>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85800" y="908720"/>
            <a:ext cx="7772400" cy="5263481"/>
          </a:xfrm>
        </p:spPr>
        <p:txBody>
          <a:bodyPr/>
          <a:lstStyle>
            <a:lvl1pPr>
              <a:defRPr sz="2800"/>
            </a:lvl1pPr>
            <a:lvl2pPr>
              <a:defRPr sz="2400"/>
            </a:lvl2pPr>
            <a:lvl3pPr>
              <a:defRPr sz="2000"/>
            </a:lvl3pPr>
            <a:lvl4pPr>
              <a:defRPr sz="2000"/>
            </a:lvl4pPr>
            <a:lvl5pPr>
              <a:defRPr sz="2000"/>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6" name="Date Placeholder 6"/>
          <p:cNvSpPr>
            <a:spLocks noGrp="1"/>
          </p:cNvSpPr>
          <p:nvPr>
            <p:ph type="dt" sz="half" idx="10"/>
          </p:nvPr>
        </p:nvSpPr>
        <p:spPr/>
        <p:txBody>
          <a:bodyPr/>
          <a:lstStyle>
            <a:lvl1pPr>
              <a:defRPr/>
            </a:lvl1pPr>
          </a:lstStyle>
          <a:p>
            <a:pPr>
              <a:defRPr/>
            </a:pPr>
            <a:fld id="{783D1D5F-944C-AF4B-AD91-9B9D64FAE84E}" type="datetimeFigureOut">
              <a:rPr lang="en-US" altLang="zh-CN"/>
              <a:pPr>
                <a:defRPr/>
              </a:pPr>
              <a:t>17-4-28</a:t>
            </a:fld>
            <a:endParaRPr lang="en-US" altLang="zh-CN"/>
          </a:p>
        </p:txBody>
      </p:sp>
      <p:sp>
        <p:nvSpPr>
          <p:cNvPr id="7" name="Slide Number Placeholder 8"/>
          <p:cNvSpPr>
            <a:spLocks noGrp="1"/>
          </p:cNvSpPr>
          <p:nvPr>
            <p:ph type="sldNum" sz="quarter" idx="11"/>
          </p:nvPr>
        </p:nvSpPr>
        <p:spPr/>
        <p:txBody>
          <a:bodyPr/>
          <a:lstStyle>
            <a:lvl1pPr>
              <a:defRPr/>
            </a:lvl1pPr>
          </a:lstStyle>
          <a:p>
            <a:pPr>
              <a:defRPr/>
            </a:pPr>
            <a:fld id="{47F445B7-5C44-804A-899A-16C4D8122FBA}" type="slidenum">
              <a:rPr lang="en-US" altLang="zh-CN"/>
              <a:pPr>
                <a:defRPr/>
              </a:pPr>
              <a:t>‹#›</a:t>
            </a:fld>
            <a:endParaRPr lang="en-US" altLang="zh-CN"/>
          </a:p>
        </p:txBody>
      </p:sp>
    </p:spTree>
    <p:extLst>
      <p:ext uri="{BB962C8B-B14F-4D97-AF65-F5344CB8AC3E}">
        <p14:creationId xmlns:p14="http://schemas.microsoft.com/office/powerpoint/2010/main" val="3828317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4" name="Rectangle 6"/>
          <p:cNvSpPr/>
          <p:nvPr userDrawn="1"/>
        </p:nvSpPr>
        <p:spPr>
          <a:xfrm>
            <a:off x="0" y="4917989"/>
            <a:ext cx="9144000" cy="1940010"/>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5" name="Group 7"/>
          <p:cNvGrpSpPr>
            <a:grpSpLocks noChangeAspect="1"/>
          </p:cNvGrpSpPr>
          <p:nvPr/>
        </p:nvGrpSpPr>
        <p:grpSpPr bwMode="auto">
          <a:xfrm>
            <a:off x="633413" y="2430463"/>
            <a:ext cx="914400" cy="914400"/>
            <a:chOff x="9685338" y="4460675"/>
            <a:chExt cx="1080904" cy="1080902"/>
          </a:xfrm>
          <a:solidFill>
            <a:srgbClr val="800000"/>
          </a:solidFill>
        </p:grpSpPr>
        <p:sp>
          <p:nvSpPr>
            <p:cNvPr id="6" name="Oval 8"/>
            <p:cNvSpPr/>
            <p:nvPr/>
          </p:nvSpPr>
          <p:spPr>
            <a:xfrm>
              <a:off x="9685338" y="4460675"/>
              <a:ext cx="1080904" cy="1080902"/>
            </a:xfrm>
            <a:prstGeom prst="ellipse">
              <a:avLst/>
            </a:prstGeom>
            <a:grpFill/>
            <a:ln w="25400" cap="flat" cmpd="sng" algn="ctr">
              <a:noFill/>
              <a:prstDash val="solid"/>
            </a:ln>
            <a:effectLst/>
          </p:spPr>
        </p:sp>
        <p:sp>
          <p:nvSpPr>
            <p:cNvPr id="7" name="Oval 9"/>
            <p:cNvSpPr>
              <a:spLocks noChangeArrowheads="1"/>
            </p:cNvSpPr>
            <p:nvPr/>
          </p:nvSpPr>
          <p:spPr bwMode="auto">
            <a:xfrm>
              <a:off x="9793429" y="4568765"/>
              <a:ext cx="864723" cy="864722"/>
            </a:xfrm>
            <a:prstGeom prst="ellipse">
              <a:avLst/>
            </a:prstGeom>
            <a:grpFill/>
            <a:ln w="25400">
              <a:solidFill>
                <a:srgbClr val="FFFFFF"/>
              </a:solidFill>
              <a:round/>
              <a:headEnd/>
              <a:tailEnd/>
            </a:ln>
            <a:extLst/>
          </p:spPr>
          <p:txBody>
            <a:bodyPr/>
            <a:lstStyle/>
            <a:p>
              <a:pPr>
                <a:defRPr/>
              </a:pPr>
              <a:endParaRPr lang="zh-CN" altLang="en-US"/>
            </a:p>
          </p:txBody>
        </p:sp>
      </p:grpSp>
      <p:sp>
        <p:nvSpPr>
          <p:cNvPr id="8" name="Footer Placeholder 4"/>
          <p:cNvSpPr txBox="1">
            <a:spLocks/>
          </p:cNvSpPr>
          <p:nvPr userDrawn="1"/>
        </p:nvSpPr>
        <p:spPr>
          <a:xfrm>
            <a:off x="801688" y="6272213"/>
            <a:ext cx="4746625" cy="365125"/>
          </a:xfrm>
          <a:prstGeom prst="rect">
            <a:avLst/>
          </a:prstGeom>
        </p:spPr>
        <p:txBody>
          <a:bodyPr anchor="ctr"/>
          <a:lstStyle>
            <a:lvl1pPr>
              <a:defRPr kumimoji="1" sz="3600" b="1">
                <a:solidFill>
                  <a:schemeClr val="tx1"/>
                </a:solidFill>
                <a:latin typeface="宋体" charset="0"/>
                <a:ea typeface="宋体" charset="0"/>
                <a:cs typeface="宋体" charset="0"/>
              </a:defRPr>
            </a:lvl1pPr>
            <a:lvl2pPr marL="742950" indent="-285750">
              <a:defRPr kumimoji="1" sz="3600" b="1">
                <a:solidFill>
                  <a:schemeClr val="tx1"/>
                </a:solidFill>
                <a:latin typeface="宋体" charset="0"/>
                <a:ea typeface="宋体" charset="0"/>
                <a:cs typeface="宋体" charset="0"/>
              </a:defRPr>
            </a:lvl2pPr>
            <a:lvl3pPr marL="1143000" indent="-228600">
              <a:defRPr kumimoji="1" sz="3600" b="1">
                <a:solidFill>
                  <a:schemeClr val="tx1"/>
                </a:solidFill>
                <a:latin typeface="宋体" charset="0"/>
                <a:ea typeface="宋体" charset="0"/>
                <a:cs typeface="宋体" charset="0"/>
              </a:defRPr>
            </a:lvl3pPr>
            <a:lvl4pPr marL="1600200" indent="-228600">
              <a:defRPr kumimoji="1" sz="3600" b="1">
                <a:solidFill>
                  <a:schemeClr val="tx1"/>
                </a:solidFill>
                <a:latin typeface="宋体" charset="0"/>
                <a:ea typeface="宋体" charset="0"/>
                <a:cs typeface="宋体" charset="0"/>
              </a:defRPr>
            </a:lvl4pPr>
            <a:lvl5pPr marL="2057400" indent="-228600">
              <a:defRPr kumimoji="1" sz="3600" b="1">
                <a:solidFill>
                  <a:schemeClr val="tx1"/>
                </a:solidFill>
                <a:latin typeface="宋体" charset="0"/>
                <a:ea typeface="宋体" charset="0"/>
                <a:cs typeface="宋体" charset="0"/>
              </a:defRPr>
            </a:lvl5pPr>
            <a:lvl6pPr marL="2514600" indent="-228600"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defRPr/>
            </a:pPr>
            <a:r>
              <a:rPr kumimoji="0" lang="zh-CN" altLang="en-US" sz="1000" b="0" dirty="0" smtClean="0">
                <a:solidFill>
                  <a:srgbClr val="FF0000"/>
                </a:solidFill>
                <a:latin typeface="新宋体" charset="0"/>
                <a:ea typeface="华文行楷" charset="0"/>
                <a:cs typeface="华文行楷" charset="0"/>
              </a:rPr>
              <a:t>计算机学院数据库所</a:t>
            </a:r>
            <a:r>
              <a:rPr kumimoji="0" lang="en-US" altLang="zh-CN" sz="1000" b="0" dirty="0" smtClean="0">
                <a:solidFill>
                  <a:srgbClr val="FF0000"/>
                </a:solidFill>
                <a:latin typeface="新宋体" charset="0"/>
                <a:ea typeface="华文行楷" charset="0"/>
                <a:cs typeface="华文行楷" charset="0"/>
              </a:rPr>
              <a:t> Zuo</a:t>
            </a:r>
            <a:endParaRPr lang="en-US" altLang="zh-CN" sz="1000" dirty="0" smtClean="0">
              <a:solidFill>
                <a:srgbClr val="456968"/>
              </a:solidFill>
            </a:endParaRPr>
          </a:p>
        </p:txBody>
      </p:sp>
      <p:sp>
        <p:nvSpPr>
          <p:cNvPr id="2" name="Title 1"/>
          <p:cNvSpPr>
            <a:spLocks noGrp="1"/>
          </p:cNvSpPr>
          <p:nvPr>
            <p:ph type="title"/>
          </p:nvPr>
        </p:nvSpPr>
        <p:spPr>
          <a:xfrm>
            <a:off x="1625346" y="1225296"/>
            <a:ext cx="6960870" cy="3520440"/>
          </a:xfrm>
        </p:spPr>
        <p:txBody>
          <a:bodyPr/>
          <a:lstStyle>
            <a:lvl1pPr>
              <a:lnSpc>
                <a:spcPct val="85000"/>
              </a:lnSpc>
              <a:defRPr sz="6600" b="1"/>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ormAutofit/>
          </a:bodyPr>
          <a:lstStyle>
            <a:lvl1pPr marL="0" indent="0">
              <a:buNone/>
              <a:defRPr lang="en-US" sz="2000" smtClean="0">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dirty="0" smtClean="0"/>
              <a:t>Click to edit Master text styles</a:t>
            </a:r>
          </a:p>
          <a:p>
            <a:pPr lvl="1"/>
            <a:r>
              <a:rPr lang="en-US" altLang="zh-CN" dirty="0" smtClean="0"/>
              <a:t>Second level</a:t>
            </a:r>
          </a:p>
        </p:txBody>
      </p:sp>
      <p:sp>
        <p:nvSpPr>
          <p:cNvPr id="9" name="Date Placeholder 3"/>
          <p:cNvSpPr>
            <a:spLocks noGrp="1"/>
          </p:cNvSpPr>
          <p:nvPr>
            <p:ph type="dt" sz="half" idx="10"/>
          </p:nvPr>
        </p:nvSpPr>
        <p:spPr>
          <a:xfrm>
            <a:off x="6445250" y="6272213"/>
            <a:ext cx="1982788" cy="365125"/>
          </a:xfrm>
        </p:spPr>
        <p:txBody>
          <a:bodyPr/>
          <a:lstStyle>
            <a:lvl1pPr>
              <a:defRPr/>
            </a:lvl1pPr>
          </a:lstStyle>
          <a:p>
            <a:pPr>
              <a:defRPr/>
            </a:pPr>
            <a:fld id="{9B84E933-D241-854E-9091-8D94331FE17C}" type="datetimeFigureOut">
              <a:rPr lang="en-US" altLang="zh-CN"/>
              <a:pPr>
                <a:defRPr/>
              </a:pPr>
              <a:t>17-4-28</a:t>
            </a:fld>
            <a:endParaRPr lang="en-US" altLang="zh-CN"/>
          </a:p>
        </p:txBody>
      </p:sp>
      <p:sp>
        <p:nvSpPr>
          <p:cNvPr id="10" name="Slide Number Placeholder 5"/>
          <p:cNvSpPr>
            <a:spLocks noGrp="1"/>
          </p:cNvSpPr>
          <p:nvPr>
            <p:ph type="sldNum" sz="quarter" idx="11"/>
          </p:nvPr>
        </p:nvSpPr>
        <p:spPr>
          <a:xfrm>
            <a:off x="646113" y="2508250"/>
            <a:ext cx="890587" cy="720725"/>
          </a:xfrm>
        </p:spPr>
        <p:txBody>
          <a:bodyPr/>
          <a:lstStyle>
            <a:lvl1pPr>
              <a:defRPr sz="2800"/>
            </a:lvl1pPr>
          </a:lstStyle>
          <a:p>
            <a:pPr>
              <a:defRPr/>
            </a:pPr>
            <a:endParaRPr lang="en-US" altLang="zh-CN"/>
          </a:p>
        </p:txBody>
      </p:sp>
    </p:spTree>
    <p:extLst>
      <p:ext uri="{BB962C8B-B14F-4D97-AF65-F5344CB8AC3E}">
        <p14:creationId xmlns:p14="http://schemas.microsoft.com/office/powerpoint/2010/main" val="78399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85800" y="1268760"/>
            <a:ext cx="3657600" cy="4903440"/>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Content Placeholder 3"/>
          <p:cNvSpPr>
            <a:spLocks noGrp="1"/>
          </p:cNvSpPr>
          <p:nvPr>
            <p:ph sz="half" idx="2"/>
          </p:nvPr>
        </p:nvSpPr>
        <p:spPr>
          <a:xfrm>
            <a:off x="4792218" y="1268760"/>
            <a:ext cx="3657600" cy="4903440"/>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D232B695-A9E0-5C41-82C5-C24F0593C8CA}" type="datetimeFigureOut">
              <a:rPr lang="en-US" altLang="zh-CN"/>
              <a:pPr>
                <a:defRPr/>
              </a:pPr>
              <a:t>17-4-28</a:t>
            </a:fld>
            <a:endParaRPr lang="en-US" altLang="zh-CN"/>
          </a:p>
        </p:txBody>
      </p:sp>
      <p:sp>
        <p:nvSpPr>
          <p:cNvPr id="6" name="Footer Placeholder 4"/>
          <p:cNvSpPr>
            <a:spLocks noGrp="1"/>
          </p:cNvSpPr>
          <p:nvPr>
            <p:ph type="ftr" sz="quarter" idx="11"/>
          </p:nvPr>
        </p:nvSpPr>
        <p:spPr/>
        <p:txBody>
          <a:bodyPr/>
          <a:lstStyle>
            <a:lvl1pPr>
              <a:defRPr/>
            </a:lvl1pPr>
          </a:lstStyle>
          <a:p>
            <a:pPr>
              <a:defRPr/>
            </a:pPr>
            <a:r>
              <a:rPr lang="zh-CN" altLang="en-US"/>
              <a:t>计算机学院数据库所  </a:t>
            </a:r>
            <a:r>
              <a:rPr lang="en-US" altLang="zh-CN"/>
              <a:t>Zuo</a:t>
            </a:r>
          </a:p>
        </p:txBody>
      </p:sp>
      <p:sp>
        <p:nvSpPr>
          <p:cNvPr id="7" name="Slide Number Placeholder 5"/>
          <p:cNvSpPr>
            <a:spLocks noGrp="1"/>
          </p:cNvSpPr>
          <p:nvPr>
            <p:ph type="sldNum" sz="quarter" idx="12"/>
          </p:nvPr>
        </p:nvSpPr>
        <p:spPr/>
        <p:txBody>
          <a:bodyPr/>
          <a:lstStyle>
            <a:lvl1pPr>
              <a:defRPr/>
            </a:lvl1pPr>
          </a:lstStyle>
          <a:p>
            <a:pPr>
              <a:defRPr/>
            </a:pPr>
            <a:fld id="{7B0855F0-B929-EE4C-B0E0-D9C92AF14A24}" type="slidenum">
              <a:rPr lang="en-US" altLang="zh-CN"/>
              <a:pPr>
                <a:defRPr/>
              </a:pPr>
              <a:t>‹#›</a:t>
            </a:fld>
            <a:endParaRPr lang="en-US" altLang="zh-CN"/>
          </a:p>
        </p:txBody>
      </p:sp>
    </p:spTree>
    <p:extLst>
      <p:ext uri="{BB962C8B-B14F-4D97-AF65-F5344CB8AC3E}">
        <p14:creationId xmlns:p14="http://schemas.microsoft.com/office/powerpoint/2010/main" val="2157629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37513082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2.png"/><Relationship Id="rId8" Type="http://schemas.openxmlformats.org/officeDocument/2006/relationships/image" Target="../media/image3.jpeg"/><Relationship Id="rId9"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026" name="Group 11"/>
          <p:cNvGrpSpPr>
            <a:grpSpLocks/>
          </p:cNvGrpSpPr>
          <p:nvPr/>
        </p:nvGrpSpPr>
        <p:grpSpPr bwMode="auto">
          <a:xfrm>
            <a:off x="8523288" y="6254750"/>
            <a:ext cx="392112" cy="393700"/>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7">
                <a:duotone>
                  <a:schemeClr val="accent1">
                    <a:shade val="45000"/>
                    <a:satMod val="135000"/>
                  </a:schemeClr>
                  <a:prstClr val="white"/>
                </a:duotone>
                <a:extLst/>
              </a:blip>
              <a:srcRect/>
              <a:tile tx="50800" ty="0" sx="85000" sy="85000" flip="none" algn="tl"/>
            </a:blipFill>
            <a:ln w="25400" cap="flat" cmpd="sng" algn="ctr">
              <a:noFill/>
              <a:prstDash val="solid"/>
            </a:ln>
            <a:effectLst/>
          </p:spPr>
        </p:sp>
        <p:sp>
          <p:nvSpPr>
            <p:cNvPr id="1037" name="Oval 8"/>
            <p:cNvSpPr>
              <a:spLocks noChangeAspect="1"/>
            </p:cNvSpPr>
            <p:nvPr/>
          </p:nvSpPr>
          <p:spPr bwMode="auto">
            <a:xfrm>
              <a:off x="8568766" y="5105400"/>
              <a:ext cx="320039" cy="320040"/>
            </a:xfrm>
            <a:prstGeom prst="ellipse">
              <a:avLst/>
            </a:prstGeom>
            <a:noFill/>
            <a:ln w="1270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 name="Title Placeholder 1"/>
          <p:cNvSpPr>
            <a:spLocks noGrp="1"/>
          </p:cNvSpPr>
          <p:nvPr>
            <p:ph type="title"/>
          </p:nvPr>
        </p:nvSpPr>
        <p:spPr>
          <a:xfrm>
            <a:off x="685800" y="77874"/>
            <a:ext cx="7772400" cy="928688"/>
          </a:xfrm>
          <a:prstGeom prst="rect">
            <a:avLst/>
          </a:prstGeom>
        </p:spPr>
        <p:txBody>
          <a:bodyPr vert="horz" wrap="square" lIns="91440" tIns="45720" rIns="91440" bIns="45720" numCol="1" anchor="ctr" anchorCtr="0" compatLnSpc="1">
            <a:prstTxWarp prst="textNoShape">
              <a:avLst/>
            </a:prstTxWarp>
            <a:normAutofit/>
          </a:bodyPr>
          <a:lstStyle/>
          <a:p>
            <a:pPr lvl="0"/>
            <a:r>
              <a:rPr lang="zh-CN" altLang="en-US" dirty="0"/>
              <a:t>单击此处编辑母版标题样式</a:t>
            </a:r>
            <a:endParaRPr lang="en-US" dirty="0"/>
          </a:p>
        </p:txBody>
      </p:sp>
      <p:sp>
        <p:nvSpPr>
          <p:cNvPr id="1028" name="Text Placeholder 2"/>
          <p:cNvSpPr>
            <a:spLocks noGrp="1"/>
          </p:cNvSpPr>
          <p:nvPr>
            <p:ph type="body" idx="1"/>
          </p:nvPr>
        </p:nvSpPr>
        <p:spPr bwMode="auto">
          <a:xfrm>
            <a:off x="685800" y="1102961"/>
            <a:ext cx="7772400" cy="503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992813" y="6272213"/>
            <a:ext cx="2454275"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456968"/>
                </a:solidFill>
              </a:defRPr>
            </a:lvl1pPr>
          </a:lstStyle>
          <a:p>
            <a:pPr>
              <a:defRPr/>
            </a:pPr>
            <a:fld id="{3E12753A-9817-AB46-81C3-87296064969C}" type="datetimeFigureOut">
              <a:rPr lang="en-US" altLang="zh-CN"/>
              <a:pPr>
                <a:defRPr/>
              </a:pPr>
              <a:t>17-4-28</a:t>
            </a:fld>
            <a:endParaRPr lang="en-US" altLang="zh-CN"/>
          </a:p>
        </p:txBody>
      </p:sp>
      <p:sp>
        <p:nvSpPr>
          <p:cNvPr id="5" name="Footer Placeholder 4"/>
          <p:cNvSpPr>
            <a:spLocks noGrp="1"/>
          </p:cNvSpPr>
          <p:nvPr>
            <p:ph type="ftr" sz="quarter" idx="3"/>
          </p:nvPr>
        </p:nvSpPr>
        <p:spPr>
          <a:xfrm>
            <a:off x="685800" y="6272213"/>
            <a:ext cx="4745038" cy="365125"/>
          </a:xfrm>
          <a:prstGeom prst="rect">
            <a:avLst/>
          </a:prstGeom>
        </p:spPr>
        <p:txBody>
          <a:bodyPr vert="horz" wrap="square" lIns="91440" tIns="45720" rIns="91440" bIns="45720" numCol="1" anchor="ctr" anchorCtr="0" compatLnSpc="1">
            <a:prstTxWarp prst="textNoShape">
              <a:avLst/>
            </a:prstTxWarp>
          </a:bodyPr>
          <a:lstStyle>
            <a:lvl1pPr algn="l">
              <a:defRPr sz="1000">
                <a:solidFill>
                  <a:srgbClr val="FF0000"/>
                </a:solidFill>
              </a:defRPr>
            </a:lvl1pPr>
          </a:lstStyle>
          <a:p>
            <a:pPr>
              <a:defRPr/>
            </a:pPr>
            <a:r>
              <a:rPr lang="zh-CN" altLang="en-US"/>
              <a:t>计算机学院数据库所  </a:t>
            </a:r>
            <a:r>
              <a:rPr lang="en-US" altLang="zh-CN"/>
              <a:t>Zuo</a:t>
            </a:r>
            <a:endParaRPr lang="en-US" altLang="zh-CN" dirty="0"/>
          </a:p>
        </p:txBody>
      </p:sp>
      <p:sp>
        <p:nvSpPr>
          <p:cNvPr id="6" name="Slide Number Placeholder 5"/>
          <p:cNvSpPr>
            <a:spLocks noGrp="1"/>
          </p:cNvSpPr>
          <p:nvPr>
            <p:ph type="sldNum" sz="quarter" idx="4"/>
          </p:nvPr>
        </p:nvSpPr>
        <p:spPr>
          <a:xfrm>
            <a:off x="8483600" y="6272213"/>
            <a:ext cx="479425" cy="365125"/>
          </a:xfrm>
          <a:prstGeom prst="rect">
            <a:avLst/>
          </a:prstGeom>
        </p:spPr>
        <p:txBody>
          <a:bodyPr vert="horz" wrap="square" lIns="91440" tIns="45720" rIns="91440" bIns="45720" numCol="1" anchor="ctr" anchorCtr="0" compatLnSpc="1">
            <a:prstTxWarp prst="textNoShape">
              <a:avLst/>
            </a:prstTxWarp>
          </a:bodyPr>
          <a:lstStyle>
            <a:lvl1pPr algn="ctr">
              <a:defRPr sz="1100">
                <a:solidFill>
                  <a:srgbClr val="FFFFFF"/>
                </a:solidFill>
                <a:latin typeface="Arial" charset="0"/>
              </a:defRPr>
            </a:lvl1pPr>
          </a:lstStyle>
          <a:p>
            <a:pPr>
              <a:defRPr/>
            </a:pPr>
            <a:fld id="{43D91766-30F0-2943-8B19-C1D8EC738A46}" type="slidenum">
              <a:rPr lang="en-US" altLang="zh-CN"/>
              <a:pPr>
                <a:defRPr/>
              </a:pPr>
              <a:t>‹#›</a:t>
            </a:fld>
            <a:endParaRPr lang="en-US" altLang="zh-CN" dirty="0"/>
          </a:p>
        </p:txBody>
      </p:sp>
      <p:pic>
        <p:nvPicPr>
          <p:cNvPr id="1032" name="Picture 19" descr="LOGO"/>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400800" y="0"/>
            <a:ext cx="2743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userDrawn="1"/>
        </p:nvCxnSpPr>
        <p:spPr>
          <a:xfrm>
            <a:off x="685800" y="949267"/>
            <a:ext cx="7772400" cy="0"/>
          </a:xfrm>
          <a:prstGeom prst="line">
            <a:avLst/>
          </a:prstGeom>
          <a:ln w="57150">
            <a:gradFill>
              <a:gsLst>
                <a:gs pos="42839">
                  <a:srgbClr val="BFC9E3"/>
                </a:gs>
                <a:gs pos="23000">
                  <a:srgbClr val="CBD3E8"/>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65301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Lst>
  <p:timing>
    <p:tnLst>
      <p:par>
        <p:cTn xmlns:p14="http://schemas.microsoft.com/office/powerpoint/2010/main" id="1" dur="indefinite" restart="never" nodeType="tmRoot"/>
      </p:par>
    </p:tnLst>
  </p:timing>
  <p:hf hdr="0" ftr="0"/>
  <p:txStyles>
    <p:titleStyle>
      <a:lvl1pPr algn="l" rtl="0" eaLnBrk="0" fontAlgn="base" hangingPunct="0">
        <a:lnSpc>
          <a:spcPct val="90000"/>
        </a:lnSpc>
        <a:spcBef>
          <a:spcPct val="0"/>
        </a:spcBef>
        <a:spcAft>
          <a:spcPct val="0"/>
        </a:spcAft>
        <a:defRPr sz="3600" b="1" kern="1200">
          <a:blipFill>
            <a:blip r:embed="rId9">
              <a:extLst>
                <a:ext uri="{28A0092B-C50C-407E-A947-70E740481C1C}">
                  <a14:useLocalDpi xmlns:a14="http://schemas.microsoft.com/office/drawing/2010/main" val="0"/>
                </a:ext>
              </a:extLst>
            </a:blip>
            <a:tile tx="6350" ty="-127000" sx="65000" sy="64000" flip="none" algn="tl"/>
          </a:blipFill>
          <a:latin typeface="+mj-lt"/>
          <a:ea typeface="+mj-ea"/>
          <a:cs typeface="黑体" charset="0"/>
        </a:defRPr>
      </a:lvl1pPr>
      <a:lvl2pPr algn="l" rtl="0" eaLnBrk="0" fontAlgn="base" hangingPunct="0">
        <a:lnSpc>
          <a:spcPct val="90000"/>
        </a:lnSpc>
        <a:spcBef>
          <a:spcPct val="0"/>
        </a:spcBef>
        <a:spcAft>
          <a:spcPct val="0"/>
        </a:spcAft>
        <a:defRPr sz="3600" b="1">
          <a:solidFill>
            <a:schemeClr val="tx1"/>
          </a:solidFill>
          <a:latin typeface="Arial Black" panose="020B0A04020102020204" pitchFamily="34" charset="0"/>
          <a:ea typeface="黑体" panose="02010609060101010101" pitchFamily="49" charset="-122"/>
          <a:cs typeface="黑体" charset="0"/>
        </a:defRPr>
      </a:lvl2pPr>
      <a:lvl3pPr algn="l" rtl="0" eaLnBrk="0" fontAlgn="base" hangingPunct="0">
        <a:lnSpc>
          <a:spcPct val="90000"/>
        </a:lnSpc>
        <a:spcBef>
          <a:spcPct val="0"/>
        </a:spcBef>
        <a:spcAft>
          <a:spcPct val="0"/>
        </a:spcAft>
        <a:defRPr sz="3600" b="1">
          <a:solidFill>
            <a:schemeClr val="tx1"/>
          </a:solidFill>
          <a:latin typeface="Arial Black" panose="020B0A04020102020204" pitchFamily="34" charset="0"/>
          <a:ea typeface="黑体" panose="02010609060101010101" pitchFamily="49" charset="-122"/>
          <a:cs typeface="黑体" charset="0"/>
        </a:defRPr>
      </a:lvl3pPr>
      <a:lvl4pPr algn="l" rtl="0" eaLnBrk="0" fontAlgn="base" hangingPunct="0">
        <a:lnSpc>
          <a:spcPct val="90000"/>
        </a:lnSpc>
        <a:spcBef>
          <a:spcPct val="0"/>
        </a:spcBef>
        <a:spcAft>
          <a:spcPct val="0"/>
        </a:spcAft>
        <a:defRPr sz="3600" b="1">
          <a:solidFill>
            <a:schemeClr val="tx1"/>
          </a:solidFill>
          <a:latin typeface="Arial Black" panose="020B0A04020102020204" pitchFamily="34" charset="0"/>
          <a:ea typeface="黑体" panose="02010609060101010101" pitchFamily="49" charset="-122"/>
          <a:cs typeface="黑体" charset="0"/>
        </a:defRPr>
      </a:lvl4pPr>
      <a:lvl5pPr algn="l" rtl="0" eaLnBrk="0" fontAlgn="base" hangingPunct="0">
        <a:lnSpc>
          <a:spcPct val="90000"/>
        </a:lnSpc>
        <a:spcBef>
          <a:spcPct val="0"/>
        </a:spcBef>
        <a:spcAft>
          <a:spcPct val="0"/>
        </a:spcAft>
        <a:defRPr sz="3600" b="1">
          <a:solidFill>
            <a:schemeClr val="tx1"/>
          </a:solidFill>
          <a:latin typeface="Arial Black" panose="020B0A04020102020204" pitchFamily="34" charset="0"/>
          <a:ea typeface="黑体" panose="02010609060101010101" pitchFamily="49" charset="-122"/>
          <a:cs typeface="黑体" charset="0"/>
        </a:defRPr>
      </a:lvl5pPr>
      <a:lvl6pPr marL="457200" algn="l" rtl="0" fontAlgn="base">
        <a:lnSpc>
          <a:spcPct val="90000"/>
        </a:lnSpc>
        <a:spcBef>
          <a:spcPct val="0"/>
        </a:spcBef>
        <a:spcAft>
          <a:spcPct val="0"/>
        </a:spcAft>
        <a:defRPr sz="4200" b="1">
          <a:solidFill>
            <a:schemeClr val="tx1"/>
          </a:solidFill>
          <a:latin typeface="Arial Black" panose="020B0A04020102020204" pitchFamily="34" charset="0"/>
          <a:ea typeface="黑体" panose="02010609060101010101" pitchFamily="49" charset="-122"/>
        </a:defRPr>
      </a:lvl6pPr>
      <a:lvl7pPr marL="914400" algn="l" rtl="0" fontAlgn="base">
        <a:lnSpc>
          <a:spcPct val="90000"/>
        </a:lnSpc>
        <a:spcBef>
          <a:spcPct val="0"/>
        </a:spcBef>
        <a:spcAft>
          <a:spcPct val="0"/>
        </a:spcAft>
        <a:defRPr sz="4200" b="1">
          <a:solidFill>
            <a:schemeClr val="tx1"/>
          </a:solidFill>
          <a:latin typeface="Arial Black" panose="020B0A04020102020204" pitchFamily="34" charset="0"/>
          <a:ea typeface="黑体" panose="02010609060101010101" pitchFamily="49" charset="-122"/>
        </a:defRPr>
      </a:lvl7pPr>
      <a:lvl8pPr marL="1371600" algn="l" rtl="0" fontAlgn="base">
        <a:lnSpc>
          <a:spcPct val="90000"/>
        </a:lnSpc>
        <a:spcBef>
          <a:spcPct val="0"/>
        </a:spcBef>
        <a:spcAft>
          <a:spcPct val="0"/>
        </a:spcAft>
        <a:defRPr sz="4200" b="1">
          <a:solidFill>
            <a:schemeClr val="tx1"/>
          </a:solidFill>
          <a:latin typeface="Arial Black" panose="020B0A04020102020204" pitchFamily="34" charset="0"/>
          <a:ea typeface="黑体" panose="02010609060101010101" pitchFamily="49" charset="-122"/>
        </a:defRPr>
      </a:lvl8pPr>
      <a:lvl9pPr marL="1828800" algn="l" rtl="0" fontAlgn="base">
        <a:lnSpc>
          <a:spcPct val="90000"/>
        </a:lnSpc>
        <a:spcBef>
          <a:spcPct val="0"/>
        </a:spcBef>
        <a:spcAft>
          <a:spcPct val="0"/>
        </a:spcAft>
        <a:defRPr sz="4200" b="1">
          <a:solidFill>
            <a:schemeClr val="tx1"/>
          </a:solidFill>
          <a:latin typeface="Arial Black" panose="020B0A04020102020204" pitchFamily="34" charset="0"/>
          <a:ea typeface="黑体" panose="02010609060101010101" pitchFamily="49" charset="-122"/>
        </a:defRPr>
      </a:lvl9pPr>
    </p:titleStyle>
    <p:bodyStyle>
      <a:lvl1pPr marL="182563" indent="-182563" algn="l" rtl="0" eaLnBrk="0" fontAlgn="base" hangingPunct="0">
        <a:lnSpc>
          <a:spcPct val="100000"/>
        </a:lnSpc>
        <a:spcBef>
          <a:spcPts val="600"/>
        </a:spcBef>
        <a:spcAft>
          <a:spcPts val="0"/>
        </a:spcAft>
        <a:buClr>
          <a:schemeClr val="accent1"/>
        </a:buClr>
        <a:buSzPct val="85000"/>
        <a:buFont typeface="Wingdings" charset="0"/>
        <a:buChar char="§"/>
        <a:defRPr sz="2800" kern="1200">
          <a:solidFill>
            <a:schemeClr val="tx1"/>
          </a:solidFill>
          <a:latin typeface="Arial Narrow"/>
          <a:ea typeface="+mn-ea"/>
          <a:cs typeface="Arial Narrow"/>
        </a:defRPr>
      </a:lvl1pPr>
      <a:lvl2pPr marL="457200"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2pPr>
      <a:lvl3pPr marL="730250"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3pPr>
      <a:lvl4pPr marL="1004888"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4pPr>
      <a:lvl5pPr marL="1279525"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5pPr>
      <a:lvl6pPr marL="16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6.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Microsoft_Word_97_-_2004_Document1.doc"/><Relationship Id="rId4" Type="http://schemas.openxmlformats.org/officeDocument/2006/relationships/image" Target="../media/image12.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800" dirty="0">
                <a:latin typeface="Times New Roman" charset="0"/>
                <a:ea typeface="楷体_GB2312" charset="0"/>
              </a:rPr>
              <a:t>第六章   关系数据理论</a:t>
            </a:r>
            <a:endParaRPr lang="en-US" sz="4800" dirty="0"/>
          </a:p>
        </p:txBody>
      </p:sp>
      <p:sp>
        <p:nvSpPr>
          <p:cNvPr id="3" name="Text Placeholder 2"/>
          <p:cNvSpPr>
            <a:spLocks noGrp="1"/>
          </p:cNvSpPr>
          <p:nvPr>
            <p:ph type="body" idx="1"/>
          </p:nvPr>
        </p:nvSpPr>
        <p:spPr/>
        <p:txBody>
          <a:bodyPr/>
          <a:lstStyle/>
          <a:p>
            <a:r>
              <a:rPr lang="en-US" altLang="zh-CN" i="1" dirty="0">
                <a:solidFill>
                  <a:srgbClr val="800000"/>
                </a:solidFill>
                <a:latin typeface="Arial" charset="0"/>
                <a:ea typeface="黑体" charset="0"/>
              </a:rPr>
              <a:t>Principles of Database Systems</a:t>
            </a:r>
            <a:endParaRPr lang="en-US" i="1" dirty="0">
              <a:solidFill>
                <a:srgbClr val="800000"/>
              </a:solidFill>
              <a:latin typeface="Arial" charset="0"/>
              <a:ea typeface="黑体" charset="0"/>
            </a:endParaRPr>
          </a:p>
          <a:p>
            <a:endParaRPr lang="en-US" dirty="0"/>
          </a:p>
        </p:txBody>
      </p:sp>
      <p:sp>
        <p:nvSpPr>
          <p:cNvPr id="4" name="Date Placeholder 3"/>
          <p:cNvSpPr>
            <a:spLocks noGrp="1"/>
          </p:cNvSpPr>
          <p:nvPr>
            <p:ph type="dt" sz="half" idx="10"/>
          </p:nvPr>
        </p:nvSpPr>
        <p:spPr/>
        <p:txBody>
          <a:bodyPr/>
          <a:lstStyle/>
          <a:p>
            <a:pPr>
              <a:defRPr/>
            </a:pPr>
            <a:fld id="{9B84E933-D241-854E-9091-8D94331FE17C}"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r>
              <a:rPr lang="en-US" altLang="zh-CN" dirty="0" smtClean="0"/>
              <a:t>6</a:t>
            </a:r>
            <a:endParaRPr lang="en-US" altLang="zh-CN" dirty="0"/>
          </a:p>
        </p:txBody>
      </p:sp>
    </p:spTree>
    <p:extLst>
      <p:ext uri="{BB962C8B-B14F-4D97-AF65-F5344CB8AC3E}">
        <p14:creationId xmlns:p14="http://schemas.microsoft.com/office/powerpoint/2010/main" val="26313020"/>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第六章  关系数据理论</a:t>
            </a:r>
            <a:endParaRPr lang="en-US" dirty="0"/>
          </a:p>
        </p:txBody>
      </p:sp>
      <p:sp>
        <p:nvSpPr>
          <p:cNvPr id="3" name="Content Placeholder 2"/>
          <p:cNvSpPr>
            <a:spLocks noGrp="1"/>
          </p:cNvSpPr>
          <p:nvPr>
            <p:ph idx="1"/>
          </p:nvPr>
        </p:nvSpPr>
        <p:spPr/>
        <p:txBody>
          <a:bodyPr/>
          <a:lstStyle/>
          <a:p>
            <a:pPr>
              <a:lnSpc>
                <a:spcPct val="130000"/>
              </a:lnSpc>
              <a:buNone/>
            </a:pPr>
            <a:r>
              <a:rPr lang="en-US" altLang="zh-CN" b="1" dirty="0" smtClean="0">
                <a:solidFill>
                  <a:srgbClr val="0000FF"/>
                </a:solidFill>
                <a:latin typeface="Arial Narrow" charset="0"/>
                <a:ea typeface="黑体" charset="0"/>
              </a:rPr>
              <a:t>6.1  </a:t>
            </a:r>
            <a:r>
              <a:rPr lang="zh-CN" altLang="en-US" b="1" dirty="0" smtClean="0">
                <a:solidFill>
                  <a:srgbClr val="0000FF"/>
                </a:solidFill>
                <a:latin typeface="Arial Narrow" charset="0"/>
                <a:ea typeface="黑体" charset="0"/>
              </a:rPr>
              <a:t>问题的提出</a:t>
            </a:r>
            <a:endParaRPr lang="en-US" altLang="zh-CN" b="1" dirty="0" smtClean="0">
              <a:solidFill>
                <a:srgbClr val="0000FF"/>
              </a:solidFill>
              <a:latin typeface="Arial Narrow" charset="0"/>
              <a:ea typeface="黑体" charset="0"/>
            </a:endParaRPr>
          </a:p>
          <a:p>
            <a:pPr>
              <a:lnSpc>
                <a:spcPct val="150000"/>
              </a:lnSpc>
              <a:buNone/>
            </a:pPr>
            <a:r>
              <a:rPr lang="en-US" altLang="zh-CN" b="1" dirty="0"/>
              <a:t>6.2 </a:t>
            </a:r>
            <a:r>
              <a:rPr lang="zh-CN" altLang="en-US" b="1" dirty="0"/>
              <a:t>规范化</a:t>
            </a:r>
          </a:p>
          <a:p>
            <a:pPr>
              <a:lnSpc>
                <a:spcPct val="150000"/>
              </a:lnSpc>
              <a:buNone/>
            </a:pPr>
            <a:r>
              <a:rPr lang="en-US" altLang="zh-CN" b="1" dirty="0"/>
              <a:t>6.3 </a:t>
            </a:r>
            <a:r>
              <a:rPr lang="zh-CN" altLang="en-US" b="1" dirty="0"/>
              <a:t>数据依赖的公理系统</a:t>
            </a:r>
          </a:p>
          <a:p>
            <a:pPr>
              <a:lnSpc>
                <a:spcPct val="150000"/>
              </a:lnSpc>
              <a:buNone/>
            </a:pPr>
            <a:r>
              <a:rPr lang="zh-CN" altLang="en-US" b="1" dirty="0"/>
              <a:t>*</a:t>
            </a:r>
            <a:r>
              <a:rPr lang="en-US" altLang="zh-CN" b="1" dirty="0"/>
              <a:t>6.4 </a:t>
            </a:r>
            <a:r>
              <a:rPr lang="zh-CN" altLang="en-US" b="1" dirty="0"/>
              <a:t>模式的分解</a:t>
            </a:r>
          </a:p>
          <a:p>
            <a:pPr>
              <a:lnSpc>
                <a:spcPct val="150000"/>
              </a:lnSpc>
              <a:buNone/>
            </a:pPr>
            <a:r>
              <a:rPr lang="en-US" altLang="zh-CN" b="1" dirty="0"/>
              <a:t>6.5 </a:t>
            </a:r>
            <a:r>
              <a:rPr lang="zh-CN" altLang="en-US" b="1" dirty="0"/>
              <a:t>小结</a:t>
            </a:r>
          </a:p>
          <a:p>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a:t>
            </a:fld>
            <a:endParaRPr lang="en-US" altLang="zh-CN"/>
          </a:p>
        </p:txBody>
      </p:sp>
    </p:spTree>
    <p:extLst>
      <p:ext uri="{BB962C8B-B14F-4D97-AF65-F5344CB8AC3E}">
        <p14:creationId xmlns:p14="http://schemas.microsoft.com/office/powerpoint/2010/main" val="2749343058"/>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6.1 </a:t>
            </a:r>
            <a:r>
              <a:rPr lang="zh-CN" altLang="en-US" dirty="0" smtClean="0"/>
              <a:t>问题的提出</a:t>
            </a:r>
            <a:endParaRPr lang="en-US" dirty="0"/>
          </a:p>
        </p:txBody>
      </p:sp>
      <p:sp>
        <p:nvSpPr>
          <p:cNvPr id="3" name="Content Placeholder 2"/>
          <p:cNvSpPr>
            <a:spLocks noGrp="1"/>
          </p:cNvSpPr>
          <p:nvPr>
            <p:ph idx="1"/>
          </p:nvPr>
        </p:nvSpPr>
        <p:spPr/>
        <p:txBody>
          <a:bodyPr/>
          <a:lstStyle/>
          <a:p>
            <a:pPr marL="231775" indent="-231775">
              <a:lnSpc>
                <a:spcPct val="110000"/>
              </a:lnSpc>
              <a:buClr>
                <a:srgbClr val="0000FF"/>
              </a:buClr>
              <a:buSzPct val="90000"/>
              <a:buFont typeface="Wingdings" charset="0"/>
              <a:buChar char="v"/>
            </a:pPr>
            <a:r>
              <a:rPr lang="zh-CN" altLang="en-US" sz="2400" dirty="0">
                <a:solidFill>
                  <a:srgbClr val="000000"/>
                </a:solidFill>
              </a:rPr>
              <a:t>所有数据库应用系统设计的共同问题</a:t>
            </a:r>
            <a:r>
              <a:rPr lang="en-US" altLang="zh-CN" sz="2400" dirty="0">
                <a:solidFill>
                  <a:srgbClr val="000000"/>
                </a:solidFill>
              </a:rPr>
              <a:t>—— </a:t>
            </a:r>
            <a:r>
              <a:rPr lang="zh-CN" altLang="en-US" sz="2400" dirty="0">
                <a:solidFill>
                  <a:srgbClr val="FF0066"/>
                </a:solidFill>
                <a:effectLst>
                  <a:outerShdw blurRad="38100" dist="38100" dir="2700000" algn="tl">
                    <a:srgbClr val="000000"/>
                  </a:outerShdw>
                </a:effectLst>
              </a:rPr>
              <a:t>如何把复杂的现实世界表达成合适的数据库模式？</a:t>
            </a:r>
          </a:p>
          <a:p>
            <a:pPr marL="231775" indent="-231775">
              <a:lnSpc>
                <a:spcPct val="110000"/>
              </a:lnSpc>
              <a:buClr>
                <a:srgbClr val="0000FF"/>
              </a:buClr>
              <a:buSzPct val="90000"/>
              <a:buFont typeface="Wingdings" charset="0"/>
              <a:buChar char="v"/>
            </a:pPr>
            <a:r>
              <a:rPr lang="zh-CN" altLang="en-US" sz="2400" dirty="0">
                <a:solidFill>
                  <a:srgbClr val="000000"/>
                </a:solidFill>
              </a:rPr>
              <a:t> 具体到关系数据库应用系统中，就表现为下列问题：</a:t>
            </a:r>
          </a:p>
          <a:p>
            <a:pPr marL="630238" lvl="1" indent="-173038">
              <a:lnSpc>
                <a:spcPct val="110000"/>
              </a:lnSpc>
              <a:buSzPct val="90000"/>
              <a:buFont typeface="Wingdings" charset="0"/>
              <a:buChar char="v"/>
            </a:pPr>
            <a:r>
              <a:rPr lang="zh-CN" altLang="en-US" dirty="0">
                <a:solidFill>
                  <a:srgbClr val="FF0066"/>
                </a:solidFill>
                <a:effectLst>
                  <a:outerShdw blurRad="38100" dist="38100" dir="2700000" algn="tl">
                    <a:srgbClr val="000000"/>
                  </a:outerShdw>
                </a:effectLst>
              </a:rPr>
              <a:t> 数据库中应该构造几个关系？</a:t>
            </a:r>
          </a:p>
          <a:p>
            <a:pPr marL="630238" lvl="1" indent="-173038">
              <a:lnSpc>
                <a:spcPct val="110000"/>
              </a:lnSpc>
              <a:buSzPct val="90000"/>
              <a:buFont typeface="Wingdings" charset="0"/>
              <a:buChar char="v"/>
            </a:pPr>
            <a:r>
              <a:rPr lang="zh-CN" altLang="en-US" dirty="0">
                <a:solidFill>
                  <a:srgbClr val="FF0066"/>
                </a:solidFill>
                <a:effectLst>
                  <a:outerShdw blurRad="38100" dist="38100" dir="2700000" algn="tl">
                    <a:srgbClr val="000000"/>
                  </a:outerShdw>
                </a:effectLst>
              </a:rPr>
              <a:t> 每个关系又应该包括哪些属性？</a:t>
            </a:r>
          </a:p>
          <a:p>
            <a:pPr marL="231775" indent="-231775">
              <a:lnSpc>
                <a:spcPct val="110000"/>
              </a:lnSpc>
              <a:buSzPct val="90000"/>
            </a:pPr>
            <a:r>
              <a:rPr lang="zh-CN" altLang="en-US" sz="2400" dirty="0" smtClean="0">
                <a:solidFill>
                  <a:srgbClr val="000000"/>
                </a:solidFill>
              </a:rPr>
              <a:t>这些问题属于数据库</a:t>
            </a:r>
            <a:r>
              <a:rPr lang="zh-CN" altLang="en-US" sz="2400" dirty="0" smtClean="0">
                <a:solidFill>
                  <a:srgbClr val="008000"/>
                </a:solidFill>
                <a:effectLst>
                  <a:outerShdw blurRad="38100" dist="38100" dir="2700000" algn="tl">
                    <a:srgbClr val="000000"/>
                  </a:outerShdw>
                </a:effectLst>
              </a:rPr>
              <a:t>逻辑设计</a:t>
            </a:r>
            <a:r>
              <a:rPr lang="zh-CN" altLang="en-US" sz="2400" dirty="0">
                <a:solidFill>
                  <a:srgbClr val="000000"/>
                </a:solidFill>
              </a:rPr>
              <a:t>的问题。</a:t>
            </a:r>
          </a:p>
          <a:p>
            <a:pPr marL="231775" indent="-231775">
              <a:lnSpc>
                <a:spcPct val="110000"/>
              </a:lnSpc>
              <a:buClr>
                <a:srgbClr val="0000FF"/>
              </a:buClr>
              <a:buSzPct val="90000"/>
              <a:buFont typeface="Wingdings" charset="0"/>
              <a:buChar char="v"/>
            </a:pPr>
            <a:r>
              <a:rPr lang="zh-CN" altLang="en-US" sz="2400" dirty="0">
                <a:solidFill>
                  <a:srgbClr val="000000"/>
                </a:solidFill>
              </a:rPr>
              <a:t> 本章讲述</a:t>
            </a:r>
            <a:r>
              <a:rPr lang="zh-CN" altLang="en-US" sz="2400" dirty="0">
                <a:solidFill>
                  <a:srgbClr val="0000FF"/>
                </a:solidFill>
              </a:rPr>
              <a:t>关系数据库设计理论</a:t>
            </a:r>
            <a:r>
              <a:rPr lang="zh-CN" altLang="en-US" sz="2400" dirty="0">
                <a:solidFill>
                  <a:srgbClr val="000000"/>
                </a:solidFill>
              </a:rPr>
              <a:t>，它是数据库逻辑设计的有力工具。主要包括三个方面的内容：</a:t>
            </a:r>
          </a:p>
          <a:p>
            <a:pPr marL="630238" lvl="1" indent="-173038">
              <a:lnSpc>
                <a:spcPct val="110000"/>
              </a:lnSpc>
              <a:buSzPct val="90000"/>
              <a:buFont typeface="Wingdings" charset="0"/>
              <a:buChar char="v"/>
            </a:pPr>
            <a:r>
              <a:rPr lang="zh-CN" altLang="en-US" dirty="0">
                <a:solidFill>
                  <a:srgbClr val="000000"/>
                </a:solidFill>
              </a:rPr>
              <a:t> </a:t>
            </a:r>
            <a:r>
              <a:rPr lang="zh-CN" altLang="en-US" dirty="0" smtClean="0">
                <a:solidFill>
                  <a:srgbClr val="000000"/>
                </a:solidFill>
              </a:rPr>
              <a:t>数据依赖</a:t>
            </a:r>
            <a:endParaRPr lang="en-US" altLang="zh-CN" dirty="0" smtClean="0">
              <a:solidFill>
                <a:srgbClr val="000000"/>
              </a:solidFill>
            </a:endParaRPr>
          </a:p>
          <a:p>
            <a:pPr marL="630238" lvl="1" indent="-173038">
              <a:lnSpc>
                <a:spcPct val="110000"/>
              </a:lnSpc>
              <a:buSzPct val="90000"/>
              <a:buFont typeface="Wingdings" charset="0"/>
              <a:buChar char="v"/>
            </a:pPr>
            <a:r>
              <a:rPr lang="zh-CN" altLang="en-US" dirty="0" smtClean="0">
                <a:solidFill>
                  <a:srgbClr val="000000"/>
                </a:solidFill>
              </a:rPr>
              <a:t> </a:t>
            </a:r>
            <a:r>
              <a:rPr lang="zh-CN" altLang="en-US" dirty="0">
                <a:solidFill>
                  <a:srgbClr val="000000"/>
                </a:solidFill>
              </a:rPr>
              <a:t>范式</a:t>
            </a:r>
          </a:p>
          <a:p>
            <a:pPr marL="630238" lvl="1" indent="-173038">
              <a:lnSpc>
                <a:spcPct val="110000"/>
              </a:lnSpc>
              <a:buSzPct val="90000"/>
              <a:buFont typeface="Wingdings" charset="0"/>
              <a:buChar char="v"/>
            </a:pPr>
            <a:r>
              <a:rPr lang="zh-CN" altLang="en-US" dirty="0">
                <a:solidFill>
                  <a:srgbClr val="000000"/>
                </a:solidFill>
              </a:rPr>
              <a:t> 模式设计方法</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a:t>
            </a:fld>
            <a:endParaRPr lang="en-US" altLang="zh-CN"/>
          </a:p>
        </p:txBody>
      </p:sp>
    </p:spTree>
    <p:extLst>
      <p:ext uri="{BB962C8B-B14F-4D97-AF65-F5344CB8AC3E}">
        <p14:creationId xmlns:p14="http://schemas.microsoft.com/office/powerpoint/2010/main" val="190518840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p:txBody>
          <a:bodyPr/>
          <a:lstStyle/>
          <a:p>
            <a:pPr>
              <a:spcBef>
                <a:spcPct val="10000"/>
              </a:spcBef>
              <a:buClr>
                <a:schemeClr val="tx2"/>
              </a:buClr>
              <a:buSzPct val="90000"/>
            </a:pPr>
            <a:r>
              <a:rPr lang="zh-CN" altLang="en-US" sz="2400" dirty="0" smtClean="0"/>
              <a:t>一个完整的关系模式用五元组表示：</a:t>
            </a:r>
            <a:endParaRPr lang="en-US" altLang="zh-CN" sz="2400" dirty="0" smtClean="0"/>
          </a:p>
          <a:p>
            <a:pPr marL="0" indent="0">
              <a:spcBef>
                <a:spcPct val="10000"/>
              </a:spcBef>
              <a:buClr>
                <a:schemeClr val="tx2"/>
              </a:buClr>
              <a:buSzPct val="90000"/>
              <a:buNone/>
            </a:pPr>
            <a:r>
              <a:rPr lang="en-US" altLang="zh-CN" sz="2400" dirty="0" smtClean="0">
                <a:solidFill>
                  <a:srgbClr val="0000FF"/>
                </a:solidFill>
              </a:rPr>
              <a:t>         </a:t>
            </a:r>
            <a:r>
              <a:rPr lang="en-US" altLang="zh-CN" sz="2400" b="1" dirty="0" smtClean="0">
                <a:solidFill>
                  <a:srgbClr val="0000FF"/>
                </a:solidFill>
              </a:rPr>
              <a:t> </a:t>
            </a:r>
            <a:r>
              <a:rPr lang="en-US" altLang="zh-CN" sz="2400" b="1" dirty="0" smtClean="0">
                <a:solidFill>
                  <a:srgbClr val="FF0000"/>
                </a:solidFill>
              </a:rPr>
              <a:t>R</a:t>
            </a:r>
            <a:r>
              <a:rPr lang="en-US" altLang="zh-CN" sz="2400" b="1" dirty="0">
                <a:solidFill>
                  <a:srgbClr val="FF0000"/>
                </a:solidFill>
              </a:rPr>
              <a:t>(U, D, DOM, F) </a:t>
            </a:r>
            <a:endParaRPr lang="en-US" altLang="zh-CN" sz="2400" b="1" dirty="0" smtClean="0">
              <a:solidFill>
                <a:srgbClr val="FF0000"/>
              </a:solidFill>
            </a:endParaRPr>
          </a:p>
          <a:p>
            <a:pPr marL="0" indent="0">
              <a:spcBef>
                <a:spcPct val="10000"/>
              </a:spcBef>
              <a:buClr>
                <a:schemeClr val="tx2"/>
              </a:buClr>
              <a:buSzPct val="90000"/>
              <a:buNone/>
            </a:pPr>
            <a:r>
              <a:rPr lang="zh-CN" altLang="en-US" sz="2400" dirty="0" smtClean="0"/>
              <a:t>其中：</a:t>
            </a:r>
            <a:endParaRPr lang="zh-CN" altLang="en-US" sz="2400" dirty="0"/>
          </a:p>
          <a:p>
            <a:pPr marL="0" indent="0">
              <a:spcBef>
                <a:spcPct val="10000"/>
              </a:spcBef>
              <a:buClr>
                <a:schemeClr val="tx2"/>
              </a:buClr>
              <a:buSzPct val="90000"/>
              <a:buNone/>
            </a:pPr>
            <a:r>
              <a:rPr lang="zh-CN" altLang="en-US" sz="2400" dirty="0"/>
              <a:t>    </a:t>
            </a:r>
            <a:r>
              <a:rPr lang="en-US" altLang="zh-CN" sz="2400" dirty="0">
                <a:solidFill>
                  <a:srgbClr val="0000FF"/>
                </a:solidFill>
              </a:rPr>
              <a:t>R</a:t>
            </a:r>
            <a:r>
              <a:rPr lang="zh-CN" altLang="en-US" sz="2400" dirty="0">
                <a:solidFill>
                  <a:srgbClr val="0000FF"/>
                </a:solidFill>
              </a:rPr>
              <a:t>：关系名称</a:t>
            </a:r>
          </a:p>
          <a:p>
            <a:pPr marL="0" indent="0">
              <a:spcBef>
                <a:spcPct val="10000"/>
              </a:spcBef>
              <a:buClr>
                <a:schemeClr val="tx2"/>
              </a:buClr>
              <a:buSzPct val="90000"/>
              <a:buNone/>
            </a:pPr>
            <a:r>
              <a:rPr lang="zh-CN" altLang="en-US" sz="2400" dirty="0">
                <a:solidFill>
                  <a:srgbClr val="0000FF"/>
                </a:solidFill>
              </a:rPr>
              <a:t>    </a:t>
            </a:r>
            <a:r>
              <a:rPr lang="en-US" altLang="zh-CN" sz="2400" dirty="0">
                <a:solidFill>
                  <a:srgbClr val="0000FF"/>
                </a:solidFill>
              </a:rPr>
              <a:t>U</a:t>
            </a:r>
            <a:r>
              <a:rPr lang="zh-CN" altLang="en-US" sz="2400" dirty="0" smtClean="0">
                <a:solidFill>
                  <a:srgbClr val="0000FF"/>
                </a:solidFill>
              </a:rPr>
              <a:t>：一组属性</a:t>
            </a:r>
            <a:endParaRPr lang="zh-CN" altLang="en-US" sz="2400" dirty="0">
              <a:solidFill>
                <a:srgbClr val="0000FF"/>
              </a:solidFill>
            </a:endParaRPr>
          </a:p>
          <a:p>
            <a:pPr marL="0" indent="0">
              <a:spcBef>
                <a:spcPct val="10000"/>
              </a:spcBef>
              <a:buClr>
                <a:schemeClr val="tx2"/>
              </a:buClr>
              <a:buSzPct val="90000"/>
              <a:buNone/>
            </a:pPr>
            <a:r>
              <a:rPr lang="zh-CN" altLang="en-US" sz="2400" dirty="0">
                <a:solidFill>
                  <a:srgbClr val="0000FF"/>
                </a:solidFill>
              </a:rPr>
              <a:t>    </a:t>
            </a:r>
            <a:r>
              <a:rPr lang="en-US" altLang="zh-CN" sz="2400" dirty="0">
                <a:solidFill>
                  <a:srgbClr val="0000FF"/>
                </a:solidFill>
              </a:rPr>
              <a:t>D</a:t>
            </a:r>
            <a:r>
              <a:rPr lang="zh-CN" altLang="en-US" sz="2400" dirty="0">
                <a:solidFill>
                  <a:srgbClr val="0000FF"/>
                </a:solidFill>
              </a:rPr>
              <a:t>：</a:t>
            </a:r>
            <a:r>
              <a:rPr lang="en-US" altLang="zh-CN" sz="2400" dirty="0" smtClean="0">
                <a:solidFill>
                  <a:srgbClr val="0000FF"/>
                </a:solidFill>
              </a:rPr>
              <a:t>U</a:t>
            </a:r>
            <a:r>
              <a:rPr lang="zh-CN" altLang="en-US" sz="2400" dirty="0" smtClean="0">
                <a:solidFill>
                  <a:srgbClr val="0000FF"/>
                </a:solidFill>
              </a:rPr>
              <a:t>中属性所来自的域</a:t>
            </a:r>
            <a:endParaRPr lang="zh-CN" altLang="en-US" sz="2400" dirty="0">
              <a:solidFill>
                <a:srgbClr val="0000FF"/>
              </a:solidFill>
            </a:endParaRPr>
          </a:p>
          <a:p>
            <a:pPr marL="0" indent="0">
              <a:spcBef>
                <a:spcPct val="10000"/>
              </a:spcBef>
              <a:buClr>
                <a:schemeClr val="tx2"/>
              </a:buClr>
              <a:buSzPct val="90000"/>
              <a:buNone/>
            </a:pPr>
            <a:r>
              <a:rPr lang="zh-CN" altLang="en-US" sz="2400" dirty="0">
                <a:solidFill>
                  <a:srgbClr val="0000FF"/>
                </a:solidFill>
              </a:rPr>
              <a:t>    </a:t>
            </a:r>
            <a:r>
              <a:rPr lang="en-US" altLang="zh-CN" sz="2400" dirty="0">
                <a:solidFill>
                  <a:srgbClr val="0000FF"/>
                </a:solidFill>
              </a:rPr>
              <a:t>DOM</a:t>
            </a:r>
            <a:r>
              <a:rPr lang="zh-CN" altLang="en-US" sz="2400" dirty="0">
                <a:solidFill>
                  <a:srgbClr val="0000FF"/>
                </a:solidFill>
              </a:rPr>
              <a:t>：</a:t>
            </a:r>
            <a:r>
              <a:rPr lang="zh-CN" altLang="en-US" sz="2400" dirty="0" smtClean="0">
                <a:solidFill>
                  <a:srgbClr val="0000FF"/>
                </a:solidFill>
              </a:rPr>
              <a:t>属性到域的映射</a:t>
            </a:r>
            <a:endParaRPr lang="zh-CN" altLang="en-US" sz="2400" dirty="0">
              <a:solidFill>
                <a:srgbClr val="0000FF"/>
              </a:solidFill>
            </a:endParaRPr>
          </a:p>
          <a:p>
            <a:pPr marL="0" indent="0">
              <a:spcBef>
                <a:spcPct val="10000"/>
              </a:spcBef>
              <a:buClr>
                <a:schemeClr val="tx2"/>
              </a:buClr>
              <a:buSzPct val="90000"/>
              <a:buNone/>
            </a:pPr>
            <a:r>
              <a:rPr lang="zh-CN" altLang="en-US" sz="2400" dirty="0">
                <a:solidFill>
                  <a:srgbClr val="0000FF"/>
                </a:solidFill>
              </a:rPr>
              <a:t>    </a:t>
            </a:r>
            <a:r>
              <a:rPr lang="en-US" altLang="zh-CN" sz="2400" dirty="0">
                <a:solidFill>
                  <a:srgbClr val="0000FF"/>
                </a:solidFill>
              </a:rPr>
              <a:t>F</a:t>
            </a:r>
            <a:r>
              <a:rPr lang="zh-CN" altLang="en-US" sz="2400" dirty="0">
                <a:solidFill>
                  <a:srgbClr val="0000FF"/>
                </a:solidFill>
              </a:rPr>
              <a:t>：</a:t>
            </a:r>
            <a:r>
              <a:rPr lang="zh-CN" altLang="en-US" sz="2400" dirty="0" smtClean="0">
                <a:solidFill>
                  <a:srgbClr val="0000FF"/>
                </a:solidFill>
              </a:rPr>
              <a:t>属性组</a:t>
            </a:r>
            <a:r>
              <a:rPr lang="en-US" altLang="zh-CN" sz="2400" dirty="0" smtClean="0">
                <a:solidFill>
                  <a:srgbClr val="0000FF"/>
                </a:solidFill>
              </a:rPr>
              <a:t>U</a:t>
            </a:r>
            <a:r>
              <a:rPr lang="zh-CN" altLang="en-US" sz="2400" dirty="0" smtClean="0">
                <a:solidFill>
                  <a:srgbClr val="0000FF"/>
                </a:solidFill>
              </a:rPr>
              <a:t>上的一组数据依赖</a:t>
            </a:r>
            <a:endParaRPr lang="zh-CN" altLang="en-US" sz="2400" dirty="0">
              <a:solidFill>
                <a:srgbClr val="0000FF"/>
              </a:solidFill>
            </a:endParaRPr>
          </a:p>
          <a:p>
            <a:pPr>
              <a:spcBef>
                <a:spcPct val="10000"/>
              </a:spcBef>
              <a:buClr>
                <a:schemeClr val="tx2"/>
              </a:buClr>
              <a:buSzPct val="90000"/>
            </a:pPr>
            <a:r>
              <a:rPr lang="en-US" altLang="zh-CN" sz="2400" dirty="0" smtClean="0"/>
              <a:t>D</a:t>
            </a:r>
            <a:r>
              <a:rPr lang="zh-CN" altLang="en-US" sz="2400" dirty="0"/>
              <a:t>和</a:t>
            </a:r>
            <a:r>
              <a:rPr lang="en-US" altLang="zh-CN" sz="2400" dirty="0"/>
              <a:t>DOM</a:t>
            </a:r>
            <a:r>
              <a:rPr lang="zh-CN" altLang="en-US" sz="2400" dirty="0"/>
              <a:t>对关系模式设计影响不大，起主要作用的是</a:t>
            </a:r>
            <a:r>
              <a:rPr lang="en-US" altLang="zh-CN" sz="2400" dirty="0"/>
              <a:t>U</a:t>
            </a:r>
            <a:r>
              <a:rPr lang="zh-CN" altLang="en-US" sz="2400" dirty="0"/>
              <a:t>和</a:t>
            </a:r>
            <a:r>
              <a:rPr lang="en-US" altLang="zh-CN" sz="2400" dirty="0"/>
              <a:t>F</a:t>
            </a:r>
            <a:r>
              <a:rPr lang="zh-CN" altLang="en-US" sz="2400" dirty="0"/>
              <a:t>，因此简化</a:t>
            </a:r>
            <a:r>
              <a:rPr lang="zh-CN" altLang="en-US" sz="2400" dirty="0" smtClean="0"/>
              <a:t>的关系模式表示为</a:t>
            </a:r>
            <a:r>
              <a:rPr lang="en-US" altLang="zh-CN" sz="2400" dirty="0" smtClean="0"/>
              <a:t>3</a:t>
            </a:r>
            <a:r>
              <a:rPr lang="zh-CN" altLang="en-US" sz="2400" dirty="0" smtClean="0"/>
              <a:t>元组：</a:t>
            </a:r>
            <a:endParaRPr lang="en-US" altLang="zh-CN" sz="2400" dirty="0" smtClean="0"/>
          </a:p>
          <a:p>
            <a:pPr marL="0" indent="0">
              <a:spcBef>
                <a:spcPct val="10000"/>
              </a:spcBef>
              <a:buClr>
                <a:schemeClr val="tx2"/>
              </a:buClr>
              <a:buSzPct val="90000"/>
              <a:buNone/>
            </a:pPr>
            <a:r>
              <a:rPr lang="en-US" altLang="zh-CN" sz="2400" dirty="0">
                <a:solidFill>
                  <a:srgbClr val="FF0066"/>
                </a:solidFill>
                <a:effectLst>
                  <a:outerShdw blurRad="38100" dist="38100" dir="2700000" algn="tl">
                    <a:srgbClr val="000000"/>
                  </a:outerShdw>
                </a:effectLst>
              </a:rPr>
              <a:t> </a:t>
            </a:r>
            <a:r>
              <a:rPr lang="en-US" altLang="zh-CN" sz="2400" dirty="0" smtClean="0">
                <a:solidFill>
                  <a:srgbClr val="FF0066"/>
                </a:solidFill>
                <a:effectLst>
                  <a:outerShdw blurRad="38100" dist="38100" dir="2700000" algn="tl">
                    <a:srgbClr val="000000"/>
                  </a:outerShdw>
                </a:effectLst>
              </a:rPr>
              <a:t>        </a:t>
            </a:r>
            <a:r>
              <a:rPr lang="en-US" altLang="zh-CN" sz="2400" b="1" dirty="0" smtClean="0">
                <a:solidFill>
                  <a:srgbClr val="FF0066"/>
                </a:solidFill>
                <a:effectLst>
                  <a:outerShdw blurRad="38100" dist="38100" dir="2700000" algn="tl">
                    <a:srgbClr val="000000"/>
                  </a:outerShdw>
                </a:effectLst>
              </a:rPr>
              <a:t> </a:t>
            </a:r>
            <a:r>
              <a:rPr lang="en-US" altLang="zh-CN" sz="2400" b="1" dirty="0" smtClean="0">
                <a:solidFill>
                  <a:srgbClr val="FF0000"/>
                </a:solidFill>
                <a:effectLst>
                  <a:outerShdw blurRad="38100" dist="38100" dir="2700000" algn="tl">
                    <a:srgbClr val="000000"/>
                  </a:outerShdw>
                </a:effectLst>
              </a:rPr>
              <a:t>R</a:t>
            </a:r>
            <a:r>
              <a:rPr lang="en-US" altLang="zh-CN" sz="2400" b="1" dirty="0">
                <a:solidFill>
                  <a:srgbClr val="FF0000"/>
                </a:solidFill>
                <a:effectLst>
                  <a:outerShdw blurRad="38100" dist="38100" dir="2700000" algn="tl">
                    <a:srgbClr val="000000"/>
                  </a:outerShdw>
                </a:effectLst>
              </a:rPr>
              <a:t>&lt;</a:t>
            </a:r>
            <a:r>
              <a:rPr lang="en-US" altLang="zh-CN" sz="2400" b="1" dirty="0" smtClean="0">
                <a:solidFill>
                  <a:srgbClr val="FF0000"/>
                </a:solidFill>
                <a:effectLst>
                  <a:outerShdw blurRad="38100" dist="38100" dir="2700000" algn="tl">
                    <a:srgbClr val="000000"/>
                  </a:outerShdw>
                </a:effectLst>
              </a:rPr>
              <a:t>U</a:t>
            </a:r>
            <a:r>
              <a:rPr lang="zh-CN" altLang="en-US" sz="2400" b="1" dirty="0">
                <a:solidFill>
                  <a:srgbClr val="FF0000"/>
                </a:solidFill>
                <a:effectLst>
                  <a:outerShdw blurRad="38100" dist="38100" dir="2700000" algn="tl">
                    <a:srgbClr val="000000"/>
                  </a:outerShdw>
                </a:effectLst>
              </a:rPr>
              <a:t>，</a:t>
            </a:r>
            <a:r>
              <a:rPr lang="en-US" altLang="zh-CN" sz="2400" b="1" dirty="0" smtClean="0">
                <a:solidFill>
                  <a:srgbClr val="FF0000"/>
                </a:solidFill>
                <a:effectLst>
                  <a:outerShdw blurRad="38100" dist="38100" dir="2700000" algn="tl">
                    <a:srgbClr val="000000"/>
                  </a:outerShdw>
                </a:effectLst>
              </a:rPr>
              <a:t>F&gt;</a:t>
            </a:r>
            <a:endParaRPr lang="en-US" altLang="zh-CN" sz="2400" b="1" dirty="0">
              <a:solidFill>
                <a:srgbClr val="FF0000"/>
              </a:solidFill>
              <a:effectLst>
                <a:outerShdw blurRad="38100" dist="38100" dir="2700000" algn="tl">
                  <a:srgbClr val="000000"/>
                </a:outerShdw>
              </a:effectLst>
            </a:endParaRPr>
          </a:p>
          <a:p>
            <a:pPr marL="0" indent="0">
              <a:buNone/>
            </a:pPr>
            <a:r>
              <a:rPr lang="en-US" altLang="zh-CN" sz="2400" dirty="0" smtClean="0"/>
              <a:t>   </a:t>
            </a:r>
            <a:r>
              <a:rPr lang="zh-CN" altLang="en-US" sz="2400" dirty="0" smtClean="0"/>
              <a:t>表示：当且仅当</a:t>
            </a:r>
            <a:r>
              <a:rPr lang="en-US" altLang="zh-CN" sz="2400" dirty="0" smtClean="0"/>
              <a:t>U</a:t>
            </a:r>
            <a:r>
              <a:rPr lang="zh-CN" altLang="en-US" sz="2400" dirty="0" smtClean="0"/>
              <a:t>上的一个关系</a:t>
            </a:r>
            <a:r>
              <a:rPr lang="en-US" altLang="zh-CN" sz="2400" dirty="0" smtClean="0"/>
              <a:t>r</a:t>
            </a:r>
            <a:r>
              <a:rPr lang="zh-CN" altLang="en-US" sz="2400" dirty="0" smtClean="0"/>
              <a:t>满足</a:t>
            </a:r>
            <a:r>
              <a:rPr lang="en-US" altLang="zh-CN" sz="2400" dirty="0" smtClean="0"/>
              <a:t>F</a:t>
            </a:r>
            <a:r>
              <a:rPr lang="zh-CN" altLang="en-US" sz="2400" dirty="0" smtClean="0"/>
              <a:t>时，</a:t>
            </a:r>
            <a:r>
              <a:rPr lang="en-US" altLang="zh-CN" sz="2400" dirty="0" smtClean="0"/>
              <a:t>r</a:t>
            </a:r>
            <a:r>
              <a:rPr lang="zh-CN" altLang="en-US" sz="2400" dirty="0" smtClean="0"/>
              <a:t>称为关系模式</a:t>
            </a:r>
            <a:r>
              <a:rPr lang="en-US" altLang="zh-CN" sz="2400" dirty="0" smtClean="0"/>
              <a:t>R&lt;U</a:t>
            </a:r>
            <a:r>
              <a:rPr lang="zh-CN" altLang="en-US" sz="2400" dirty="0" smtClean="0"/>
              <a:t>，</a:t>
            </a:r>
            <a:r>
              <a:rPr lang="en-US" altLang="zh-CN" sz="2400" dirty="0" smtClean="0"/>
              <a:t>F&gt;</a:t>
            </a:r>
            <a:r>
              <a:rPr lang="zh-CN" altLang="en-US" sz="2400" dirty="0" smtClean="0"/>
              <a:t>上的一个关系。</a:t>
            </a:r>
            <a:endParaRPr lang="en-US" altLang="zh-CN" sz="2400" dirty="0" smtClean="0"/>
          </a:p>
          <a:p>
            <a:r>
              <a:rPr lang="zh-CN" altLang="en-US" sz="2400" dirty="0"/>
              <a:t>有时候，更简写成</a:t>
            </a:r>
            <a:r>
              <a:rPr lang="en-US" altLang="zh-CN" sz="2400" b="1" dirty="0">
                <a:solidFill>
                  <a:srgbClr val="0000FF"/>
                </a:solidFill>
              </a:rPr>
              <a:t>R(U)</a:t>
            </a:r>
            <a:r>
              <a:rPr lang="zh-CN" altLang="en-US" sz="2400" dirty="0"/>
              <a:t>，即</a:t>
            </a:r>
            <a:r>
              <a:rPr lang="en-US" altLang="zh-CN" sz="2400" dirty="0">
                <a:solidFill>
                  <a:srgbClr val="0000FF"/>
                </a:solidFill>
              </a:rPr>
              <a:t>R(A1,A2,…,An)</a:t>
            </a:r>
            <a:r>
              <a:rPr lang="zh-CN" altLang="en-US" sz="2400" dirty="0"/>
              <a:t>的形式</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a:t>
            </a:fld>
            <a:endParaRPr lang="en-US" altLang="zh-CN"/>
          </a:p>
        </p:txBody>
      </p:sp>
    </p:spTree>
    <p:extLst>
      <p:ext uri="{BB962C8B-B14F-4D97-AF65-F5344CB8AC3E}">
        <p14:creationId xmlns:p14="http://schemas.microsoft.com/office/powerpoint/2010/main" val="119018403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p:txBody>
          <a:bodyPr/>
          <a:lstStyle/>
          <a:p>
            <a:pPr algn="just"/>
            <a:r>
              <a:rPr lang="zh-CN" altLang="en-US" sz="2400" dirty="0">
                <a:solidFill>
                  <a:srgbClr val="0000FF"/>
                </a:solidFill>
                <a:latin typeface="宋体" charset="0"/>
              </a:rPr>
              <a:t>规范化理论</a:t>
            </a:r>
            <a:r>
              <a:rPr lang="zh-CN" altLang="en-US" sz="2400" dirty="0">
                <a:latin typeface="宋体" charset="0"/>
              </a:rPr>
              <a:t>主要包括三个方面的内容：</a:t>
            </a:r>
          </a:p>
          <a:p>
            <a:pPr lvl="1" algn="just">
              <a:buClr>
                <a:schemeClr val="accent2"/>
              </a:buClr>
            </a:pPr>
            <a:r>
              <a:rPr lang="zh-CN" altLang="en-US" dirty="0" smtClean="0">
                <a:solidFill>
                  <a:srgbClr val="FF0000"/>
                </a:solidFill>
                <a:latin typeface="宋体" charset="0"/>
              </a:rPr>
              <a:t>数据依赖</a:t>
            </a:r>
            <a:endParaRPr lang="zh-CN" altLang="en-US" dirty="0">
              <a:solidFill>
                <a:srgbClr val="FF0000"/>
              </a:solidFill>
              <a:latin typeface="宋体" charset="0"/>
            </a:endParaRPr>
          </a:p>
          <a:p>
            <a:pPr lvl="1" algn="just">
              <a:buClr>
                <a:schemeClr val="accent2"/>
              </a:buClr>
            </a:pPr>
            <a:r>
              <a:rPr lang="zh-CN" altLang="en-US" dirty="0">
                <a:solidFill>
                  <a:srgbClr val="0000FF"/>
                </a:solidFill>
                <a:latin typeface="宋体" charset="0"/>
              </a:rPr>
              <a:t>范式</a:t>
            </a:r>
            <a:r>
              <a:rPr lang="zh-CN" altLang="en-US" dirty="0">
                <a:solidFill>
                  <a:srgbClr val="0000FF"/>
                </a:solidFill>
              </a:rPr>
              <a:t>（</a:t>
            </a:r>
            <a:r>
              <a:rPr lang="en-US" altLang="zh-CN" dirty="0">
                <a:solidFill>
                  <a:srgbClr val="0000FF"/>
                </a:solidFill>
              </a:rPr>
              <a:t>Normal Form</a:t>
            </a:r>
            <a:r>
              <a:rPr lang="zh-CN" altLang="en-US" dirty="0">
                <a:solidFill>
                  <a:srgbClr val="0000FF"/>
                </a:solidFill>
              </a:rPr>
              <a:t>）</a:t>
            </a:r>
          </a:p>
          <a:p>
            <a:pPr lvl="1" algn="just">
              <a:buClr>
                <a:schemeClr val="accent2"/>
              </a:buClr>
            </a:pPr>
            <a:r>
              <a:rPr lang="zh-CN" altLang="en-US" dirty="0" smtClean="0">
                <a:solidFill>
                  <a:srgbClr val="0000FF"/>
                </a:solidFill>
                <a:latin typeface="宋体" charset="0"/>
              </a:rPr>
              <a:t>模式设计</a:t>
            </a:r>
            <a:endParaRPr lang="en-US" altLang="zh-CN" dirty="0" smtClean="0">
              <a:solidFill>
                <a:srgbClr val="0000FF"/>
              </a:solidFill>
              <a:latin typeface="宋体" charset="0"/>
            </a:endParaRPr>
          </a:p>
          <a:p>
            <a:pPr algn="just"/>
            <a:r>
              <a:rPr lang="zh-CN" altLang="en-US" sz="2400" dirty="0" smtClean="0">
                <a:latin typeface="宋体" charset="0"/>
              </a:rPr>
              <a:t>其</a:t>
            </a:r>
            <a:r>
              <a:rPr lang="zh-CN" altLang="en-US" sz="2400" dirty="0">
                <a:latin typeface="宋体" charset="0"/>
              </a:rPr>
              <a:t>中</a:t>
            </a:r>
            <a:r>
              <a:rPr lang="zh-CN" altLang="en-US" sz="2400" dirty="0" smtClean="0">
                <a:latin typeface="宋体" charset="0"/>
              </a:rPr>
              <a:t>，</a:t>
            </a:r>
            <a:endParaRPr lang="en-US" altLang="zh-CN" sz="2400" dirty="0" smtClean="0">
              <a:latin typeface="宋体" charset="0"/>
            </a:endParaRPr>
          </a:p>
          <a:p>
            <a:pPr marL="342900" indent="-342900">
              <a:lnSpc>
                <a:spcPct val="110000"/>
              </a:lnSpc>
              <a:buSzPct val="90000"/>
              <a:buFont typeface="Arial"/>
              <a:buChar char="•"/>
            </a:pPr>
            <a:r>
              <a:rPr lang="zh-CN" altLang="en-US" sz="2400" dirty="0" smtClean="0">
                <a:solidFill>
                  <a:srgbClr val="000000"/>
                </a:solidFill>
                <a:latin typeface="华文仿宋"/>
                <a:ea typeface="华文仿宋"/>
                <a:cs typeface="华文仿宋"/>
              </a:rPr>
              <a:t>数据依赖是一个关</a:t>
            </a:r>
            <a:r>
              <a:rPr lang="zh-CN" altLang="en-US" sz="2400" dirty="0">
                <a:solidFill>
                  <a:srgbClr val="000000"/>
                </a:solidFill>
                <a:latin typeface="华文仿宋"/>
                <a:ea typeface="华文仿宋"/>
                <a:cs typeface="华文仿宋"/>
              </a:rPr>
              <a:t>系内部属性与属性之间的一种约束关系</a:t>
            </a:r>
            <a:r>
              <a:rPr lang="zh-CN" altLang="en-US" sz="2400" dirty="0" smtClean="0">
                <a:solidFill>
                  <a:srgbClr val="000000"/>
                </a:solidFill>
                <a:latin typeface="华文仿宋"/>
                <a:ea typeface="华文仿宋"/>
                <a:cs typeface="华文仿宋"/>
              </a:rPr>
              <a:t>。这种约束关系通过数据值</a:t>
            </a:r>
            <a:r>
              <a:rPr lang="zh-CN" altLang="en-US" sz="2400" dirty="0">
                <a:solidFill>
                  <a:srgbClr val="000000"/>
                </a:solidFill>
                <a:latin typeface="华文仿宋"/>
                <a:ea typeface="华文仿宋"/>
                <a:cs typeface="华文仿宋"/>
              </a:rPr>
              <a:t>的相等与否体现出数据间的相关关</a:t>
            </a:r>
            <a:r>
              <a:rPr lang="zh-CN" altLang="en-US" sz="2400" dirty="0" smtClean="0">
                <a:solidFill>
                  <a:srgbClr val="000000"/>
                </a:solidFill>
                <a:latin typeface="华文仿宋"/>
                <a:ea typeface="华文仿宋"/>
                <a:cs typeface="华文仿宋"/>
              </a:rPr>
              <a:t>系。</a:t>
            </a:r>
            <a:endParaRPr lang="en-US" altLang="zh-CN" sz="2400" dirty="0" smtClean="0">
              <a:solidFill>
                <a:srgbClr val="000000"/>
              </a:solidFill>
              <a:latin typeface="华文仿宋"/>
              <a:ea typeface="华文仿宋"/>
              <a:cs typeface="华文仿宋"/>
            </a:endParaRPr>
          </a:p>
          <a:p>
            <a:pPr marL="342900" indent="-342900">
              <a:lnSpc>
                <a:spcPct val="110000"/>
              </a:lnSpc>
              <a:buSzPct val="90000"/>
              <a:buFont typeface="Arial"/>
              <a:buChar char="•"/>
            </a:pPr>
            <a:r>
              <a:rPr lang="zh-CN" altLang="en-US" sz="2400" dirty="0" smtClean="0">
                <a:solidFill>
                  <a:srgbClr val="0000FF"/>
                </a:solidFill>
                <a:latin typeface="华文仿宋"/>
                <a:ea typeface="华文仿宋"/>
                <a:cs typeface="华文仿宋"/>
              </a:rPr>
              <a:t>函数依赖（</a:t>
            </a:r>
            <a:r>
              <a:rPr lang="en-US" altLang="zh-CN" sz="2400" dirty="0" smtClean="0">
                <a:solidFill>
                  <a:srgbClr val="0000FF"/>
                </a:solidFill>
                <a:latin typeface="华文仿宋"/>
                <a:ea typeface="华文仿宋"/>
                <a:cs typeface="华文仿宋"/>
              </a:rPr>
              <a:t>Functional </a:t>
            </a:r>
            <a:r>
              <a:rPr lang="en-US" altLang="zh-CN" sz="2400" dirty="0" err="1" smtClean="0">
                <a:solidFill>
                  <a:srgbClr val="0000FF"/>
                </a:solidFill>
                <a:latin typeface="华文仿宋"/>
                <a:ea typeface="华文仿宋"/>
                <a:cs typeface="华文仿宋"/>
              </a:rPr>
              <a:t>Dependancy</a:t>
            </a:r>
            <a:r>
              <a:rPr lang="en-US" altLang="zh-CN" sz="2400" dirty="0" smtClean="0">
                <a:solidFill>
                  <a:srgbClr val="0000FF"/>
                </a:solidFill>
                <a:latin typeface="华文仿宋"/>
                <a:ea typeface="华文仿宋"/>
                <a:cs typeface="华文仿宋"/>
              </a:rPr>
              <a:t>,</a:t>
            </a:r>
            <a:r>
              <a:rPr lang="zh-CN" altLang="en-US" sz="2400" dirty="0" smtClean="0">
                <a:solidFill>
                  <a:srgbClr val="0000FF"/>
                </a:solidFill>
                <a:latin typeface="华文仿宋"/>
                <a:ea typeface="华文仿宋"/>
                <a:cs typeface="华文仿宋"/>
              </a:rPr>
              <a:t> </a:t>
            </a:r>
            <a:r>
              <a:rPr lang="en-US" altLang="zh-CN" sz="2400" dirty="0" smtClean="0">
                <a:solidFill>
                  <a:srgbClr val="0000FF"/>
                </a:solidFill>
                <a:latin typeface="华文仿宋"/>
                <a:ea typeface="华文仿宋"/>
                <a:cs typeface="华文仿宋"/>
              </a:rPr>
              <a:t>FD</a:t>
            </a:r>
            <a:r>
              <a:rPr lang="zh-CN" altLang="en-US" sz="2400" dirty="0" smtClean="0">
                <a:solidFill>
                  <a:srgbClr val="0000FF"/>
                </a:solidFill>
                <a:latin typeface="华文仿宋"/>
                <a:ea typeface="华文仿宋"/>
                <a:cs typeface="华文仿宋"/>
              </a:rPr>
              <a:t>）</a:t>
            </a:r>
            <a:r>
              <a:rPr lang="en-US" altLang="zh-CN" sz="2400" dirty="0" smtClean="0">
                <a:solidFill>
                  <a:srgbClr val="0000FF"/>
                </a:solidFill>
                <a:latin typeface="华文仿宋"/>
                <a:ea typeface="华文仿宋"/>
                <a:cs typeface="华文仿宋"/>
              </a:rPr>
              <a:t> </a:t>
            </a:r>
            <a:r>
              <a:rPr lang="zh-CN" altLang="en-US" sz="2400" dirty="0" smtClean="0">
                <a:solidFill>
                  <a:srgbClr val="000000"/>
                </a:solidFill>
                <a:latin typeface="华文仿宋"/>
                <a:ea typeface="华文仿宋"/>
                <a:cs typeface="华文仿宋"/>
              </a:rPr>
              <a:t>和</a:t>
            </a:r>
            <a:endParaRPr lang="en-US" altLang="zh-CN" sz="2400" dirty="0" smtClean="0">
              <a:solidFill>
                <a:srgbClr val="000000"/>
              </a:solidFill>
              <a:latin typeface="华文仿宋"/>
              <a:ea typeface="华文仿宋"/>
              <a:cs typeface="华文仿宋"/>
            </a:endParaRPr>
          </a:p>
          <a:p>
            <a:pPr marL="342900" indent="-342900">
              <a:lnSpc>
                <a:spcPct val="110000"/>
              </a:lnSpc>
              <a:buSzPct val="90000"/>
              <a:buFont typeface="Arial"/>
              <a:buChar char="•"/>
            </a:pPr>
            <a:r>
              <a:rPr lang="zh-CN" altLang="en-US" sz="2400" dirty="0" smtClean="0">
                <a:solidFill>
                  <a:srgbClr val="0000FF"/>
                </a:solidFill>
                <a:latin typeface="华文仿宋"/>
                <a:ea typeface="华文仿宋"/>
                <a:cs typeface="华文仿宋"/>
              </a:rPr>
              <a:t>多值依赖（</a:t>
            </a:r>
            <a:r>
              <a:rPr lang="en-US" altLang="zh-CN" sz="2400" dirty="0" smtClean="0">
                <a:solidFill>
                  <a:srgbClr val="0000FF"/>
                </a:solidFill>
                <a:latin typeface="华文仿宋"/>
                <a:ea typeface="华文仿宋"/>
                <a:cs typeface="华文仿宋"/>
              </a:rPr>
              <a:t>Multi-Valued</a:t>
            </a:r>
            <a:r>
              <a:rPr lang="zh-CN" altLang="en-US" sz="2400" dirty="0" smtClean="0">
                <a:solidFill>
                  <a:srgbClr val="0000FF"/>
                </a:solidFill>
                <a:latin typeface="华文仿宋"/>
                <a:ea typeface="华文仿宋"/>
                <a:cs typeface="华文仿宋"/>
              </a:rPr>
              <a:t> </a:t>
            </a:r>
            <a:r>
              <a:rPr lang="en-US" altLang="zh-CN" sz="2400" dirty="0" err="1" smtClean="0">
                <a:solidFill>
                  <a:srgbClr val="0000FF"/>
                </a:solidFill>
                <a:latin typeface="华文仿宋"/>
                <a:ea typeface="华文仿宋"/>
                <a:cs typeface="华文仿宋"/>
              </a:rPr>
              <a:t>Depandancy</a:t>
            </a:r>
            <a:r>
              <a:rPr lang="en-US" altLang="zh-CN" sz="2400" dirty="0" smtClean="0">
                <a:solidFill>
                  <a:srgbClr val="0000FF"/>
                </a:solidFill>
                <a:latin typeface="华文仿宋"/>
                <a:ea typeface="华文仿宋"/>
                <a:cs typeface="华文仿宋"/>
              </a:rPr>
              <a:t>,</a:t>
            </a:r>
            <a:r>
              <a:rPr lang="zh-CN" altLang="en-US" sz="2400" dirty="0" smtClean="0">
                <a:solidFill>
                  <a:srgbClr val="0000FF"/>
                </a:solidFill>
                <a:latin typeface="华文仿宋"/>
                <a:ea typeface="华文仿宋"/>
                <a:cs typeface="华文仿宋"/>
              </a:rPr>
              <a:t> </a:t>
            </a:r>
            <a:r>
              <a:rPr lang="zh-CN" altLang="zh-CN" sz="2400" dirty="0" smtClean="0">
                <a:solidFill>
                  <a:srgbClr val="0000FF"/>
                </a:solidFill>
                <a:latin typeface="华文仿宋"/>
                <a:ea typeface="华文仿宋"/>
                <a:cs typeface="华文仿宋"/>
              </a:rPr>
              <a:t>M</a:t>
            </a:r>
            <a:r>
              <a:rPr lang="en-US" altLang="zh-CN" sz="2400" dirty="0" smtClean="0">
                <a:solidFill>
                  <a:srgbClr val="0000FF"/>
                </a:solidFill>
                <a:latin typeface="华文仿宋"/>
                <a:ea typeface="华文仿宋"/>
                <a:cs typeface="华文仿宋"/>
              </a:rPr>
              <a:t>VD</a:t>
            </a:r>
            <a:r>
              <a:rPr lang="zh-CN" altLang="en-US" sz="2400" dirty="0" smtClean="0">
                <a:solidFill>
                  <a:srgbClr val="0000FF"/>
                </a:solidFill>
                <a:latin typeface="华文仿宋"/>
                <a:ea typeface="华文仿宋"/>
                <a:cs typeface="华文仿宋"/>
              </a:rPr>
              <a:t>）</a:t>
            </a:r>
            <a:r>
              <a:rPr lang="en-US" altLang="zh-CN" sz="2400" dirty="0" smtClean="0">
                <a:solidFill>
                  <a:srgbClr val="0000FF"/>
                </a:solidFill>
                <a:latin typeface="华文仿宋"/>
                <a:ea typeface="华文仿宋"/>
                <a:cs typeface="华文仿宋"/>
              </a:rPr>
              <a:t> </a:t>
            </a:r>
            <a:endParaRPr lang="en-US" altLang="zh-CN" sz="2400" dirty="0">
              <a:solidFill>
                <a:srgbClr val="0000FF"/>
              </a:solidFill>
              <a:latin typeface="宋体" charset="0"/>
            </a:endParaRPr>
          </a:p>
          <a:p>
            <a:pPr marL="342900" indent="-342900">
              <a:lnSpc>
                <a:spcPct val="110000"/>
              </a:lnSpc>
              <a:buSzPct val="90000"/>
              <a:buFont typeface="Arial"/>
              <a:buChar char="•"/>
            </a:pPr>
            <a:r>
              <a:rPr lang="zh-CN" altLang="en-US" sz="2400" dirty="0" smtClean="0">
                <a:solidFill>
                  <a:srgbClr val="0000B4"/>
                </a:solidFill>
                <a:latin typeface="华文仿宋"/>
                <a:ea typeface="华文仿宋"/>
                <a:cs typeface="华文仿宋"/>
              </a:rPr>
              <a:t>函数依赖</a:t>
            </a:r>
            <a:r>
              <a:rPr lang="zh-CN" altLang="en-US" sz="2400" dirty="0" smtClean="0">
                <a:latin typeface="华文仿宋"/>
                <a:ea typeface="华文仿宋"/>
                <a:cs typeface="华文仿宋"/>
              </a:rPr>
              <a:t>起</a:t>
            </a:r>
            <a:r>
              <a:rPr lang="zh-CN" altLang="en-US" sz="2400" dirty="0">
                <a:latin typeface="华文仿宋"/>
                <a:ea typeface="华文仿宋"/>
                <a:cs typeface="华文仿宋"/>
              </a:rPr>
              <a:t>着核心的作用，是模式分解和模式设计的基础，范式是模式分解的标准</a:t>
            </a:r>
            <a:r>
              <a:rPr lang="zh-CN" altLang="en-US" sz="2400" dirty="0" smtClean="0">
                <a:latin typeface="华文仿宋"/>
                <a:ea typeface="华文仿宋"/>
                <a:cs typeface="华文仿宋"/>
              </a:rPr>
              <a:t>。</a:t>
            </a:r>
            <a:endParaRPr lang="en-US" altLang="zh-CN" sz="2400" dirty="0" smtClean="0">
              <a:latin typeface="华文仿宋"/>
              <a:ea typeface="华文仿宋"/>
              <a:cs typeface="华文仿宋"/>
            </a:endParaRPr>
          </a:p>
          <a:p>
            <a:pPr algn="just"/>
            <a:endParaRPr lang="zh-CN" altLang="en-US" sz="2400" dirty="0">
              <a:latin typeface="宋体" charset="0"/>
            </a:endParaRPr>
          </a:p>
          <a:p>
            <a:pPr lvl="1"/>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a:t>
            </a:fld>
            <a:endParaRPr lang="en-US" altLang="zh-CN"/>
          </a:p>
        </p:txBody>
      </p:sp>
    </p:spTree>
    <p:extLst>
      <p:ext uri="{BB962C8B-B14F-4D97-AF65-F5344CB8AC3E}">
        <p14:creationId xmlns:p14="http://schemas.microsoft.com/office/powerpoint/2010/main" val="385597518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blinds(horizontal)">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674688" y="908720"/>
            <a:ext cx="7772400" cy="5263481"/>
          </a:xfrm>
        </p:spPr>
        <p:txBody>
          <a:bodyPr/>
          <a:lstStyle/>
          <a:p>
            <a:pPr algn="just">
              <a:lnSpc>
                <a:spcPct val="110000"/>
              </a:lnSpc>
              <a:spcBef>
                <a:spcPts val="1200"/>
              </a:spcBef>
              <a:spcAft>
                <a:spcPts val="600"/>
              </a:spcAft>
            </a:pPr>
            <a:r>
              <a:rPr lang="zh-CN" altLang="en-US" sz="2400" dirty="0">
                <a:latin typeface="宋体" charset="0"/>
              </a:rPr>
              <a:t>关系模式的存储异常问题：</a:t>
            </a:r>
            <a:endParaRPr lang="zh-CN" altLang="en-US" sz="2400" dirty="0"/>
          </a:p>
          <a:p>
            <a:pPr lvl="1">
              <a:lnSpc>
                <a:spcPct val="110000"/>
              </a:lnSpc>
              <a:spcBef>
                <a:spcPts val="1200"/>
              </a:spcBef>
              <a:spcAft>
                <a:spcPts val="600"/>
              </a:spcAft>
            </a:pPr>
            <a:r>
              <a:rPr lang="zh-CN" altLang="en-US" dirty="0">
                <a:latin typeface="宋体" charset="0"/>
              </a:rPr>
              <a:t>数据库的逻辑设计</a:t>
            </a:r>
            <a:r>
              <a:rPr lang="zh-CN" altLang="en-US" dirty="0">
                <a:solidFill>
                  <a:srgbClr val="FF0000"/>
                </a:solidFill>
                <a:latin typeface="宋体" charset="0"/>
              </a:rPr>
              <a:t>为什么</a:t>
            </a:r>
            <a:r>
              <a:rPr lang="zh-CN" altLang="en-US" dirty="0">
                <a:latin typeface="宋体" charset="0"/>
              </a:rPr>
              <a:t>要遵循一定的规范化理论？</a:t>
            </a:r>
          </a:p>
          <a:p>
            <a:pPr lvl="1">
              <a:lnSpc>
                <a:spcPct val="110000"/>
              </a:lnSpc>
              <a:spcBef>
                <a:spcPts val="1200"/>
              </a:spcBef>
              <a:spcAft>
                <a:spcPts val="600"/>
              </a:spcAft>
            </a:pPr>
            <a:r>
              <a:rPr lang="zh-CN" altLang="en-US" dirty="0">
                <a:latin typeface="宋体" charset="0"/>
              </a:rPr>
              <a:t>什么是</a:t>
            </a:r>
            <a:r>
              <a:rPr lang="zh-CN" altLang="en-US" dirty="0">
                <a:solidFill>
                  <a:srgbClr val="FF0000"/>
                </a:solidFill>
                <a:latin typeface="宋体" charset="0"/>
              </a:rPr>
              <a:t>好</a:t>
            </a:r>
            <a:r>
              <a:rPr lang="zh-CN" altLang="en-US" dirty="0">
                <a:latin typeface="宋体" charset="0"/>
              </a:rPr>
              <a:t>的关系模式？</a:t>
            </a:r>
          </a:p>
          <a:p>
            <a:pPr lvl="1">
              <a:lnSpc>
                <a:spcPct val="110000"/>
              </a:lnSpc>
              <a:spcBef>
                <a:spcPts val="1200"/>
              </a:spcBef>
              <a:spcAft>
                <a:spcPts val="600"/>
              </a:spcAft>
            </a:pPr>
            <a:r>
              <a:rPr lang="zh-CN" altLang="en-US" dirty="0">
                <a:latin typeface="宋体" charset="0"/>
              </a:rPr>
              <a:t>某些</a:t>
            </a:r>
            <a:r>
              <a:rPr lang="zh-CN" altLang="en-US" dirty="0">
                <a:solidFill>
                  <a:srgbClr val="FF0000"/>
                </a:solidFill>
                <a:latin typeface="宋体" charset="0"/>
              </a:rPr>
              <a:t>不好</a:t>
            </a:r>
            <a:r>
              <a:rPr lang="zh-CN" altLang="en-US" dirty="0">
                <a:latin typeface="宋体" charset="0"/>
              </a:rPr>
              <a:t>的关系模式可能</a:t>
            </a:r>
            <a:r>
              <a:rPr lang="zh-CN" altLang="en-US" dirty="0">
                <a:solidFill>
                  <a:srgbClr val="FF0000"/>
                </a:solidFill>
                <a:latin typeface="宋体" charset="0"/>
              </a:rPr>
              <a:t>导致</a:t>
            </a:r>
            <a:r>
              <a:rPr lang="zh-CN" altLang="en-US" dirty="0">
                <a:latin typeface="宋体" charset="0"/>
              </a:rPr>
              <a:t>哪些问题？</a:t>
            </a:r>
          </a:p>
          <a:p>
            <a:pPr>
              <a:lnSpc>
                <a:spcPct val="110000"/>
              </a:lnSpc>
              <a:spcBef>
                <a:spcPts val="1200"/>
              </a:spcBef>
              <a:spcAft>
                <a:spcPts val="600"/>
              </a:spcAft>
            </a:pPr>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6</a:t>
            </a:fld>
            <a:endParaRPr lang="en-US" altLang="zh-CN"/>
          </a:p>
        </p:txBody>
      </p:sp>
    </p:spTree>
    <p:extLst>
      <p:ext uri="{BB962C8B-B14F-4D97-AF65-F5344CB8AC3E}">
        <p14:creationId xmlns:p14="http://schemas.microsoft.com/office/powerpoint/2010/main" val="39538111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565995" y="908720"/>
            <a:ext cx="8194632" cy="5263481"/>
          </a:xfrm>
        </p:spPr>
        <p:txBody>
          <a:bodyPr/>
          <a:lstStyle/>
          <a:p>
            <a:pPr marL="0" indent="0">
              <a:buNone/>
            </a:pPr>
            <a:r>
              <a:rPr lang="zh-CN" altLang="en-US" sz="2400" dirty="0" smtClean="0">
                <a:solidFill>
                  <a:srgbClr val="FF6600"/>
                </a:solidFill>
                <a:effectLst>
                  <a:outerShdw blurRad="38100" dist="38100" dir="2700000" algn="tl">
                    <a:srgbClr val="000000"/>
                  </a:outerShdw>
                </a:effectLst>
              </a:rPr>
              <a:t>函数依赖</a:t>
            </a:r>
            <a:endParaRPr lang="en-US" altLang="zh-CN" sz="2400" dirty="0" smtClean="0">
              <a:solidFill>
                <a:srgbClr val="FF6600"/>
              </a:solidFill>
              <a:effectLst>
                <a:outerShdw blurRad="38100" dist="38100" dir="2700000" algn="tl">
                  <a:srgbClr val="000000"/>
                </a:outerShdw>
              </a:effectLst>
            </a:endParaRPr>
          </a:p>
          <a:p>
            <a:pPr marL="0" indent="0">
              <a:buNone/>
            </a:pPr>
            <a:r>
              <a:rPr lang="en-US" altLang="zh-CN" sz="2400" dirty="0" smtClean="0"/>
              <a:t>—</a:t>
            </a:r>
            <a:r>
              <a:rPr lang="en-US" altLang="zh-CN" sz="2400" dirty="0"/>
              <a:t>— </a:t>
            </a:r>
            <a:r>
              <a:rPr lang="zh-CN" altLang="en-US" sz="2400" dirty="0"/>
              <a:t>属性间的一种依赖关</a:t>
            </a:r>
            <a:r>
              <a:rPr lang="zh-CN" altLang="en-US" sz="2400" dirty="0" smtClean="0"/>
              <a:t>系。</a:t>
            </a:r>
            <a:endParaRPr lang="en-US" altLang="zh-CN" sz="2400" dirty="0" smtClean="0"/>
          </a:p>
          <a:p>
            <a:pPr marL="0" indent="0">
              <a:buNone/>
            </a:pPr>
            <a:r>
              <a:rPr lang="zh-CN" altLang="en-US" sz="2400" dirty="0" smtClean="0"/>
              <a:t>设有关系</a:t>
            </a:r>
            <a:r>
              <a:rPr lang="en-US" altLang="zh-CN" sz="2400" dirty="0" smtClean="0"/>
              <a:t>SCD</a:t>
            </a:r>
            <a:r>
              <a:rPr lang="zh-CN" altLang="en-US" sz="2400" dirty="0" smtClean="0"/>
              <a:t>：</a:t>
            </a: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zh-CN" altLang="en-US" sz="2400" dirty="0"/>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7</a:t>
            </a:fld>
            <a:endParaRPr lang="en-US" altLang="zh-CN"/>
          </a:p>
        </p:txBody>
      </p:sp>
      <p:graphicFrame>
        <p:nvGraphicFramePr>
          <p:cNvPr id="6" name="Group 250"/>
          <p:cNvGraphicFramePr>
            <a:graphicFrameLocks noGrp="1"/>
          </p:cNvGraphicFramePr>
          <p:nvPr>
            <p:extLst>
              <p:ext uri="{D42A27DB-BD31-4B8C-83A1-F6EECF244321}">
                <p14:modId xmlns:p14="http://schemas.microsoft.com/office/powerpoint/2010/main" val="2912300731"/>
              </p:ext>
            </p:extLst>
          </p:nvPr>
        </p:nvGraphicFramePr>
        <p:xfrm>
          <a:off x="565995" y="2399131"/>
          <a:ext cx="8305800" cy="2377440"/>
        </p:xfrm>
        <a:graphic>
          <a:graphicData uri="http://schemas.openxmlformats.org/drawingml/2006/table">
            <a:tbl>
              <a:tblPr/>
              <a:tblGrid>
                <a:gridCol w="1066800"/>
                <a:gridCol w="1143000"/>
                <a:gridCol w="1066800"/>
                <a:gridCol w="1447800"/>
                <a:gridCol w="1447800"/>
                <a:gridCol w="1143000"/>
                <a:gridCol w="990600"/>
              </a:tblGrid>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学号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姓名</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年龄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所在系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系主任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课程号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成绩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4325">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S1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计算机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3655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S1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计算机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82</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78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C4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李思</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自动化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陈浩</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C6</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NULL</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r>
            </a:tbl>
          </a:graphicData>
        </a:graphic>
      </p:graphicFrame>
      <p:sp>
        <p:nvSpPr>
          <p:cNvPr id="7" name="Rectangle 6"/>
          <p:cNvSpPr/>
          <p:nvPr/>
        </p:nvSpPr>
        <p:spPr>
          <a:xfrm>
            <a:off x="565995" y="4920241"/>
            <a:ext cx="7881094" cy="1569660"/>
          </a:xfrm>
          <a:prstGeom prst="rect">
            <a:avLst/>
          </a:prstGeom>
        </p:spPr>
        <p:txBody>
          <a:bodyPr wrap="square">
            <a:spAutoFit/>
          </a:bodyPr>
          <a:lstStyle/>
          <a:p>
            <a:pPr>
              <a:buClr>
                <a:srgbClr val="0000FF"/>
              </a:buClr>
              <a:buSzPct val="90000"/>
            </a:pPr>
            <a:r>
              <a:rPr lang="zh-CN" altLang="en-US" sz="2400" dirty="0">
                <a:latin typeface="Arial Narrow"/>
                <a:ea typeface="黑体"/>
                <a:cs typeface="Arial Narrow"/>
              </a:rPr>
              <a:t>思考：关系模式</a:t>
            </a:r>
            <a:r>
              <a:rPr lang="en-US" altLang="zh-CN" sz="2400" dirty="0">
                <a:latin typeface="Arial Narrow"/>
                <a:ea typeface="黑体"/>
                <a:cs typeface="Arial Narrow"/>
              </a:rPr>
              <a:t>SCD</a:t>
            </a:r>
            <a:r>
              <a:rPr lang="zh-CN" altLang="en-US" sz="2400" dirty="0">
                <a:latin typeface="Arial Narrow"/>
                <a:ea typeface="黑体"/>
                <a:cs typeface="Arial Narrow"/>
              </a:rPr>
              <a:t>中存在哪些函数依赖？</a:t>
            </a:r>
          </a:p>
          <a:p>
            <a:pPr lvl="1">
              <a:buClr>
                <a:srgbClr val="0000FF"/>
              </a:buClr>
              <a:buSzPct val="90000"/>
            </a:pPr>
            <a:r>
              <a:rPr lang="zh-CN" altLang="en-US" sz="2400" dirty="0" smtClean="0">
                <a:solidFill>
                  <a:srgbClr val="0000FF"/>
                </a:solidFill>
                <a:latin typeface="Arial Narrow"/>
                <a:ea typeface="黑体"/>
                <a:cs typeface="Arial Narrow"/>
              </a:rPr>
              <a:t>学号→姓名</a:t>
            </a:r>
            <a:r>
              <a:rPr lang="zh-CN" altLang="en-US" sz="2400" dirty="0">
                <a:solidFill>
                  <a:srgbClr val="0000FF"/>
                </a:solidFill>
                <a:latin typeface="Arial Narrow"/>
                <a:ea typeface="黑体"/>
                <a:cs typeface="Arial Narrow"/>
              </a:rPr>
              <a:t>，学号→年龄，学号→所在系</a:t>
            </a:r>
            <a:r>
              <a:rPr lang="zh-CN" altLang="en-US" sz="2400" dirty="0" smtClean="0">
                <a:solidFill>
                  <a:srgbClr val="0000FF"/>
                </a:solidFill>
                <a:latin typeface="Arial Narrow"/>
                <a:ea typeface="黑体"/>
                <a:cs typeface="Arial Narrow"/>
              </a:rPr>
              <a:t>，</a:t>
            </a:r>
            <a:endParaRPr lang="en-US" altLang="zh-CN" sz="2400" dirty="0" smtClean="0">
              <a:solidFill>
                <a:srgbClr val="0000FF"/>
              </a:solidFill>
              <a:latin typeface="Arial Narrow"/>
              <a:ea typeface="黑体"/>
              <a:cs typeface="Arial Narrow"/>
            </a:endParaRPr>
          </a:p>
          <a:p>
            <a:pPr lvl="1">
              <a:buClr>
                <a:srgbClr val="0000FF"/>
              </a:buClr>
              <a:buSzPct val="90000"/>
            </a:pPr>
            <a:r>
              <a:rPr lang="zh-CN" altLang="en-US" sz="2400" dirty="0" smtClean="0">
                <a:solidFill>
                  <a:srgbClr val="0000FF"/>
                </a:solidFill>
                <a:latin typeface="Arial Narrow"/>
                <a:ea typeface="黑体"/>
                <a:cs typeface="Arial Narrow"/>
              </a:rPr>
              <a:t>所在</a:t>
            </a:r>
            <a:r>
              <a:rPr lang="zh-CN" altLang="en-US" sz="2400" dirty="0">
                <a:solidFill>
                  <a:srgbClr val="0000FF"/>
                </a:solidFill>
                <a:latin typeface="Arial Narrow"/>
                <a:ea typeface="黑体"/>
                <a:cs typeface="Arial Narrow"/>
              </a:rPr>
              <a:t>系→系主任</a:t>
            </a:r>
            <a:r>
              <a:rPr lang="zh-CN" altLang="en-US" sz="2400" dirty="0" smtClean="0">
                <a:solidFill>
                  <a:srgbClr val="0000FF"/>
                </a:solidFill>
                <a:latin typeface="Arial Narrow"/>
                <a:ea typeface="黑体"/>
                <a:cs typeface="Arial Narrow"/>
              </a:rPr>
              <a:t>，</a:t>
            </a:r>
            <a:endParaRPr lang="en-US" altLang="zh-CN" sz="2400" dirty="0" smtClean="0">
              <a:solidFill>
                <a:srgbClr val="0000FF"/>
              </a:solidFill>
              <a:latin typeface="Arial Narrow"/>
              <a:ea typeface="黑体"/>
              <a:cs typeface="Arial Narrow"/>
            </a:endParaRPr>
          </a:p>
          <a:p>
            <a:pPr lvl="1">
              <a:buClr>
                <a:srgbClr val="0000FF"/>
              </a:buClr>
              <a:buSzPct val="90000"/>
            </a:pPr>
            <a:r>
              <a:rPr lang="zh-CN" altLang="en-US" sz="2400" dirty="0" smtClean="0">
                <a:solidFill>
                  <a:srgbClr val="0000FF"/>
                </a:solidFill>
                <a:latin typeface="Arial Narrow"/>
                <a:ea typeface="黑体"/>
                <a:cs typeface="Arial Narrow"/>
              </a:rPr>
              <a:t> </a:t>
            </a:r>
            <a:r>
              <a:rPr lang="en-US" altLang="zh-CN" sz="2400" dirty="0">
                <a:solidFill>
                  <a:srgbClr val="0000FF"/>
                </a:solidFill>
                <a:latin typeface="Arial Narrow"/>
                <a:ea typeface="黑体"/>
                <a:cs typeface="Arial Narrow"/>
              </a:rPr>
              <a:t>(</a:t>
            </a:r>
            <a:r>
              <a:rPr lang="zh-CN" altLang="en-US" sz="2400" dirty="0">
                <a:solidFill>
                  <a:srgbClr val="0000FF"/>
                </a:solidFill>
                <a:latin typeface="Arial Narrow"/>
                <a:ea typeface="黑体"/>
                <a:cs typeface="Arial Narrow"/>
              </a:rPr>
              <a:t>学号</a:t>
            </a:r>
            <a:r>
              <a:rPr lang="en-US" altLang="zh-CN" sz="2400" dirty="0">
                <a:solidFill>
                  <a:srgbClr val="0000FF"/>
                </a:solidFill>
                <a:latin typeface="Arial Narrow"/>
                <a:ea typeface="黑体"/>
                <a:cs typeface="Arial Narrow"/>
              </a:rPr>
              <a:t>, </a:t>
            </a:r>
            <a:r>
              <a:rPr lang="zh-CN" altLang="en-US" sz="2400" dirty="0">
                <a:solidFill>
                  <a:srgbClr val="0000FF"/>
                </a:solidFill>
                <a:latin typeface="Arial Narrow"/>
                <a:ea typeface="黑体"/>
                <a:cs typeface="Arial Narrow"/>
              </a:rPr>
              <a:t>课程号</a:t>
            </a:r>
            <a:r>
              <a:rPr lang="en-US" altLang="zh-CN" sz="2400" dirty="0">
                <a:solidFill>
                  <a:srgbClr val="0000FF"/>
                </a:solidFill>
                <a:latin typeface="Arial Narrow"/>
                <a:ea typeface="黑体"/>
                <a:cs typeface="Arial Narrow"/>
              </a:rPr>
              <a:t>) →</a:t>
            </a:r>
            <a:r>
              <a:rPr lang="zh-CN" altLang="en-US" sz="2400" dirty="0">
                <a:solidFill>
                  <a:srgbClr val="0000FF"/>
                </a:solidFill>
                <a:latin typeface="Arial Narrow"/>
                <a:ea typeface="黑体"/>
                <a:cs typeface="Arial Narrow"/>
              </a:rPr>
              <a:t>成绩</a:t>
            </a:r>
          </a:p>
        </p:txBody>
      </p:sp>
      <p:sp>
        <p:nvSpPr>
          <p:cNvPr id="8" name="Rectangle 7"/>
          <p:cNvSpPr/>
          <p:nvPr/>
        </p:nvSpPr>
        <p:spPr>
          <a:xfrm>
            <a:off x="4572000" y="45888"/>
            <a:ext cx="4572000" cy="2246769"/>
          </a:xfrm>
          <a:prstGeom prst="rect">
            <a:avLst/>
          </a:prstGeom>
          <a:solidFill>
            <a:schemeClr val="accent1">
              <a:lumMod val="40000"/>
              <a:lumOff val="60000"/>
            </a:schemeClr>
          </a:solidFill>
          <a:ln>
            <a:solidFill>
              <a:srgbClr val="FF0000"/>
            </a:solidFill>
          </a:ln>
        </p:spPr>
        <p:txBody>
          <a:bodyPr>
            <a:spAutoFit/>
          </a:bodyPr>
          <a:lstStyle/>
          <a:p>
            <a:pPr algn="just"/>
            <a:r>
              <a:rPr lang="zh-CN" altLang="en-US" sz="2000" dirty="0">
                <a:solidFill>
                  <a:srgbClr val="0000FF"/>
                </a:solidFill>
                <a:latin typeface="华文仿宋"/>
                <a:ea typeface="华文仿宋"/>
                <a:cs typeface="华文仿宋"/>
              </a:rPr>
              <a:t>语义定义如下</a:t>
            </a:r>
            <a:r>
              <a:rPr lang="en-US" altLang="zh-CN" sz="2000" dirty="0">
                <a:solidFill>
                  <a:srgbClr val="0000FF"/>
                </a:solidFill>
                <a:latin typeface="华文仿宋"/>
                <a:ea typeface="华文仿宋"/>
                <a:cs typeface="华文仿宋"/>
              </a:rPr>
              <a:t>:</a:t>
            </a:r>
          </a:p>
          <a:p>
            <a:pPr marL="342900" indent="-342900" algn="just">
              <a:buFont typeface="Arial"/>
              <a:buChar char="•"/>
            </a:pPr>
            <a:r>
              <a:rPr lang="zh-CN" altLang="en-US" sz="2000" dirty="0">
                <a:solidFill>
                  <a:srgbClr val="0000FF"/>
                </a:solidFill>
                <a:latin typeface="华文仿宋"/>
                <a:ea typeface="华文仿宋"/>
                <a:cs typeface="华文仿宋"/>
              </a:rPr>
              <a:t>一个系有若干个学生，但一个学生只属于一个系；</a:t>
            </a:r>
          </a:p>
          <a:p>
            <a:pPr marL="342900" indent="-342900" algn="just">
              <a:buFont typeface="Arial"/>
              <a:buChar char="•"/>
            </a:pPr>
            <a:r>
              <a:rPr lang="zh-CN" altLang="en-US" sz="2000" dirty="0">
                <a:solidFill>
                  <a:srgbClr val="0000FF"/>
                </a:solidFill>
                <a:latin typeface="华文仿宋"/>
                <a:ea typeface="华文仿宋"/>
                <a:cs typeface="华文仿宋"/>
              </a:rPr>
              <a:t>一个系只有一名系主任；</a:t>
            </a:r>
          </a:p>
          <a:p>
            <a:pPr marL="342900" indent="-342900" algn="just">
              <a:buFont typeface="Arial"/>
              <a:buChar char="•"/>
            </a:pPr>
            <a:r>
              <a:rPr lang="zh-CN" altLang="en-US" sz="2000" dirty="0">
                <a:solidFill>
                  <a:srgbClr val="0000FF"/>
                </a:solidFill>
                <a:latin typeface="华文仿宋"/>
                <a:ea typeface="华文仿宋"/>
                <a:cs typeface="华文仿宋"/>
              </a:rPr>
              <a:t>一个学生可以选修多门功课，每门课程可有若干学生选修；</a:t>
            </a:r>
          </a:p>
          <a:p>
            <a:pPr marL="342900" indent="-342900" algn="just">
              <a:buFont typeface="Arial"/>
              <a:buChar char="•"/>
            </a:pPr>
            <a:r>
              <a:rPr lang="zh-CN" altLang="en-US" sz="2000" dirty="0">
                <a:solidFill>
                  <a:srgbClr val="0000FF"/>
                </a:solidFill>
                <a:latin typeface="华文仿宋"/>
                <a:ea typeface="华文仿宋"/>
                <a:cs typeface="华文仿宋"/>
              </a:rPr>
              <a:t>每个学生学习课程有一个成绩。</a:t>
            </a:r>
          </a:p>
        </p:txBody>
      </p:sp>
    </p:spTree>
    <p:extLst>
      <p:ext uri="{BB962C8B-B14F-4D97-AF65-F5344CB8AC3E}">
        <p14:creationId xmlns:p14="http://schemas.microsoft.com/office/powerpoint/2010/main" val="32683631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linds(horizontal)">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blinds(horizontal)">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blinds(horizontal)">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blinds(horizontal)">
                                      <p:cBhvr>
                                        <p:cTn id="3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266808" y="900760"/>
            <a:ext cx="8577928" cy="5263481"/>
          </a:xfrm>
        </p:spPr>
        <p:txBody>
          <a:bodyPr/>
          <a:lstStyle/>
          <a:p>
            <a:pPr>
              <a:spcBef>
                <a:spcPts val="0"/>
              </a:spcBef>
              <a:buSzPct val="90000"/>
              <a:buFont typeface="Wingdings" charset="0"/>
              <a:buChar char="v"/>
            </a:pPr>
            <a:r>
              <a:rPr lang="zh-CN" altLang="en-US" sz="2400" dirty="0">
                <a:solidFill>
                  <a:srgbClr val="FF0066"/>
                </a:solidFill>
                <a:effectLst>
                  <a:outerShdw blurRad="38100" dist="38100" dir="2700000" algn="tl">
                    <a:srgbClr val="000000"/>
                  </a:outerShdw>
                </a:effectLst>
              </a:rPr>
              <a:t>问题</a:t>
            </a:r>
            <a:r>
              <a:rPr lang="en-US" altLang="zh-CN" sz="2400" dirty="0">
                <a:solidFill>
                  <a:srgbClr val="FF0066"/>
                </a:solidFill>
                <a:effectLst>
                  <a:outerShdw blurRad="38100" dist="38100" dir="2700000" algn="tl">
                    <a:srgbClr val="000000"/>
                  </a:outerShdw>
                </a:effectLst>
              </a:rPr>
              <a:t>1</a:t>
            </a:r>
            <a:r>
              <a:rPr lang="zh-CN" altLang="en-US" sz="2400" dirty="0">
                <a:solidFill>
                  <a:srgbClr val="FF0066"/>
                </a:solidFill>
                <a:effectLst>
                  <a:outerShdw blurRad="38100" dist="38100" dir="2700000" algn="tl">
                    <a:srgbClr val="000000"/>
                  </a:outerShdw>
                </a:effectLst>
              </a:rPr>
              <a:t>：数据冗余</a:t>
            </a:r>
          </a:p>
          <a:p>
            <a:pPr>
              <a:spcBef>
                <a:spcPts val="0"/>
              </a:spcBef>
              <a:buClr>
                <a:schemeClr val="tx2"/>
              </a:buClr>
              <a:buSzPct val="90000"/>
            </a:pPr>
            <a:r>
              <a:rPr lang="zh-CN" altLang="en-US" sz="2400" dirty="0">
                <a:solidFill>
                  <a:srgbClr val="0000FF"/>
                </a:solidFill>
              </a:rPr>
              <a:t>例如：</a:t>
            </a:r>
            <a:r>
              <a:rPr lang="zh-CN" altLang="en-US" sz="2400" dirty="0"/>
              <a:t>每个系名和系主任的名字存储的次数等于该系的学生人数乘以每个学生选修的课程门数，同时学生的姓名、年龄也都要重复存储多次，数据的冗余度很大</a:t>
            </a:r>
            <a:r>
              <a:rPr lang="zh-CN" altLang="en-US" sz="2400" dirty="0" smtClean="0"/>
              <a:t>。</a:t>
            </a:r>
            <a:endParaRPr lang="en-US" altLang="zh-CN" sz="2400" dirty="0" smtClean="0"/>
          </a:p>
          <a:p>
            <a:pPr>
              <a:spcBef>
                <a:spcPts val="0"/>
              </a:spcBef>
              <a:buClr>
                <a:schemeClr val="tx2"/>
              </a:buClr>
              <a:buSzPct val="90000"/>
            </a:pPr>
            <a:endParaRPr lang="en-US" altLang="zh-CN" sz="2400" dirty="0" smtClean="0"/>
          </a:p>
          <a:p>
            <a:pPr>
              <a:spcBef>
                <a:spcPts val="0"/>
              </a:spcBef>
              <a:buClr>
                <a:schemeClr val="tx2"/>
              </a:buClr>
              <a:buSzPct val="90000"/>
            </a:pPr>
            <a:endParaRPr lang="en-US" altLang="zh-CN" sz="2400" dirty="0" smtClean="0"/>
          </a:p>
          <a:p>
            <a:pPr>
              <a:spcBef>
                <a:spcPts val="0"/>
              </a:spcBef>
              <a:buClr>
                <a:schemeClr val="tx2"/>
              </a:buClr>
              <a:buSzPct val="90000"/>
            </a:pPr>
            <a:endParaRPr lang="en-US" altLang="zh-CN" sz="2400" dirty="0"/>
          </a:p>
          <a:p>
            <a:pPr>
              <a:spcBef>
                <a:spcPts val="0"/>
              </a:spcBef>
              <a:buClr>
                <a:schemeClr val="tx2"/>
              </a:buClr>
              <a:buSzPct val="90000"/>
            </a:pPr>
            <a:endParaRPr lang="en-US" altLang="zh-CN" sz="2400" dirty="0" smtClean="0"/>
          </a:p>
          <a:p>
            <a:pPr>
              <a:spcBef>
                <a:spcPts val="0"/>
              </a:spcBef>
              <a:buClr>
                <a:schemeClr val="tx2"/>
              </a:buClr>
              <a:buSzPct val="90000"/>
            </a:pPr>
            <a:endParaRPr lang="en-US" altLang="zh-CN" sz="2400" dirty="0"/>
          </a:p>
          <a:p>
            <a:pPr>
              <a:spcBef>
                <a:spcPts val="0"/>
              </a:spcBef>
              <a:buClr>
                <a:schemeClr val="tx2"/>
              </a:buClr>
              <a:buSzPct val="90000"/>
            </a:pPr>
            <a:endParaRPr lang="en-US" altLang="zh-CN" sz="2400" dirty="0" smtClean="0"/>
          </a:p>
          <a:p>
            <a:pPr>
              <a:spcBef>
                <a:spcPts val="0"/>
              </a:spcBef>
              <a:buClr>
                <a:schemeClr val="tx2"/>
              </a:buClr>
              <a:buSzPct val="90000"/>
            </a:pPr>
            <a:endParaRPr lang="en-US" altLang="zh-CN" sz="2400" dirty="0" smtClean="0"/>
          </a:p>
          <a:p>
            <a:pPr>
              <a:spcBef>
                <a:spcPts val="0"/>
              </a:spcBef>
              <a:buSzPct val="90000"/>
              <a:buFont typeface="Wingdings" charset="0"/>
              <a:buChar char="v"/>
            </a:pPr>
            <a:r>
              <a:rPr lang="zh-CN" altLang="en-US" sz="2400" dirty="0" smtClean="0">
                <a:solidFill>
                  <a:srgbClr val="FF0066"/>
                </a:solidFill>
                <a:effectLst>
                  <a:outerShdw blurRad="38100" dist="38100" dir="2700000" algn="tl">
                    <a:srgbClr val="000000"/>
                  </a:outerShdw>
                </a:effectLst>
              </a:rPr>
              <a:t>问题</a:t>
            </a:r>
            <a:r>
              <a:rPr lang="en-US" altLang="zh-CN" sz="2400" dirty="0">
                <a:solidFill>
                  <a:srgbClr val="FF0066"/>
                </a:solidFill>
                <a:effectLst>
                  <a:outerShdw blurRad="38100" dist="38100" dir="2700000" algn="tl">
                    <a:srgbClr val="000000"/>
                  </a:outerShdw>
                </a:effectLst>
              </a:rPr>
              <a:t>2</a:t>
            </a:r>
            <a:r>
              <a:rPr lang="zh-CN" altLang="en-US" sz="2400" dirty="0">
                <a:solidFill>
                  <a:srgbClr val="FF0066"/>
                </a:solidFill>
                <a:effectLst>
                  <a:outerShdw blurRad="38100" dist="38100" dir="2700000" algn="tl">
                    <a:srgbClr val="000000"/>
                  </a:outerShdw>
                </a:effectLst>
              </a:rPr>
              <a:t>：更新异常</a:t>
            </a:r>
            <a:r>
              <a:rPr lang="en-US" altLang="zh-CN" sz="2400" dirty="0">
                <a:solidFill>
                  <a:srgbClr val="FF0066"/>
                </a:solidFill>
                <a:effectLst>
                  <a:outerShdw blurRad="38100" dist="38100" dir="2700000" algn="tl">
                    <a:srgbClr val="000000"/>
                  </a:outerShdw>
                </a:effectLst>
              </a:rPr>
              <a:t>(update anomalies)</a:t>
            </a:r>
          </a:p>
          <a:p>
            <a:pPr>
              <a:spcBef>
                <a:spcPts val="0"/>
              </a:spcBef>
              <a:buClr>
                <a:schemeClr val="tx2"/>
              </a:buClr>
              <a:buSzPct val="90000"/>
            </a:pPr>
            <a:r>
              <a:rPr lang="zh-CN" altLang="en-US" sz="2400" dirty="0">
                <a:solidFill>
                  <a:srgbClr val="0000FF"/>
                </a:solidFill>
              </a:rPr>
              <a:t>例如：</a:t>
            </a:r>
            <a:r>
              <a:rPr lang="zh-CN" altLang="en-US" sz="2400" dirty="0"/>
              <a:t>如果某系更换系主任，则属于该系的所有学生记录都要进行修改。</a:t>
            </a:r>
          </a:p>
          <a:p>
            <a:pPr>
              <a:spcBef>
                <a:spcPts val="0"/>
              </a:spcBef>
              <a:buSzPct val="90000"/>
              <a:buFont typeface="Wingdings" charset="0"/>
              <a:buChar char="v"/>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8</a:t>
            </a:fld>
            <a:endParaRPr lang="en-US" altLang="zh-CN"/>
          </a:p>
        </p:txBody>
      </p:sp>
      <p:graphicFrame>
        <p:nvGraphicFramePr>
          <p:cNvPr id="6" name="Group 250"/>
          <p:cNvGraphicFramePr>
            <a:graphicFrameLocks noGrp="1"/>
          </p:cNvGraphicFramePr>
          <p:nvPr>
            <p:extLst>
              <p:ext uri="{D42A27DB-BD31-4B8C-83A1-F6EECF244321}">
                <p14:modId xmlns:p14="http://schemas.microsoft.com/office/powerpoint/2010/main" val="587251817"/>
              </p:ext>
            </p:extLst>
          </p:nvPr>
        </p:nvGraphicFramePr>
        <p:xfrm>
          <a:off x="565995" y="2517260"/>
          <a:ext cx="8305800" cy="2377440"/>
        </p:xfrm>
        <a:graphic>
          <a:graphicData uri="http://schemas.openxmlformats.org/drawingml/2006/table">
            <a:tbl>
              <a:tblPr/>
              <a:tblGrid>
                <a:gridCol w="1066800"/>
                <a:gridCol w="1143000"/>
                <a:gridCol w="1066800"/>
                <a:gridCol w="1447800"/>
                <a:gridCol w="1447800"/>
                <a:gridCol w="1143000"/>
                <a:gridCol w="990600"/>
              </a:tblGrid>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学号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姓名</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年龄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所在系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系主任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课程号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成绩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4325">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S1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计算机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3655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S1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计算机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82</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78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C4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李思</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自动化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陈浩</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C6</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NULL</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r>
            </a:tbl>
          </a:graphicData>
        </a:graphic>
      </p:graphicFrame>
    </p:spTree>
    <p:extLst>
      <p:ext uri="{BB962C8B-B14F-4D97-AF65-F5344CB8AC3E}">
        <p14:creationId xmlns:p14="http://schemas.microsoft.com/office/powerpoint/2010/main" val="310463887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blinds(horizontal)">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blinds(horizontal)">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685800" y="908720"/>
            <a:ext cx="7772400" cy="5559961"/>
          </a:xfrm>
        </p:spPr>
        <p:txBody>
          <a:bodyPr/>
          <a:lstStyle/>
          <a:p>
            <a:pPr>
              <a:spcBef>
                <a:spcPts val="0"/>
              </a:spcBef>
              <a:buSzPct val="90000"/>
              <a:buFont typeface="Wingdings" charset="0"/>
              <a:buChar char="v"/>
            </a:pPr>
            <a:endParaRPr lang="en-US" altLang="zh-CN" sz="2400" dirty="0" smtClean="0">
              <a:solidFill>
                <a:srgbClr val="FF0066"/>
              </a:solidFill>
              <a:effectLst>
                <a:outerShdw blurRad="38100" dist="38100" dir="2700000" algn="tl">
                  <a:srgbClr val="000000"/>
                </a:outerShdw>
              </a:effectLst>
            </a:endParaRPr>
          </a:p>
          <a:p>
            <a:pPr>
              <a:spcBef>
                <a:spcPts val="0"/>
              </a:spcBef>
              <a:buSzPct val="90000"/>
              <a:buFont typeface="Wingdings" charset="0"/>
              <a:buChar char="v"/>
            </a:pPr>
            <a:endParaRPr lang="en-US" altLang="zh-CN" sz="2400" dirty="0">
              <a:solidFill>
                <a:srgbClr val="FF0066"/>
              </a:solidFill>
              <a:effectLst>
                <a:outerShdw blurRad="38100" dist="38100" dir="2700000" algn="tl">
                  <a:srgbClr val="000000"/>
                </a:outerShdw>
              </a:effectLst>
            </a:endParaRPr>
          </a:p>
          <a:p>
            <a:pPr>
              <a:spcBef>
                <a:spcPts val="0"/>
              </a:spcBef>
              <a:buSzPct val="90000"/>
              <a:buFont typeface="Wingdings" charset="0"/>
              <a:buChar char="v"/>
            </a:pPr>
            <a:endParaRPr lang="en-US" altLang="zh-CN" sz="2400" dirty="0" smtClean="0">
              <a:solidFill>
                <a:srgbClr val="FF0066"/>
              </a:solidFill>
              <a:effectLst>
                <a:outerShdw blurRad="38100" dist="38100" dir="2700000" algn="tl">
                  <a:srgbClr val="000000"/>
                </a:outerShdw>
              </a:effectLst>
            </a:endParaRPr>
          </a:p>
          <a:p>
            <a:pPr>
              <a:spcBef>
                <a:spcPts val="0"/>
              </a:spcBef>
              <a:buSzPct val="90000"/>
              <a:buFont typeface="Wingdings" charset="0"/>
              <a:buChar char="v"/>
            </a:pPr>
            <a:endParaRPr lang="en-US" altLang="zh-CN" sz="2400" dirty="0">
              <a:solidFill>
                <a:srgbClr val="FF0066"/>
              </a:solidFill>
              <a:effectLst>
                <a:outerShdw blurRad="38100" dist="38100" dir="2700000" algn="tl">
                  <a:srgbClr val="000000"/>
                </a:outerShdw>
              </a:effectLst>
            </a:endParaRPr>
          </a:p>
          <a:p>
            <a:pPr>
              <a:spcBef>
                <a:spcPts val="0"/>
              </a:spcBef>
              <a:buSzPct val="90000"/>
              <a:buFont typeface="Wingdings" charset="0"/>
              <a:buChar char="v"/>
            </a:pPr>
            <a:endParaRPr lang="en-US" altLang="zh-CN" sz="2400" dirty="0" smtClean="0">
              <a:solidFill>
                <a:srgbClr val="FF0066"/>
              </a:solidFill>
              <a:effectLst>
                <a:outerShdw blurRad="38100" dist="38100" dir="2700000" algn="tl">
                  <a:srgbClr val="000000"/>
                </a:outerShdw>
              </a:effectLst>
            </a:endParaRPr>
          </a:p>
          <a:p>
            <a:pPr>
              <a:lnSpc>
                <a:spcPct val="110000"/>
              </a:lnSpc>
              <a:spcBef>
                <a:spcPts val="0"/>
              </a:spcBef>
              <a:buSzPct val="90000"/>
              <a:buFont typeface="Wingdings" charset="0"/>
              <a:buChar char="v"/>
            </a:pPr>
            <a:r>
              <a:rPr lang="zh-CN" altLang="en-US" sz="2400" dirty="0" smtClean="0">
                <a:solidFill>
                  <a:srgbClr val="FF0066"/>
                </a:solidFill>
                <a:effectLst>
                  <a:outerShdw blurRad="38100" dist="38100" dir="2700000" algn="tl">
                    <a:srgbClr val="000000"/>
                  </a:outerShdw>
                </a:effectLst>
              </a:rPr>
              <a:t>问题</a:t>
            </a:r>
            <a:r>
              <a:rPr lang="en-US" altLang="zh-CN" sz="2400" dirty="0">
                <a:solidFill>
                  <a:srgbClr val="FF0066"/>
                </a:solidFill>
                <a:effectLst>
                  <a:outerShdw blurRad="38100" dist="38100" dir="2700000" algn="tl">
                    <a:srgbClr val="000000"/>
                  </a:outerShdw>
                </a:effectLst>
              </a:rPr>
              <a:t>3</a:t>
            </a:r>
            <a:r>
              <a:rPr lang="zh-CN" altLang="en-US" sz="2400" dirty="0">
                <a:solidFill>
                  <a:srgbClr val="FF0066"/>
                </a:solidFill>
                <a:effectLst>
                  <a:outerShdw blurRad="38100" dist="38100" dir="2700000" algn="tl">
                    <a:srgbClr val="000000"/>
                  </a:outerShdw>
                </a:effectLst>
              </a:rPr>
              <a:t>：插入异常</a:t>
            </a:r>
            <a:r>
              <a:rPr lang="en-US" altLang="zh-CN" sz="2400" dirty="0">
                <a:solidFill>
                  <a:srgbClr val="FF0066"/>
                </a:solidFill>
                <a:effectLst>
                  <a:outerShdw blurRad="38100" dist="38100" dir="2700000" algn="tl">
                    <a:srgbClr val="000000"/>
                  </a:outerShdw>
                </a:effectLst>
              </a:rPr>
              <a:t>(insertion anomalies)</a:t>
            </a:r>
          </a:p>
          <a:p>
            <a:pPr>
              <a:lnSpc>
                <a:spcPct val="110000"/>
              </a:lnSpc>
              <a:spcBef>
                <a:spcPts val="0"/>
              </a:spcBef>
              <a:buClr>
                <a:schemeClr val="tx2"/>
              </a:buClr>
              <a:buSzPct val="90000"/>
            </a:pPr>
            <a:r>
              <a:rPr lang="zh-CN" altLang="en-US" sz="2400" dirty="0">
                <a:solidFill>
                  <a:srgbClr val="0000FF"/>
                </a:solidFill>
              </a:rPr>
              <a:t>例如：</a:t>
            </a:r>
            <a:r>
              <a:rPr lang="zh-CN" altLang="en-US" sz="2400" dirty="0"/>
              <a:t>此关系的码为</a:t>
            </a:r>
            <a:r>
              <a:rPr lang="en-US" altLang="zh-CN" sz="2400" dirty="0"/>
              <a:t>(</a:t>
            </a:r>
            <a:r>
              <a:rPr lang="zh-CN" altLang="en-US" sz="2400" dirty="0"/>
              <a:t>学号</a:t>
            </a:r>
            <a:r>
              <a:rPr lang="en-US" altLang="zh-CN" sz="2400" dirty="0"/>
              <a:t>, </a:t>
            </a:r>
            <a:r>
              <a:rPr lang="zh-CN" altLang="en-US" sz="2400" dirty="0"/>
              <a:t>课程号</a:t>
            </a:r>
            <a:r>
              <a:rPr lang="en-US" altLang="zh-CN" sz="2400" dirty="0"/>
              <a:t>)</a:t>
            </a:r>
            <a:r>
              <a:rPr lang="zh-CN" altLang="en-US" sz="2400" dirty="0"/>
              <a:t>，依据实体完整性约束，缺少其中一部分时，元组不能插入。因此，如果某个学生没有选课，则这名学生的信息无法插入到数据库中。</a:t>
            </a:r>
          </a:p>
          <a:p>
            <a:pPr>
              <a:lnSpc>
                <a:spcPct val="110000"/>
              </a:lnSpc>
              <a:spcBef>
                <a:spcPts val="0"/>
              </a:spcBef>
              <a:buSzPct val="90000"/>
              <a:buFont typeface="Wingdings" charset="0"/>
              <a:buChar char="v"/>
            </a:pPr>
            <a:r>
              <a:rPr lang="zh-CN" altLang="en-US" sz="2400" dirty="0">
                <a:solidFill>
                  <a:srgbClr val="FF0066"/>
                </a:solidFill>
                <a:effectLst>
                  <a:outerShdw blurRad="38100" dist="38100" dir="2700000" algn="tl">
                    <a:srgbClr val="000000"/>
                  </a:outerShdw>
                </a:effectLst>
              </a:rPr>
              <a:t> 问题</a:t>
            </a:r>
            <a:r>
              <a:rPr lang="en-US" altLang="zh-CN" sz="2400" dirty="0">
                <a:solidFill>
                  <a:srgbClr val="FF0066"/>
                </a:solidFill>
                <a:effectLst>
                  <a:outerShdw blurRad="38100" dist="38100" dir="2700000" algn="tl">
                    <a:srgbClr val="000000"/>
                  </a:outerShdw>
                </a:effectLst>
              </a:rPr>
              <a:t>4</a:t>
            </a:r>
            <a:r>
              <a:rPr lang="zh-CN" altLang="en-US" sz="2400" dirty="0">
                <a:solidFill>
                  <a:srgbClr val="FF0066"/>
                </a:solidFill>
                <a:effectLst>
                  <a:outerShdw blurRad="38100" dist="38100" dir="2700000" algn="tl">
                    <a:srgbClr val="000000"/>
                  </a:outerShdw>
                </a:effectLst>
              </a:rPr>
              <a:t>：删除异常</a:t>
            </a:r>
            <a:r>
              <a:rPr lang="en-US" altLang="zh-CN" sz="2400" dirty="0">
                <a:solidFill>
                  <a:srgbClr val="FF0066"/>
                </a:solidFill>
                <a:effectLst>
                  <a:outerShdw blurRad="38100" dist="38100" dir="2700000" algn="tl">
                    <a:srgbClr val="000000"/>
                  </a:outerShdw>
                </a:effectLst>
              </a:rPr>
              <a:t>(deletion anomalies)</a:t>
            </a:r>
          </a:p>
          <a:p>
            <a:pPr>
              <a:lnSpc>
                <a:spcPct val="110000"/>
              </a:lnSpc>
              <a:spcBef>
                <a:spcPts val="0"/>
              </a:spcBef>
              <a:buClr>
                <a:schemeClr val="tx2"/>
              </a:buClr>
              <a:buSzPct val="90000"/>
            </a:pPr>
            <a:r>
              <a:rPr lang="zh-CN" altLang="en-US" sz="2400" dirty="0">
                <a:solidFill>
                  <a:srgbClr val="0000FF"/>
                </a:solidFill>
              </a:rPr>
              <a:t>例如：</a:t>
            </a:r>
            <a:r>
              <a:rPr lang="zh-CN" altLang="en-US" sz="2400" dirty="0"/>
              <a:t>某系学生全部毕业时，要删除全部学生的记录，则系名、系主任也随之删除。虽然这个系依然存在，但在数据库中却无法找到该系的信息。</a:t>
            </a:r>
          </a:p>
          <a:p>
            <a:pPr>
              <a:spcBef>
                <a:spcPts val="0"/>
              </a:spcBef>
            </a:pPr>
            <a:endParaRPr lang="en-US" sz="2400" dirty="0"/>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9</a:t>
            </a:fld>
            <a:endParaRPr lang="en-US" altLang="zh-CN"/>
          </a:p>
        </p:txBody>
      </p:sp>
      <p:graphicFrame>
        <p:nvGraphicFramePr>
          <p:cNvPr id="6" name="Group 250"/>
          <p:cNvGraphicFramePr>
            <a:graphicFrameLocks noGrp="1"/>
          </p:cNvGraphicFramePr>
          <p:nvPr>
            <p:extLst>
              <p:ext uri="{D42A27DB-BD31-4B8C-83A1-F6EECF244321}">
                <p14:modId xmlns:p14="http://schemas.microsoft.com/office/powerpoint/2010/main" val="750576101"/>
              </p:ext>
            </p:extLst>
          </p:nvPr>
        </p:nvGraphicFramePr>
        <p:xfrm>
          <a:off x="565995" y="285230"/>
          <a:ext cx="8305800" cy="2377440"/>
        </p:xfrm>
        <a:graphic>
          <a:graphicData uri="http://schemas.openxmlformats.org/drawingml/2006/table">
            <a:tbl>
              <a:tblPr/>
              <a:tblGrid>
                <a:gridCol w="1066800"/>
                <a:gridCol w="1143000"/>
                <a:gridCol w="1066800"/>
                <a:gridCol w="1447800"/>
                <a:gridCol w="1447800"/>
                <a:gridCol w="1143000"/>
                <a:gridCol w="990600"/>
              </a:tblGrid>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学号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姓名</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年龄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所在系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系主任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课程号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成绩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4325">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S1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计算机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C1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3655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S1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计算机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82</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78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C4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a:ln>
                            <a:noFill/>
                          </a:ln>
                          <a:solidFill>
                            <a:schemeClr val="tx1"/>
                          </a:solidFill>
                          <a:effectLst/>
                          <a:latin typeface="Times New Roman" charset="0"/>
                          <a:ea typeface="楷体_GB2312" charset="0"/>
                          <a:cs typeface="楷体_GB2312" charset="0"/>
                        </a:rPr>
                        <a:t>98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12738">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S4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李思</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自动化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2000" b="1" i="0" u="none" strike="noStrike" cap="none" normalizeH="0" baseline="0" dirty="0">
                          <a:ln>
                            <a:noFill/>
                          </a:ln>
                          <a:solidFill>
                            <a:schemeClr val="tx1"/>
                          </a:solidFill>
                          <a:effectLst/>
                          <a:latin typeface="Times New Roman" charset="0"/>
                          <a:ea typeface="楷体_GB2312" charset="0"/>
                          <a:cs typeface="楷体_GB2312" charset="0"/>
                        </a:rPr>
                        <a:t>陈浩</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C6</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2000" b="1" i="0" u="none" strike="noStrike" cap="none" normalizeH="0" baseline="0" dirty="0">
                          <a:ln>
                            <a:noFill/>
                          </a:ln>
                          <a:solidFill>
                            <a:schemeClr val="tx1"/>
                          </a:solidFill>
                          <a:effectLst/>
                          <a:latin typeface="Times New Roman" charset="0"/>
                          <a:ea typeface="楷体_GB2312" charset="0"/>
                          <a:cs typeface="楷体_GB2312" charset="0"/>
                        </a:rPr>
                        <a:t>NULL</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r>
            </a:tbl>
          </a:graphicData>
        </a:graphic>
      </p:graphicFrame>
    </p:spTree>
    <p:extLst>
      <p:ext uri="{BB962C8B-B14F-4D97-AF65-F5344CB8AC3E}">
        <p14:creationId xmlns:p14="http://schemas.microsoft.com/office/powerpoint/2010/main" val="316679417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blinds(horizontal)">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blinds(horizontal)">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685799" y="908720"/>
            <a:ext cx="8277225" cy="5263481"/>
          </a:xfrm>
        </p:spPr>
        <p:txBody>
          <a:bodyPr/>
          <a:lstStyle/>
          <a:p>
            <a:pPr>
              <a:spcBef>
                <a:spcPts val="0"/>
              </a:spcBef>
              <a:buClrTx/>
              <a:buSzTx/>
              <a:buFontTx/>
              <a:buNone/>
            </a:pPr>
            <a:r>
              <a:rPr lang="zh-CN" altLang="en-US" sz="2400" dirty="0"/>
              <a:t>产生上述问题的原因，直观地说，是因为关系</a:t>
            </a:r>
            <a:r>
              <a:rPr lang="en-US" altLang="zh-CN" sz="2400" dirty="0"/>
              <a:t>SCD</a:t>
            </a:r>
            <a:r>
              <a:rPr lang="zh-CN" altLang="en-US" sz="2400" dirty="0"/>
              <a:t>中“包罗万象”，内容太杂了。</a:t>
            </a:r>
          </a:p>
          <a:p>
            <a:pPr>
              <a:spcBef>
                <a:spcPts val="0"/>
              </a:spcBef>
              <a:buClr>
                <a:srgbClr val="CC0000"/>
              </a:buClr>
              <a:buSzTx/>
            </a:pPr>
            <a:r>
              <a:rPr lang="zh-CN" altLang="en-US" sz="2400" dirty="0" smtClean="0"/>
              <a:t>解决方法</a:t>
            </a:r>
            <a:r>
              <a:rPr lang="en-US" altLang="zh-CN" sz="2400" dirty="0" smtClean="0"/>
              <a:t>:</a:t>
            </a:r>
            <a:r>
              <a:rPr lang="zh-CN" altLang="en-US" sz="2400" dirty="0" smtClean="0"/>
              <a:t>分解。</a:t>
            </a:r>
            <a:endParaRPr lang="en-US" altLang="zh-CN" sz="2400" dirty="0" smtClean="0"/>
          </a:p>
          <a:p>
            <a:pPr lvl="1">
              <a:spcBef>
                <a:spcPts val="0"/>
              </a:spcBef>
              <a:buClr>
                <a:srgbClr val="CC0000"/>
              </a:buClr>
              <a:buSzTx/>
            </a:pPr>
            <a:r>
              <a:rPr lang="zh-CN" altLang="en-US" dirty="0" smtClean="0"/>
              <a:t> 学生关系：</a:t>
            </a:r>
            <a:r>
              <a:rPr lang="en-US" altLang="zh-CN" dirty="0" smtClean="0">
                <a:solidFill>
                  <a:srgbClr val="0000FF"/>
                </a:solidFill>
              </a:rPr>
              <a:t>S(</a:t>
            </a:r>
            <a:r>
              <a:rPr lang="zh-CN" altLang="en-US" dirty="0" smtClean="0">
                <a:solidFill>
                  <a:srgbClr val="0000FF"/>
                </a:solidFill>
              </a:rPr>
              <a:t>学号</a:t>
            </a:r>
            <a:r>
              <a:rPr lang="en-US" altLang="zh-CN" dirty="0" smtClean="0">
                <a:solidFill>
                  <a:srgbClr val="0000FF"/>
                </a:solidFill>
              </a:rPr>
              <a:t>, </a:t>
            </a:r>
            <a:r>
              <a:rPr lang="zh-CN" altLang="en-US" dirty="0" smtClean="0">
                <a:solidFill>
                  <a:srgbClr val="0000FF"/>
                </a:solidFill>
              </a:rPr>
              <a:t>姓名</a:t>
            </a:r>
            <a:r>
              <a:rPr lang="en-US" altLang="zh-CN" dirty="0" smtClean="0">
                <a:solidFill>
                  <a:srgbClr val="0000FF"/>
                </a:solidFill>
              </a:rPr>
              <a:t>, </a:t>
            </a:r>
            <a:r>
              <a:rPr lang="zh-CN" altLang="en-US" dirty="0" smtClean="0">
                <a:solidFill>
                  <a:srgbClr val="0000FF"/>
                </a:solidFill>
              </a:rPr>
              <a:t>年龄</a:t>
            </a:r>
            <a:r>
              <a:rPr lang="en-US" altLang="zh-CN" dirty="0" smtClean="0">
                <a:solidFill>
                  <a:srgbClr val="0000FF"/>
                </a:solidFill>
              </a:rPr>
              <a:t>, </a:t>
            </a:r>
            <a:r>
              <a:rPr lang="zh-CN" altLang="en-US" dirty="0" smtClean="0">
                <a:solidFill>
                  <a:srgbClr val="0000FF"/>
                </a:solidFill>
              </a:rPr>
              <a:t>所在系</a:t>
            </a:r>
            <a:r>
              <a:rPr lang="en-US" altLang="zh-CN" dirty="0" smtClean="0">
                <a:solidFill>
                  <a:srgbClr val="0000FF"/>
                </a:solidFill>
              </a:rPr>
              <a:t>)</a:t>
            </a:r>
          </a:p>
          <a:p>
            <a:pPr lvl="1">
              <a:spcBef>
                <a:spcPts val="0"/>
              </a:spcBef>
              <a:buClr>
                <a:srgbClr val="FF0066"/>
              </a:buClr>
              <a:buSzPct val="90000"/>
            </a:pPr>
            <a:r>
              <a:rPr lang="en-US" altLang="zh-CN" dirty="0" smtClean="0">
                <a:solidFill>
                  <a:srgbClr val="0000FF"/>
                </a:solidFill>
              </a:rPr>
              <a:t> </a:t>
            </a:r>
            <a:r>
              <a:rPr lang="zh-CN" altLang="en-US" dirty="0"/>
              <a:t>选课关系：</a:t>
            </a:r>
            <a:r>
              <a:rPr lang="en-US" altLang="zh-CN" dirty="0">
                <a:solidFill>
                  <a:srgbClr val="0000FF"/>
                </a:solidFill>
              </a:rPr>
              <a:t>SC(</a:t>
            </a:r>
            <a:r>
              <a:rPr lang="zh-CN" altLang="en-US" dirty="0">
                <a:solidFill>
                  <a:srgbClr val="0000FF"/>
                </a:solidFill>
              </a:rPr>
              <a:t>学号</a:t>
            </a:r>
            <a:r>
              <a:rPr lang="en-US" altLang="zh-CN" dirty="0">
                <a:solidFill>
                  <a:srgbClr val="0000FF"/>
                </a:solidFill>
              </a:rPr>
              <a:t>, </a:t>
            </a:r>
            <a:r>
              <a:rPr lang="zh-CN" altLang="en-US" dirty="0">
                <a:solidFill>
                  <a:srgbClr val="0000FF"/>
                </a:solidFill>
              </a:rPr>
              <a:t>课程号</a:t>
            </a:r>
            <a:r>
              <a:rPr lang="en-US" altLang="zh-CN" dirty="0">
                <a:solidFill>
                  <a:srgbClr val="0000FF"/>
                </a:solidFill>
              </a:rPr>
              <a:t>, </a:t>
            </a:r>
            <a:r>
              <a:rPr lang="zh-CN" altLang="en-US" dirty="0">
                <a:solidFill>
                  <a:srgbClr val="0000FF"/>
                </a:solidFill>
              </a:rPr>
              <a:t>成绩</a:t>
            </a:r>
            <a:r>
              <a:rPr lang="en-US" altLang="zh-CN" dirty="0">
                <a:solidFill>
                  <a:srgbClr val="0000FF"/>
                </a:solidFill>
              </a:rPr>
              <a:t>)</a:t>
            </a:r>
          </a:p>
          <a:p>
            <a:pPr lvl="1">
              <a:spcBef>
                <a:spcPts val="0"/>
              </a:spcBef>
              <a:buClr>
                <a:srgbClr val="FF0066"/>
              </a:buClr>
              <a:buSzPct val="90000"/>
            </a:pPr>
            <a:r>
              <a:rPr lang="en-US" altLang="zh-CN" dirty="0">
                <a:solidFill>
                  <a:srgbClr val="0000FF"/>
                </a:solidFill>
              </a:rPr>
              <a:t> </a:t>
            </a:r>
            <a:r>
              <a:rPr lang="zh-CN" altLang="en-US" dirty="0"/>
              <a:t>系关系</a:t>
            </a:r>
            <a:r>
              <a:rPr lang="zh-CN" altLang="en-US" dirty="0" smtClean="0"/>
              <a:t>：</a:t>
            </a:r>
            <a:r>
              <a:rPr lang="en-US" altLang="zh-CN" dirty="0" smtClean="0"/>
              <a:t>  </a:t>
            </a:r>
            <a:r>
              <a:rPr lang="en-US" altLang="zh-CN" dirty="0" smtClean="0">
                <a:solidFill>
                  <a:srgbClr val="0000FF"/>
                </a:solidFill>
              </a:rPr>
              <a:t>D</a:t>
            </a:r>
            <a:r>
              <a:rPr lang="en-US" altLang="zh-CN" dirty="0">
                <a:solidFill>
                  <a:srgbClr val="0000FF"/>
                </a:solidFill>
              </a:rPr>
              <a:t>(</a:t>
            </a:r>
            <a:r>
              <a:rPr lang="zh-CN" altLang="en-US" dirty="0">
                <a:solidFill>
                  <a:srgbClr val="0000FF"/>
                </a:solidFill>
              </a:rPr>
              <a:t>系名</a:t>
            </a:r>
            <a:r>
              <a:rPr lang="en-US" altLang="zh-CN" dirty="0">
                <a:solidFill>
                  <a:srgbClr val="0000FF"/>
                </a:solidFill>
              </a:rPr>
              <a:t>, </a:t>
            </a:r>
            <a:r>
              <a:rPr lang="zh-CN" altLang="en-US" dirty="0">
                <a:solidFill>
                  <a:srgbClr val="0000FF"/>
                </a:solidFill>
              </a:rPr>
              <a:t>系主任</a:t>
            </a:r>
            <a:r>
              <a:rPr lang="en-US" altLang="zh-CN" dirty="0">
                <a:solidFill>
                  <a:srgbClr val="0000FF"/>
                </a:solidFill>
              </a:rPr>
              <a:t>)</a:t>
            </a:r>
          </a:p>
          <a:p>
            <a:pPr>
              <a:spcBef>
                <a:spcPts val="0"/>
              </a:spcBef>
              <a:buClr>
                <a:srgbClr val="CC0000"/>
              </a:buClr>
              <a:buSzTx/>
            </a:pPr>
            <a:r>
              <a:rPr lang="zh-CN" altLang="en-US" sz="2400" dirty="0"/>
              <a:t>与</a:t>
            </a:r>
            <a:r>
              <a:rPr lang="en-US" altLang="zh-CN" sz="2400" dirty="0"/>
              <a:t>SCD</a:t>
            </a:r>
            <a:r>
              <a:rPr lang="zh-CN" altLang="en-US" sz="2400" dirty="0"/>
              <a:t>相比，分解为三个关系模式后：</a:t>
            </a:r>
          </a:p>
          <a:p>
            <a:pPr lvl="1">
              <a:spcBef>
                <a:spcPts val="0"/>
              </a:spcBef>
              <a:buClr>
                <a:srgbClr val="FF0066"/>
              </a:buClr>
              <a:buSzPct val="90000"/>
            </a:pPr>
            <a:r>
              <a:rPr lang="zh-CN" altLang="en-US" dirty="0"/>
              <a:t> 数据的冗余度明显降低；</a:t>
            </a:r>
          </a:p>
          <a:p>
            <a:pPr lvl="1">
              <a:spcBef>
                <a:spcPts val="0"/>
              </a:spcBef>
              <a:buClr>
                <a:srgbClr val="FF0066"/>
              </a:buClr>
              <a:buSzPct val="90000"/>
            </a:pPr>
            <a:r>
              <a:rPr lang="zh-CN" altLang="en-US" dirty="0"/>
              <a:t> 如果某系更换系主任，只需修改关系</a:t>
            </a:r>
            <a:r>
              <a:rPr lang="en-US" altLang="zh-CN" dirty="0"/>
              <a:t>D</a:t>
            </a:r>
            <a:r>
              <a:rPr lang="zh-CN" altLang="en-US" dirty="0"/>
              <a:t>中的一条记录；</a:t>
            </a:r>
          </a:p>
          <a:p>
            <a:pPr lvl="1">
              <a:spcBef>
                <a:spcPts val="0"/>
              </a:spcBef>
              <a:buClr>
                <a:srgbClr val="FF0066"/>
              </a:buClr>
              <a:buSzPct val="90000"/>
            </a:pPr>
            <a:r>
              <a:rPr lang="zh-CN" altLang="en-US" dirty="0"/>
              <a:t> 如果某个学生尚未选课，只要在</a:t>
            </a:r>
            <a:r>
              <a:rPr lang="en-US" altLang="zh-CN" dirty="0"/>
              <a:t>S</a:t>
            </a:r>
            <a:r>
              <a:rPr lang="zh-CN" altLang="en-US" dirty="0"/>
              <a:t>中添加一条学生记录，与选课关系无关，避免了插入异常；</a:t>
            </a:r>
          </a:p>
          <a:p>
            <a:pPr lvl="1">
              <a:spcBef>
                <a:spcPts val="0"/>
              </a:spcBef>
              <a:buClr>
                <a:srgbClr val="FF0066"/>
              </a:buClr>
              <a:buSzPct val="90000"/>
            </a:pPr>
            <a:r>
              <a:rPr lang="zh-CN" altLang="en-US" dirty="0"/>
              <a:t> 当一个系的学生全部毕业时，只需在</a:t>
            </a:r>
            <a:r>
              <a:rPr lang="en-US" altLang="zh-CN" dirty="0"/>
              <a:t>S</a:t>
            </a:r>
            <a:r>
              <a:rPr lang="zh-CN" altLang="en-US" dirty="0"/>
              <a:t>中删除该系的全部学生记录，而</a:t>
            </a:r>
            <a:r>
              <a:rPr lang="en-US" altLang="zh-CN" dirty="0"/>
              <a:t>D</a:t>
            </a:r>
            <a:r>
              <a:rPr lang="zh-CN" altLang="en-US" dirty="0"/>
              <a:t>中该系的信息仍然保留，避免了删除异常。</a:t>
            </a:r>
          </a:p>
          <a:p>
            <a:pPr>
              <a:spcBef>
                <a:spcPts val="0"/>
              </a:spcBef>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10</a:t>
            </a:fld>
            <a:endParaRPr lang="en-US" altLang="zh-CN"/>
          </a:p>
        </p:txBody>
      </p:sp>
    </p:spTree>
    <p:extLst>
      <p:ext uri="{BB962C8B-B14F-4D97-AF65-F5344CB8AC3E}">
        <p14:creationId xmlns:p14="http://schemas.microsoft.com/office/powerpoint/2010/main" val="310463887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linds(horizontal)">
                                      <p:cBhvr>
                                        <p:cTn id="35" dur="500"/>
                                        <p:tgtEl>
                                          <p:spTgt spid="3">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linds(horizontal)">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685800" y="2040245"/>
            <a:ext cx="7772400" cy="3876054"/>
          </a:xfrm>
        </p:spPr>
        <p:txBody>
          <a:bodyPr/>
          <a:lstStyle/>
          <a:p>
            <a:pPr>
              <a:buClr>
                <a:srgbClr val="0000FF"/>
              </a:buClr>
              <a:buSzPct val="90000"/>
              <a:buFont typeface="Wingdings" charset="0"/>
              <a:buChar char="v"/>
            </a:pPr>
            <a:r>
              <a:rPr lang="en-US" altLang="zh-CN" sz="2400" dirty="0">
                <a:solidFill>
                  <a:schemeClr val="accent2"/>
                </a:solidFill>
              </a:rPr>
              <a:t> </a:t>
            </a:r>
            <a:r>
              <a:rPr lang="zh-CN" altLang="en-US" sz="2400" dirty="0"/>
              <a:t>一个好的关系模式应该具备以下</a:t>
            </a:r>
            <a:r>
              <a:rPr lang="zh-CN" altLang="en-US" sz="2400" dirty="0">
                <a:solidFill>
                  <a:srgbClr val="FF0000"/>
                </a:solidFill>
              </a:rPr>
              <a:t>四</a:t>
            </a:r>
            <a:r>
              <a:rPr lang="zh-CN" altLang="en-US" sz="2400" dirty="0"/>
              <a:t>个条件：</a:t>
            </a:r>
          </a:p>
          <a:p>
            <a:pPr lvl="1">
              <a:buSzPct val="90000"/>
              <a:buFont typeface="Wingdings" charset="0"/>
              <a:buChar char="v"/>
            </a:pPr>
            <a:r>
              <a:rPr lang="zh-CN" altLang="en-US" dirty="0">
                <a:solidFill>
                  <a:srgbClr val="FF0000"/>
                </a:solidFill>
              </a:rPr>
              <a:t> </a:t>
            </a:r>
            <a:r>
              <a:rPr lang="zh-CN" altLang="en-US" u="sng" dirty="0">
                <a:solidFill>
                  <a:srgbClr val="FF0000"/>
                </a:solidFill>
              </a:rPr>
              <a:t>尽可能少的数据冗余</a:t>
            </a:r>
          </a:p>
          <a:p>
            <a:pPr lvl="1">
              <a:buSzPct val="90000"/>
              <a:buFont typeface="Wingdings" charset="0"/>
              <a:buChar char="v"/>
            </a:pPr>
            <a:r>
              <a:rPr lang="zh-CN" altLang="en-US" dirty="0"/>
              <a:t> 没有更新异常</a:t>
            </a:r>
          </a:p>
          <a:p>
            <a:pPr lvl="1">
              <a:buSzPct val="90000"/>
              <a:buFont typeface="Wingdings" charset="0"/>
              <a:buChar char="v"/>
            </a:pPr>
            <a:r>
              <a:rPr lang="zh-CN" altLang="en-US" dirty="0"/>
              <a:t> 没有插入异常</a:t>
            </a:r>
          </a:p>
          <a:p>
            <a:pPr lvl="1">
              <a:buSzPct val="90000"/>
              <a:buFont typeface="Wingdings" charset="0"/>
              <a:buChar char="v"/>
            </a:pPr>
            <a:r>
              <a:rPr lang="zh-CN" altLang="en-US" dirty="0"/>
              <a:t> 没有删除异</a:t>
            </a:r>
            <a:r>
              <a:rPr lang="zh-CN" altLang="en-US" dirty="0" smtClean="0"/>
              <a:t>常</a:t>
            </a:r>
            <a:endParaRPr lang="en-US" altLang="zh-CN" dirty="0" smtClean="0"/>
          </a:p>
          <a:p>
            <a:pPr>
              <a:buClr>
                <a:srgbClr val="0000FF"/>
              </a:buClr>
              <a:buSzPct val="90000"/>
              <a:buFont typeface="Wingdings" charset="0"/>
              <a:buChar char="v"/>
            </a:pPr>
            <a:r>
              <a:rPr lang="zh-CN" altLang="en-US" sz="2400" dirty="0" smtClean="0"/>
              <a:t>产生关系数据库中这些异常问题</a:t>
            </a:r>
            <a:r>
              <a:rPr lang="zh-CN" altLang="en-US" sz="2400" dirty="0"/>
              <a:t>的根本原因：</a:t>
            </a:r>
          </a:p>
          <a:p>
            <a:pPr lvl="1">
              <a:buSzPct val="90000"/>
              <a:buFont typeface="Wingdings" charset="0"/>
              <a:buChar char="v"/>
            </a:pPr>
            <a:r>
              <a:rPr lang="zh-CN" altLang="en-US" dirty="0"/>
              <a:t> 关系模式中存在不合适的属性间联</a:t>
            </a:r>
            <a:r>
              <a:rPr lang="zh-CN" altLang="en-US" dirty="0" smtClean="0"/>
              <a:t>系</a:t>
            </a:r>
            <a:endParaRPr lang="zh-CN" altLang="en-US" dirty="0"/>
          </a:p>
          <a:p>
            <a:pPr>
              <a:buClr>
                <a:srgbClr val="0000FF"/>
              </a:buClr>
              <a:buSzPct val="90000"/>
              <a:buFont typeface="Wingdings" charset="0"/>
              <a:buChar char="v"/>
            </a:pPr>
            <a:r>
              <a:rPr lang="zh-CN" altLang="en-US" sz="2400" dirty="0"/>
              <a:t> 解决问题的方法：</a:t>
            </a:r>
          </a:p>
          <a:p>
            <a:pPr lvl="1">
              <a:buSzPct val="90000"/>
              <a:buFont typeface="Wingdings" charset="0"/>
              <a:buChar char="v"/>
            </a:pPr>
            <a:r>
              <a:rPr lang="zh-CN" altLang="en-US" dirty="0"/>
              <a:t>采用</a:t>
            </a:r>
            <a:r>
              <a:rPr lang="zh-CN" altLang="en-US" dirty="0">
                <a:solidFill>
                  <a:srgbClr val="FF0066"/>
                </a:solidFill>
                <a:effectLst>
                  <a:outerShdw blurRad="38100" dist="38100" dir="2700000" algn="tl">
                    <a:srgbClr val="000000"/>
                  </a:outerShdw>
                </a:effectLst>
              </a:rPr>
              <a:t>分解</a:t>
            </a:r>
            <a:r>
              <a:rPr lang="zh-CN" altLang="en-US" dirty="0"/>
              <a:t>策略消去不合适联系</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11</a:t>
            </a:fld>
            <a:endParaRPr lang="en-US" altLang="zh-CN"/>
          </a:p>
        </p:txBody>
      </p:sp>
      <p:graphicFrame>
        <p:nvGraphicFramePr>
          <p:cNvPr id="6" name="Group 250"/>
          <p:cNvGraphicFramePr>
            <a:graphicFrameLocks noGrp="1"/>
          </p:cNvGraphicFramePr>
          <p:nvPr>
            <p:extLst>
              <p:ext uri="{D42A27DB-BD31-4B8C-83A1-F6EECF244321}">
                <p14:modId xmlns:p14="http://schemas.microsoft.com/office/powerpoint/2010/main" val="760840903"/>
              </p:ext>
            </p:extLst>
          </p:nvPr>
        </p:nvGraphicFramePr>
        <p:xfrm>
          <a:off x="3764276" y="0"/>
          <a:ext cx="5379724" cy="2057640"/>
        </p:xfrm>
        <a:graphic>
          <a:graphicData uri="http://schemas.openxmlformats.org/drawingml/2006/table">
            <a:tbl>
              <a:tblPr/>
              <a:tblGrid>
                <a:gridCol w="616963"/>
                <a:gridCol w="678461"/>
                <a:gridCol w="678461"/>
                <a:gridCol w="939408"/>
                <a:gridCol w="852425"/>
                <a:gridCol w="865959"/>
                <a:gridCol w="748047"/>
              </a:tblGrid>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学号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姓名</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年龄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所在系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系主任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课程号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rgbClr val="FF0066"/>
                          </a:solidFill>
                          <a:effectLst>
                            <a:outerShdw blurRad="38100" dist="38100" dir="2700000" algn="tl">
                              <a:srgbClr val="000000"/>
                            </a:outerShdw>
                          </a:effectLst>
                          <a:latin typeface="Times New Roman" charset="0"/>
                          <a:ea typeface="楷体_GB2312" charset="0"/>
                          <a:cs typeface="楷体_GB2312" charset="0"/>
                        </a:rPr>
                        <a:t>成绩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S1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计算机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C1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S1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赵亦</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计算机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刘伟</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82</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C2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78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钱尔</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信息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王平</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C4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a:ln>
                            <a:noFill/>
                          </a:ln>
                          <a:solidFill>
                            <a:schemeClr val="tx1"/>
                          </a:solidFill>
                          <a:effectLst/>
                          <a:latin typeface="Times New Roman" charset="0"/>
                          <a:ea typeface="楷体_GB2312" charset="0"/>
                          <a:cs typeface="楷体_GB2312" charset="0"/>
                        </a:rPr>
                        <a:t>98</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342940">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S4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李思</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自动化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600" b="1" i="0" u="none" strike="noStrike" cap="none" normalizeH="0" baseline="0" dirty="0">
                          <a:ln>
                            <a:noFill/>
                          </a:ln>
                          <a:solidFill>
                            <a:schemeClr val="tx1"/>
                          </a:solidFill>
                          <a:effectLst/>
                          <a:latin typeface="Times New Roman" charset="0"/>
                          <a:ea typeface="楷体_GB2312" charset="0"/>
                          <a:cs typeface="楷体_GB2312" charset="0"/>
                        </a:rPr>
                        <a:t>陈浩</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C6</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600" b="1" i="0" u="none" strike="noStrike" cap="none" normalizeH="0" baseline="0" dirty="0">
                          <a:ln>
                            <a:noFill/>
                          </a:ln>
                          <a:solidFill>
                            <a:schemeClr val="tx1"/>
                          </a:solidFill>
                          <a:effectLst/>
                          <a:latin typeface="Times New Roman" charset="0"/>
                          <a:ea typeface="楷体_GB2312" charset="0"/>
                          <a:cs typeface="楷体_GB2312" charset="0"/>
                        </a:rPr>
                        <a:t>NULL</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solidFill>
                      <a:srgbClr val="D8E5E5"/>
                    </a:solidFill>
                  </a:tcPr>
                </a:tc>
              </a:tr>
            </a:tbl>
          </a:graphicData>
        </a:graphic>
      </p:graphicFrame>
    </p:spTree>
    <p:extLst>
      <p:ext uri="{BB962C8B-B14F-4D97-AF65-F5344CB8AC3E}">
        <p14:creationId xmlns:p14="http://schemas.microsoft.com/office/powerpoint/2010/main" val="310463887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linds(horizontal)">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blinds(horizontal)">
                                      <p:cBhvr>
                                        <p:cTn id="29" dur="500"/>
                                        <p:tgtEl>
                                          <p:spTgt spid="3">
                                            <p:txEl>
                                              <p:pRg st="5" end="5"/>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blinds(horizontal)">
                                      <p:cBhvr>
                                        <p:cTn id="4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6.1 </a:t>
            </a:r>
            <a:r>
              <a:rPr lang="zh-CN" altLang="en-US" dirty="0"/>
              <a:t>问题的提出</a:t>
            </a:r>
            <a:endParaRPr lang="en-US" dirty="0"/>
          </a:p>
        </p:txBody>
      </p:sp>
      <p:sp>
        <p:nvSpPr>
          <p:cNvPr id="3" name="Content Placeholder 2"/>
          <p:cNvSpPr>
            <a:spLocks noGrp="1"/>
          </p:cNvSpPr>
          <p:nvPr>
            <p:ph idx="1"/>
          </p:nvPr>
        </p:nvSpPr>
        <p:spPr>
          <a:xfrm>
            <a:off x="685800" y="1025080"/>
            <a:ext cx="7772400" cy="5057985"/>
          </a:xfrm>
        </p:spPr>
        <p:txBody>
          <a:bodyPr/>
          <a:lstStyle/>
          <a:p>
            <a:pPr algn="just">
              <a:lnSpc>
                <a:spcPct val="110000"/>
              </a:lnSpc>
            </a:pPr>
            <a:r>
              <a:rPr lang="zh-CN" altLang="en-US" sz="2400" dirty="0"/>
              <a:t>分解后的关系模式是“好” 的。</a:t>
            </a:r>
          </a:p>
          <a:p>
            <a:pPr algn="just">
              <a:lnSpc>
                <a:spcPct val="110000"/>
              </a:lnSpc>
            </a:pPr>
            <a:r>
              <a:rPr lang="zh-CN" altLang="en-US" sz="2400" dirty="0">
                <a:latin typeface="宋体" charset="0"/>
              </a:rPr>
              <a:t>不过，一个好的关系模式</a:t>
            </a:r>
            <a:r>
              <a:rPr lang="zh-CN" altLang="en-US" sz="2400" dirty="0">
                <a:solidFill>
                  <a:srgbClr val="FF0000"/>
                </a:solidFill>
                <a:latin typeface="宋体" charset="0"/>
              </a:rPr>
              <a:t>并不是</a:t>
            </a:r>
            <a:r>
              <a:rPr lang="zh-CN" altLang="en-US" sz="2400" dirty="0">
                <a:latin typeface="宋体" charset="0"/>
              </a:rPr>
              <a:t>在任何情况下都是最优的。</a:t>
            </a:r>
          </a:p>
          <a:p>
            <a:pPr>
              <a:lnSpc>
                <a:spcPct val="110000"/>
              </a:lnSpc>
            </a:pPr>
            <a:r>
              <a:rPr lang="zh-CN" altLang="en-US" sz="2400" dirty="0">
                <a:latin typeface="宋体" charset="0"/>
              </a:rPr>
              <a:t>如何按照一定的规范设计关系模式，将结构复杂的关系</a:t>
            </a:r>
            <a:r>
              <a:rPr lang="zh-CN" altLang="en-US" sz="2400" dirty="0">
                <a:solidFill>
                  <a:srgbClr val="FF0000"/>
                </a:solidFill>
                <a:latin typeface="宋体" charset="0"/>
              </a:rPr>
              <a:t>分解</a:t>
            </a:r>
            <a:r>
              <a:rPr lang="zh-CN" altLang="en-US" sz="2400" dirty="0">
                <a:latin typeface="宋体" charset="0"/>
              </a:rPr>
              <a:t>成结构简单的关系，从而把</a:t>
            </a:r>
            <a:r>
              <a:rPr lang="zh-CN" altLang="en-US" sz="2400" dirty="0"/>
              <a:t>“</a:t>
            </a:r>
            <a:r>
              <a:rPr lang="zh-CN" altLang="en-US" sz="2400" dirty="0">
                <a:latin typeface="宋体" charset="0"/>
              </a:rPr>
              <a:t>不好</a:t>
            </a:r>
            <a:r>
              <a:rPr lang="zh-CN" altLang="en-US" sz="2400" dirty="0"/>
              <a:t>”</a:t>
            </a:r>
            <a:r>
              <a:rPr lang="zh-CN" altLang="en-US" sz="2400" dirty="0">
                <a:latin typeface="宋体" charset="0"/>
              </a:rPr>
              <a:t>的关系数据库模式转变为</a:t>
            </a:r>
            <a:r>
              <a:rPr lang="zh-CN" altLang="en-US" sz="2400" dirty="0"/>
              <a:t>“</a:t>
            </a:r>
            <a:r>
              <a:rPr lang="zh-CN" altLang="en-US" sz="2400" dirty="0">
                <a:latin typeface="宋体" charset="0"/>
              </a:rPr>
              <a:t>好</a:t>
            </a:r>
            <a:r>
              <a:rPr lang="zh-CN" altLang="en-US" sz="2400" dirty="0"/>
              <a:t>”</a:t>
            </a:r>
            <a:r>
              <a:rPr lang="zh-CN" altLang="en-US" sz="2400" dirty="0">
                <a:latin typeface="宋体" charset="0"/>
              </a:rPr>
              <a:t>的关系数据库模式，这就是</a:t>
            </a:r>
            <a:r>
              <a:rPr lang="zh-CN" altLang="en-US" sz="2400" dirty="0">
                <a:solidFill>
                  <a:srgbClr val="FF0000"/>
                </a:solidFill>
                <a:latin typeface="宋体" charset="0"/>
              </a:rPr>
              <a:t>关系的规范化</a:t>
            </a:r>
            <a:r>
              <a:rPr lang="zh-CN" altLang="en-US" sz="2400" dirty="0">
                <a:latin typeface="宋体" charset="0"/>
              </a:rPr>
              <a:t>。</a:t>
            </a:r>
          </a:p>
          <a:p>
            <a:pPr>
              <a:lnSpc>
                <a:spcPct val="110000"/>
              </a:lnSpc>
            </a:pPr>
            <a:r>
              <a:rPr lang="zh-CN" altLang="en-US" sz="2400" dirty="0">
                <a:latin typeface="宋体" charset="0"/>
              </a:rPr>
              <a:t>规范化又可以根据不同的要求而分成若干级别。</a:t>
            </a:r>
          </a:p>
          <a:p>
            <a:pPr>
              <a:lnSpc>
                <a:spcPct val="110000"/>
              </a:lnSpc>
            </a:pPr>
            <a:r>
              <a:rPr lang="zh-CN" altLang="en-US" sz="2400" dirty="0">
                <a:latin typeface="宋体" charset="0"/>
              </a:rPr>
              <a:t>数据库模式的好坏和关系中各属性间的依赖关系有关，因此，我们先讨论属性间的依赖关系，然后再讨论关系规范化理论。</a:t>
            </a:r>
          </a:p>
          <a:p>
            <a:pPr>
              <a:lnSpc>
                <a:spcPct val="110000"/>
              </a:lnSpc>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12</a:t>
            </a:fld>
            <a:endParaRPr lang="en-US" altLang="zh-CN"/>
          </a:p>
        </p:txBody>
      </p:sp>
    </p:spTree>
    <p:extLst>
      <p:ext uri="{BB962C8B-B14F-4D97-AF65-F5344CB8AC3E}">
        <p14:creationId xmlns:p14="http://schemas.microsoft.com/office/powerpoint/2010/main" val="18598461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第六章  关系数据理论</a:t>
            </a:r>
            <a:endParaRPr lang="en-US" dirty="0"/>
          </a:p>
        </p:txBody>
      </p:sp>
      <p:sp>
        <p:nvSpPr>
          <p:cNvPr id="3" name="Content Placeholder 2"/>
          <p:cNvSpPr>
            <a:spLocks noGrp="1"/>
          </p:cNvSpPr>
          <p:nvPr>
            <p:ph idx="1"/>
          </p:nvPr>
        </p:nvSpPr>
        <p:spPr/>
        <p:txBody>
          <a:bodyPr/>
          <a:lstStyle/>
          <a:p>
            <a:pPr>
              <a:lnSpc>
                <a:spcPct val="130000"/>
              </a:lnSpc>
              <a:buNone/>
            </a:pPr>
            <a:r>
              <a:rPr lang="en-US" altLang="zh-CN" b="1" dirty="0" smtClean="0">
                <a:latin typeface="Arial Narrow" charset="0"/>
                <a:ea typeface="黑体" charset="0"/>
              </a:rPr>
              <a:t>6.1  </a:t>
            </a:r>
            <a:r>
              <a:rPr lang="zh-CN" altLang="en-US" b="1" dirty="0" smtClean="0">
                <a:latin typeface="Arial Narrow" charset="0"/>
                <a:ea typeface="黑体" charset="0"/>
              </a:rPr>
              <a:t>问题的提出</a:t>
            </a:r>
            <a:endParaRPr lang="en-US" altLang="zh-CN" b="1" dirty="0" smtClean="0">
              <a:latin typeface="Arial Narrow" charset="0"/>
              <a:ea typeface="黑体" charset="0"/>
            </a:endParaRPr>
          </a:p>
          <a:p>
            <a:pPr>
              <a:lnSpc>
                <a:spcPct val="150000"/>
              </a:lnSpc>
              <a:buNone/>
            </a:pPr>
            <a:r>
              <a:rPr lang="en-US" altLang="zh-CN" b="1" dirty="0">
                <a:solidFill>
                  <a:srgbClr val="0000FF"/>
                </a:solidFill>
              </a:rPr>
              <a:t>6.2 </a:t>
            </a:r>
            <a:r>
              <a:rPr lang="zh-CN" altLang="en-US" b="1" dirty="0">
                <a:solidFill>
                  <a:srgbClr val="0000FF"/>
                </a:solidFill>
              </a:rPr>
              <a:t>规范化</a:t>
            </a:r>
          </a:p>
          <a:p>
            <a:pPr>
              <a:lnSpc>
                <a:spcPct val="150000"/>
              </a:lnSpc>
              <a:buNone/>
            </a:pPr>
            <a:r>
              <a:rPr lang="en-US" altLang="zh-CN" b="1" dirty="0"/>
              <a:t>6.3 </a:t>
            </a:r>
            <a:r>
              <a:rPr lang="zh-CN" altLang="en-US" b="1" dirty="0"/>
              <a:t>数据依赖的公理系统</a:t>
            </a:r>
          </a:p>
          <a:p>
            <a:pPr>
              <a:lnSpc>
                <a:spcPct val="150000"/>
              </a:lnSpc>
              <a:buNone/>
            </a:pPr>
            <a:r>
              <a:rPr lang="zh-CN" altLang="en-US" b="1" dirty="0"/>
              <a:t>*</a:t>
            </a:r>
            <a:r>
              <a:rPr lang="en-US" altLang="zh-CN" b="1" dirty="0"/>
              <a:t>6.4 </a:t>
            </a:r>
            <a:r>
              <a:rPr lang="zh-CN" altLang="en-US" b="1" dirty="0"/>
              <a:t>模式的分解</a:t>
            </a:r>
          </a:p>
          <a:p>
            <a:pPr>
              <a:lnSpc>
                <a:spcPct val="150000"/>
              </a:lnSpc>
              <a:buNone/>
            </a:pPr>
            <a:r>
              <a:rPr lang="en-US" altLang="zh-CN" b="1" dirty="0"/>
              <a:t>6.5 </a:t>
            </a:r>
            <a:r>
              <a:rPr lang="zh-CN" altLang="en-US" b="1" dirty="0"/>
              <a:t>小结</a:t>
            </a:r>
          </a:p>
          <a:p>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13</a:t>
            </a:fld>
            <a:endParaRPr lang="en-US" altLang="zh-CN"/>
          </a:p>
        </p:txBody>
      </p:sp>
    </p:spTree>
    <p:extLst>
      <p:ext uri="{BB962C8B-B14F-4D97-AF65-F5344CB8AC3E}">
        <p14:creationId xmlns:p14="http://schemas.microsoft.com/office/powerpoint/2010/main" val="270903214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6.2.1 </a:t>
            </a:r>
            <a:r>
              <a:rPr lang="zh-CN" altLang="en-US" dirty="0" smtClean="0"/>
              <a:t>函数依赖</a:t>
            </a:r>
            <a:endParaRPr lang="en-US" dirty="0"/>
          </a:p>
        </p:txBody>
      </p:sp>
      <p:sp>
        <p:nvSpPr>
          <p:cNvPr id="3" name="Content Placeholder 2"/>
          <p:cNvSpPr>
            <a:spLocks noGrp="1"/>
          </p:cNvSpPr>
          <p:nvPr>
            <p:ph idx="1"/>
          </p:nvPr>
        </p:nvSpPr>
        <p:spPr>
          <a:xfrm>
            <a:off x="622298" y="908720"/>
            <a:ext cx="8119533" cy="5547113"/>
          </a:xfrm>
        </p:spPr>
        <p:txBody>
          <a:bodyPr/>
          <a:lstStyle/>
          <a:p>
            <a:pPr lvl="1">
              <a:buClr>
                <a:srgbClr val="0000FF"/>
              </a:buClr>
              <a:buSzPct val="90000"/>
            </a:pPr>
            <a:endParaRPr lang="en-US" altLang="zh-CN" sz="1000" dirty="0">
              <a:solidFill>
                <a:srgbClr val="0000FF"/>
              </a:solidFill>
            </a:endParaRPr>
          </a:p>
          <a:p>
            <a:pPr>
              <a:buNone/>
            </a:pPr>
            <a:r>
              <a:rPr lang="zh-CN" altLang="en-US" sz="2400" dirty="0">
                <a:solidFill>
                  <a:srgbClr val="FF0000"/>
                </a:solidFill>
              </a:rPr>
              <a:t>定义</a:t>
            </a:r>
            <a:r>
              <a:rPr lang="en-US" altLang="zh-CN" sz="2400" dirty="0">
                <a:solidFill>
                  <a:srgbClr val="FF0000"/>
                </a:solidFill>
              </a:rPr>
              <a:t>6.1</a:t>
            </a:r>
            <a:r>
              <a:rPr lang="en-US" altLang="zh-CN" sz="2400" dirty="0"/>
              <a:t>   </a:t>
            </a:r>
            <a:r>
              <a:rPr lang="zh-CN" altLang="en-US" sz="2400" dirty="0"/>
              <a:t>设</a:t>
            </a:r>
            <a:r>
              <a:rPr lang="en-US" altLang="zh-CN" sz="2400" dirty="0"/>
              <a:t>R(U)</a:t>
            </a:r>
            <a:r>
              <a:rPr lang="zh-CN" altLang="en-US" sz="2400" dirty="0"/>
              <a:t>是一个属性集</a:t>
            </a:r>
            <a:r>
              <a:rPr lang="en-US" altLang="zh-CN" sz="2400" dirty="0"/>
              <a:t>U</a:t>
            </a:r>
            <a:r>
              <a:rPr lang="zh-CN" altLang="en-US" sz="2400" dirty="0"/>
              <a:t>上的关系模式，</a:t>
            </a:r>
            <a:r>
              <a:rPr lang="en-US" altLang="zh-CN" sz="2400" dirty="0"/>
              <a:t>X , Y </a:t>
            </a:r>
            <a:r>
              <a:rPr lang="en-US" altLang="zh-CN" sz="2400" dirty="0">
                <a:sym typeface="Symbol" charset="0"/>
              </a:rPr>
              <a:t> U</a:t>
            </a:r>
            <a:r>
              <a:rPr lang="zh-CN" altLang="en-US" sz="2400" dirty="0">
                <a:sym typeface="Symbol" charset="0"/>
              </a:rPr>
              <a:t>， </a:t>
            </a:r>
            <a:r>
              <a:rPr lang="en-US" altLang="zh-CN" sz="2400" dirty="0">
                <a:sym typeface="Symbol" charset="0"/>
              </a:rPr>
              <a:t>r</a:t>
            </a:r>
            <a:r>
              <a:rPr lang="zh-CN" altLang="en-US" sz="2400" dirty="0">
                <a:sym typeface="Symbol" charset="0"/>
              </a:rPr>
              <a:t>是</a:t>
            </a:r>
            <a:r>
              <a:rPr lang="en-US" altLang="zh-CN" sz="2400" dirty="0"/>
              <a:t>R(U)</a:t>
            </a:r>
            <a:r>
              <a:rPr lang="en-US" altLang="zh-CN" sz="2400" dirty="0">
                <a:sym typeface="Symbol" charset="0"/>
              </a:rPr>
              <a:t> </a:t>
            </a:r>
            <a:r>
              <a:rPr lang="zh-CN" altLang="en-US" sz="2400" dirty="0">
                <a:sym typeface="Symbol" charset="0"/>
              </a:rPr>
              <a:t>上的任意一个关系，如果成立</a:t>
            </a:r>
          </a:p>
          <a:p>
            <a:pPr>
              <a:buNone/>
            </a:pPr>
            <a:r>
              <a:rPr lang="zh-CN" altLang="en-US" sz="2400" dirty="0">
                <a:solidFill>
                  <a:schemeClr val="accent2"/>
                </a:solidFill>
                <a:effectLst>
                  <a:outerShdw blurRad="38100" dist="38100" dir="2700000" algn="tl">
                    <a:srgbClr val="DDDDDD"/>
                  </a:outerShdw>
                </a:effectLst>
                <a:sym typeface="Symbol" charset="0"/>
              </a:rPr>
              <a:t>		</a:t>
            </a:r>
            <a:r>
              <a:rPr lang="zh-CN" altLang="en-US" sz="2400" dirty="0">
                <a:solidFill>
                  <a:srgbClr val="0000FF"/>
                </a:solidFill>
                <a:effectLst>
                  <a:outerShdw blurRad="38100" dist="38100" dir="2700000" algn="tl">
                    <a:srgbClr val="DDDDDD"/>
                  </a:outerShdw>
                </a:effectLst>
                <a:sym typeface="Symbol" charset="0"/>
              </a:rPr>
              <a:t>对</a:t>
            </a:r>
            <a:r>
              <a:rPr lang="en-US" altLang="zh-CN" sz="2400" dirty="0">
                <a:solidFill>
                  <a:srgbClr val="0000FF"/>
                </a:solidFill>
                <a:effectLst>
                  <a:outerShdw blurRad="38100" dist="38100" dir="2700000" algn="tl">
                    <a:srgbClr val="DDDDDD"/>
                  </a:outerShdw>
                </a:effectLst>
                <a:sym typeface="Symbol" charset="0"/>
              </a:rPr>
              <a:t>t</a:t>
            </a:r>
            <a:r>
              <a:rPr lang="en-US" altLang="zh-CN" sz="2400" dirty="0">
                <a:solidFill>
                  <a:srgbClr val="0000FF"/>
                </a:solidFill>
                <a:effectLst>
                  <a:outerShdw blurRad="38100" dist="38100" dir="2700000" algn="tl">
                    <a:srgbClr val="DDDDDD"/>
                  </a:outerShdw>
                </a:effectLst>
              </a:rPr>
              <a:t> , </a:t>
            </a:r>
            <a:r>
              <a:rPr lang="en-US" altLang="zh-CN" sz="2400" dirty="0">
                <a:solidFill>
                  <a:srgbClr val="0000FF"/>
                </a:solidFill>
                <a:effectLst>
                  <a:outerShdw blurRad="38100" dist="38100" dir="2700000" algn="tl">
                    <a:srgbClr val="DDDDDD"/>
                  </a:outerShdw>
                </a:effectLst>
                <a:sym typeface="Symbol" charset="0"/>
              </a:rPr>
              <a:t>s  r</a:t>
            </a:r>
            <a:r>
              <a:rPr lang="zh-CN" altLang="en-US" sz="2400" dirty="0">
                <a:solidFill>
                  <a:srgbClr val="0000FF"/>
                </a:solidFill>
                <a:effectLst>
                  <a:outerShdw blurRad="38100" dist="38100" dir="2700000" algn="tl">
                    <a:srgbClr val="DDDDDD"/>
                  </a:outerShdw>
                </a:effectLst>
                <a:sym typeface="Symbol" charset="0"/>
              </a:rPr>
              <a:t>，若</a:t>
            </a:r>
            <a:r>
              <a:rPr lang="en-US" altLang="zh-CN" sz="2400" dirty="0">
                <a:solidFill>
                  <a:srgbClr val="0000FF"/>
                </a:solidFill>
                <a:effectLst>
                  <a:outerShdw blurRad="38100" dist="38100" dir="2700000" algn="tl">
                    <a:srgbClr val="DDDDDD"/>
                  </a:outerShdw>
                </a:effectLst>
                <a:sym typeface="Symbol" charset="0"/>
              </a:rPr>
              <a:t>t[X] = s[X]</a:t>
            </a:r>
            <a:r>
              <a:rPr lang="zh-CN" altLang="en-US" sz="2400" dirty="0">
                <a:solidFill>
                  <a:srgbClr val="0000FF"/>
                </a:solidFill>
                <a:effectLst>
                  <a:outerShdw blurRad="38100" dist="38100" dir="2700000" algn="tl">
                    <a:srgbClr val="DDDDDD"/>
                  </a:outerShdw>
                </a:effectLst>
                <a:sym typeface="Symbol" charset="0"/>
              </a:rPr>
              <a:t>，则</a:t>
            </a:r>
            <a:r>
              <a:rPr lang="en-US" altLang="zh-CN" sz="2400" dirty="0">
                <a:solidFill>
                  <a:srgbClr val="0000FF"/>
                </a:solidFill>
                <a:effectLst>
                  <a:outerShdw blurRad="38100" dist="38100" dir="2700000" algn="tl">
                    <a:srgbClr val="DDDDDD"/>
                  </a:outerShdw>
                </a:effectLst>
                <a:sym typeface="Symbol" charset="0"/>
              </a:rPr>
              <a:t>t[Y] = s[Y]</a:t>
            </a:r>
          </a:p>
          <a:p>
            <a:pPr>
              <a:buNone/>
            </a:pPr>
            <a:r>
              <a:rPr lang="en-US" altLang="zh-CN" sz="2400" dirty="0"/>
              <a:t>  </a:t>
            </a:r>
            <a:r>
              <a:rPr lang="zh-CN" altLang="en-US" sz="2400" dirty="0" smtClean="0"/>
              <a:t>则称 </a:t>
            </a:r>
            <a:r>
              <a:rPr lang="zh-CN" altLang="en-US" sz="2400" dirty="0"/>
              <a:t>“</a:t>
            </a:r>
            <a:r>
              <a:rPr lang="en-US" altLang="zh-CN" sz="2400" dirty="0">
                <a:solidFill>
                  <a:srgbClr val="FF0000"/>
                </a:solidFill>
              </a:rPr>
              <a:t>X</a:t>
            </a:r>
            <a:r>
              <a:rPr lang="zh-CN" altLang="en-US" sz="2400" dirty="0">
                <a:solidFill>
                  <a:srgbClr val="FF0000"/>
                </a:solidFill>
              </a:rPr>
              <a:t>函数确定</a:t>
            </a:r>
            <a:r>
              <a:rPr lang="en-US" altLang="zh-CN" sz="2400" dirty="0">
                <a:solidFill>
                  <a:srgbClr val="FF0000"/>
                </a:solidFill>
              </a:rPr>
              <a:t>Y</a:t>
            </a:r>
            <a:r>
              <a:rPr lang="en-US" altLang="zh-CN" sz="2400" dirty="0"/>
              <a:t>” </a:t>
            </a:r>
            <a:r>
              <a:rPr lang="zh-CN" altLang="en-US" sz="2400" dirty="0"/>
              <a:t>或  “</a:t>
            </a:r>
            <a:r>
              <a:rPr lang="en-US" altLang="zh-CN" sz="2400" dirty="0">
                <a:solidFill>
                  <a:srgbClr val="FF0000"/>
                </a:solidFill>
              </a:rPr>
              <a:t>Y</a:t>
            </a:r>
            <a:r>
              <a:rPr lang="zh-CN" altLang="en-US" sz="2400" dirty="0">
                <a:solidFill>
                  <a:srgbClr val="FF0000"/>
                </a:solidFill>
              </a:rPr>
              <a:t>函数依赖于</a:t>
            </a:r>
            <a:r>
              <a:rPr lang="en-US" altLang="zh-CN" sz="2400" dirty="0">
                <a:solidFill>
                  <a:srgbClr val="FF0000"/>
                </a:solidFill>
              </a:rPr>
              <a:t>X</a:t>
            </a:r>
            <a:r>
              <a:rPr lang="en-US" altLang="zh-CN" sz="2400" dirty="0"/>
              <a:t>”</a:t>
            </a:r>
            <a:r>
              <a:rPr lang="zh-CN" altLang="en-US" sz="2400" dirty="0"/>
              <a:t>，记作</a:t>
            </a:r>
            <a:r>
              <a:rPr lang="en-US" altLang="zh-CN" sz="2400" dirty="0">
                <a:solidFill>
                  <a:srgbClr val="FF0000"/>
                </a:solidFill>
              </a:rPr>
              <a:t>X→Y</a:t>
            </a:r>
            <a:r>
              <a:rPr lang="zh-CN" altLang="en-US" sz="2400" dirty="0"/>
              <a:t>。</a:t>
            </a:r>
            <a:r>
              <a:rPr lang="en-US" altLang="zh-CN" sz="2400" dirty="0"/>
              <a:t>(</a:t>
            </a:r>
            <a:r>
              <a:rPr lang="zh-CN" altLang="en-US" sz="2400" dirty="0"/>
              <a:t>或不存在</a:t>
            </a:r>
            <a:r>
              <a:rPr lang="en-US" altLang="zh-CN" sz="2400" dirty="0" err="1"/>
              <a:t>t,s</a:t>
            </a:r>
            <a:r>
              <a:rPr lang="en-US" altLang="zh-CN" sz="2400" dirty="0"/>
              <a:t>, t[X]=s[X]</a:t>
            </a:r>
            <a:r>
              <a:rPr lang="zh-CN" altLang="en-US" sz="2400" dirty="0"/>
              <a:t>而</a:t>
            </a:r>
            <a:r>
              <a:rPr lang="en-US" altLang="zh-CN" sz="2400" dirty="0"/>
              <a:t>t[Y]&lt;&gt;s[</a:t>
            </a:r>
            <a:r>
              <a:rPr lang="en-US" altLang="zh-CN" sz="2400" dirty="0" smtClean="0"/>
              <a:t>Y]</a:t>
            </a:r>
            <a:r>
              <a:rPr lang="zh-CN" altLang="en-US" sz="2400" dirty="0" smtClean="0"/>
              <a:t>，</a:t>
            </a:r>
            <a:r>
              <a:rPr lang="en-US" altLang="zh-CN" sz="2400" dirty="0" smtClean="0"/>
              <a:t>……) </a:t>
            </a:r>
            <a:endParaRPr lang="en-US" altLang="zh-CN" sz="2400" dirty="0"/>
          </a:p>
          <a:p>
            <a:pPr>
              <a:buNone/>
            </a:pPr>
            <a:r>
              <a:rPr lang="en-US" altLang="zh-CN" sz="2400" dirty="0"/>
              <a:t>   </a:t>
            </a:r>
            <a:endParaRPr lang="en-US" altLang="zh-CN" sz="2400" dirty="0" smtClean="0"/>
          </a:p>
          <a:p>
            <a:pPr>
              <a:buNone/>
            </a:pPr>
            <a:r>
              <a:rPr lang="en-US" altLang="zh-CN" sz="2400" dirty="0" smtClean="0"/>
              <a:t> </a:t>
            </a:r>
            <a:r>
              <a:rPr lang="en-US" altLang="zh-CN" sz="2400" dirty="0"/>
              <a:t>X</a:t>
            </a:r>
            <a:r>
              <a:rPr lang="zh-CN" altLang="en-US" sz="2400" dirty="0"/>
              <a:t>称为这个函数依赖的</a:t>
            </a:r>
            <a:r>
              <a:rPr lang="zh-CN" altLang="en-US" sz="2400" dirty="0">
                <a:solidFill>
                  <a:srgbClr val="FF0000"/>
                </a:solidFill>
              </a:rPr>
              <a:t>决定属性集</a:t>
            </a:r>
            <a:r>
              <a:rPr lang="en-US" altLang="zh-CN" sz="2400" dirty="0"/>
              <a:t>(Determinant)</a:t>
            </a:r>
            <a:r>
              <a:rPr lang="zh-CN" altLang="en-US" sz="2400" dirty="0"/>
              <a:t>。</a:t>
            </a:r>
          </a:p>
          <a:p>
            <a:pPr>
              <a:buNone/>
            </a:pPr>
            <a:r>
              <a:rPr lang="zh-CN" altLang="en-US" sz="2400" i="1" dirty="0"/>
              <a:t>           </a:t>
            </a:r>
            <a:r>
              <a:rPr lang="en-US" altLang="zh-CN" sz="2400" i="1" dirty="0"/>
              <a:t>Y = f(x</a:t>
            </a:r>
            <a:r>
              <a:rPr lang="en-US" altLang="zh-CN" sz="2400" i="1" dirty="0" smtClean="0"/>
              <a:t>)</a:t>
            </a:r>
          </a:p>
          <a:p>
            <a:pPr>
              <a:buNone/>
            </a:pPr>
            <a:r>
              <a:rPr lang="en-US" altLang="zh-CN" sz="2400" dirty="0" smtClean="0"/>
              <a:t> </a:t>
            </a:r>
            <a:r>
              <a:rPr lang="zh-CN" altLang="en-US" sz="2400" dirty="0" smtClean="0"/>
              <a:t>若</a:t>
            </a:r>
            <a:r>
              <a:rPr lang="en-US" altLang="zh-CN" sz="2400" dirty="0" smtClean="0"/>
              <a:t>Y</a:t>
            </a:r>
            <a:r>
              <a:rPr lang="zh-CN" altLang="en-US" sz="2400" dirty="0"/>
              <a:t>不函数依赖于</a:t>
            </a:r>
            <a:r>
              <a:rPr lang="en-US" altLang="zh-CN" sz="2400" dirty="0"/>
              <a:t>X,   </a:t>
            </a:r>
            <a:r>
              <a:rPr lang="zh-CN" altLang="en-US" sz="2400" dirty="0"/>
              <a:t>则记为</a:t>
            </a:r>
            <a:r>
              <a:rPr lang="en-US" altLang="zh-CN" sz="2400" dirty="0" smtClean="0">
                <a:solidFill>
                  <a:srgbClr val="FF0000"/>
                </a:solidFill>
              </a:rPr>
              <a:t>X→</a:t>
            </a:r>
            <a:r>
              <a:rPr lang="en-US" altLang="zh-CN" sz="2400" dirty="0">
                <a:solidFill>
                  <a:srgbClr val="FF0000"/>
                </a:solidFill>
              </a:rPr>
              <a:t>Y</a:t>
            </a:r>
            <a:r>
              <a:rPr lang="zh-CN" altLang="en-US" sz="2400" dirty="0"/>
              <a:t>。</a:t>
            </a:r>
            <a:endParaRPr lang="en-US" altLang="zh-CN" sz="2400" i="1" dirty="0"/>
          </a:p>
          <a:p>
            <a:pPr>
              <a:buClr>
                <a:srgbClr val="0000FF"/>
              </a:buClr>
              <a:buSzPct val="90000"/>
            </a:pPr>
            <a:endParaRPr lang="zh-CN" altLang="en-US" sz="2400" dirty="0">
              <a:solidFill>
                <a:srgbClr val="0000FF"/>
              </a:solidFill>
            </a:endParaRP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14</a:t>
            </a:fld>
            <a:endParaRPr lang="en-US" altLang="zh-CN"/>
          </a:p>
        </p:txBody>
      </p:sp>
      <p:cxnSp>
        <p:nvCxnSpPr>
          <p:cNvPr id="10" name="Straight Connector 9"/>
          <p:cNvCxnSpPr/>
          <p:nvPr/>
        </p:nvCxnSpPr>
        <p:spPr>
          <a:xfrm flipH="1">
            <a:off x="4704227" y="4601523"/>
            <a:ext cx="105833" cy="33866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2722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linds(horizontal)">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6.2.1 </a:t>
            </a:r>
            <a:r>
              <a:rPr lang="zh-CN" altLang="en-US" dirty="0"/>
              <a:t>函数依赖</a:t>
            </a:r>
            <a:endParaRPr lang="en-US" dirty="0"/>
          </a:p>
        </p:txBody>
      </p:sp>
      <p:sp>
        <p:nvSpPr>
          <p:cNvPr id="3" name="Content Placeholder 2"/>
          <p:cNvSpPr>
            <a:spLocks noGrp="1"/>
          </p:cNvSpPr>
          <p:nvPr>
            <p:ph idx="1"/>
          </p:nvPr>
        </p:nvSpPr>
        <p:spPr>
          <a:xfrm>
            <a:off x="504825" y="908720"/>
            <a:ext cx="8458200" cy="5263481"/>
          </a:xfrm>
        </p:spPr>
        <p:txBody>
          <a:bodyPr/>
          <a:lstStyle/>
          <a:p>
            <a:pPr marL="0" indent="0">
              <a:buNone/>
            </a:pPr>
            <a:r>
              <a:rPr lang="zh-CN" altLang="en-US" sz="2400" dirty="0">
                <a:solidFill>
                  <a:srgbClr val="000090"/>
                </a:solidFill>
                <a:effectLst>
                  <a:outerShdw blurRad="38100" dist="38100" dir="2700000" algn="tl">
                    <a:srgbClr val="000000"/>
                  </a:outerShdw>
                </a:effectLst>
              </a:rPr>
              <a:t>有关函数依赖的几点说明</a:t>
            </a:r>
            <a:r>
              <a:rPr lang="zh-CN" altLang="en-US" sz="2400" dirty="0" smtClean="0">
                <a:solidFill>
                  <a:srgbClr val="000090"/>
                </a:solidFill>
                <a:effectLst>
                  <a:outerShdw blurRad="38100" dist="38100" dir="2700000" algn="tl">
                    <a:srgbClr val="000000"/>
                  </a:outerShdw>
                </a:effectLst>
              </a:rPr>
              <a:t>：</a:t>
            </a:r>
            <a:endParaRPr lang="en-US" altLang="zh-CN" sz="2400" dirty="0" smtClean="0">
              <a:solidFill>
                <a:srgbClr val="000090"/>
              </a:solidFill>
              <a:effectLst>
                <a:outerShdw blurRad="38100" dist="38100" dir="2700000" algn="tl">
                  <a:srgbClr val="000000"/>
                </a:outerShdw>
              </a:effectLst>
            </a:endParaRPr>
          </a:p>
          <a:p>
            <a:pPr marL="0" indent="0">
              <a:buNone/>
            </a:pPr>
            <a:endParaRPr lang="zh-CN" altLang="en-US" sz="1000" dirty="0">
              <a:effectLst>
                <a:outerShdw blurRad="38100" dist="38100" dir="2700000" algn="tl">
                  <a:srgbClr val="000000"/>
                </a:outerShdw>
              </a:effectLst>
            </a:endParaRPr>
          </a:p>
          <a:p>
            <a:pPr marL="0" indent="0">
              <a:buNone/>
            </a:pPr>
            <a:r>
              <a:rPr lang="en-US" altLang="zh-CN" sz="2400" dirty="0" smtClean="0"/>
              <a:t>1</a:t>
            </a:r>
            <a:r>
              <a:rPr lang="zh-CN" altLang="en-US" sz="2400" dirty="0" smtClean="0"/>
              <a:t>）函数依赖不是指关</a:t>
            </a:r>
            <a:r>
              <a:rPr lang="zh-CN" altLang="en-US" sz="2400" dirty="0"/>
              <a:t>系模式</a:t>
            </a:r>
            <a:r>
              <a:rPr lang="en-US" altLang="zh-CN" sz="2400" dirty="0"/>
              <a:t>R</a:t>
            </a:r>
            <a:r>
              <a:rPr lang="zh-CN" altLang="en-US" sz="2400" dirty="0"/>
              <a:t>的某个或某些关系实例满足的约束条件，而是指</a:t>
            </a:r>
            <a:r>
              <a:rPr lang="en-US" altLang="zh-CN" sz="2400" dirty="0"/>
              <a:t>R</a:t>
            </a:r>
            <a:r>
              <a:rPr lang="zh-CN" altLang="en-US" sz="2400" dirty="0"/>
              <a:t>的所有关系实例</a:t>
            </a:r>
            <a:r>
              <a:rPr lang="zh-CN" altLang="en-US" sz="2400" dirty="0">
                <a:solidFill>
                  <a:srgbClr val="FF0000"/>
                </a:solidFill>
              </a:rPr>
              <a:t>均</a:t>
            </a:r>
            <a:r>
              <a:rPr lang="zh-CN" altLang="en-US" sz="2400" dirty="0"/>
              <a:t>要满足的约束条件。</a:t>
            </a:r>
            <a:endParaRPr lang="zh-CN" altLang="en-US" sz="2400" dirty="0">
              <a:latin typeface="宋体" charset="0"/>
            </a:endParaRPr>
          </a:p>
          <a:p>
            <a:pPr marL="0" indent="0">
              <a:buNone/>
            </a:pPr>
            <a:endParaRPr lang="en-US" altLang="zh-CN" sz="1000" dirty="0" smtClean="0">
              <a:solidFill>
                <a:srgbClr val="0000FF"/>
              </a:solidFill>
            </a:endParaRPr>
          </a:p>
          <a:p>
            <a:pPr marL="0" indent="0">
              <a:buNone/>
            </a:pPr>
            <a:r>
              <a:rPr lang="en-US" altLang="zh-CN" sz="2400" dirty="0" smtClean="0"/>
              <a:t>2</a:t>
            </a:r>
            <a:r>
              <a:rPr lang="zh-CN" altLang="en-US" sz="2400" dirty="0" smtClean="0"/>
              <a:t>）函数依赖是</a:t>
            </a:r>
            <a:r>
              <a:rPr lang="zh-CN" altLang="en-US" sz="2400" dirty="0" smtClean="0">
                <a:solidFill>
                  <a:srgbClr val="FF0000"/>
                </a:solidFill>
              </a:rPr>
              <a:t>语义范畴</a:t>
            </a:r>
            <a:r>
              <a:rPr lang="zh-CN" altLang="en-US" sz="2400" dirty="0"/>
              <a:t>的</a:t>
            </a:r>
            <a:r>
              <a:rPr lang="zh-CN" altLang="en-US" sz="2400" dirty="0" smtClean="0"/>
              <a:t>概念</a:t>
            </a:r>
            <a:endParaRPr lang="en-US" altLang="zh-CN" sz="2400" dirty="0" smtClean="0"/>
          </a:p>
          <a:p>
            <a:pPr lvl="1" indent="0">
              <a:buSzPct val="70000"/>
              <a:buNone/>
            </a:pPr>
            <a:r>
              <a:rPr lang="zh-CN" altLang="en-US" dirty="0"/>
              <a:t>只能根据语义来确定一个函数依赖，而不能按照其形式化定义来证明一个函数依赖是否成立。</a:t>
            </a:r>
          </a:p>
          <a:p>
            <a:pPr lvl="1" indent="0">
              <a:buSzPct val="70000"/>
              <a:buNone/>
            </a:pPr>
            <a:r>
              <a:rPr lang="zh-CN" altLang="en-US" dirty="0">
                <a:solidFill>
                  <a:srgbClr val="000090"/>
                </a:solidFill>
              </a:rPr>
              <a:t>例：</a:t>
            </a:r>
            <a:r>
              <a:rPr lang="zh-CN" altLang="en-US" dirty="0"/>
              <a:t>对于关系模式</a:t>
            </a:r>
            <a:r>
              <a:rPr lang="en-US" altLang="zh-CN" dirty="0"/>
              <a:t>S</a:t>
            </a:r>
            <a:r>
              <a:rPr lang="zh-CN" altLang="en-US" dirty="0"/>
              <a:t>，当学生不存在重名的情况下，可以得</a:t>
            </a:r>
            <a:r>
              <a:rPr lang="zh-CN" altLang="en-US" dirty="0" smtClean="0"/>
              <a:t>到：</a:t>
            </a:r>
            <a:endParaRPr lang="en-US" altLang="zh-CN" dirty="0" smtClean="0"/>
          </a:p>
          <a:p>
            <a:pPr lvl="1" indent="0">
              <a:buSzPct val="70000"/>
              <a:buNone/>
            </a:pPr>
            <a:r>
              <a:rPr lang="en-US" altLang="zh-CN" dirty="0"/>
              <a:t> </a:t>
            </a:r>
            <a:r>
              <a:rPr lang="en-US" altLang="zh-CN" dirty="0" smtClean="0"/>
              <a:t>       </a:t>
            </a:r>
            <a:r>
              <a:rPr lang="zh-CN" altLang="en-US" dirty="0" smtClean="0"/>
              <a:t> </a:t>
            </a:r>
            <a:r>
              <a:rPr lang="zh-CN" altLang="en-US" dirty="0">
                <a:solidFill>
                  <a:srgbClr val="FF0066"/>
                </a:solidFill>
                <a:effectLst>
                  <a:outerShdw blurRad="38100" dist="38100" dir="2700000" algn="tl">
                    <a:srgbClr val="000000"/>
                  </a:outerShdw>
                </a:effectLst>
              </a:rPr>
              <a:t>姓名→年龄</a:t>
            </a:r>
            <a:r>
              <a:rPr lang="zh-CN" altLang="en-US" dirty="0">
                <a:solidFill>
                  <a:srgbClr val="6600FF"/>
                </a:solidFill>
              </a:rPr>
              <a:t> </a:t>
            </a:r>
            <a:r>
              <a:rPr lang="zh-CN" altLang="en-US" dirty="0"/>
              <a:t>或</a:t>
            </a:r>
            <a:r>
              <a:rPr lang="zh-CN" altLang="en-US" dirty="0">
                <a:solidFill>
                  <a:srgbClr val="6600FF"/>
                </a:solidFill>
              </a:rPr>
              <a:t> </a:t>
            </a:r>
            <a:r>
              <a:rPr lang="zh-CN" altLang="en-US" dirty="0">
                <a:solidFill>
                  <a:srgbClr val="FF0066"/>
                </a:solidFill>
                <a:effectLst>
                  <a:outerShdw blurRad="38100" dist="38100" dir="2700000" algn="tl">
                    <a:srgbClr val="000000"/>
                  </a:outerShdw>
                </a:effectLst>
              </a:rPr>
              <a:t>姓名→性别</a:t>
            </a:r>
            <a:r>
              <a:rPr lang="zh-CN" altLang="en-US" dirty="0" smtClean="0"/>
              <a:t>。</a:t>
            </a:r>
            <a:endParaRPr lang="en-US" altLang="zh-CN" dirty="0" smtClean="0"/>
          </a:p>
          <a:p>
            <a:pPr lvl="1" indent="0">
              <a:buSzPct val="70000"/>
              <a:buNone/>
            </a:pPr>
            <a:r>
              <a:rPr lang="zh-CN" altLang="en-US" dirty="0" smtClean="0"/>
              <a:t>函数依赖反映了一种语义</a:t>
            </a:r>
            <a:r>
              <a:rPr lang="zh-CN" altLang="en-US" dirty="0"/>
              <a:t>完整性约束。</a:t>
            </a:r>
            <a:endParaRPr lang="en-US" altLang="zh-CN" dirty="0"/>
          </a:p>
          <a:p>
            <a:pPr marL="0" indent="0">
              <a:buNone/>
            </a:pPr>
            <a:endParaRPr lang="en-US" altLang="zh-CN" sz="1000" dirty="0" smtClean="0">
              <a:solidFill>
                <a:srgbClr val="0000FF"/>
              </a:solidFill>
            </a:endParaRPr>
          </a:p>
          <a:p>
            <a:pPr marL="0" indent="0">
              <a:buNone/>
            </a:pPr>
            <a:endParaRPr lang="zh-CN" altLang="en-US" sz="2400" dirty="0">
              <a:solidFill>
                <a:srgbClr val="0000FF"/>
              </a:solidFill>
            </a:endParaRPr>
          </a:p>
          <a:p>
            <a:pPr indent="0">
              <a:buSzPct val="70000"/>
              <a:buNone/>
            </a:pPr>
            <a:r>
              <a:rPr lang="zh-CN" altLang="en-US" dirty="0" smtClean="0"/>
              <a:t> </a:t>
            </a:r>
            <a:endParaRPr lang="zh-CN" alt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15</a:t>
            </a:fld>
            <a:endParaRPr lang="en-US" altLang="zh-CN"/>
          </a:p>
        </p:txBody>
      </p:sp>
    </p:spTree>
    <p:extLst>
      <p:ext uri="{BB962C8B-B14F-4D97-AF65-F5344CB8AC3E}">
        <p14:creationId xmlns:p14="http://schemas.microsoft.com/office/powerpoint/2010/main" val="21675872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linds(horizontal)">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6.2.1 </a:t>
            </a:r>
            <a:r>
              <a:rPr lang="zh-CN" altLang="en-US" dirty="0"/>
              <a:t>函数依赖</a:t>
            </a:r>
            <a:endParaRPr lang="en-US" dirty="0"/>
          </a:p>
        </p:txBody>
      </p:sp>
      <p:sp>
        <p:nvSpPr>
          <p:cNvPr id="3" name="Content Placeholder 2"/>
          <p:cNvSpPr>
            <a:spLocks noGrp="1"/>
          </p:cNvSpPr>
          <p:nvPr>
            <p:ph idx="1"/>
          </p:nvPr>
        </p:nvSpPr>
        <p:spPr/>
        <p:txBody>
          <a:bodyPr/>
          <a:lstStyle/>
          <a:p>
            <a:pPr marL="0" indent="0">
              <a:buClr>
                <a:schemeClr val="tx2"/>
              </a:buClr>
              <a:buSzPct val="90000"/>
              <a:buNone/>
            </a:pPr>
            <a:r>
              <a:rPr lang="zh-CN" altLang="en-US" sz="2400" dirty="0">
                <a:effectLst>
                  <a:outerShdw blurRad="38100" dist="38100" dir="2700000" algn="tl">
                    <a:srgbClr val="000000"/>
                  </a:outerShdw>
                </a:effectLst>
              </a:rPr>
              <a:t>有关函数依赖的几点说明</a:t>
            </a:r>
            <a:r>
              <a:rPr lang="zh-CN" altLang="en-US" sz="2400" dirty="0" smtClean="0">
                <a:effectLst>
                  <a:outerShdw blurRad="38100" dist="38100" dir="2700000" algn="tl">
                    <a:srgbClr val="000000"/>
                  </a:outerShdw>
                </a:effectLst>
              </a:rPr>
              <a:t>：</a:t>
            </a:r>
            <a:endParaRPr lang="en-US" altLang="zh-CN" sz="1000" dirty="0">
              <a:latin typeface="+mn-lt"/>
              <a:ea typeface="Heiti SC Light"/>
              <a:cs typeface="Heiti SC Light"/>
            </a:endParaRPr>
          </a:p>
          <a:p>
            <a:pPr marL="0" indent="0">
              <a:buClr>
                <a:schemeClr val="tx2"/>
              </a:buClr>
              <a:buSzPct val="90000"/>
              <a:buNone/>
            </a:pPr>
            <a:r>
              <a:rPr lang="en-US" altLang="zh-CN" sz="2400" dirty="0" smtClean="0">
                <a:latin typeface="+mn-lt"/>
                <a:ea typeface="Heiti SC Light"/>
                <a:cs typeface="Heiti SC Light"/>
              </a:rPr>
              <a:t>3</a:t>
            </a:r>
            <a:r>
              <a:rPr lang="zh-CN" altLang="en-US" sz="2400" dirty="0" smtClean="0">
                <a:latin typeface="+mn-lt"/>
                <a:ea typeface="Heiti SC Light"/>
                <a:cs typeface="Heiti SC Light"/>
              </a:rPr>
              <a:t>）</a:t>
            </a:r>
            <a:r>
              <a:rPr lang="zh-CN" altLang="en-US" sz="2400" dirty="0" smtClean="0">
                <a:latin typeface="宋体" charset="0"/>
              </a:rPr>
              <a:t>函数依赖关</a:t>
            </a:r>
            <a:r>
              <a:rPr lang="zh-CN" altLang="en-US" sz="2400" dirty="0">
                <a:latin typeface="宋体" charset="0"/>
              </a:rPr>
              <a:t>系的存在</a:t>
            </a:r>
            <a:r>
              <a:rPr lang="zh-CN" altLang="en-US" sz="2400" dirty="0">
                <a:solidFill>
                  <a:srgbClr val="FF0000"/>
                </a:solidFill>
                <a:latin typeface="宋体" charset="0"/>
              </a:rPr>
              <a:t>与时间无关</a:t>
            </a:r>
            <a:r>
              <a:rPr lang="zh-CN" altLang="en-US" sz="2400" dirty="0" smtClean="0">
                <a:latin typeface="宋体" charset="0"/>
              </a:rPr>
              <a:t>。</a:t>
            </a:r>
            <a:endParaRPr lang="en-US" altLang="zh-CN" sz="1000" dirty="0" smtClean="0">
              <a:solidFill>
                <a:srgbClr val="0000FF"/>
              </a:solidFill>
              <a:latin typeface="+mn-lt"/>
            </a:endParaRPr>
          </a:p>
          <a:p>
            <a:pPr marL="0" indent="0">
              <a:buClr>
                <a:schemeClr val="tx2"/>
              </a:buClr>
              <a:buSzPct val="90000"/>
              <a:buNone/>
            </a:pPr>
            <a:r>
              <a:rPr lang="en-US" altLang="zh-CN" sz="2400" dirty="0" smtClean="0">
                <a:solidFill>
                  <a:srgbClr val="0000FF"/>
                </a:solidFill>
                <a:latin typeface="+mn-lt"/>
              </a:rPr>
              <a:t>4</a:t>
            </a:r>
            <a:r>
              <a:rPr lang="zh-CN" altLang="en-US" sz="2400" dirty="0" smtClean="0">
                <a:solidFill>
                  <a:srgbClr val="0000FF"/>
                </a:solidFill>
                <a:latin typeface="+mn-lt"/>
              </a:rPr>
              <a:t>）属性间联系与函数依赖</a:t>
            </a:r>
            <a:r>
              <a:rPr lang="zh-CN" altLang="en-US" sz="2400" dirty="0">
                <a:solidFill>
                  <a:srgbClr val="0000FF"/>
                </a:solidFill>
                <a:latin typeface="+mn-lt"/>
              </a:rPr>
              <a:t>的对应关系</a:t>
            </a:r>
          </a:p>
          <a:p>
            <a:pPr marL="525463" indent="-342900">
              <a:buSzPct val="70000"/>
            </a:pPr>
            <a:r>
              <a:rPr lang="en-US" altLang="zh-CN" sz="2400" dirty="0">
                <a:solidFill>
                  <a:srgbClr val="FF0066"/>
                </a:solidFill>
                <a:effectLst>
                  <a:outerShdw blurRad="38100" dist="38100" dir="2700000" algn="tl">
                    <a:srgbClr val="000000"/>
                  </a:outerShdw>
                </a:effectLst>
                <a:latin typeface="+mn-lt"/>
              </a:rPr>
              <a:t>1:1</a:t>
            </a:r>
            <a:r>
              <a:rPr lang="zh-CN" altLang="en-US" sz="2400" dirty="0">
                <a:solidFill>
                  <a:srgbClr val="FF0066"/>
                </a:solidFill>
                <a:effectLst>
                  <a:outerShdw blurRad="38100" dist="38100" dir="2700000" algn="tl">
                    <a:srgbClr val="000000"/>
                  </a:outerShdw>
                </a:effectLst>
                <a:latin typeface="+mn-lt"/>
              </a:rPr>
              <a:t>联系：</a:t>
            </a:r>
            <a:r>
              <a:rPr lang="zh-CN" altLang="en-US" sz="2400" dirty="0">
                <a:latin typeface="+mn-lt"/>
              </a:rPr>
              <a:t>存在函数依赖</a:t>
            </a:r>
            <a:r>
              <a:rPr lang="en-US" altLang="zh-CN" sz="2400" dirty="0">
                <a:latin typeface="+mn-lt"/>
              </a:rPr>
              <a:t>X→Y</a:t>
            </a:r>
            <a:r>
              <a:rPr lang="zh-CN" altLang="en-US" sz="2400" dirty="0">
                <a:latin typeface="+mn-lt"/>
              </a:rPr>
              <a:t>，且 </a:t>
            </a:r>
            <a:r>
              <a:rPr lang="en-US" altLang="zh-CN" sz="2400" dirty="0">
                <a:latin typeface="+mn-lt"/>
              </a:rPr>
              <a:t>Y→</a:t>
            </a:r>
            <a:r>
              <a:rPr lang="en-US" altLang="zh-CN" sz="2400" dirty="0" smtClean="0">
                <a:latin typeface="+mn-lt"/>
              </a:rPr>
              <a:t>X</a:t>
            </a:r>
            <a:r>
              <a:rPr lang="zh-CN" altLang="en-US" sz="2400" dirty="0">
                <a:latin typeface="+mn-lt"/>
              </a:rPr>
              <a:t>，即</a:t>
            </a:r>
            <a:r>
              <a:rPr lang="en-US" altLang="zh-CN" sz="2400" dirty="0">
                <a:latin typeface="+mn-lt"/>
              </a:rPr>
              <a:t>X←→Y</a:t>
            </a:r>
            <a:r>
              <a:rPr lang="zh-CN" altLang="en-US" sz="2400" dirty="0" smtClean="0">
                <a:latin typeface="+mn-lt"/>
              </a:rPr>
              <a:t>。</a:t>
            </a:r>
            <a:endParaRPr lang="en-US" altLang="zh-CN" sz="2400" dirty="0" smtClean="0">
              <a:latin typeface="+mn-lt"/>
            </a:endParaRPr>
          </a:p>
          <a:p>
            <a:pPr marL="525463" indent="-342900">
              <a:buSzPct val="70000"/>
            </a:pPr>
            <a:r>
              <a:rPr lang="en-US" altLang="zh-CN" sz="2400" dirty="0" smtClean="0">
                <a:solidFill>
                  <a:srgbClr val="FF0066"/>
                </a:solidFill>
                <a:effectLst>
                  <a:outerShdw blurRad="38100" dist="38100" dir="2700000" algn="tl">
                    <a:srgbClr val="000000"/>
                  </a:outerShdw>
                </a:effectLst>
                <a:latin typeface="+mn-lt"/>
              </a:rPr>
              <a:t>1</a:t>
            </a:r>
            <a:r>
              <a:rPr lang="en-US" altLang="zh-CN" sz="2400" dirty="0">
                <a:solidFill>
                  <a:srgbClr val="FF0066"/>
                </a:solidFill>
                <a:effectLst>
                  <a:outerShdw blurRad="38100" dist="38100" dir="2700000" algn="tl">
                    <a:srgbClr val="000000"/>
                  </a:outerShdw>
                </a:effectLst>
                <a:latin typeface="+mn-lt"/>
              </a:rPr>
              <a:t>:m</a:t>
            </a:r>
            <a:r>
              <a:rPr lang="zh-CN" altLang="en-US" sz="2400" dirty="0">
                <a:solidFill>
                  <a:srgbClr val="FF0066"/>
                </a:solidFill>
                <a:effectLst>
                  <a:outerShdw blurRad="38100" dist="38100" dir="2700000" algn="tl">
                    <a:srgbClr val="000000"/>
                  </a:outerShdw>
                </a:effectLst>
                <a:latin typeface="+mn-lt"/>
              </a:rPr>
              <a:t>联系：</a:t>
            </a:r>
            <a:r>
              <a:rPr lang="zh-CN" altLang="en-US" sz="2400" dirty="0" smtClean="0">
                <a:latin typeface="+mn-lt"/>
              </a:rPr>
              <a:t>存在函数依赖</a:t>
            </a:r>
            <a:r>
              <a:rPr lang="en-US" altLang="zh-CN" sz="2400" dirty="0" smtClean="0">
                <a:latin typeface="+mn-lt"/>
              </a:rPr>
              <a:t>X→</a:t>
            </a:r>
            <a:r>
              <a:rPr lang="en-US" altLang="zh-CN" sz="2400" dirty="0">
                <a:latin typeface="+mn-lt"/>
              </a:rPr>
              <a:t>Y</a:t>
            </a:r>
            <a:r>
              <a:rPr lang="zh-CN" altLang="en-US" sz="2400" dirty="0" smtClean="0">
                <a:latin typeface="+mn-lt"/>
              </a:rPr>
              <a:t>，</a:t>
            </a:r>
            <a:r>
              <a:rPr lang="zh-CN" altLang="en-US" sz="2400" dirty="0">
                <a:latin typeface="+mn-lt"/>
              </a:rPr>
              <a:t>但</a:t>
            </a:r>
            <a:r>
              <a:rPr lang="zh-CN" altLang="en-US" sz="2400" dirty="0" smtClean="0">
                <a:latin typeface="+mn-lt"/>
              </a:rPr>
              <a:t>不存在</a:t>
            </a:r>
            <a:r>
              <a:rPr lang="en-US" altLang="zh-CN" sz="2400" dirty="0">
                <a:latin typeface="+mn-lt"/>
              </a:rPr>
              <a:t>Y</a:t>
            </a:r>
            <a:r>
              <a:rPr lang="en-US" altLang="zh-CN" sz="2400" dirty="0" smtClean="0">
                <a:latin typeface="+mn-lt"/>
              </a:rPr>
              <a:t>→</a:t>
            </a:r>
            <a:r>
              <a:rPr lang="en-US" altLang="zh-CN" sz="2400" dirty="0">
                <a:latin typeface="+mn-lt"/>
              </a:rPr>
              <a:t>X</a:t>
            </a:r>
            <a:r>
              <a:rPr lang="zh-CN" altLang="en-US" sz="2400" dirty="0" smtClean="0">
                <a:latin typeface="+mn-lt"/>
              </a:rPr>
              <a:t>。</a:t>
            </a:r>
            <a:endParaRPr lang="en-US" altLang="zh-CN" sz="2400" dirty="0" smtClean="0">
              <a:latin typeface="+mn-lt"/>
            </a:endParaRPr>
          </a:p>
          <a:p>
            <a:pPr marL="525463" indent="-342900">
              <a:buSzPct val="70000"/>
            </a:pPr>
            <a:r>
              <a:rPr lang="en-US" altLang="zh-CN" sz="2400" dirty="0" err="1" smtClean="0">
                <a:solidFill>
                  <a:srgbClr val="FF0066"/>
                </a:solidFill>
                <a:effectLst>
                  <a:outerShdw blurRad="38100" dist="38100" dir="2700000" algn="tl">
                    <a:srgbClr val="000000"/>
                  </a:outerShdw>
                </a:effectLst>
                <a:latin typeface="+mn-lt"/>
              </a:rPr>
              <a:t>m:n</a:t>
            </a:r>
            <a:r>
              <a:rPr lang="zh-CN" altLang="en-US" sz="2400" dirty="0">
                <a:solidFill>
                  <a:srgbClr val="FF0066"/>
                </a:solidFill>
                <a:effectLst>
                  <a:outerShdw blurRad="38100" dist="38100" dir="2700000" algn="tl">
                    <a:srgbClr val="000000"/>
                  </a:outerShdw>
                </a:effectLst>
                <a:latin typeface="+mn-lt"/>
              </a:rPr>
              <a:t>联系：</a:t>
            </a:r>
            <a:r>
              <a:rPr lang="zh-CN" altLang="en-US" sz="2400" dirty="0" smtClean="0">
                <a:latin typeface="+mn-lt"/>
              </a:rPr>
              <a:t>不存在函数依赖。</a:t>
            </a:r>
            <a:endParaRPr lang="en-US" altLang="zh-CN" sz="2400" dirty="0">
              <a:latin typeface="+mn-lt"/>
            </a:endParaRPr>
          </a:p>
          <a:p>
            <a:pPr marL="0" indent="0">
              <a:spcBef>
                <a:spcPts val="1200"/>
              </a:spcBef>
              <a:buClr>
                <a:srgbClr val="0000FF"/>
              </a:buClr>
              <a:buSzPct val="90000"/>
              <a:buNone/>
            </a:pPr>
            <a:r>
              <a:rPr lang="zh-CN" altLang="en-US" sz="2400" dirty="0" smtClean="0"/>
              <a:t>例：关</a:t>
            </a:r>
            <a:r>
              <a:rPr lang="zh-CN" altLang="en-US" sz="2400" dirty="0"/>
              <a:t>系模式</a:t>
            </a:r>
            <a:r>
              <a:rPr lang="en-US" altLang="zh-CN" sz="2400" dirty="0"/>
              <a:t>SCD</a:t>
            </a:r>
            <a:r>
              <a:rPr lang="zh-CN" altLang="en-US" sz="2400" dirty="0"/>
              <a:t>中存在的函数依赖</a:t>
            </a:r>
            <a:r>
              <a:rPr lang="en-US" altLang="zh-CN" sz="2400" dirty="0"/>
              <a:t>——</a:t>
            </a:r>
            <a:r>
              <a:rPr lang="zh-CN" altLang="en-US" sz="2400" dirty="0"/>
              <a:t>属性间的联系：</a:t>
            </a:r>
          </a:p>
          <a:p>
            <a:pPr lvl="1">
              <a:buClr>
                <a:srgbClr val="0000FF"/>
              </a:buClr>
              <a:buSzPct val="90000"/>
            </a:pPr>
            <a:r>
              <a:rPr lang="zh-CN" altLang="en-US" dirty="0">
                <a:solidFill>
                  <a:srgbClr val="000090"/>
                </a:solidFill>
              </a:rPr>
              <a:t>学号→姓名，学号→年龄，学号→所在系，</a:t>
            </a:r>
            <a:endParaRPr lang="en-US" altLang="zh-CN" dirty="0">
              <a:solidFill>
                <a:srgbClr val="000090"/>
              </a:solidFill>
            </a:endParaRPr>
          </a:p>
          <a:p>
            <a:pPr lvl="1">
              <a:buClr>
                <a:srgbClr val="0000FF"/>
              </a:buClr>
              <a:buSzPct val="90000"/>
            </a:pPr>
            <a:r>
              <a:rPr lang="zh-CN" altLang="en-US" dirty="0">
                <a:solidFill>
                  <a:srgbClr val="000090"/>
                </a:solidFill>
              </a:rPr>
              <a:t>所在系→系主任，</a:t>
            </a:r>
            <a:endParaRPr lang="en-US" altLang="zh-CN" dirty="0">
              <a:solidFill>
                <a:srgbClr val="000090"/>
              </a:solidFill>
            </a:endParaRPr>
          </a:p>
          <a:p>
            <a:pPr lvl="1">
              <a:buClr>
                <a:srgbClr val="0000FF"/>
              </a:buClr>
              <a:buSzPct val="90000"/>
            </a:pPr>
            <a:r>
              <a:rPr lang="zh-CN" altLang="en-US" dirty="0">
                <a:solidFill>
                  <a:srgbClr val="000090"/>
                </a:solidFill>
              </a:rPr>
              <a:t> </a:t>
            </a:r>
            <a:r>
              <a:rPr lang="en-US" altLang="zh-CN" dirty="0">
                <a:solidFill>
                  <a:srgbClr val="000090"/>
                </a:solidFill>
              </a:rPr>
              <a:t>(</a:t>
            </a:r>
            <a:r>
              <a:rPr lang="zh-CN" altLang="en-US" dirty="0">
                <a:solidFill>
                  <a:srgbClr val="000090"/>
                </a:solidFill>
              </a:rPr>
              <a:t>学号</a:t>
            </a:r>
            <a:r>
              <a:rPr lang="en-US" altLang="zh-CN" dirty="0">
                <a:solidFill>
                  <a:srgbClr val="000090"/>
                </a:solidFill>
              </a:rPr>
              <a:t>, </a:t>
            </a:r>
            <a:r>
              <a:rPr lang="zh-CN" altLang="en-US" dirty="0">
                <a:solidFill>
                  <a:srgbClr val="000090"/>
                </a:solidFill>
              </a:rPr>
              <a:t>课程号</a:t>
            </a:r>
            <a:r>
              <a:rPr lang="en-US" altLang="zh-CN" dirty="0">
                <a:solidFill>
                  <a:srgbClr val="000090"/>
                </a:solidFill>
              </a:rPr>
              <a:t>) →</a:t>
            </a:r>
            <a:r>
              <a:rPr lang="zh-CN" altLang="en-US" dirty="0">
                <a:solidFill>
                  <a:srgbClr val="000090"/>
                </a:solidFill>
              </a:rPr>
              <a:t>成绩</a:t>
            </a:r>
            <a:r>
              <a:rPr lang="en-US" altLang="zh-CN" dirty="0">
                <a:solidFill>
                  <a:srgbClr val="000090"/>
                </a:solidFill>
              </a:rPr>
              <a:t>,  </a:t>
            </a:r>
            <a:r>
              <a:rPr lang="zh-CN" altLang="en-US" dirty="0" smtClean="0">
                <a:solidFill>
                  <a:srgbClr val="000090"/>
                </a:solidFill>
              </a:rPr>
              <a:t>学号和课程之间</a:t>
            </a:r>
            <a:endParaRPr lang="en-US" altLang="zh-CN" dirty="0">
              <a:solidFill>
                <a:srgbClr val="000090"/>
              </a:solidFill>
            </a:endParaRPr>
          </a:p>
          <a:p>
            <a:pPr>
              <a:lnSpc>
                <a:spcPct val="110000"/>
              </a:lnSpc>
            </a:pPr>
            <a:endParaRPr lang="en-US" sz="2400" dirty="0">
              <a:latin typeface="+mn-lt"/>
            </a:endParaRPr>
          </a:p>
          <a:p>
            <a:pPr>
              <a:lnSpc>
                <a:spcPct val="110000"/>
              </a:lnSpc>
            </a:pPr>
            <a:endParaRPr lang="en-US" sz="2400" dirty="0">
              <a:latin typeface="+mn-lt"/>
            </a:endParaRPr>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16</a:t>
            </a:fld>
            <a:endParaRPr lang="en-US" altLang="zh-CN"/>
          </a:p>
        </p:txBody>
      </p:sp>
      <p:sp>
        <p:nvSpPr>
          <p:cNvPr id="6" name="Rectangle 5"/>
          <p:cNvSpPr/>
          <p:nvPr/>
        </p:nvSpPr>
        <p:spPr>
          <a:xfrm>
            <a:off x="7027421" y="4447965"/>
            <a:ext cx="792399" cy="461665"/>
          </a:xfrm>
          <a:prstGeom prst="rect">
            <a:avLst/>
          </a:prstGeom>
        </p:spPr>
        <p:txBody>
          <a:bodyPr wrap="square">
            <a:spAutoFit/>
          </a:bodyPr>
          <a:lstStyle/>
          <a:p>
            <a:pPr>
              <a:buClr>
                <a:srgbClr val="0000FF"/>
              </a:buClr>
              <a:buSzPct val="90000"/>
            </a:pPr>
            <a:r>
              <a:rPr lang="en-US" altLang="zh-CN" sz="2400" dirty="0">
                <a:solidFill>
                  <a:srgbClr val="FF0000"/>
                </a:solidFill>
              </a:rPr>
              <a:t>1:m</a:t>
            </a:r>
          </a:p>
        </p:txBody>
      </p:sp>
      <p:sp>
        <p:nvSpPr>
          <p:cNvPr id="7" name="Rectangle 6"/>
          <p:cNvSpPr/>
          <p:nvPr/>
        </p:nvSpPr>
        <p:spPr>
          <a:xfrm>
            <a:off x="7036055" y="4911819"/>
            <a:ext cx="792399" cy="461665"/>
          </a:xfrm>
          <a:prstGeom prst="rect">
            <a:avLst/>
          </a:prstGeom>
        </p:spPr>
        <p:txBody>
          <a:bodyPr wrap="square">
            <a:spAutoFit/>
          </a:bodyPr>
          <a:lstStyle/>
          <a:p>
            <a:pPr>
              <a:buClr>
                <a:srgbClr val="0000FF"/>
              </a:buClr>
              <a:buSzPct val="90000"/>
            </a:pPr>
            <a:r>
              <a:rPr lang="en-US" altLang="zh-CN" sz="2400" dirty="0">
                <a:solidFill>
                  <a:srgbClr val="FF0000"/>
                </a:solidFill>
              </a:rPr>
              <a:t>1</a:t>
            </a:r>
            <a:r>
              <a:rPr lang="en-US" altLang="zh-CN" sz="2400" dirty="0" smtClean="0">
                <a:solidFill>
                  <a:srgbClr val="FF0000"/>
                </a:solidFill>
              </a:rPr>
              <a:t>:1</a:t>
            </a:r>
            <a:endParaRPr lang="en-US" altLang="zh-CN" sz="2400" dirty="0">
              <a:solidFill>
                <a:srgbClr val="FF0000"/>
              </a:solidFill>
            </a:endParaRPr>
          </a:p>
        </p:txBody>
      </p:sp>
      <p:sp>
        <p:nvSpPr>
          <p:cNvPr id="8" name="Rectangle 7"/>
          <p:cNvSpPr/>
          <p:nvPr/>
        </p:nvSpPr>
        <p:spPr>
          <a:xfrm>
            <a:off x="7036055" y="5319105"/>
            <a:ext cx="792399" cy="461665"/>
          </a:xfrm>
          <a:prstGeom prst="rect">
            <a:avLst/>
          </a:prstGeom>
        </p:spPr>
        <p:txBody>
          <a:bodyPr wrap="square">
            <a:spAutoFit/>
          </a:bodyPr>
          <a:lstStyle/>
          <a:p>
            <a:pPr>
              <a:buClr>
                <a:srgbClr val="0000FF"/>
              </a:buClr>
              <a:buSzPct val="90000"/>
            </a:pPr>
            <a:r>
              <a:rPr lang="en-US" altLang="zh-CN" sz="2400" dirty="0" err="1" smtClean="0">
                <a:solidFill>
                  <a:srgbClr val="FF0000"/>
                </a:solidFill>
              </a:rPr>
              <a:t>m:n</a:t>
            </a:r>
            <a:endParaRPr lang="en-US" altLang="zh-CN" sz="2400" dirty="0">
              <a:solidFill>
                <a:srgbClr val="FF0000"/>
              </a:solidFill>
            </a:endParaRPr>
          </a:p>
        </p:txBody>
      </p:sp>
    </p:spTree>
    <p:extLst>
      <p:ext uri="{BB962C8B-B14F-4D97-AF65-F5344CB8AC3E}">
        <p14:creationId xmlns:p14="http://schemas.microsoft.com/office/powerpoint/2010/main" val="37642714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6.2.1 </a:t>
            </a:r>
            <a:r>
              <a:rPr lang="zh-CN" altLang="en-US" dirty="0"/>
              <a:t>函数依赖</a:t>
            </a:r>
            <a:endParaRPr lang="en-US" dirty="0"/>
          </a:p>
        </p:txBody>
      </p:sp>
      <p:sp>
        <p:nvSpPr>
          <p:cNvPr id="3" name="Content Placeholder 2"/>
          <p:cNvSpPr>
            <a:spLocks noGrp="1"/>
          </p:cNvSpPr>
          <p:nvPr>
            <p:ph idx="1"/>
          </p:nvPr>
        </p:nvSpPr>
        <p:spPr>
          <a:xfrm>
            <a:off x="445641" y="908720"/>
            <a:ext cx="8517384" cy="5263481"/>
          </a:xfrm>
        </p:spPr>
        <p:txBody>
          <a:bodyPr/>
          <a:lstStyle/>
          <a:p>
            <a:pPr marL="0" indent="0">
              <a:buNone/>
            </a:pPr>
            <a:r>
              <a:rPr lang="en-US" altLang="zh-CN" sz="2400" dirty="0" smtClean="0"/>
              <a:t>2. </a:t>
            </a:r>
            <a:r>
              <a:rPr lang="zh-CN" altLang="en-US" sz="2400" dirty="0" smtClean="0"/>
              <a:t>平凡函数依赖与非平凡函数依赖</a:t>
            </a:r>
            <a:endParaRPr lang="en-US" altLang="zh-CN" sz="2400" dirty="0" smtClean="0"/>
          </a:p>
          <a:p>
            <a:r>
              <a:rPr lang="zh-CN" altLang="en-US" sz="2400" dirty="0">
                <a:solidFill>
                  <a:srgbClr val="FF0066"/>
                </a:solidFill>
                <a:effectLst>
                  <a:outerShdw blurRad="38100" dist="38100" dir="2700000" algn="tl">
                    <a:srgbClr val="000000"/>
                  </a:outerShdw>
                </a:effectLst>
              </a:rPr>
              <a:t>平凡函数依赖</a:t>
            </a:r>
          </a:p>
          <a:p>
            <a:pPr marL="0" indent="0">
              <a:buNone/>
            </a:pPr>
            <a:r>
              <a:rPr lang="zh-CN" altLang="en-US" sz="2400" dirty="0" smtClean="0"/>
              <a:t>设有关</a:t>
            </a:r>
            <a:r>
              <a:rPr lang="zh-CN" altLang="en-US" sz="2400" dirty="0"/>
              <a:t>系模式</a:t>
            </a:r>
            <a:r>
              <a:rPr lang="en-US" altLang="zh-CN" sz="2400" dirty="0"/>
              <a:t>R(U, F)</a:t>
            </a:r>
            <a:r>
              <a:rPr lang="zh-CN" altLang="en-US" sz="2400" dirty="0"/>
              <a:t>，</a:t>
            </a:r>
            <a:r>
              <a:rPr lang="en-US" altLang="zh-CN" sz="2400" dirty="0"/>
              <a:t>X</a:t>
            </a:r>
            <a:r>
              <a:rPr lang="zh-CN" altLang="en-US" sz="2400" dirty="0"/>
              <a:t>、</a:t>
            </a:r>
            <a:r>
              <a:rPr lang="en-US" altLang="zh-CN" sz="2400" dirty="0"/>
              <a:t>Y </a:t>
            </a:r>
            <a:r>
              <a:rPr lang="zh-CN" altLang="en-US" sz="2400" dirty="0"/>
              <a:t>都是</a:t>
            </a:r>
            <a:r>
              <a:rPr lang="en-US" altLang="zh-CN" sz="2400" dirty="0"/>
              <a:t>U</a:t>
            </a:r>
            <a:r>
              <a:rPr lang="zh-CN" altLang="en-US" sz="2400" dirty="0"/>
              <a:t>的子集，若</a:t>
            </a:r>
            <a:r>
              <a:rPr lang="en-US" altLang="zh-CN" sz="2400" dirty="0"/>
              <a:t>X→Y</a:t>
            </a:r>
            <a:r>
              <a:rPr lang="zh-CN" altLang="en-US" sz="2400" dirty="0"/>
              <a:t>，</a:t>
            </a:r>
            <a:r>
              <a:rPr lang="en-US" altLang="zh-CN" sz="2400" dirty="0">
                <a:solidFill>
                  <a:srgbClr val="FF0000"/>
                </a:solidFill>
                <a:effectLst>
                  <a:outerShdw blurRad="38100" dist="38100" dir="2700000" algn="tl">
                    <a:srgbClr val="000000"/>
                  </a:outerShdw>
                </a:effectLst>
              </a:rPr>
              <a:t>Y</a:t>
            </a:r>
            <a:r>
              <a:rPr lang="en-US" altLang="zh-CN" sz="2400" dirty="0">
                <a:solidFill>
                  <a:srgbClr val="FF0000"/>
                </a:solidFill>
                <a:effectLst>
                  <a:outerShdw blurRad="38100" dist="38100" dir="2700000" algn="tl">
                    <a:srgbClr val="000000"/>
                  </a:outerShdw>
                </a:effectLst>
                <a:sym typeface="Symbol" charset="0"/>
              </a:rPr>
              <a:t></a:t>
            </a:r>
            <a:r>
              <a:rPr lang="en-US" altLang="zh-CN" sz="2400" dirty="0">
                <a:solidFill>
                  <a:srgbClr val="FF0000"/>
                </a:solidFill>
                <a:effectLst>
                  <a:outerShdw blurRad="38100" dist="38100" dir="2700000" algn="tl">
                    <a:srgbClr val="000000"/>
                  </a:outerShdw>
                </a:effectLst>
              </a:rPr>
              <a:t>X</a:t>
            </a:r>
            <a:r>
              <a:rPr lang="en-US" altLang="zh-CN" sz="2400" dirty="0"/>
              <a:t> </a:t>
            </a:r>
            <a:r>
              <a:rPr lang="zh-CN" altLang="en-US" sz="2400" dirty="0"/>
              <a:t>，则称 </a:t>
            </a:r>
            <a:r>
              <a:rPr lang="en-US" altLang="zh-CN" sz="2400" dirty="0"/>
              <a:t>X→Y </a:t>
            </a:r>
            <a:r>
              <a:rPr lang="zh-CN" altLang="en-US" sz="2400" dirty="0"/>
              <a:t>是</a:t>
            </a:r>
            <a:r>
              <a:rPr lang="zh-CN" altLang="en-US" sz="2400" dirty="0">
                <a:solidFill>
                  <a:srgbClr val="0000FF"/>
                </a:solidFill>
              </a:rPr>
              <a:t>平凡函数依赖</a:t>
            </a:r>
            <a:r>
              <a:rPr lang="zh-CN" altLang="en-US" sz="2400" dirty="0" smtClean="0"/>
              <a:t>。</a:t>
            </a:r>
            <a:endParaRPr lang="en-US" altLang="zh-CN" sz="2400" dirty="0" smtClean="0"/>
          </a:p>
          <a:p>
            <a:pPr marL="0" indent="0">
              <a:buNone/>
            </a:pPr>
            <a:endParaRPr lang="zh-CN" altLang="en-US" sz="2400" dirty="0"/>
          </a:p>
          <a:p>
            <a:r>
              <a:rPr lang="zh-CN" altLang="en-US" sz="2400" dirty="0">
                <a:solidFill>
                  <a:srgbClr val="FF0066"/>
                </a:solidFill>
                <a:effectLst>
                  <a:outerShdw blurRad="38100" dist="38100" dir="2700000" algn="tl">
                    <a:srgbClr val="000000"/>
                  </a:outerShdw>
                </a:effectLst>
              </a:rPr>
              <a:t>非平凡函数依赖</a:t>
            </a:r>
          </a:p>
          <a:p>
            <a:pPr marL="0" indent="0">
              <a:buNone/>
            </a:pPr>
            <a:r>
              <a:rPr lang="zh-CN" altLang="en-US" sz="2400" dirty="0" smtClean="0"/>
              <a:t>设有关</a:t>
            </a:r>
            <a:r>
              <a:rPr lang="zh-CN" altLang="en-US" sz="2400" dirty="0"/>
              <a:t>系模式 </a:t>
            </a:r>
            <a:r>
              <a:rPr lang="en-US" altLang="zh-CN" sz="2400" dirty="0"/>
              <a:t>R(U, F)</a:t>
            </a:r>
            <a:r>
              <a:rPr lang="zh-CN" altLang="en-US" sz="2400" dirty="0"/>
              <a:t>，</a:t>
            </a:r>
            <a:r>
              <a:rPr lang="en-US" altLang="zh-CN" sz="2400" dirty="0"/>
              <a:t>X </a:t>
            </a:r>
            <a:r>
              <a:rPr lang="zh-CN" altLang="en-US" sz="2400" dirty="0"/>
              <a:t>、</a:t>
            </a:r>
            <a:r>
              <a:rPr lang="en-US" altLang="zh-CN" sz="2400" dirty="0"/>
              <a:t>Y</a:t>
            </a:r>
            <a:r>
              <a:rPr lang="zh-CN" altLang="en-US" sz="2400" dirty="0"/>
              <a:t>是</a:t>
            </a:r>
            <a:r>
              <a:rPr lang="en-US" altLang="zh-CN" sz="2400" dirty="0"/>
              <a:t>U</a:t>
            </a:r>
            <a:r>
              <a:rPr lang="zh-CN" altLang="en-US" sz="2400" dirty="0"/>
              <a:t>的子集，若</a:t>
            </a:r>
            <a:r>
              <a:rPr lang="en-US" altLang="zh-CN" sz="2400" dirty="0"/>
              <a:t>X→Y</a:t>
            </a:r>
            <a:r>
              <a:rPr lang="zh-CN" altLang="en-US" sz="2400" dirty="0"/>
              <a:t>，但</a:t>
            </a:r>
            <a:r>
              <a:rPr lang="en-US" altLang="zh-CN" sz="2400" dirty="0" smtClean="0">
                <a:solidFill>
                  <a:srgbClr val="FF0000"/>
                </a:solidFill>
                <a:effectLst>
                  <a:outerShdw blurRad="38100" dist="38100" dir="2700000" algn="tl">
                    <a:srgbClr val="000000"/>
                  </a:outerShdw>
                </a:effectLst>
              </a:rPr>
              <a:t>Y</a:t>
            </a:r>
            <a:r>
              <a:rPr lang="en-US" altLang="zh-CN" sz="2400" dirty="0">
                <a:solidFill>
                  <a:srgbClr val="FF0000"/>
                </a:solidFill>
                <a:effectLst>
                  <a:outerShdw blurRad="38100" dist="38100" dir="2700000" algn="tl">
                    <a:srgbClr val="000000"/>
                  </a:outerShdw>
                </a:effectLst>
                <a:sym typeface="Symbol" charset="0"/>
              </a:rPr>
              <a:t></a:t>
            </a:r>
            <a:r>
              <a:rPr lang="en-US" altLang="zh-CN" sz="2400" dirty="0" smtClean="0">
                <a:solidFill>
                  <a:srgbClr val="FF0000"/>
                </a:solidFill>
                <a:effectLst>
                  <a:outerShdw blurRad="38100" dist="38100" dir="2700000" algn="tl">
                    <a:srgbClr val="000000"/>
                  </a:outerShdw>
                </a:effectLst>
              </a:rPr>
              <a:t>X</a:t>
            </a:r>
            <a:r>
              <a:rPr lang="en-US" altLang="zh-CN" sz="2400" dirty="0" smtClean="0">
                <a:solidFill>
                  <a:srgbClr val="FF0000"/>
                </a:solidFill>
              </a:rPr>
              <a:t> </a:t>
            </a:r>
            <a:r>
              <a:rPr lang="zh-CN" altLang="en-US" sz="2400" dirty="0"/>
              <a:t>，则称</a:t>
            </a:r>
            <a:r>
              <a:rPr lang="en-US" altLang="zh-CN" sz="2400" dirty="0"/>
              <a:t>X→Y</a:t>
            </a:r>
            <a:r>
              <a:rPr lang="zh-CN" altLang="en-US" sz="2400" dirty="0"/>
              <a:t>是</a:t>
            </a:r>
            <a:r>
              <a:rPr lang="zh-CN" altLang="en-US" sz="2400" dirty="0">
                <a:solidFill>
                  <a:srgbClr val="0000FF"/>
                </a:solidFill>
              </a:rPr>
              <a:t>非平凡函数依赖</a:t>
            </a:r>
            <a:r>
              <a:rPr lang="zh-CN" altLang="en-US" sz="2400" dirty="0" smtClean="0"/>
              <a:t>。</a:t>
            </a:r>
            <a:endParaRPr lang="en-US" altLang="zh-CN" sz="2400" dirty="0" smtClean="0"/>
          </a:p>
          <a:p>
            <a:pPr marL="0" indent="0">
              <a:buNone/>
            </a:pPr>
            <a:endParaRPr lang="en-US" altLang="zh-CN" sz="2400" dirty="0" smtClean="0"/>
          </a:p>
          <a:p>
            <a:pPr marL="0" indent="0">
              <a:buNone/>
            </a:pPr>
            <a:r>
              <a:rPr lang="zh-CN" altLang="en-US" sz="2400" dirty="0" smtClean="0">
                <a:solidFill>
                  <a:srgbClr val="0000FF"/>
                </a:solidFill>
              </a:rPr>
              <a:t>说</a:t>
            </a:r>
            <a:r>
              <a:rPr lang="zh-CN" altLang="en-US" sz="2400" dirty="0">
                <a:solidFill>
                  <a:srgbClr val="0000FF"/>
                </a:solidFill>
              </a:rPr>
              <a:t>明：</a:t>
            </a:r>
            <a:r>
              <a:rPr lang="zh-CN" altLang="en-US" sz="2400" dirty="0"/>
              <a:t>对于任何</a:t>
            </a:r>
            <a:r>
              <a:rPr lang="en-US" altLang="zh-CN" sz="2400" dirty="0"/>
              <a:t>R</a:t>
            </a:r>
            <a:r>
              <a:rPr lang="zh-CN" altLang="en-US" sz="2400" dirty="0"/>
              <a:t>，平凡函数依赖总是成立的</a:t>
            </a:r>
            <a:r>
              <a:rPr lang="zh-CN" altLang="en-US" sz="2400" dirty="0" smtClean="0"/>
              <a:t>。</a:t>
            </a:r>
            <a:endParaRPr lang="en-US" altLang="zh-CN" sz="2400" dirty="0" smtClean="0"/>
          </a:p>
          <a:p>
            <a:pPr marL="0" indent="0">
              <a:buNone/>
            </a:pPr>
            <a:r>
              <a:rPr lang="zh-CN" altLang="en-US" sz="2400" dirty="0">
                <a:solidFill>
                  <a:srgbClr val="000080"/>
                </a:solidFill>
              </a:rPr>
              <a:t>若不特别声明</a:t>
            </a:r>
            <a:r>
              <a:rPr lang="en-US" altLang="zh-CN" sz="2400" dirty="0">
                <a:solidFill>
                  <a:srgbClr val="000080"/>
                </a:solidFill>
              </a:rPr>
              <a:t>,</a:t>
            </a:r>
            <a:r>
              <a:rPr lang="zh-CN" altLang="en-US" sz="2400" dirty="0">
                <a:solidFill>
                  <a:srgbClr val="000080"/>
                </a:solidFill>
              </a:rPr>
              <a:t>我们总是讨论非平凡的函数依赖。</a:t>
            </a:r>
            <a:r>
              <a:rPr lang="en-US" altLang="zh-CN" sz="2000" dirty="0">
                <a:solidFill>
                  <a:srgbClr val="000080"/>
                </a:solidFill>
              </a:rPr>
              <a:t> </a:t>
            </a:r>
            <a:br>
              <a:rPr lang="en-US" altLang="zh-CN" sz="2000" dirty="0">
                <a:solidFill>
                  <a:srgbClr val="000080"/>
                </a:solidFill>
              </a:rPr>
            </a:br>
            <a:endParaRPr lang="en-US" altLang="zh-CN" sz="2400" dirty="0" smtClean="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17</a:t>
            </a:fld>
            <a:endParaRPr lang="en-US" altLang="zh-CN"/>
          </a:p>
        </p:txBody>
      </p:sp>
      <p:cxnSp>
        <p:nvCxnSpPr>
          <p:cNvPr id="8" name="Straight Connector 7"/>
          <p:cNvCxnSpPr/>
          <p:nvPr/>
        </p:nvCxnSpPr>
        <p:spPr>
          <a:xfrm flipH="1">
            <a:off x="7843285" y="3476348"/>
            <a:ext cx="133692" cy="51253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587576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linds(horizontal)">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blinds(horizontal)">
                                      <p:cBhvr>
                                        <p:cTn id="23" dur="500"/>
                                        <p:tgtEl>
                                          <p:spTgt spid="3">
                                            <p:txEl>
                                              <p:pRg st="7" end="7"/>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blinds(horizontal)">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6.2.1 </a:t>
            </a:r>
            <a:r>
              <a:rPr lang="zh-CN" altLang="en-US" dirty="0"/>
              <a:t>函数依赖</a:t>
            </a:r>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18</a:t>
            </a:fld>
            <a:endParaRPr lang="en-US" altLang="zh-CN"/>
          </a:p>
        </p:txBody>
      </p:sp>
      <p:sp>
        <p:nvSpPr>
          <p:cNvPr id="6" name="Rectangle 2"/>
          <p:cNvSpPr txBox="1">
            <a:spLocks noChangeArrowheads="1"/>
          </p:cNvSpPr>
          <p:nvPr/>
        </p:nvSpPr>
        <p:spPr bwMode="auto">
          <a:xfrm>
            <a:off x="552108" y="945328"/>
            <a:ext cx="8248649" cy="547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lnSpc>
                <a:spcPct val="100000"/>
              </a:lnSpc>
              <a:spcBef>
                <a:spcPts val="600"/>
              </a:spcBef>
              <a:spcAft>
                <a:spcPts val="0"/>
              </a:spcAft>
              <a:buClr>
                <a:schemeClr val="accent1"/>
              </a:buClr>
              <a:buSzPct val="85000"/>
              <a:buFont typeface="Wingdings" charset="0"/>
              <a:buChar char="§"/>
              <a:defRPr sz="2800" kern="1200">
                <a:solidFill>
                  <a:schemeClr val="tx1"/>
                </a:solidFill>
                <a:latin typeface="Arial Narrow"/>
                <a:ea typeface="+mn-ea"/>
                <a:cs typeface="Arial Narrow"/>
              </a:defRPr>
            </a:lvl1pPr>
            <a:lvl2pPr marL="457200"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2pPr>
            <a:lvl3pPr marL="730250"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3pPr>
            <a:lvl4pPr marL="1004888"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4pPr>
            <a:lvl5pPr marL="1279525"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5pPr>
            <a:lvl6pPr marL="16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9pPr>
          </a:lstStyle>
          <a:p>
            <a:pPr>
              <a:lnSpc>
                <a:spcPct val="110000"/>
              </a:lnSpc>
              <a:buFont typeface="Wingdings" charset="0"/>
              <a:buNone/>
            </a:pPr>
            <a:r>
              <a:rPr lang="en-US" altLang="zh-CN" sz="2400" dirty="0" smtClean="0">
                <a:latin typeface="+mn-lt"/>
              </a:rPr>
              <a:t>3. </a:t>
            </a:r>
            <a:r>
              <a:rPr lang="zh-CN" altLang="en-US" sz="2400" dirty="0" smtClean="0">
                <a:latin typeface="+mn-lt"/>
              </a:rPr>
              <a:t>完全函数依赖与部分函数依赖</a:t>
            </a:r>
          </a:p>
          <a:p>
            <a:pPr>
              <a:lnSpc>
                <a:spcPct val="110000"/>
              </a:lnSpc>
              <a:buFont typeface="Wingdings" charset="0"/>
              <a:buNone/>
            </a:pPr>
            <a:r>
              <a:rPr lang="en-US" altLang="zh-CN" sz="2400" dirty="0" smtClean="0">
                <a:solidFill>
                  <a:srgbClr val="FF0000"/>
                </a:solidFill>
                <a:latin typeface="+mn-lt"/>
              </a:rPr>
              <a:t> </a:t>
            </a:r>
            <a:r>
              <a:rPr lang="zh-CN" altLang="en-US" sz="2400" dirty="0" smtClean="0">
                <a:solidFill>
                  <a:srgbClr val="FF0000"/>
                </a:solidFill>
                <a:latin typeface="+mn-lt"/>
              </a:rPr>
              <a:t>定义</a:t>
            </a:r>
            <a:r>
              <a:rPr lang="en-US" altLang="zh-CN" sz="2400" dirty="0" smtClean="0">
                <a:solidFill>
                  <a:srgbClr val="FF0000"/>
                </a:solidFill>
                <a:latin typeface="+mn-lt"/>
              </a:rPr>
              <a:t>6.2  </a:t>
            </a:r>
            <a:r>
              <a:rPr lang="zh-CN" altLang="en-US" sz="2400" dirty="0" smtClean="0">
                <a:latin typeface="+mn-lt"/>
              </a:rPr>
              <a:t>设关系模式</a:t>
            </a:r>
            <a:r>
              <a:rPr lang="en-US" altLang="zh-CN" sz="2400" dirty="0" smtClean="0">
                <a:latin typeface="+mn-lt"/>
              </a:rPr>
              <a:t>R(U)</a:t>
            </a:r>
            <a:r>
              <a:rPr lang="zh-CN" altLang="en-US" sz="2400" dirty="0" smtClean="0">
                <a:latin typeface="+mn-lt"/>
              </a:rPr>
              <a:t>，</a:t>
            </a:r>
            <a:r>
              <a:rPr lang="en-US" altLang="zh-CN" sz="2400" dirty="0" smtClean="0">
                <a:latin typeface="+mn-lt"/>
              </a:rPr>
              <a:t>U</a:t>
            </a:r>
            <a:r>
              <a:rPr lang="zh-CN" altLang="en-US" sz="2400" dirty="0" smtClean="0">
                <a:latin typeface="+mn-lt"/>
              </a:rPr>
              <a:t>是属性全集，</a:t>
            </a:r>
            <a:r>
              <a:rPr lang="en-US" altLang="zh-CN" sz="2400" dirty="0" smtClean="0">
                <a:latin typeface="+mn-lt"/>
              </a:rPr>
              <a:t>X</a:t>
            </a:r>
            <a:r>
              <a:rPr lang="zh-CN" altLang="en-US" sz="2400" dirty="0" smtClean="0">
                <a:latin typeface="+mn-lt"/>
              </a:rPr>
              <a:t>和</a:t>
            </a:r>
            <a:r>
              <a:rPr lang="en-US" altLang="zh-CN" sz="2400" dirty="0" smtClean="0">
                <a:latin typeface="+mn-lt"/>
              </a:rPr>
              <a:t>Y</a:t>
            </a:r>
            <a:r>
              <a:rPr lang="zh-CN" altLang="en-US" sz="2400" dirty="0" smtClean="0">
                <a:latin typeface="+mn-lt"/>
              </a:rPr>
              <a:t>是</a:t>
            </a:r>
            <a:r>
              <a:rPr lang="en-US" altLang="zh-CN" sz="2400" dirty="0" smtClean="0">
                <a:latin typeface="+mn-lt"/>
              </a:rPr>
              <a:t>U</a:t>
            </a:r>
            <a:r>
              <a:rPr lang="zh-CN" altLang="en-US" sz="2400" dirty="0" smtClean="0">
                <a:latin typeface="+mn-lt"/>
              </a:rPr>
              <a:t>的子集</a:t>
            </a:r>
            <a:r>
              <a:rPr lang="en-US" altLang="zh-CN" sz="2400" dirty="0" smtClean="0">
                <a:latin typeface="+mn-lt"/>
              </a:rPr>
              <a:t>: </a:t>
            </a:r>
          </a:p>
          <a:p>
            <a:pPr lvl="1" algn="just">
              <a:lnSpc>
                <a:spcPct val="110000"/>
              </a:lnSpc>
            </a:pPr>
            <a:r>
              <a:rPr lang="zh-CN" altLang="en-US" dirty="0" smtClean="0">
                <a:latin typeface="+mn-lt"/>
              </a:rPr>
              <a:t>如果</a:t>
            </a:r>
            <a:r>
              <a:rPr lang="en-US" altLang="zh-CN" dirty="0" smtClean="0">
                <a:latin typeface="+mn-lt"/>
              </a:rPr>
              <a:t>X→Y</a:t>
            </a:r>
            <a:r>
              <a:rPr lang="zh-CN" altLang="en-US" dirty="0" smtClean="0">
                <a:latin typeface="+mn-lt"/>
              </a:rPr>
              <a:t>，并且对于</a:t>
            </a:r>
            <a:r>
              <a:rPr lang="en-US" altLang="zh-CN" dirty="0" smtClean="0">
                <a:latin typeface="+mn-lt"/>
              </a:rPr>
              <a:t>X</a:t>
            </a:r>
            <a:r>
              <a:rPr lang="zh-CN" altLang="en-US" dirty="0" smtClean="0">
                <a:latin typeface="+mn-lt"/>
              </a:rPr>
              <a:t>的任何一个真子集</a:t>
            </a:r>
            <a:r>
              <a:rPr lang="en-US" altLang="zh-CN" dirty="0" smtClean="0">
                <a:latin typeface="+mn-lt"/>
              </a:rPr>
              <a:t>X′,</a:t>
            </a:r>
            <a:r>
              <a:rPr lang="zh-CN" altLang="en-US" dirty="0" smtClean="0">
                <a:latin typeface="+mn-lt"/>
              </a:rPr>
              <a:t>都有</a:t>
            </a:r>
            <a:r>
              <a:rPr lang="en-US" altLang="zh-CN" dirty="0" smtClean="0">
                <a:latin typeface="+mn-lt"/>
              </a:rPr>
              <a:t>X′→Y</a:t>
            </a:r>
            <a:r>
              <a:rPr lang="zh-CN" altLang="en-US" dirty="0" smtClean="0">
                <a:solidFill>
                  <a:srgbClr val="000000"/>
                </a:solidFill>
                <a:latin typeface="+mn-lt"/>
              </a:rPr>
              <a:t>，</a:t>
            </a:r>
            <a:r>
              <a:rPr lang="zh-CN" altLang="en-US" dirty="0" smtClean="0">
                <a:latin typeface="+mn-lt"/>
              </a:rPr>
              <a:t>则称</a:t>
            </a:r>
            <a:r>
              <a:rPr lang="en-US" altLang="zh-CN" dirty="0" smtClean="0">
                <a:latin typeface="+mn-lt"/>
              </a:rPr>
              <a:t>Y</a:t>
            </a:r>
            <a:r>
              <a:rPr lang="zh-CN" altLang="en-US" dirty="0" smtClean="0">
                <a:solidFill>
                  <a:srgbClr val="FF0000"/>
                </a:solidFill>
                <a:latin typeface="+mn-lt"/>
              </a:rPr>
              <a:t>完全函数依赖</a:t>
            </a:r>
            <a:r>
              <a:rPr lang="zh-CN" altLang="en-US" dirty="0" smtClean="0">
                <a:latin typeface="+mn-lt"/>
              </a:rPr>
              <a:t>于</a:t>
            </a:r>
            <a:r>
              <a:rPr lang="en-US" altLang="zh-CN" dirty="0" smtClean="0">
                <a:latin typeface="+mn-lt"/>
              </a:rPr>
              <a:t>X</a:t>
            </a:r>
            <a:r>
              <a:rPr lang="zh-CN" altLang="en-US" dirty="0" smtClean="0">
                <a:latin typeface="+mn-lt"/>
              </a:rPr>
              <a:t>，记作</a:t>
            </a:r>
            <a:r>
              <a:rPr lang="en-US" altLang="zh-CN" dirty="0" smtClean="0">
                <a:latin typeface="+mn-lt"/>
              </a:rPr>
              <a:t>X </a:t>
            </a:r>
            <a:r>
              <a:rPr lang="en-US" altLang="zh-CN" i="1" baseline="60000" dirty="0" smtClean="0">
                <a:latin typeface="+mn-lt"/>
              </a:rPr>
              <a:t>F</a:t>
            </a:r>
            <a:r>
              <a:rPr lang="en-US" altLang="zh-CN" dirty="0" smtClean="0">
                <a:latin typeface="+mn-lt"/>
              </a:rPr>
              <a:t>  Y</a:t>
            </a:r>
            <a:r>
              <a:rPr lang="zh-CN" altLang="en-US" dirty="0" smtClean="0">
                <a:latin typeface="+mn-lt"/>
              </a:rPr>
              <a:t>。</a:t>
            </a:r>
          </a:p>
          <a:p>
            <a:pPr lvl="1" algn="just">
              <a:lnSpc>
                <a:spcPct val="110000"/>
              </a:lnSpc>
            </a:pPr>
            <a:r>
              <a:rPr lang="zh-CN" altLang="en-US" dirty="0" smtClean="0">
                <a:latin typeface="+mn-lt"/>
              </a:rPr>
              <a:t>如果对</a:t>
            </a:r>
            <a:r>
              <a:rPr lang="en-US" altLang="zh-CN" dirty="0" smtClean="0">
                <a:latin typeface="+mn-lt"/>
              </a:rPr>
              <a:t>X</a:t>
            </a:r>
            <a:r>
              <a:rPr lang="zh-CN" altLang="en-US" dirty="0" smtClean="0">
                <a:latin typeface="+mn-lt"/>
              </a:rPr>
              <a:t>的某个真子集</a:t>
            </a:r>
            <a:r>
              <a:rPr lang="en-US" altLang="zh-CN" dirty="0" smtClean="0">
                <a:latin typeface="+mn-lt"/>
              </a:rPr>
              <a:t>X′</a:t>
            </a:r>
            <a:r>
              <a:rPr lang="zh-CN" altLang="en-US" dirty="0" smtClean="0">
                <a:latin typeface="+mn-lt"/>
              </a:rPr>
              <a:t>，有</a:t>
            </a:r>
            <a:r>
              <a:rPr lang="en-US" altLang="zh-CN" dirty="0" smtClean="0">
                <a:latin typeface="+mn-lt"/>
              </a:rPr>
              <a:t>X′→Y</a:t>
            </a:r>
            <a:r>
              <a:rPr lang="zh-CN" altLang="en-US" dirty="0" smtClean="0">
                <a:latin typeface="+mn-lt"/>
              </a:rPr>
              <a:t>，则称</a:t>
            </a:r>
            <a:r>
              <a:rPr lang="en-US" altLang="zh-CN" dirty="0" smtClean="0">
                <a:latin typeface="+mn-lt"/>
              </a:rPr>
              <a:t>Y</a:t>
            </a:r>
            <a:r>
              <a:rPr lang="zh-CN" altLang="en-US" dirty="0" smtClean="0">
                <a:solidFill>
                  <a:srgbClr val="FF0000"/>
                </a:solidFill>
                <a:latin typeface="+mn-lt"/>
              </a:rPr>
              <a:t>部分函数依赖</a:t>
            </a:r>
            <a:r>
              <a:rPr lang="zh-CN" altLang="en-US" dirty="0" smtClean="0">
                <a:latin typeface="+mn-lt"/>
              </a:rPr>
              <a:t>于</a:t>
            </a:r>
            <a:r>
              <a:rPr lang="en-US" altLang="zh-CN" dirty="0" smtClean="0">
                <a:latin typeface="+mn-lt"/>
              </a:rPr>
              <a:t>X</a:t>
            </a:r>
            <a:r>
              <a:rPr lang="zh-CN" altLang="en-US" dirty="0" smtClean="0">
                <a:latin typeface="+mn-lt"/>
              </a:rPr>
              <a:t>，记作</a:t>
            </a:r>
            <a:r>
              <a:rPr lang="en-US" altLang="zh-CN" dirty="0" smtClean="0">
                <a:latin typeface="+mn-lt"/>
              </a:rPr>
              <a:t>X </a:t>
            </a:r>
            <a:r>
              <a:rPr lang="en-US" altLang="zh-CN" i="1" baseline="60000" dirty="0" smtClean="0">
                <a:latin typeface="+mn-lt"/>
              </a:rPr>
              <a:t>P    </a:t>
            </a:r>
            <a:r>
              <a:rPr lang="en-US" altLang="zh-CN" dirty="0" smtClean="0">
                <a:latin typeface="+mn-lt"/>
              </a:rPr>
              <a:t>Y</a:t>
            </a:r>
            <a:r>
              <a:rPr lang="zh-CN" altLang="en-US" dirty="0" smtClean="0">
                <a:latin typeface="+mn-lt"/>
              </a:rPr>
              <a:t>。</a:t>
            </a:r>
          </a:p>
          <a:p>
            <a:pPr algn="just">
              <a:lnSpc>
                <a:spcPct val="110000"/>
              </a:lnSpc>
              <a:buFont typeface="Wingdings" charset="0"/>
              <a:buNone/>
            </a:pPr>
            <a:r>
              <a:rPr lang="zh-CN" altLang="en-US" sz="2400" dirty="0" smtClean="0">
                <a:solidFill>
                  <a:srgbClr val="008000"/>
                </a:solidFill>
                <a:latin typeface="+mn-lt"/>
              </a:rPr>
              <a:t>例：</a:t>
            </a:r>
            <a:endParaRPr lang="en-US" altLang="zh-CN" sz="2400" dirty="0" smtClean="0">
              <a:solidFill>
                <a:srgbClr val="008000"/>
              </a:solidFill>
              <a:latin typeface="+mn-lt"/>
            </a:endParaRPr>
          </a:p>
          <a:p>
            <a:pPr algn="just">
              <a:lnSpc>
                <a:spcPct val="110000"/>
              </a:lnSpc>
              <a:buNone/>
            </a:pPr>
            <a:r>
              <a:rPr lang="en-US" altLang="zh-CN" sz="2400" dirty="0">
                <a:latin typeface="+mn-lt"/>
              </a:rPr>
              <a:t> </a:t>
            </a:r>
            <a:r>
              <a:rPr lang="zh-CN" altLang="en-US" sz="2400" dirty="0" smtClean="0">
                <a:latin typeface="+mn-lt"/>
              </a:rPr>
              <a:t>在</a:t>
            </a:r>
            <a:r>
              <a:rPr lang="en-US" altLang="zh-CN" sz="2400" dirty="0" smtClean="0">
                <a:latin typeface="+mn-lt"/>
              </a:rPr>
              <a:t>SCD</a:t>
            </a:r>
            <a:r>
              <a:rPr lang="zh-CN" altLang="en-US" sz="2400" dirty="0" smtClean="0">
                <a:latin typeface="+mn-lt"/>
              </a:rPr>
              <a:t>中：</a:t>
            </a:r>
            <a:endParaRPr lang="en-US" altLang="zh-CN" sz="2400" dirty="0" smtClean="0">
              <a:latin typeface="+mn-lt"/>
            </a:endParaRPr>
          </a:p>
          <a:p>
            <a:pPr algn="just">
              <a:lnSpc>
                <a:spcPct val="110000"/>
              </a:lnSpc>
              <a:buNone/>
            </a:pPr>
            <a:r>
              <a:rPr lang="en-US" altLang="zh-CN" sz="2400" dirty="0">
                <a:latin typeface="+mn-lt"/>
              </a:rPr>
              <a:t> </a:t>
            </a:r>
            <a:r>
              <a:rPr lang="en-US" altLang="zh-CN" sz="2400" dirty="0" smtClean="0">
                <a:latin typeface="+mn-lt"/>
              </a:rPr>
              <a:t> </a:t>
            </a:r>
            <a:r>
              <a:rPr lang="zh-CN" altLang="en-US" sz="2400" dirty="0" smtClean="0">
                <a:latin typeface="+mn-lt"/>
              </a:rPr>
              <a:t>（</a:t>
            </a:r>
            <a:r>
              <a:rPr lang="zh-CN" altLang="en-US" sz="2400" dirty="0" smtClean="0">
                <a:solidFill>
                  <a:srgbClr val="0000B4"/>
                </a:solidFill>
                <a:latin typeface="+mn-lt"/>
              </a:rPr>
              <a:t>学号，课程号</a:t>
            </a:r>
            <a:r>
              <a:rPr lang="zh-CN" altLang="en-US" sz="2400" dirty="0" smtClean="0">
                <a:latin typeface="+mn-lt"/>
              </a:rPr>
              <a:t>） </a:t>
            </a:r>
            <a:r>
              <a:rPr lang="en-US" altLang="zh-CN" sz="2400" i="1" baseline="60000" dirty="0" smtClean="0">
                <a:latin typeface="+mn-lt"/>
              </a:rPr>
              <a:t>F</a:t>
            </a:r>
            <a:r>
              <a:rPr lang="en-US" altLang="zh-CN" sz="2400" dirty="0" smtClean="0">
                <a:latin typeface="+mn-lt"/>
              </a:rPr>
              <a:t>   </a:t>
            </a:r>
            <a:r>
              <a:rPr lang="zh-CN" altLang="en-US" sz="2400" dirty="0" smtClean="0">
                <a:solidFill>
                  <a:srgbClr val="0000B4"/>
                </a:solidFill>
                <a:latin typeface="+mn-lt"/>
              </a:rPr>
              <a:t>成绩</a:t>
            </a:r>
            <a:r>
              <a:rPr lang="zh-CN" altLang="en-US" sz="2400" dirty="0" smtClean="0">
                <a:latin typeface="+mn-lt"/>
              </a:rPr>
              <a:t> 。</a:t>
            </a:r>
          </a:p>
          <a:p>
            <a:pPr algn="just">
              <a:lnSpc>
                <a:spcPct val="110000"/>
              </a:lnSpc>
              <a:buNone/>
            </a:pPr>
            <a:r>
              <a:rPr lang="zh-CN" altLang="en-US" sz="2400" dirty="0" smtClean="0">
                <a:latin typeface="+mn-lt"/>
              </a:rPr>
              <a:t>  而</a:t>
            </a:r>
            <a:r>
              <a:rPr lang="zh-CN" altLang="en-US" sz="2400" dirty="0" smtClean="0">
                <a:solidFill>
                  <a:srgbClr val="0000B4"/>
                </a:solidFill>
                <a:latin typeface="+mn-lt"/>
              </a:rPr>
              <a:t>学号</a:t>
            </a:r>
            <a:r>
              <a:rPr lang="en-US" altLang="zh-CN" sz="2400" dirty="0"/>
              <a:t>→</a:t>
            </a:r>
            <a:r>
              <a:rPr lang="zh-CN" altLang="en-US" sz="2400" dirty="0" smtClean="0">
                <a:solidFill>
                  <a:srgbClr val="0000B4"/>
                </a:solidFill>
                <a:latin typeface="+mn-lt"/>
              </a:rPr>
              <a:t>年龄</a:t>
            </a:r>
            <a:r>
              <a:rPr lang="zh-CN" altLang="en-US" sz="2400" dirty="0" smtClean="0">
                <a:latin typeface="+mn-lt"/>
              </a:rPr>
              <a:t>，所以（</a:t>
            </a:r>
            <a:r>
              <a:rPr lang="zh-CN" altLang="en-US" sz="2400" dirty="0" smtClean="0">
                <a:solidFill>
                  <a:srgbClr val="0000B4"/>
                </a:solidFill>
                <a:latin typeface="+mn-lt"/>
              </a:rPr>
              <a:t>学号</a:t>
            </a:r>
            <a:r>
              <a:rPr lang="zh-CN" altLang="en-US" sz="2400" dirty="0" smtClean="0">
                <a:latin typeface="+mn-lt"/>
              </a:rPr>
              <a:t>，</a:t>
            </a:r>
            <a:r>
              <a:rPr lang="zh-CN" altLang="en-US" sz="2400" dirty="0" smtClean="0">
                <a:solidFill>
                  <a:srgbClr val="0000B4"/>
                </a:solidFill>
                <a:latin typeface="+mn-lt"/>
              </a:rPr>
              <a:t>课程号）</a:t>
            </a:r>
            <a:r>
              <a:rPr lang="en-US" altLang="zh-CN" sz="2400" i="1" baseline="60000" dirty="0" smtClean="0">
                <a:latin typeface="+mn-lt"/>
              </a:rPr>
              <a:t>P</a:t>
            </a:r>
            <a:r>
              <a:rPr lang="en-US" altLang="zh-CN" sz="2400" dirty="0" smtClean="0">
                <a:latin typeface="+mn-lt"/>
              </a:rPr>
              <a:t>  </a:t>
            </a:r>
            <a:r>
              <a:rPr lang="zh-CN" altLang="en-US" sz="2400" dirty="0" smtClean="0">
                <a:solidFill>
                  <a:srgbClr val="0000B4"/>
                </a:solidFill>
                <a:latin typeface="+mn-lt"/>
              </a:rPr>
              <a:t>年龄</a:t>
            </a:r>
            <a:r>
              <a:rPr lang="zh-CN" altLang="en-US" sz="2400" dirty="0" smtClean="0">
                <a:latin typeface="+mn-lt"/>
              </a:rPr>
              <a:t>。</a:t>
            </a:r>
            <a:endParaRPr lang="zh-CN" altLang="en-US" sz="2400" dirty="0">
              <a:latin typeface="+mn-lt"/>
            </a:endParaRPr>
          </a:p>
        </p:txBody>
      </p:sp>
      <p:cxnSp>
        <p:nvCxnSpPr>
          <p:cNvPr id="9" name="Straight Connector 8"/>
          <p:cNvCxnSpPr/>
          <p:nvPr/>
        </p:nvCxnSpPr>
        <p:spPr>
          <a:xfrm flipH="1">
            <a:off x="8222079" y="2416072"/>
            <a:ext cx="200538" cy="3119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5681925" y="2963815"/>
            <a:ext cx="33317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59401" y="3896167"/>
            <a:ext cx="33317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3298279" y="5287917"/>
            <a:ext cx="33317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6059351" y="5774577"/>
            <a:ext cx="33317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617411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linds(horizontal)">
                                      <p:cBhvr>
                                        <p:cTn id="22" dur="500"/>
                                        <p:tgtEl>
                                          <p:spTgt spid="6">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Effect transition="in" filter="blinds(horizontal)">
                                      <p:cBhvr>
                                        <p:cTn id="25" dur="500"/>
                                        <p:tgtEl>
                                          <p:spTgt spid="6">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 calcmode="lin" valueType="num">
                                      <p:cBhvr additive="base">
                                        <p:cTn id="30"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 calcmode="lin" valueType="num">
                                      <p:cBhvr additive="base">
                                        <p:cTn id="36" dur="50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6.2.1 </a:t>
            </a:r>
            <a:r>
              <a:rPr lang="zh-CN" altLang="en-US" dirty="0"/>
              <a:t>函数依赖</a:t>
            </a:r>
            <a:endParaRPr lang="en-US" dirty="0"/>
          </a:p>
        </p:txBody>
      </p:sp>
      <p:sp>
        <p:nvSpPr>
          <p:cNvPr id="3" name="Content Placeholder 2"/>
          <p:cNvSpPr>
            <a:spLocks noGrp="1"/>
          </p:cNvSpPr>
          <p:nvPr>
            <p:ph idx="1"/>
          </p:nvPr>
        </p:nvSpPr>
        <p:spPr/>
        <p:txBody>
          <a:bodyPr/>
          <a:lstStyle/>
          <a:p>
            <a:pPr>
              <a:lnSpc>
                <a:spcPct val="120000"/>
              </a:lnSpc>
              <a:buNone/>
            </a:pPr>
            <a:r>
              <a:rPr lang="en-US" altLang="zh-CN" sz="2400" dirty="0"/>
              <a:t>4. </a:t>
            </a:r>
            <a:r>
              <a:rPr lang="zh-CN" altLang="en-US" sz="2400" dirty="0"/>
              <a:t>传递函数依赖</a:t>
            </a:r>
          </a:p>
          <a:p>
            <a:pPr>
              <a:lnSpc>
                <a:spcPct val="120000"/>
              </a:lnSpc>
              <a:buNone/>
            </a:pPr>
            <a:r>
              <a:rPr lang="en-US" altLang="zh-CN" sz="2400" dirty="0" smtClean="0">
                <a:solidFill>
                  <a:srgbClr val="FF0000"/>
                </a:solidFill>
              </a:rPr>
              <a:t> </a:t>
            </a:r>
            <a:r>
              <a:rPr lang="zh-CN" altLang="en-US" sz="2400" dirty="0" smtClean="0">
                <a:solidFill>
                  <a:srgbClr val="FF0000"/>
                </a:solidFill>
              </a:rPr>
              <a:t>定义</a:t>
            </a:r>
            <a:r>
              <a:rPr lang="en-US" altLang="zh-CN" sz="2400" dirty="0" smtClean="0">
                <a:solidFill>
                  <a:srgbClr val="FF0000"/>
                </a:solidFill>
              </a:rPr>
              <a:t>6.3     </a:t>
            </a:r>
            <a:r>
              <a:rPr lang="zh-CN" altLang="en-US" sz="2400" dirty="0"/>
              <a:t>在关系模式</a:t>
            </a:r>
            <a:r>
              <a:rPr lang="en-US" altLang="zh-CN" sz="2400" dirty="0"/>
              <a:t>R(U)</a:t>
            </a:r>
            <a:r>
              <a:rPr lang="zh-CN" altLang="en-US" sz="2400" dirty="0"/>
              <a:t>中，如果</a:t>
            </a:r>
            <a:r>
              <a:rPr lang="en-US" altLang="zh-CN" sz="2400" dirty="0"/>
              <a:t>X→Y</a:t>
            </a:r>
            <a:r>
              <a:rPr lang="zh-CN" altLang="en-US" sz="2400" dirty="0"/>
              <a:t>，</a:t>
            </a:r>
            <a:r>
              <a:rPr lang="en-US" altLang="zh-CN" sz="2400" dirty="0"/>
              <a:t>Y→Z</a:t>
            </a:r>
            <a:r>
              <a:rPr lang="zh-CN" altLang="en-US" sz="2400" dirty="0" smtClean="0"/>
              <a:t>，</a:t>
            </a:r>
            <a:endParaRPr lang="en-US" altLang="zh-CN" sz="2400" dirty="0" smtClean="0"/>
          </a:p>
          <a:p>
            <a:pPr>
              <a:lnSpc>
                <a:spcPct val="120000"/>
              </a:lnSpc>
              <a:buNone/>
            </a:pPr>
            <a:r>
              <a:rPr lang="en-US" altLang="zh-CN" sz="2400" dirty="0"/>
              <a:t> </a:t>
            </a:r>
            <a:r>
              <a:rPr lang="en-US" altLang="zh-CN" sz="2400" dirty="0" smtClean="0"/>
              <a:t>  </a:t>
            </a:r>
            <a:r>
              <a:rPr lang="zh-CN" altLang="en-US" sz="2400" dirty="0" smtClean="0"/>
              <a:t>且</a:t>
            </a:r>
            <a:r>
              <a:rPr lang="en-US" altLang="zh-CN" sz="2400" dirty="0"/>
              <a:t>Y </a:t>
            </a:r>
            <a:r>
              <a:rPr lang="en-US" altLang="zh-CN" sz="2400" dirty="0">
                <a:sym typeface="Symbol" charset="0"/>
              </a:rPr>
              <a:t></a:t>
            </a:r>
            <a:r>
              <a:rPr lang="en-US" altLang="zh-CN" sz="2400" dirty="0"/>
              <a:t>X</a:t>
            </a:r>
            <a:r>
              <a:rPr lang="zh-CN" altLang="en-US" sz="2400" dirty="0" smtClean="0"/>
              <a:t>，</a:t>
            </a:r>
            <a:r>
              <a:rPr lang="en-US" altLang="zh-CN" sz="2400" dirty="0" smtClean="0"/>
              <a:t>Y</a:t>
            </a:r>
            <a:r>
              <a:rPr lang="en-US" altLang="zh-CN" sz="2400" dirty="0"/>
              <a:t>→X</a:t>
            </a:r>
            <a:r>
              <a:rPr lang="zh-CN" altLang="en-US" sz="2400" dirty="0" smtClean="0"/>
              <a:t>，</a:t>
            </a:r>
            <a:r>
              <a:rPr lang="en-US" altLang="zh-CN" sz="2400" dirty="0" smtClean="0"/>
              <a:t>Z </a:t>
            </a:r>
            <a:r>
              <a:rPr lang="en-US" altLang="zh-CN" sz="2400" dirty="0" smtClean="0">
                <a:sym typeface="Symbol" charset="0"/>
              </a:rPr>
              <a:t> Y</a:t>
            </a:r>
            <a:r>
              <a:rPr lang="zh-CN" altLang="en-US" sz="2400" dirty="0" smtClean="0"/>
              <a:t>，则称</a:t>
            </a:r>
            <a:r>
              <a:rPr lang="en-US" altLang="zh-CN" sz="2400" dirty="0"/>
              <a:t>Z</a:t>
            </a:r>
            <a:r>
              <a:rPr lang="zh-CN" altLang="en-US" sz="2400" dirty="0"/>
              <a:t>传递函数依赖于</a:t>
            </a:r>
            <a:r>
              <a:rPr lang="en-US" altLang="zh-CN" sz="2400" dirty="0"/>
              <a:t>X</a:t>
            </a:r>
            <a:r>
              <a:rPr lang="zh-CN" altLang="en-US" sz="2400" dirty="0" smtClean="0"/>
              <a:t>。记为：</a:t>
            </a:r>
            <a:r>
              <a:rPr lang="en-US" altLang="zh-CN" sz="2400" dirty="0" smtClean="0"/>
              <a:t>X      Z</a:t>
            </a:r>
            <a:r>
              <a:rPr lang="zh-CN" altLang="en-US" sz="2400" dirty="0" smtClean="0"/>
              <a:t>。</a:t>
            </a:r>
            <a:endParaRPr lang="zh-CN" altLang="en-US" sz="2400" dirty="0"/>
          </a:p>
          <a:p>
            <a:pPr>
              <a:lnSpc>
                <a:spcPct val="120000"/>
              </a:lnSpc>
              <a:buNone/>
            </a:pPr>
            <a:endParaRPr lang="zh-CN" altLang="en-US" sz="1000" dirty="0"/>
          </a:p>
          <a:p>
            <a:pPr>
              <a:lnSpc>
                <a:spcPct val="120000"/>
              </a:lnSpc>
              <a:buNone/>
            </a:pPr>
            <a:r>
              <a:rPr lang="zh-CN" altLang="en-US" sz="2400" dirty="0"/>
              <a:t> </a:t>
            </a:r>
            <a:r>
              <a:rPr lang="zh-CN" altLang="en-US" sz="2400" dirty="0" smtClean="0"/>
              <a:t>注</a:t>
            </a:r>
            <a:r>
              <a:rPr lang="en-US" altLang="zh-CN" sz="2400" dirty="0"/>
              <a:t>: </a:t>
            </a:r>
            <a:r>
              <a:rPr lang="zh-CN" altLang="en-US" sz="2400" dirty="0"/>
              <a:t>如果</a:t>
            </a:r>
            <a:r>
              <a:rPr lang="en-US" altLang="zh-CN" sz="2400" dirty="0"/>
              <a:t>Y→X</a:t>
            </a:r>
            <a:r>
              <a:rPr lang="zh-CN" altLang="en-US" sz="2400" dirty="0"/>
              <a:t>， 即</a:t>
            </a:r>
            <a:r>
              <a:rPr lang="en-US" altLang="zh-CN" sz="2400" dirty="0"/>
              <a:t>X←→Y</a:t>
            </a:r>
            <a:r>
              <a:rPr lang="zh-CN" altLang="en-US" sz="2400" dirty="0"/>
              <a:t>，则</a:t>
            </a:r>
            <a:r>
              <a:rPr lang="en-US" altLang="zh-CN" sz="2400" dirty="0"/>
              <a:t>Z</a:t>
            </a:r>
            <a:r>
              <a:rPr lang="zh-CN" altLang="en-US" sz="2400" dirty="0"/>
              <a:t>直接依赖于</a:t>
            </a:r>
            <a:r>
              <a:rPr lang="en-US" altLang="zh-CN" sz="2400" dirty="0" smtClean="0"/>
              <a:t>X</a:t>
            </a:r>
            <a:r>
              <a:rPr lang="zh-CN" altLang="en-US" sz="2400" dirty="0" smtClean="0"/>
              <a:t>。</a:t>
            </a:r>
            <a:endParaRPr lang="en-US" altLang="zh-CN" sz="2400" dirty="0" smtClean="0"/>
          </a:p>
          <a:p>
            <a:pPr>
              <a:lnSpc>
                <a:spcPct val="120000"/>
              </a:lnSpc>
              <a:buNone/>
            </a:pPr>
            <a:endParaRPr lang="en-US" altLang="zh-CN" sz="1000" dirty="0" smtClean="0"/>
          </a:p>
          <a:p>
            <a:pPr>
              <a:lnSpc>
                <a:spcPct val="120000"/>
              </a:lnSpc>
              <a:buNone/>
            </a:pPr>
            <a:r>
              <a:rPr lang="en-US" altLang="zh-CN" sz="2400" dirty="0" smtClean="0"/>
              <a:t>  </a:t>
            </a:r>
            <a:r>
              <a:rPr lang="zh-CN" altLang="en-US" sz="2400" dirty="0" smtClean="0"/>
              <a:t>例：在前述关</a:t>
            </a:r>
            <a:r>
              <a:rPr lang="zh-CN" altLang="en-US" sz="2400" dirty="0"/>
              <a:t>系模式</a:t>
            </a:r>
            <a:r>
              <a:rPr lang="en-US" altLang="zh-CN" sz="2400" dirty="0"/>
              <a:t>SCD</a:t>
            </a:r>
            <a:r>
              <a:rPr lang="zh-CN" altLang="en-US" sz="2400" dirty="0"/>
              <a:t>中，有：</a:t>
            </a:r>
          </a:p>
          <a:p>
            <a:pPr>
              <a:buNone/>
            </a:pPr>
            <a:r>
              <a:rPr lang="zh-CN" altLang="en-US" sz="2400" dirty="0"/>
              <a:t>	       </a:t>
            </a:r>
            <a:r>
              <a:rPr lang="en-US" altLang="zh-CN" sz="2400" dirty="0" err="1" smtClean="0"/>
              <a:t>Sno→Sdept</a:t>
            </a:r>
            <a:r>
              <a:rPr lang="zh-CN" altLang="en-US" sz="2400" dirty="0" smtClean="0"/>
              <a:t>，</a:t>
            </a:r>
            <a:r>
              <a:rPr lang="en-US" altLang="zh-CN" sz="2400" dirty="0" err="1" smtClean="0"/>
              <a:t>Sdept→Mname</a:t>
            </a:r>
            <a:endParaRPr lang="en-US" altLang="zh-CN" sz="2400" dirty="0" smtClean="0"/>
          </a:p>
          <a:p>
            <a:pPr>
              <a:buNone/>
            </a:pPr>
            <a:r>
              <a:rPr lang="en-US" altLang="zh-CN" sz="2400" dirty="0"/>
              <a:t> </a:t>
            </a:r>
            <a:r>
              <a:rPr lang="en-US" altLang="zh-CN" sz="2400" dirty="0" smtClean="0"/>
              <a:t>    </a:t>
            </a:r>
            <a:r>
              <a:rPr lang="zh-CN" altLang="en-US" sz="2400" dirty="0" smtClean="0"/>
              <a:t>    </a:t>
            </a:r>
            <a:r>
              <a:rPr lang="zh-CN" altLang="en-US" sz="2400" dirty="0" smtClean="0">
                <a:solidFill>
                  <a:srgbClr val="0000B4"/>
                </a:solidFill>
              </a:rPr>
              <a:t>系主任</a:t>
            </a:r>
            <a:r>
              <a:rPr lang="en-US" altLang="zh-CN" sz="2400" dirty="0" err="1" smtClean="0">
                <a:solidFill>
                  <a:srgbClr val="0000B4"/>
                </a:solidFill>
              </a:rPr>
              <a:t>Mname</a:t>
            </a:r>
            <a:r>
              <a:rPr lang="zh-CN" altLang="en-US" sz="2400" dirty="0" smtClean="0"/>
              <a:t>传递函数依赖于</a:t>
            </a:r>
            <a:r>
              <a:rPr lang="zh-CN" altLang="en-US" sz="2400" dirty="0" smtClean="0">
                <a:solidFill>
                  <a:srgbClr val="0000B4"/>
                </a:solidFill>
              </a:rPr>
              <a:t>学号</a:t>
            </a:r>
            <a:r>
              <a:rPr lang="en-US" altLang="zh-CN" sz="2400" dirty="0" err="1" smtClean="0">
                <a:solidFill>
                  <a:srgbClr val="0000B4"/>
                </a:solidFill>
              </a:rPr>
              <a:t>Sno</a:t>
            </a:r>
            <a:r>
              <a:rPr lang="zh-CN" altLang="en-US" sz="2400" dirty="0" smtClean="0">
                <a:solidFill>
                  <a:srgbClr val="0000B4"/>
                </a:solidFill>
              </a:rPr>
              <a:t>。</a:t>
            </a:r>
            <a:endParaRPr lang="zh-CN" altLang="en-US" sz="2400" dirty="0">
              <a:solidFill>
                <a:srgbClr val="0000B4"/>
              </a:solidFill>
            </a:endParaRP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19</a:t>
            </a:fld>
            <a:endParaRPr lang="en-US" altLang="zh-CN"/>
          </a:p>
        </p:txBody>
      </p:sp>
      <p:cxnSp>
        <p:nvCxnSpPr>
          <p:cNvPr id="7" name="Straight Connector 6"/>
          <p:cNvCxnSpPr/>
          <p:nvPr/>
        </p:nvCxnSpPr>
        <p:spPr>
          <a:xfrm flipH="1">
            <a:off x="1559744" y="1983304"/>
            <a:ext cx="178257" cy="49025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H="1">
            <a:off x="2447452" y="2005588"/>
            <a:ext cx="178257" cy="49025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3383294" y="2002000"/>
            <a:ext cx="178257" cy="49025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005385" y="2696403"/>
            <a:ext cx="442067"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77342" y="2406705"/>
            <a:ext cx="648367" cy="307777"/>
          </a:xfrm>
          <a:prstGeom prst="rect">
            <a:avLst/>
          </a:prstGeom>
          <a:noFill/>
        </p:spPr>
        <p:txBody>
          <a:bodyPr wrap="square" rtlCol="0">
            <a:spAutoFit/>
          </a:bodyPr>
          <a:lstStyle/>
          <a:p>
            <a:r>
              <a:rPr lang="zh-CN" altLang="en-US" sz="1400" dirty="0" smtClean="0"/>
              <a:t>传递</a:t>
            </a:r>
            <a:endParaRPr lang="en-US" sz="1400" dirty="0"/>
          </a:p>
        </p:txBody>
      </p:sp>
    </p:spTree>
    <p:extLst>
      <p:ext uri="{BB962C8B-B14F-4D97-AF65-F5344CB8AC3E}">
        <p14:creationId xmlns:p14="http://schemas.microsoft.com/office/powerpoint/2010/main" val="9794001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blinds(horizontal)">
                                      <p:cBhvr>
                                        <p:cTn id="20" dur="500"/>
                                        <p:tgtEl>
                                          <p:spTgt spid="3">
                                            <p:txEl>
                                              <p:pRg st="6" end="6"/>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blinds(horizontal)">
                                      <p:cBhvr>
                                        <p:cTn id="23" dur="500"/>
                                        <p:tgtEl>
                                          <p:spTgt spid="3">
                                            <p:txEl>
                                              <p:pRg st="7" end="7"/>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blinds(horizontal)">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6.2.2 </a:t>
            </a:r>
            <a:r>
              <a:rPr lang="zh-CN" altLang="en-US" dirty="0" smtClean="0"/>
              <a:t>码</a:t>
            </a:r>
            <a:endParaRPr lang="en-US" dirty="0"/>
          </a:p>
        </p:txBody>
      </p:sp>
      <p:sp>
        <p:nvSpPr>
          <p:cNvPr id="3" name="Content Placeholder 2"/>
          <p:cNvSpPr>
            <a:spLocks noGrp="1"/>
          </p:cNvSpPr>
          <p:nvPr>
            <p:ph idx="1"/>
          </p:nvPr>
        </p:nvSpPr>
        <p:spPr>
          <a:xfrm>
            <a:off x="685800" y="1058408"/>
            <a:ext cx="7603126" cy="5113793"/>
          </a:xfrm>
        </p:spPr>
        <p:txBody>
          <a:bodyPr/>
          <a:lstStyle/>
          <a:p>
            <a:pPr>
              <a:buFontTx/>
              <a:buNone/>
            </a:pPr>
            <a:r>
              <a:rPr lang="zh-CN" altLang="en-US" sz="2400" dirty="0"/>
              <a:t>定义</a:t>
            </a:r>
            <a:r>
              <a:rPr lang="en-US" altLang="zh-CN" sz="2400" dirty="0" smtClean="0"/>
              <a:t>6.4  </a:t>
            </a:r>
            <a:r>
              <a:rPr lang="zh-CN" altLang="en-US" sz="2400" dirty="0"/>
              <a:t>设</a:t>
            </a:r>
            <a:r>
              <a:rPr lang="en-US" altLang="zh-CN" sz="2400" dirty="0"/>
              <a:t>K</a:t>
            </a:r>
            <a:r>
              <a:rPr lang="zh-CN" altLang="en-US" sz="2400" dirty="0"/>
              <a:t>为关系模式</a:t>
            </a:r>
            <a:r>
              <a:rPr lang="en-US" altLang="zh-CN" sz="2400" dirty="0"/>
              <a:t>R&lt;U,F&gt;</a:t>
            </a:r>
            <a:r>
              <a:rPr lang="zh-CN" altLang="en-US" sz="2400" dirty="0"/>
              <a:t>中的属性或属性组合。若</a:t>
            </a:r>
            <a:r>
              <a:rPr lang="en-US" altLang="zh-CN" sz="2400" dirty="0"/>
              <a:t>K  </a:t>
            </a:r>
            <a:r>
              <a:rPr lang="en-US" altLang="zh-CN" sz="2400" dirty="0" smtClean="0"/>
              <a:t>  </a:t>
            </a:r>
            <a:r>
              <a:rPr lang="en-US" altLang="zh-CN" sz="2400" baseline="46000" dirty="0" smtClean="0"/>
              <a:t>F  </a:t>
            </a:r>
            <a:r>
              <a:rPr lang="zh-CN" altLang="en-US" sz="2400" baseline="46000" dirty="0" smtClean="0"/>
              <a:t>  </a:t>
            </a:r>
            <a:r>
              <a:rPr lang="en-US" altLang="zh-CN" sz="2400" dirty="0"/>
              <a:t>U</a:t>
            </a:r>
            <a:r>
              <a:rPr lang="zh-CN" altLang="en-US" sz="2400" dirty="0"/>
              <a:t>，则</a:t>
            </a:r>
            <a:r>
              <a:rPr lang="en-US" altLang="zh-CN" sz="2400" dirty="0"/>
              <a:t>K</a:t>
            </a:r>
            <a:r>
              <a:rPr lang="zh-CN" altLang="en-US" sz="2400" dirty="0"/>
              <a:t>称为</a:t>
            </a:r>
            <a:r>
              <a:rPr lang="en-US" altLang="zh-CN" sz="2400" dirty="0"/>
              <a:t>R</a:t>
            </a:r>
            <a:r>
              <a:rPr lang="zh-CN" altLang="en-US" sz="2400" dirty="0" smtClean="0"/>
              <a:t>的一个</a:t>
            </a:r>
            <a:r>
              <a:rPr lang="zh-CN" altLang="en-US" sz="2400" dirty="0" smtClean="0">
                <a:solidFill>
                  <a:srgbClr val="FF0000"/>
                </a:solidFill>
              </a:rPr>
              <a:t>侯选码</a:t>
            </a:r>
            <a:r>
              <a:rPr lang="zh-CN" altLang="en-US" sz="2400" dirty="0" smtClean="0"/>
              <a:t>（</a:t>
            </a:r>
            <a:r>
              <a:rPr lang="en-US" altLang="zh-CN" sz="2400" dirty="0" smtClean="0"/>
              <a:t>Candidate </a:t>
            </a:r>
            <a:r>
              <a:rPr lang="en-US" altLang="zh-CN" sz="2400" dirty="0"/>
              <a:t>Key</a:t>
            </a:r>
            <a:r>
              <a:rPr lang="zh-CN" altLang="en-US" sz="2400" dirty="0"/>
              <a:t>）。若关系模式</a:t>
            </a:r>
            <a:r>
              <a:rPr lang="en-US" altLang="zh-CN" sz="2400" dirty="0"/>
              <a:t>R</a:t>
            </a:r>
            <a:r>
              <a:rPr lang="zh-CN" altLang="en-US" sz="2400" dirty="0"/>
              <a:t>有多个候选码，则选定其中的一个做为</a:t>
            </a:r>
            <a:r>
              <a:rPr lang="zh-CN" altLang="en-US" sz="2400" dirty="0">
                <a:solidFill>
                  <a:srgbClr val="FF0000"/>
                </a:solidFill>
              </a:rPr>
              <a:t>主码</a:t>
            </a:r>
            <a:r>
              <a:rPr lang="zh-CN" altLang="en-US" sz="2400" dirty="0"/>
              <a:t>（</a:t>
            </a:r>
            <a:r>
              <a:rPr lang="en-US" altLang="zh-CN" sz="2400" dirty="0"/>
              <a:t>Primary key</a:t>
            </a:r>
            <a:r>
              <a:rPr lang="zh-CN" altLang="en-US" sz="2400" dirty="0"/>
              <a:t>）</a:t>
            </a:r>
            <a:r>
              <a:rPr lang="zh-CN" altLang="en-US" sz="2400" dirty="0" smtClean="0"/>
              <a:t>。</a:t>
            </a:r>
            <a:endParaRPr lang="en-US" altLang="zh-CN" sz="2400" dirty="0" smtClean="0"/>
          </a:p>
          <a:p>
            <a:pPr>
              <a:buClr>
                <a:srgbClr val="0000FF"/>
              </a:buClr>
              <a:buSzPct val="90000"/>
              <a:buFont typeface="Wingdings" charset="0"/>
              <a:buChar char="v"/>
            </a:pPr>
            <a:r>
              <a:rPr lang="en-US" altLang="zh-CN" sz="2400" dirty="0"/>
              <a:t> </a:t>
            </a:r>
            <a:r>
              <a:rPr lang="zh-CN" altLang="en-US" sz="2400" dirty="0"/>
              <a:t>最简单情况：单个属性为码，称为</a:t>
            </a:r>
            <a:r>
              <a:rPr lang="zh-CN" altLang="en-US" sz="2400" dirty="0">
                <a:solidFill>
                  <a:srgbClr val="0000FF"/>
                </a:solidFill>
              </a:rPr>
              <a:t>单属性码</a:t>
            </a:r>
            <a:r>
              <a:rPr lang="zh-CN" altLang="en-US" sz="2400" dirty="0"/>
              <a:t>；</a:t>
            </a:r>
          </a:p>
          <a:p>
            <a:pPr>
              <a:buClr>
                <a:srgbClr val="0000FF"/>
              </a:buClr>
              <a:buSzPct val="90000"/>
              <a:buFont typeface="Wingdings" charset="0"/>
              <a:buChar char="v"/>
            </a:pPr>
            <a:r>
              <a:rPr lang="zh-CN" altLang="en-US" sz="2400" dirty="0"/>
              <a:t> 一般情况：码为多个属性，称为</a:t>
            </a:r>
            <a:r>
              <a:rPr lang="zh-CN" altLang="en-US" sz="2400" dirty="0">
                <a:solidFill>
                  <a:srgbClr val="0000FF"/>
                </a:solidFill>
              </a:rPr>
              <a:t>多属性码</a:t>
            </a:r>
            <a:r>
              <a:rPr lang="zh-CN" altLang="en-US" sz="2400" dirty="0"/>
              <a:t>；</a:t>
            </a:r>
          </a:p>
          <a:p>
            <a:pPr>
              <a:buClr>
                <a:srgbClr val="0000FF"/>
              </a:buClr>
              <a:buSzPct val="90000"/>
              <a:buFont typeface="Wingdings" charset="0"/>
              <a:buChar char="v"/>
            </a:pPr>
            <a:r>
              <a:rPr lang="zh-CN" altLang="en-US" sz="2400" dirty="0"/>
              <a:t> 最极端情况：全部属性为码，称为</a:t>
            </a:r>
            <a:r>
              <a:rPr lang="zh-CN" altLang="en-US" sz="2400" dirty="0">
                <a:solidFill>
                  <a:srgbClr val="0000FF"/>
                </a:solidFill>
              </a:rPr>
              <a:t>全码</a:t>
            </a:r>
            <a:r>
              <a:rPr lang="zh-CN" altLang="en-US" sz="2400" dirty="0"/>
              <a:t>。</a:t>
            </a:r>
          </a:p>
          <a:p>
            <a:pPr marL="231775" indent="-231775"/>
            <a:r>
              <a:rPr lang="zh-CN" altLang="en-US" sz="2400" dirty="0" smtClean="0">
                <a:solidFill>
                  <a:srgbClr val="FF0000"/>
                </a:solidFill>
              </a:rPr>
              <a:t>主码</a:t>
            </a:r>
            <a:r>
              <a:rPr lang="en-US" altLang="zh-CN" sz="2400" dirty="0" smtClean="0"/>
              <a:t>—</a:t>
            </a:r>
            <a:r>
              <a:rPr lang="en-US" altLang="zh-CN" sz="2400" dirty="0"/>
              <a:t>— </a:t>
            </a:r>
            <a:r>
              <a:rPr lang="zh-CN" altLang="en-US" sz="2400" dirty="0"/>
              <a:t>任选候选码之一。</a:t>
            </a:r>
          </a:p>
          <a:p>
            <a:pPr marL="231775" indent="-231775"/>
            <a:r>
              <a:rPr lang="zh-CN" altLang="en-US" sz="2400" dirty="0" smtClean="0">
                <a:solidFill>
                  <a:srgbClr val="FF0000"/>
                </a:solidFill>
              </a:rPr>
              <a:t>主属性</a:t>
            </a:r>
            <a:r>
              <a:rPr lang="en-US" altLang="zh-CN" sz="2400" dirty="0" smtClean="0"/>
              <a:t>—</a:t>
            </a:r>
            <a:r>
              <a:rPr lang="en-US" altLang="zh-CN" sz="2400" dirty="0"/>
              <a:t>— </a:t>
            </a:r>
            <a:r>
              <a:rPr lang="zh-CN" altLang="en-US" sz="2400" dirty="0"/>
              <a:t>包含在任何一个候选码中的属性。</a:t>
            </a:r>
          </a:p>
          <a:p>
            <a:pPr marL="231775" indent="-231775"/>
            <a:r>
              <a:rPr lang="zh-CN" altLang="en-US" sz="2400" dirty="0" smtClean="0">
                <a:solidFill>
                  <a:srgbClr val="FF0000"/>
                </a:solidFill>
              </a:rPr>
              <a:t>非主属性</a:t>
            </a:r>
            <a:r>
              <a:rPr lang="en-US" altLang="zh-CN" sz="2400" dirty="0" smtClean="0"/>
              <a:t>—</a:t>
            </a:r>
            <a:r>
              <a:rPr lang="en-US" altLang="zh-CN" sz="2400" dirty="0"/>
              <a:t>—</a:t>
            </a:r>
            <a:r>
              <a:rPr lang="zh-CN" altLang="en-US" sz="2400" dirty="0"/>
              <a:t>不包含在任何一个候选码中的属性</a:t>
            </a:r>
            <a:r>
              <a:rPr lang="zh-CN" altLang="en-US" sz="2400" dirty="0" smtClean="0"/>
              <a:t>。</a:t>
            </a:r>
            <a:endParaRPr lang="en-US" altLang="zh-CN" sz="2400" dirty="0" smtClean="0"/>
          </a:p>
          <a:p>
            <a:pPr marL="231775" indent="-231775"/>
            <a:r>
              <a:rPr lang="zh-CN" altLang="en-US" sz="2400" dirty="0" smtClean="0">
                <a:solidFill>
                  <a:srgbClr val="FF0000"/>
                </a:solidFill>
              </a:rPr>
              <a:t>超码</a:t>
            </a:r>
            <a:r>
              <a:rPr lang="en-US" altLang="zh-CN" sz="2400" dirty="0" smtClean="0"/>
              <a:t>——</a:t>
            </a:r>
            <a:r>
              <a:rPr lang="zh-CN" altLang="en-US" sz="2400" dirty="0" smtClean="0"/>
              <a:t>若</a:t>
            </a:r>
            <a:r>
              <a:rPr lang="en-US" altLang="zh-CN" sz="2400" dirty="0"/>
              <a:t>K   </a:t>
            </a:r>
            <a:r>
              <a:rPr lang="en-US" altLang="zh-CN" sz="2400" baseline="46000" dirty="0" smtClean="0"/>
              <a:t>P  </a:t>
            </a:r>
            <a:r>
              <a:rPr lang="zh-CN" altLang="en-US" sz="2400" baseline="46000" dirty="0" smtClean="0"/>
              <a:t>  </a:t>
            </a:r>
            <a:r>
              <a:rPr lang="en-US" altLang="zh-CN" sz="2400" dirty="0" smtClean="0"/>
              <a:t>U</a:t>
            </a:r>
            <a:r>
              <a:rPr lang="zh-CN" altLang="en-US" sz="2400" dirty="0" smtClean="0"/>
              <a:t>，则</a:t>
            </a:r>
            <a:r>
              <a:rPr lang="en-US" altLang="zh-CN" sz="2400" dirty="0" smtClean="0"/>
              <a:t>K</a:t>
            </a:r>
            <a:r>
              <a:rPr lang="zh-CN" altLang="en-US" sz="2400" dirty="0" smtClean="0"/>
              <a:t>称为超码。</a:t>
            </a:r>
            <a:endParaRPr lang="zh-CN" altLang="en-US" sz="2400" dirty="0"/>
          </a:p>
          <a:p>
            <a:pPr>
              <a:buFontTx/>
              <a:buNone/>
            </a:pPr>
            <a:endParaRPr lang="zh-CN" alt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20</a:t>
            </a:fld>
            <a:endParaRPr lang="en-US" altLang="zh-CN"/>
          </a:p>
        </p:txBody>
      </p:sp>
      <p:cxnSp>
        <p:nvCxnSpPr>
          <p:cNvPr id="11" name="Straight Arrow Connector 10"/>
          <p:cNvCxnSpPr/>
          <p:nvPr/>
        </p:nvCxnSpPr>
        <p:spPr>
          <a:xfrm>
            <a:off x="1178205" y="1668972"/>
            <a:ext cx="467923"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2623987" y="5514054"/>
            <a:ext cx="467923"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329656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6.2.2 </a:t>
            </a:r>
            <a:r>
              <a:rPr lang="zh-CN" altLang="en-US" dirty="0"/>
              <a:t>码</a:t>
            </a:r>
            <a:endParaRPr lang="en-US" dirty="0"/>
          </a:p>
        </p:txBody>
      </p:sp>
      <p:sp>
        <p:nvSpPr>
          <p:cNvPr id="3" name="Content Placeholder 2"/>
          <p:cNvSpPr>
            <a:spLocks noGrp="1"/>
          </p:cNvSpPr>
          <p:nvPr>
            <p:ph idx="1"/>
          </p:nvPr>
        </p:nvSpPr>
        <p:spPr/>
        <p:txBody>
          <a:bodyPr/>
          <a:lstStyle/>
          <a:p>
            <a:pPr>
              <a:lnSpc>
                <a:spcPct val="140000"/>
              </a:lnSpc>
              <a:buNone/>
            </a:pPr>
            <a:r>
              <a:rPr lang="zh-CN" altLang="en-US" dirty="0">
                <a:latin typeface="宋体" charset="0"/>
              </a:rPr>
              <a:t>定义</a:t>
            </a:r>
            <a:r>
              <a:rPr lang="en-US" altLang="zh-CN" dirty="0"/>
              <a:t>6.6</a:t>
            </a:r>
            <a:r>
              <a:rPr lang="en-US" altLang="zh-CN" dirty="0">
                <a:latin typeface="宋体" charset="0"/>
              </a:rPr>
              <a:t>  </a:t>
            </a:r>
            <a:r>
              <a:rPr lang="zh-CN" altLang="en-US" dirty="0">
                <a:latin typeface="宋体" charset="0"/>
              </a:rPr>
              <a:t>关系模式 </a:t>
            </a:r>
            <a:r>
              <a:rPr lang="en-US" altLang="zh-CN" i="1" dirty="0"/>
              <a:t>R </a:t>
            </a:r>
            <a:r>
              <a:rPr lang="zh-CN" altLang="en-US" dirty="0">
                <a:latin typeface="宋体" charset="0"/>
              </a:rPr>
              <a:t>中属性或属性组</a:t>
            </a:r>
            <a:r>
              <a:rPr lang="en-US" altLang="zh-CN" i="1" dirty="0"/>
              <a:t>X </a:t>
            </a:r>
            <a:r>
              <a:rPr lang="zh-CN" altLang="en-US" dirty="0">
                <a:latin typeface="宋体" charset="0"/>
              </a:rPr>
              <a:t>并非</a:t>
            </a:r>
            <a:r>
              <a:rPr lang="en-US" altLang="zh-CN" i="1" dirty="0"/>
              <a:t>R</a:t>
            </a:r>
            <a:r>
              <a:rPr lang="zh-CN" altLang="en-US" dirty="0">
                <a:latin typeface="宋体" charset="0"/>
              </a:rPr>
              <a:t>的码，但 </a:t>
            </a:r>
            <a:r>
              <a:rPr lang="en-US" altLang="zh-CN" i="1" dirty="0"/>
              <a:t>X</a:t>
            </a:r>
            <a:r>
              <a:rPr lang="en-US" altLang="zh-CN" i="1" dirty="0">
                <a:latin typeface="宋体" charset="0"/>
              </a:rPr>
              <a:t> </a:t>
            </a:r>
            <a:r>
              <a:rPr lang="zh-CN" altLang="en-US" dirty="0">
                <a:latin typeface="宋体" charset="0"/>
              </a:rPr>
              <a:t>是另一个关系模式的码，则称 </a:t>
            </a:r>
            <a:r>
              <a:rPr lang="en-US" altLang="zh-CN" i="1" dirty="0"/>
              <a:t>X</a:t>
            </a:r>
            <a:r>
              <a:rPr lang="en-US" altLang="zh-CN" i="1" dirty="0">
                <a:latin typeface="宋体" charset="0"/>
              </a:rPr>
              <a:t> </a:t>
            </a:r>
            <a:r>
              <a:rPr lang="zh-CN" altLang="en-US" dirty="0">
                <a:latin typeface="宋体" charset="0"/>
              </a:rPr>
              <a:t>是</a:t>
            </a:r>
            <a:r>
              <a:rPr lang="en-US" altLang="zh-CN" i="1" dirty="0"/>
              <a:t>R </a:t>
            </a:r>
            <a:r>
              <a:rPr lang="zh-CN" altLang="en-US" dirty="0">
                <a:latin typeface="宋体" charset="0"/>
              </a:rPr>
              <a:t>的</a:t>
            </a:r>
            <a:r>
              <a:rPr lang="zh-CN" altLang="en-US" dirty="0">
                <a:solidFill>
                  <a:srgbClr val="FF0000"/>
                </a:solidFill>
                <a:latin typeface="宋体" charset="0"/>
              </a:rPr>
              <a:t>外部码</a:t>
            </a:r>
            <a:r>
              <a:rPr lang="zh-CN" altLang="en-US" dirty="0"/>
              <a:t>（</a:t>
            </a:r>
            <a:r>
              <a:rPr lang="en-US" altLang="zh-CN" dirty="0"/>
              <a:t>Foreign key</a:t>
            </a:r>
            <a:r>
              <a:rPr lang="zh-CN" altLang="en-US" dirty="0"/>
              <a:t>）</a:t>
            </a:r>
            <a:r>
              <a:rPr lang="zh-CN" altLang="en-US" dirty="0" smtClean="0">
                <a:latin typeface="宋体" charset="0"/>
              </a:rPr>
              <a:t>也称</a:t>
            </a:r>
            <a:r>
              <a:rPr lang="zh-CN" altLang="en-US" dirty="0" smtClean="0">
                <a:solidFill>
                  <a:srgbClr val="FF0000"/>
                </a:solidFill>
                <a:latin typeface="宋体" charset="0"/>
              </a:rPr>
              <a:t>外码</a:t>
            </a:r>
            <a:r>
              <a:rPr lang="zh-CN" altLang="en-US" dirty="0" smtClean="0">
                <a:latin typeface="宋体" charset="0"/>
              </a:rPr>
              <a:t>。</a:t>
            </a:r>
            <a:endParaRPr lang="zh-CN" altLang="en-US" dirty="0">
              <a:latin typeface="宋体" charset="0"/>
            </a:endParaRPr>
          </a:p>
          <a:p>
            <a:pPr>
              <a:lnSpc>
                <a:spcPct val="140000"/>
              </a:lnSpc>
            </a:pPr>
            <a:r>
              <a:rPr lang="zh-CN" altLang="en-US" sz="2400" dirty="0"/>
              <a:t>主码和外部码一起提供了表示关系间联系的手段</a:t>
            </a:r>
            <a:r>
              <a:rPr lang="zh-CN" altLang="en-US" sz="1800" dirty="0"/>
              <a:t>。</a:t>
            </a:r>
          </a:p>
          <a:p>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21</a:t>
            </a:fld>
            <a:endParaRPr lang="en-US" altLang="zh-CN"/>
          </a:p>
        </p:txBody>
      </p:sp>
    </p:spTree>
    <p:extLst>
      <p:ext uri="{BB962C8B-B14F-4D97-AF65-F5344CB8AC3E}">
        <p14:creationId xmlns:p14="http://schemas.microsoft.com/office/powerpoint/2010/main" val="4025409253"/>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6.2.3 </a:t>
            </a:r>
            <a:r>
              <a:rPr lang="zh-CN" altLang="en-US" dirty="0" smtClean="0"/>
              <a:t>范式</a:t>
            </a:r>
            <a:endParaRPr lang="en-US" dirty="0"/>
          </a:p>
        </p:txBody>
      </p:sp>
      <p:sp>
        <p:nvSpPr>
          <p:cNvPr id="3" name="Content Placeholder 2"/>
          <p:cNvSpPr>
            <a:spLocks noGrp="1"/>
          </p:cNvSpPr>
          <p:nvPr>
            <p:ph idx="1"/>
          </p:nvPr>
        </p:nvSpPr>
        <p:spPr/>
        <p:txBody>
          <a:bodyPr/>
          <a:lstStyle/>
          <a:p>
            <a:r>
              <a:rPr lang="zh-CN" altLang="en-US" sz="2400" dirty="0">
                <a:solidFill>
                  <a:srgbClr val="0000FF"/>
                </a:solidFill>
              </a:rPr>
              <a:t>规范化的基本思路</a:t>
            </a:r>
            <a:r>
              <a:rPr lang="en-US" altLang="zh-CN" sz="2400" dirty="0"/>
              <a:t>—</a:t>
            </a:r>
            <a:r>
              <a:rPr lang="en-US" altLang="zh-CN" sz="2400" dirty="0" smtClean="0"/>
              <a:t>—</a:t>
            </a:r>
            <a:r>
              <a:rPr lang="zh-CN" altLang="en-US" sz="2400" dirty="0"/>
              <a:t>是用来改造关系模式，通过分解关系模式来消除其中不合适的数据依赖，以解决插入异常、删除异常、</a:t>
            </a:r>
            <a:r>
              <a:rPr lang="zh-CN" altLang="en-US" sz="2400" dirty="0" smtClean="0"/>
              <a:t>更新异常和数据冗余问题。</a:t>
            </a:r>
            <a:endParaRPr lang="zh-CN" altLang="en-US" sz="2400" dirty="0"/>
          </a:p>
          <a:p>
            <a:r>
              <a:rPr lang="zh-CN" altLang="en-US" sz="2400" dirty="0"/>
              <a:t>这就要求设计出来的关系模式要</a:t>
            </a:r>
            <a:r>
              <a:rPr lang="zh-CN" altLang="en-US" sz="2400" dirty="0">
                <a:solidFill>
                  <a:srgbClr val="0000FF"/>
                </a:solidFill>
              </a:rPr>
              <a:t>满足一定的条件</a:t>
            </a:r>
            <a:r>
              <a:rPr lang="zh-CN" altLang="en-US" sz="2400" dirty="0"/>
              <a:t>。我们把关系数据库的规范化过程中为不同程度的规范化要求设立的不同标准称为</a:t>
            </a:r>
            <a:r>
              <a:rPr lang="zh-CN" altLang="en-US" sz="2400" dirty="0">
                <a:solidFill>
                  <a:srgbClr val="FF0066"/>
                </a:solidFill>
                <a:effectLst>
                  <a:outerShdw blurRad="38100" dist="38100" dir="2700000" algn="tl">
                    <a:srgbClr val="000000"/>
                  </a:outerShdw>
                </a:effectLst>
              </a:rPr>
              <a:t>范式</a:t>
            </a:r>
            <a:r>
              <a:rPr lang="zh-CN" altLang="en-US" sz="2400" dirty="0"/>
              <a:t>（</a:t>
            </a:r>
            <a:r>
              <a:rPr lang="en-US" altLang="zh-CN" sz="2400" dirty="0"/>
              <a:t>Normal Form</a:t>
            </a:r>
            <a:r>
              <a:rPr lang="zh-CN" altLang="en-US" sz="2400" dirty="0"/>
              <a:t>）。</a:t>
            </a:r>
          </a:p>
          <a:p>
            <a:r>
              <a:rPr lang="zh-CN" altLang="en-US" sz="2400" dirty="0"/>
              <a:t>满足最基本规范化要求的关系模式叫</a:t>
            </a:r>
            <a:r>
              <a:rPr lang="zh-CN" altLang="en-US" sz="2400" dirty="0">
                <a:solidFill>
                  <a:srgbClr val="FF0066"/>
                </a:solidFill>
                <a:effectLst>
                  <a:outerShdw blurRad="38100" dist="38100" dir="2700000" algn="tl">
                    <a:srgbClr val="000000"/>
                  </a:outerShdw>
                </a:effectLst>
              </a:rPr>
              <a:t>第一范式</a:t>
            </a:r>
            <a:r>
              <a:rPr lang="zh-CN" altLang="en-US" sz="2400" dirty="0"/>
              <a:t>，</a:t>
            </a:r>
          </a:p>
          <a:p>
            <a:r>
              <a:rPr lang="zh-CN" altLang="en-US" sz="2400" dirty="0"/>
              <a:t>在第一范式中进一步满足一些要求为</a:t>
            </a:r>
            <a:r>
              <a:rPr lang="zh-CN" altLang="en-US" sz="2400" dirty="0">
                <a:solidFill>
                  <a:srgbClr val="FF0066"/>
                </a:solidFill>
                <a:effectLst>
                  <a:outerShdw blurRad="38100" dist="38100" dir="2700000" algn="tl">
                    <a:srgbClr val="000000"/>
                  </a:outerShdw>
                </a:effectLst>
              </a:rPr>
              <a:t>第二范式</a:t>
            </a:r>
            <a:r>
              <a:rPr lang="zh-CN" altLang="en-US" sz="2400" dirty="0" smtClean="0"/>
              <a:t>，</a:t>
            </a:r>
            <a:r>
              <a:rPr lang="en-US" altLang="zh-CN" sz="2400" dirty="0" smtClean="0"/>
              <a:t>……</a:t>
            </a:r>
            <a:endParaRPr lang="zh-CN" altLang="en-US" sz="2400" dirty="0"/>
          </a:p>
          <a:p>
            <a:r>
              <a:rPr lang="zh-CN" altLang="en-US" sz="2400" dirty="0" smtClean="0"/>
              <a:t>通过</a:t>
            </a:r>
            <a:r>
              <a:rPr lang="zh-CN" altLang="en-US" sz="2400" u="sng" dirty="0" smtClean="0">
                <a:solidFill>
                  <a:srgbClr val="FF0000"/>
                </a:solidFill>
              </a:rPr>
              <a:t>模式分解</a:t>
            </a:r>
            <a:r>
              <a:rPr lang="zh-CN" altLang="en-US" sz="2400" dirty="0" smtClean="0"/>
              <a:t>将一个低级范式转换为若干个高级范</a:t>
            </a:r>
            <a:r>
              <a:rPr lang="zh-CN" altLang="en-US" sz="2400" dirty="0"/>
              <a:t>式的过程称作</a:t>
            </a:r>
            <a:r>
              <a:rPr lang="zh-CN" altLang="en-US" sz="2400" dirty="0">
                <a:solidFill>
                  <a:srgbClr val="FF0000"/>
                </a:solidFill>
              </a:rPr>
              <a:t>规范化</a:t>
            </a:r>
            <a:r>
              <a:rPr lang="zh-CN" altLang="en-US" sz="2400" dirty="0"/>
              <a:t>。</a:t>
            </a:r>
          </a:p>
          <a:p>
            <a:endParaRPr lang="zh-CN" altLang="en-US" sz="2400" dirty="0"/>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22</a:t>
            </a:fld>
            <a:endParaRPr lang="en-US" altLang="zh-CN"/>
          </a:p>
        </p:txBody>
      </p:sp>
      <p:graphicFrame>
        <p:nvGraphicFramePr>
          <p:cNvPr id="6" name="Object 17"/>
          <p:cNvGraphicFramePr>
            <a:graphicFrameLocks noChangeAspect="1"/>
          </p:cNvGraphicFramePr>
          <p:nvPr>
            <p:extLst>
              <p:ext uri="{D42A27DB-BD31-4B8C-83A1-F6EECF244321}">
                <p14:modId xmlns:p14="http://schemas.microsoft.com/office/powerpoint/2010/main" val="1933767006"/>
              </p:ext>
            </p:extLst>
          </p:nvPr>
        </p:nvGraphicFramePr>
        <p:xfrm>
          <a:off x="2411413" y="5199063"/>
          <a:ext cx="3581400" cy="973138"/>
        </p:xfrm>
        <a:graphic>
          <a:graphicData uri="http://schemas.openxmlformats.org/presentationml/2006/ole">
            <mc:AlternateContent xmlns:mc="http://schemas.openxmlformats.org/markup-compatibility/2006">
              <mc:Choice xmlns:v="urn:schemas-microsoft-com:vml" Requires="v">
                <p:oleObj spid="_x0000_s29794" name="Equation" r:id="rId3" imgW="1498320" imgH="406080" progId="Equation.3">
                  <p:embed/>
                </p:oleObj>
              </mc:Choice>
              <mc:Fallback>
                <p:oleObj name="Equation" r:id="rId3" imgW="1498320" imgH="4060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5199063"/>
                        <a:ext cx="3581400" cy="97313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53934688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b="0" dirty="0" smtClean="0">
                <a:solidFill>
                  <a:schemeClr val="tx1"/>
                </a:solidFill>
                <a:effectLst>
                  <a:outerShdw blurRad="38100" dist="38100" dir="2700000" algn="tl">
                    <a:srgbClr val="000000"/>
                  </a:outerShdw>
                </a:effectLst>
                <a:latin typeface="Arial Narrow"/>
                <a:ea typeface="楷体_GB2312" pitchFamily="49" charset="-122"/>
                <a:cs typeface="Arial Narrow"/>
              </a:rPr>
              <a:t>第一范式</a:t>
            </a:r>
            <a:r>
              <a:rPr lang="zh-CN" altLang="en-US" b="0" dirty="0">
                <a:solidFill>
                  <a:schemeClr val="tx1"/>
                </a:solidFill>
                <a:effectLst>
                  <a:outerShdw blurRad="38100" dist="38100" dir="2700000" algn="tl">
                    <a:srgbClr val="000000"/>
                  </a:outerShdw>
                </a:effectLst>
                <a:latin typeface="Arial Narrow"/>
                <a:ea typeface="楷体_GB2312" pitchFamily="49" charset="-122"/>
                <a:cs typeface="Arial Narrow"/>
              </a:rPr>
              <a:t>（</a:t>
            </a:r>
            <a:r>
              <a:rPr lang="en-US" altLang="zh-CN" b="0" dirty="0">
                <a:solidFill>
                  <a:schemeClr val="tx1"/>
                </a:solidFill>
                <a:effectLst>
                  <a:outerShdw blurRad="38100" dist="38100" dir="2700000" algn="tl">
                    <a:srgbClr val="000000"/>
                  </a:outerShdw>
                </a:effectLst>
                <a:latin typeface="Arial Narrow"/>
                <a:ea typeface="楷体_GB2312" pitchFamily="49" charset="-122"/>
                <a:cs typeface="Arial Narrow"/>
              </a:rPr>
              <a:t>First Normal </a:t>
            </a:r>
            <a:r>
              <a:rPr lang="en-US" altLang="zh-CN" b="0" dirty="0" smtClean="0">
                <a:solidFill>
                  <a:schemeClr val="tx1"/>
                </a:solidFill>
                <a:effectLst>
                  <a:outerShdw blurRad="38100" dist="38100" dir="2700000" algn="tl">
                    <a:srgbClr val="000000"/>
                  </a:outerShdw>
                </a:effectLst>
                <a:latin typeface="Arial Narrow"/>
                <a:ea typeface="楷体_GB2312" pitchFamily="49" charset="-122"/>
                <a:cs typeface="Arial Narrow"/>
              </a:rPr>
              <a:t>Form</a:t>
            </a:r>
            <a:r>
              <a:rPr lang="zh-CN" altLang="en-US" b="0" dirty="0" smtClean="0">
                <a:solidFill>
                  <a:schemeClr val="tx1"/>
                </a:solidFill>
                <a:effectLst>
                  <a:outerShdw blurRad="38100" dist="38100" dir="2700000" algn="tl">
                    <a:srgbClr val="000000"/>
                  </a:outerShdw>
                </a:effectLst>
                <a:latin typeface="Arial Narrow"/>
                <a:ea typeface="楷体_GB2312" pitchFamily="49" charset="-122"/>
                <a:cs typeface="Arial Narrow"/>
              </a:rPr>
              <a:t>，</a:t>
            </a:r>
            <a:r>
              <a:rPr lang="en-US" altLang="zh-CN" b="0" dirty="0" smtClean="0">
                <a:solidFill>
                  <a:schemeClr val="tx1"/>
                </a:solidFill>
                <a:effectLst>
                  <a:outerShdw blurRad="38100" dist="38100" dir="2700000" algn="tl">
                    <a:srgbClr val="000000"/>
                  </a:outerShdw>
                </a:effectLst>
                <a:latin typeface="Arial Narrow"/>
                <a:ea typeface="楷体_GB2312" pitchFamily="49" charset="-122"/>
                <a:cs typeface="Arial Narrow"/>
              </a:rPr>
              <a:t>1NF</a:t>
            </a:r>
            <a:r>
              <a:rPr lang="zh-CN" altLang="en-US" b="0" dirty="0" smtClean="0">
                <a:solidFill>
                  <a:schemeClr val="tx1"/>
                </a:solidFill>
                <a:effectLst>
                  <a:outerShdw blurRad="38100" dist="38100" dir="2700000" algn="tl">
                    <a:srgbClr val="000000"/>
                  </a:outerShdw>
                </a:effectLst>
                <a:latin typeface="Arial Narrow"/>
                <a:ea typeface="楷体_GB2312" pitchFamily="49" charset="-122"/>
                <a:cs typeface="Arial Narrow"/>
              </a:rPr>
              <a:t>）</a:t>
            </a:r>
            <a:endParaRPr lang="en-US" b="0" dirty="0">
              <a:solidFill>
                <a:schemeClr val="tx1"/>
              </a:solidFill>
              <a:latin typeface="Arial Narrow"/>
              <a:cs typeface="Arial Narrow"/>
            </a:endParaRPr>
          </a:p>
        </p:txBody>
      </p:sp>
      <p:sp>
        <p:nvSpPr>
          <p:cNvPr id="3" name="Content Placeholder 2"/>
          <p:cNvSpPr>
            <a:spLocks noGrp="1"/>
          </p:cNvSpPr>
          <p:nvPr>
            <p:ph idx="1"/>
          </p:nvPr>
        </p:nvSpPr>
        <p:spPr>
          <a:xfrm>
            <a:off x="685800" y="990668"/>
            <a:ext cx="7772400" cy="5263481"/>
          </a:xfrm>
        </p:spPr>
        <p:txBody>
          <a:bodyPr/>
          <a:lstStyle/>
          <a:p>
            <a:pPr>
              <a:lnSpc>
                <a:spcPct val="95000"/>
              </a:lnSpc>
              <a:spcBef>
                <a:spcPct val="15000"/>
              </a:spcBef>
            </a:pPr>
            <a:r>
              <a:rPr lang="zh-CN" altLang="en-US" sz="2400" dirty="0"/>
              <a:t>如果关系模式</a:t>
            </a:r>
            <a:r>
              <a:rPr lang="en-US" altLang="zh-CN" sz="2400" dirty="0"/>
              <a:t>R</a:t>
            </a:r>
            <a:r>
              <a:rPr lang="zh-CN" altLang="en-US" sz="2400" dirty="0"/>
              <a:t>，其所有的属性均为简单属性，即每个属性都是</a:t>
            </a:r>
            <a:r>
              <a:rPr lang="zh-CN" altLang="en-US" sz="2400" u="sng" dirty="0"/>
              <a:t>不可再分的</a:t>
            </a:r>
            <a:r>
              <a:rPr lang="zh-CN" altLang="en-US" sz="2400" dirty="0"/>
              <a:t>，则称</a:t>
            </a:r>
            <a:r>
              <a:rPr lang="en-US" altLang="zh-CN" sz="2400" dirty="0"/>
              <a:t>R</a:t>
            </a:r>
            <a:r>
              <a:rPr lang="zh-CN" altLang="en-US" sz="2400" dirty="0"/>
              <a:t>属于第一范式，简称</a:t>
            </a:r>
            <a:r>
              <a:rPr lang="en-US" altLang="zh-CN" sz="2400" dirty="0">
                <a:solidFill>
                  <a:srgbClr val="FF0066"/>
                </a:solidFill>
                <a:effectLst>
                  <a:outerShdw blurRad="38100" dist="38100" dir="2700000" algn="tl">
                    <a:srgbClr val="000000"/>
                  </a:outerShdw>
                </a:effectLst>
              </a:rPr>
              <a:t>1NF</a:t>
            </a:r>
            <a:r>
              <a:rPr lang="zh-CN" altLang="en-US" sz="2400" dirty="0"/>
              <a:t>，记作</a:t>
            </a:r>
            <a:r>
              <a:rPr lang="en-US" altLang="zh-CN" sz="2400" b="1" dirty="0">
                <a:solidFill>
                  <a:srgbClr val="008000"/>
                </a:solidFill>
              </a:rPr>
              <a:t>R</a:t>
            </a:r>
            <a:r>
              <a:rPr lang="en-US" altLang="zh-CN" sz="2400" b="1" dirty="0">
                <a:solidFill>
                  <a:srgbClr val="008000"/>
                </a:solidFill>
                <a:sym typeface="Symbol" charset="0"/>
              </a:rPr>
              <a:t></a:t>
            </a:r>
            <a:r>
              <a:rPr lang="en-US" altLang="zh-CN" sz="2400" b="1" dirty="0">
                <a:solidFill>
                  <a:srgbClr val="008000"/>
                </a:solidFill>
              </a:rPr>
              <a:t>1NF</a:t>
            </a:r>
            <a:r>
              <a:rPr lang="zh-CN" altLang="en-US" sz="2400" dirty="0"/>
              <a:t>。</a:t>
            </a:r>
          </a:p>
          <a:p>
            <a:pPr>
              <a:lnSpc>
                <a:spcPct val="95000"/>
              </a:lnSpc>
              <a:spcBef>
                <a:spcPct val="15000"/>
              </a:spcBef>
            </a:pPr>
            <a:r>
              <a:rPr lang="zh-CN" altLang="en-US" sz="2400" dirty="0"/>
              <a:t>第一范式是最基本的规范形式，我们把满足这个条件的关系称为</a:t>
            </a:r>
            <a:r>
              <a:rPr lang="zh-CN" altLang="en-US" sz="2400" dirty="0">
                <a:solidFill>
                  <a:srgbClr val="0000FF"/>
                </a:solidFill>
              </a:rPr>
              <a:t>规范化关系</a:t>
            </a:r>
            <a:r>
              <a:rPr lang="zh-CN" altLang="en-US" sz="2400" dirty="0" smtClean="0"/>
              <a:t>。</a:t>
            </a:r>
            <a:endParaRPr lang="en-US" altLang="zh-CN" sz="2400" dirty="0" smtClean="0"/>
          </a:p>
          <a:p>
            <a:pPr>
              <a:lnSpc>
                <a:spcPct val="95000"/>
              </a:lnSpc>
              <a:spcBef>
                <a:spcPct val="15000"/>
              </a:spcBef>
            </a:pPr>
            <a:endParaRPr lang="zh-CN" altLang="en-US" sz="2400" dirty="0"/>
          </a:p>
          <a:p>
            <a:pPr>
              <a:lnSpc>
                <a:spcPct val="95000"/>
              </a:lnSpc>
              <a:spcBef>
                <a:spcPct val="15000"/>
              </a:spcBef>
            </a:pPr>
            <a:r>
              <a:rPr lang="zh-CN" altLang="en-US" sz="2400" dirty="0" smtClean="0">
                <a:solidFill>
                  <a:srgbClr val="0000FF"/>
                </a:solidFill>
              </a:rPr>
              <a:t>例如：</a:t>
            </a:r>
            <a:r>
              <a:rPr lang="zh-CN" altLang="en-US" sz="2400" dirty="0" smtClean="0"/>
              <a:t>以下关系是一个非规范化</a:t>
            </a:r>
            <a:r>
              <a:rPr lang="zh-CN" altLang="en-US" sz="2400" dirty="0"/>
              <a:t>的关系。</a:t>
            </a:r>
          </a:p>
          <a:p>
            <a:endParaRPr lang="en-US" sz="2400" dirty="0" smtClean="0"/>
          </a:p>
          <a:p>
            <a:endParaRPr lang="en-US" sz="2400" dirty="0"/>
          </a:p>
          <a:p>
            <a:endParaRPr lang="en-US" sz="2400" dirty="0" smtClean="0"/>
          </a:p>
          <a:p>
            <a:endParaRPr lang="en-US" sz="2400" dirty="0"/>
          </a:p>
          <a:p>
            <a:pPr marL="182563" lvl="1"/>
            <a:r>
              <a:rPr lang="zh-CN" altLang="en-US" dirty="0"/>
              <a:t>关系</a:t>
            </a:r>
            <a:r>
              <a:rPr lang="en-US" altLang="zh-CN" dirty="0"/>
              <a:t>DBS</a:t>
            </a:r>
            <a:r>
              <a:rPr lang="zh-CN" altLang="en-US" dirty="0"/>
              <a:t>中，所有关系模式都</a:t>
            </a:r>
            <a:r>
              <a:rPr lang="zh-CN" altLang="en-US" u="sng" dirty="0">
                <a:solidFill>
                  <a:srgbClr val="FF0000"/>
                </a:solidFill>
              </a:rPr>
              <a:t>必须</a:t>
            </a:r>
            <a:r>
              <a:rPr lang="zh-CN" altLang="en-US" dirty="0"/>
              <a:t>是</a:t>
            </a:r>
            <a:r>
              <a:rPr lang="en-US" altLang="zh-CN" dirty="0"/>
              <a:t>1NF</a:t>
            </a:r>
            <a:r>
              <a:rPr lang="zh-CN" altLang="en-US" dirty="0"/>
              <a:t>。</a:t>
            </a:r>
            <a:endParaRPr lang="en-US" altLang="zh-CN" dirty="0"/>
          </a:p>
          <a:p>
            <a:endParaRPr lang="en-US" sz="2400" dirty="0" smtClean="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23</a:t>
            </a:fld>
            <a:endParaRPr lang="en-US" altLang="zh-CN"/>
          </a:p>
        </p:txBody>
      </p:sp>
      <p:graphicFrame>
        <p:nvGraphicFramePr>
          <p:cNvPr id="7" name="Group 4"/>
          <p:cNvGraphicFramePr>
            <a:graphicFrameLocks noGrp="1"/>
          </p:cNvGraphicFramePr>
          <p:nvPr>
            <p:extLst>
              <p:ext uri="{D42A27DB-BD31-4B8C-83A1-F6EECF244321}">
                <p14:modId xmlns:p14="http://schemas.microsoft.com/office/powerpoint/2010/main" val="1166320130"/>
              </p:ext>
            </p:extLst>
          </p:nvPr>
        </p:nvGraphicFramePr>
        <p:xfrm>
          <a:off x="870165" y="3805755"/>
          <a:ext cx="4312544" cy="1584960"/>
        </p:xfrm>
        <a:graphic>
          <a:graphicData uri="http://schemas.openxmlformats.org/drawingml/2006/table">
            <a:tbl>
              <a:tblPr/>
              <a:tblGrid>
                <a:gridCol w="863423"/>
                <a:gridCol w="797433"/>
                <a:gridCol w="926366"/>
                <a:gridCol w="861900"/>
                <a:gridCol w="863422"/>
              </a:tblGrid>
              <a:tr h="287338">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XH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KM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CJ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tc hMerge="1">
                  <a:txBody>
                    <a:bodyPr/>
                    <a:lstStyle/>
                    <a:p>
                      <a:endParaRPr lang="en-US"/>
                    </a:p>
                  </a:txBody>
                  <a:tcPr/>
                </a:tc>
              </a:tr>
              <a:tr h="288925">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test3</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001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OS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80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78</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002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85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82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95</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graphicFrame>
        <p:nvGraphicFramePr>
          <p:cNvPr id="8" name="Group 32"/>
          <p:cNvGraphicFramePr>
            <a:graphicFrameLocks noGrp="1"/>
          </p:cNvGraphicFramePr>
          <p:nvPr>
            <p:extLst>
              <p:ext uri="{D42A27DB-BD31-4B8C-83A1-F6EECF244321}">
                <p14:modId xmlns:p14="http://schemas.microsoft.com/office/powerpoint/2010/main" val="3703239801"/>
              </p:ext>
            </p:extLst>
          </p:nvPr>
        </p:nvGraphicFramePr>
        <p:xfrm>
          <a:off x="5331525" y="3805755"/>
          <a:ext cx="3324225" cy="1404435"/>
        </p:xfrm>
        <a:graphic>
          <a:graphicData uri="http://schemas.openxmlformats.org/drawingml/2006/table">
            <a:tbl>
              <a:tblPr/>
              <a:tblGrid>
                <a:gridCol w="939661"/>
                <a:gridCol w="2384564"/>
              </a:tblGrid>
              <a:tr h="46814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14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{C1</a:t>
                      </a:r>
                      <a:r>
                        <a:rPr kumimoji="0" lang="zh-CN" altLang="en-US" sz="2000" b="0" i="0" u="none" strike="noStrike" cap="none" normalizeH="0" baseline="0">
                          <a:ln>
                            <a:noFill/>
                          </a:ln>
                          <a:solidFill>
                            <a:schemeClr val="tx1"/>
                          </a:solidFill>
                          <a:effectLst/>
                          <a:latin typeface="Arial" charset="0"/>
                          <a:ea typeface="宋体" charset="0"/>
                          <a:cs typeface="宋体" charset="0"/>
                        </a:rPr>
                        <a:t>，</a:t>
                      </a:r>
                      <a:r>
                        <a:rPr kumimoji="0" lang="en-US" altLang="zh-CN" sz="2000" b="0" i="0" u="none" strike="noStrike" cap="none" normalizeH="0" baseline="0">
                          <a:ln>
                            <a:noFill/>
                          </a:ln>
                          <a:solidFill>
                            <a:schemeClr val="tx1"/>
                          </a:solidFill>
                          <a:effectLst/>
                          <a:latin typeface="Arial" charset="0"/>
                          <a:ea typeface="宋体" charset="0"/>
                          <a:cs typeface="宋体" charset="0"/>
                        </a:rPr>
                        <a:t>C2</a:t>
                      </a:r>
                      <a:r>
                        <a:rPr kumimoji="0" lang="zh-CN" altLang="en-US" sz="2000" b="0" i="0" u="none" strike="noStrike" cap="none" normalizeH="0" baseline="0">
                          <a:ln>
                            <a:noFill/>
                          </a:ln>
                          <a:solidFill>
                            <a:schemeClr val="tx1"/>
                          </a:solidFill>
                          <a:effectLst/>
                          <a:latin typeface="Arial" charset="0"/>
                          <a:ea typeface="宋体" charset="0"/>
                          <a:cs typeface="宋体" charset="0"/>
                        </a:rPr>
                        <a:t>，</a:t>
                      </a:r>
                      <a:r>
                        <a:rPr kumimoji="0" lang="en-US" altLang="zh-CN" sz="2000" b="0" i="0" u="none" strike="noStrike" cap="none" normalizeH="0" baseline="0">
                          <a:ln>
                            <a:noFill/>
                          </a:ln>
                          <a:solidFill>
                            <a:schemeClr val="tx1"/>
                          </a:solidFill>
                          <a:effectLst/>
                          <a:latin typeface="Arial" charset="0"/>
                          <a:ea typeface="宋体" charset="0"/>
                          <a:cs typeface="宋体" charset="0"/>
                        </a:rPr>
                        <a:t>C3}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14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{C2,C4}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8009046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blinds(horizontal)">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1NF</a:t>
            </a:r>
            <a:endParaRPr lang="en-US" dirty="0"/>
          </a:p>
        </p:txBody>
      </p:sp>
      <p:sp>
        <p:nvSpPr>
          <p:cNvPr id="3" name="Content Placeholder 2"/>
          <p:cNvSpPr>
            <a:spLocks noGrp="1"/>
          </p:cNvSpPr>
          <p:nvPr>
            <p:ph idx="1"/>
          </p:nvPr>
        </p:nvSpPr>
        <p:spPr>
          <a:xfrm>
            <a:off x="685799" y="908720"/>
            <a:ext cx="8034867" cy="5728618"/>
          </a:xfrm>
        </p:spPr>
        <p:txBody>
          <a:bodyPr/>
          <a:lstStyle/>
          <a:p>
            <a:pPr>
              <a:spcBef>
                <a:spcPts val="300"/>
              </a:spcBef>
              <a:buClr>
                <a:schemeClr val="tx2"/>
              </a:buClr>
              <a:buSzPct val="90000"/>
            </a:pPr>
            <a:r>
              <a:rPr lang="zh-CN" altLang="en-US" sz="2400" dirty="0">
                <a:solidFill>
                  <a:srgbClr val="0000FF"/>
                </a:solidFill>
              </a:rPr>
              <a:t>将非</a:t>
            </a:r>
            <a:r>
              <a:rPr lang="en-US" altLang="zh-CN" sz="2400" dirty="0">
                <a:solidFill>
                  <a:srgbClr val="0000FF"/>
                </a:solidFill>
              </a:rPr>
              <a:t>1NF</a:t>
            </a:r>
            <a:r>
              <a:rPr lang="zh-CN" altLang="en-US" sz="2400" dirty="0">
                <a:solidFill>
                  <a:srgbClr val="0000FF"/>
                </a:solidFill>
                <a:sym typeface="Wingdings" charset="0"/>
              </a:rPr>
              <a:t>转换为</a:t>
            </a:r>
            <a:r>
              <a:rPr lang="en-US" altLang="zh-CN" sz="2400" dirty="0">
                <a:solidFill>
                  <a:srgbClr val="0000FF"/>
                </a:solidFill>
              </a:rPr>
              <a:t>1NF</a:t>
            </a:r>
            <a:r>
              <a:rPr lang="zh-CN" altLang="en-US" sz="2400" dirty="0">
                <a:solidFill>
                  <a:srgbClr val="0000FF"/>
                </a:solidFill>
              </a:rPr>
              <a:t>的方法：</a:t>
            </a:r>
          </a:p>
          <a:p>
            <a:pPr marL="0" indent="0">
              <a:spcBef>
                <a:spcPts val="300"/>
              </a:spcBef>
              <a:buClr>
                <a:schemeClr val="tx2"/>
              </a:buClr>
              <a:buSzPct val="90000"/>
              <a:buNone/>
            </a:pPr>
            <a:r>
              <a:rPr lang="zh-CN" altLang="en-US" sz="2400" dirty="0"/>
              <a:t>①去掉嵌套属性上层</a:t>
            </a:r>
          </a:p>
          <a:p>
            <a:pPr marL="0" indent="0">
              <a:spcBef>
                <a:spcPts val="300"/>
              </a:spcBef>
              <a:buNone/>
            </a:pPr>
            <a:r>
              <a:rPr lang="zh-CN" altLang="en-US" sz="2400" dirty="0"/>
              <a:t>②重写行交叉处</a:t>
            </a:r>
            <a:r>
              <a:rPr lang="zh-CN" altLang="en-US" sz="2400" dirty="0" smtClean="0"/>
              <a:t>的值</a:t>
            </a:r>
            <a:endParaRPr lang="en-US" altLang="zh-CN" sz="2400" dirty="0" smtClean="0"/>
          </a:p>
          <a:p>
            <a:pPr marL="0" indent="0">
              <a:spcBef>
                <a:spcPts val="300"/>
              </a:spcBef>
              <a:buNone/>
            </a:pPr>
            <a:endParaRPr lang="en-US" altLang="zh-CN" sz="2400" dirty="0"/>
          </a:p>
          <a:p>
            <a:pPr marL="0" indent="0">
              <a:spcBef>
                <a:spcPts val="300"/>
              </a:spcBef>
              <a:buNone/>
            </a:pPr>
            <a:endParaRPr lang="en-US" altLang="zh-CN" sz="2400" dirty="0" smtClean="0"/>
          </a:p>
          <a:p>
            <a:pPr marL="0" indent="0">
              <a:spcBef>
                <a:spcPts val="300"/>
              </a:spcBef>
              <a:buNone/>
            </a:pPr>
            <a:endParaRPr lang="zh-CN" altLang="en-US" sz="2400" dirty="0"/>
          </a:p>
          <a:p>
            <a:pPr marL="0" indent="0">
              <a:spcBef>
                <a:spcPts val="300"/>
              </a:spcBef>
              <a:buClr>
                <a:srgbClr val="CC0000"/>
              </a:buClr>
              <a:buSzTx/>
              <a:buNone/>
            </a:pPr>
            <a:endParaRPr lang="en-US" altLang="zh-CN" sz="2400" dirty="0" smtClean="0">
              <a:latin typeface="华文仿宋"/>
              <a:ea typeface="华文仿宋"/>
              <a:cs typeface="华文仿宋"/>
            </a:endParaRPr>
          </a:p>
          <a:p>
            <a:pPr marL="0" indent="0">
              <a:spcBef>
                <a:spcPts val="300"/>
              </a:spcBef>
              <a:buClr>
                <a:srgbClr val="CC0000"/>
              </a:buClr>
              <a:buSzTx/>
              <a:buNone/>
            </a:pPr>
            <a:r>
              <a:rPr lang="zh-CN" altLang="en-US" sz="2400" dirty="0" smtClean="0">
                <a:ea typeface="黑体"/>
              </a:rPr>
              <a:t>例：</a:t>
            </a:r>
            <a:r>
              <a:rPr lang="en-US" altLang="zh-CN" sz="2400" dirty="0" smtClean="0">
                <a:solidFill>
                  <a:srgbClr val="000090"/>
                </a:solidFill>
                <a:ea typeface="黑体"/>
              </a:rPr>
              <a:t>SCD</a:t>
            </a:r>
            <a:r>
              <a:rPr lang="en-US" altLang="zh-CN" sz="2400" dirty="0">
                <a:solidFill>
                  <a:srgbClr val="000090"/>
                </a:solidFill>
                <a:ea typeface="黑体"/>
              </a:rPr>
              <a:t>(</a:t>
            </a:r>
            <a:r>
              <a:rPr lang="zh-CN" altLang="en-US" sz="2400" u="sng" dirty="0">
                <a:solidFill>
                  <a:srgbClr val="000090"/>
                </a:solidFill>
                <a:ea typeface="黑体"/>
              </a:rPr>
              <a:t>学号</a:t>
            </a:r>
            <a:r>
              <a:rPr lang="en-US" altLang="zh-CN" sz="2400" dirty="0">
                <a:solidFill>
                  <a:srgbClr val="000090"/>
                </a:solidFill>
                <a:ea typeface="黑体"/>
              </a:rPr>
              <a:t>, </a:t>
            </a:r>
            <a:r>
              <a:rPr lang="zh-CN" altLang="en-US" sz="2400" dirty="0">
                <a:solidFill>
                  <a:srgbClr val="000090"/>
                </a:solidFill>
                <a:ea typeface="黑体"/>
              </a:rPr>
              <a:t>姓名</a:t>
            </a:r>
            <a:r>
              <a:rPr lang="en-US" altLang="zh-CN" sz="2400" dirty="0">
                <a:solidFill>
                  <a:srgbClr val="000090"/>
                </a:solidFill>
                <a:ea typeface="黑体"/>
              </a:rPr>
              <a:t>, </a:t>
            </a:r>
            <a:r>
              <a:rPr lang="zh-CN" altLang="en-US" sz="2400" dirty="0">
                <a:solidFill>
                  <a:srgbClr val="000090"/>
                </a:solidFill>
                <a:ea typeface="黑体"/>
              </a:rPr>
              <a:t>年龄</a:t>
            </a:r>
            <a:r>
              <a:rPr lang="en-US" altLang="zh-CN" sz="2400" dirty="0">
                <a:solidFill>
                  <a:srgbClr val="000090"/>
                </a:solidFill>
                <a:ea typeface="黑体"/>
              </a:rPr>
              <a:t>, </a:t>
            </a:r>
            <a:r>
              <a:rPr lang="zh-CN" altLang="en-US" sz="2400" dirty="0">
                <a:solidFill>
                  <a:srgbClr val="000090"/>
                </a:solidFill>
                <a:ea typeface="黑体"/>
              </a:rPr>
              <a:t>所在系</a:t>
            </a:r>
            <a:r>
              <a:rPr lang="en-US" altLang="zh-CN" sz="2400" dirty="0">
                <a:solidFill>
                  <a:srgbClr val="000090"/>
                </a:solidFill>
                <a:ea typeface="黑体"/>
              </a:rPr>
              <a:t>, </a:t>
            </a:r>
            <a:r>
              <a:rPr lang="zh-CN" altLang="en-US" sz="2400" dirty="0">
                <a:solidFill>
                  <a:srgbClr val="000090"/>
                </a:solidFill>
                <a:ea typeface="黑体"/>
              </a:rPr>
              <a:t>系主任</a:t>
            </a:r>
            <a:r>
              <a:rPr lang="en-US" altLang="zh-CN" sz="2400" dirty="0">
                <a:solidFill>
                  <a:srgbClr val="000090"/>
                </a:solidFill>
                <a:ea typeface="黑体"/>
              </a:rPr>
              <a:t>, </a:t>
            </a:r>
            <a:r>
              <a:rPr lang="zh-CN" altLang="en-US" sz="2400" u="sng" dirty="0">
                <a:solidFill>
                  <a:srgbClr val="000090"/>
                </a:solidFill>
                <a:ea typeface="黑体"/>
              </a:rPr>
              <a:t>课程号</a:t>
            </a:r>
            <a:r>
              <a:rPr lang="en-US" altLang="zh-CN" sz="2400" dirty="0">
                <a:solidFill>
                  <a:srgbClr val="000090"/>
                </a:solidFill>
                <a:ea typeface="黑体"/>
              </a:rPr>
              <a:t>, </a:t>
            </a:r>
            <a:r>
              <a:rPr lang="zh-CN" altLang="en-US" sz="2400" dirty="0">
                <a:solidFill>
                  <a:srgbClr val="000090"/>
                </a:solidFill>
                <a:ea typeface="黑体"/>
              </a:rPr>
              <a:t>成绩</a:t>
            </a:r>
            <a:r>
              <a:rPr lang="en-US" altLang="zh-CN" sz="2400" dirty="0" smtClean="0">
                <a:solidFill>
                  <a:srgbClr val="000090"/>
                </a:solidFill>
                <a:ea typeface="黑体"/>
              </a:rPr>
              <a:t>)</a:t>
            </a:r>
            <a:r>
              <a:rPr lang="zh-CN" altLang="en-US" sz="2400" dirty="0" smtClean="0">
                <a:solidFill>
                  <a:srgbClr val="000090"/>
                </a:solidFill>
                <a:ea typeface="黑体"/>
              </a:rPr>
              <a:t>，</a:t>
            </a:r>
            <a:endParaRPr lang="en-US" altLang="zh-CN" sz="2400" dirty="0" smtClean="0">
              <a:solidFill>
                <a:srgbClr val="000090"/>
              </a:solidFill>
              <a:ea typeface="黑体"/>
            </a:endParaRPr>
          </a:p>
          <a:p>
            <a:pPr marL="0" indent="0">
              <a:spcBef>
                <a:spcPts val="300"/>
              </a:spcBef>
              <a:buClr>
                <a:srgbClr val="CC0000"/>
              </a:buClr>
              <a:buSzTx/>
              <a:buNone/>
            </a:pPr>
            <a:r>
              <a:rPr lang="en-US" altLang="zh-CN" sz="2400" dirty="0">
                <a:solidFill>
                  <a:srgbClr val="000090"/>
                </a:solidFill>
                <a:ea typeface="黑体"/>
              </a:rPr>
              <a:t> </a:t>
            </a:r>
            <a:r>
              <a:rPr lang="en-US" altLang="zh-CN" sz="2400" dirty="0" smtClean="0">
                <a:solidFill>
                  <a:srgbClr val="000090"/>
                </a:solidFill>
                <a:ea typeface="黑体"/>
              </a:rPr>
              <a:t>      SCD </a:t>
            </a:r>
            <a:r>
              <a:rPr lang="en-US" altLang="zh-CN" sz="2400" b="1" dirty="0" smtClean="0">
                <a:solidFill>
                  <a:srgbClr val="000090"/>
                </a:solidFill>
                <a:ea typeface="黑体"/>
                <a:sym typeface="Symbol" charset="0"/>
              </a:rPr>
              <a:t> </a:t>
            </a:r>
            <a:r>
              <a:rPr lang="en-US" altLang="zh-CN" sz="2400" dirty="0" smtClean="0">
                <a:solidFill>
                  <a:srgbClr val="000090"/>
                </a:solidFill>
                <a:ea typeface="黑体"/>
              </a:rPr>
              <a:t>1NF</a:t>
            </a:r>
            <a:endParaRPr lang="en-US" altLang="zh-CN" sz="2400" dirty="0">
              <a:solidFill>
                <a:srgbClr val="000090"/>
              </a:solidFill>
              <a:ea typeface="黑体"/>
            </a:endParaRPr>
          </a:p>
          <a:p>
            <a:pPr>
              <a:spcBef>
                <a:spcPts val="300"/>
              </a:spcBef>
            </a:pPr>
            <a:r>
              <a:rPr lang="en-US" altLang="zh-CN" sz="2400" dirty="0">
                <a:solidFill>
                  <a:srgbClr val="FF0000"/>
                </a:solidFill>
              </a:rPr>
              <a:t>1NF</a:t>
            </a:r>
            <a:r>
              <a:rPr lang="zh-CN" altLang="en-US" sz="2400" dirty="0">
                <a:solidFill>
                  <a:srgbClr val="FF0000"/>
                </a:solidFill>
              </a:rPr>
              <a:t>存在的问题</a:t>
            </a:r>
            <a:r>
              <a:rPr lang="zh-CN" altLang="en-US" sz="2400" dirty="0" smtClean="0"/>
              <a:t>：</a:t>
            </a:r>
            <a:endParaRPr lang="en-US" altLang="zh-CN" sz="2400" dirty="0" smtClean="0"/>
          </a:p>
          <a:p>
            <a:pPr marL="0" indent="0">
              <a:spcBef>
                <a:spcPts val="300"/>
              </a:spcBef>
              <a:buNone/>
            </a:pPr>
            <a:r>
              <a:rPr lang="en-US" altLang="zh-CN" sz="2400" dirty="0"/>
              <a:t> </a:t>
            </a:r>
            <a:r>
              <a:rPr lang="en-US" altLang="zh-CN" sz="2400" dirty="0" smtClean="0"/>
              <a:t>  </a:t>
            </a:r>
            <a:r>
              <a:rPr lang="zh-CN" altLang="en-US" sz="2400" dirty="0"/>
              <a:t>数据冗余，具有插入异常、删除异常、更新复杂</a:t>
            </a:r>
            <a:r>
              <a:rPr lang="zh-CN" altLang="en-US" sz="2400" dirty="0" smtClean="0"/>
              <a:t>。</a:t>
            </a:r>
            <a:endParaRPr lang="en-US" sz="2400" dirty="0" smtClean="0"/>
          </a:p>
          <a:p>
            <a:pPr>
              <a:spcBef>
                <a:spcPts val="300"/>
              </a:spcBef>
            </a:pPr>
            <a:r>
              <a:rPr lang="zh-CN" altLang="en-US" sz="2400" dirty="0" smtClean="0">
                <a:solidFill>
                  <a:srgbClr val="FF0000"/>
                </a:solidFill>
              </a:rPr>
              <a:t>问题</a:t>
            </a:r>
            <a:r>
              <a:rPr lang="zh-CN" altLang="en-US" sz="2400" dirty="0">
                <a:solidFill>
                  <a:srgbClr val="FF0000"/>
                </a:solidFill>
              </a:rPr>
              <a:t>存在原因：</a:t>
            </a:r>
            <a:endParaRPr lang="en-US" altLang="zh-CN" sz="2400" dirty="0">
              <a:solidFill>
                <a:srgbClr val="FF0000"/>
              </a:solidFill>
            </a:endParaRPr>
          </a:p>
          <a:p>
            <a:pPr>
              <a:spcBef>
                <a:spcPts val="300"/>
              </a:spcBef>
              <a:buFontTx/>
              <a:buNone/>
            </a:pPr>
            <a:r>
              <a:rPr lang="en-US" altLang="zh-CN" sz="2400" dirty="0"/>
              <a:t>   ——</a:t>
            </a:r>
            <a:r>
              <a:rPr lang="zh-CN" altLang="en-US" sz="2400" dirty="0"/>
              <a:t>非主属性</a:t>
            </a:r>
            <a:r>
              <a:rPr lang="zh-CN" altLang="en-US" sz="2400" dirty="0">
                <a:solidFill>
                  <a:srgbClr val="3333CC"/>
                </a:solidFill>
              </a:rPr>
              <a:t>部分函数依赖</a:t>
            </a:r>
            <a:r>
              <a:rPr lang="zh-CN" altLang="en-US" sz="2400" dirty="0"/>
              <a:t>于候选码。</a:t>
            </a:r>
            <a:endParaRPr lang="en-US" altLang="zh-CN" sz="2400" dirty="0"/>
          </a:p>
          <a:p>
            <a:pPr marL="0" indent="0">
              <a:spcBef>
                <a:spcPts val="300"/>
              </a:spcBef>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24</a:t>
            </a:fld>
            <a:endParaRPr lang="en-US" altLang="zh-CN"/>
          </a:p>
        </p:txBody>
      </p:sp>
      <p:graphicFrame>
        <p:nvGraphicFramePr>
          <p:cNvPr id="6" name="Group 4"/>
          <p:cNvGraphicFramePr>
            <a:graphicFrameLocks noGrp="1"/>
          </p:cNvGraphicFramePr>
          <p:nvPr>
            <p:extLst>
              <p:ext uri="{D42A27DB-BD31-4B8C-83A1-F6EECF244321}">
                <p14:modId xmlns:p14="http://schemas.microsoft.com/office/powerpoint/2010/main" val="3465479693"/>
              </p:ext>
            </p:extLst>
          </p:nvPr>
        </p:nvGraphicFramePr>
        <p:xfrm>
          <a:off x="870165" y="2325766"/>
          <a:ext cx="4114800" cy="1189990"/>
        </p:xfrm>
        <a:graphic>
          <a:graphicData uri="http://schemas.openxmlformats.org/drawingml/2006/table">
            <a:tbl>
              <a:tblPr/>
              <a:tblGrid>
                <a:gridCol w="822325"/>
                <a:gridCol w="823913"/>
                <a:gridCol w="822325"/>
                <a:gridCol w="823912"/>
                <a:gridCol w="822325"/>
              </a:tblGrid>
              <a:tr h="3968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err="1" smtClean="0">
                          <a:ln>
                            <a:noFill/>
                          </a:ln>
                          <a:solidFill>
                            <a:srgbClr val="0000CC"/>
                          </a:solidFill>
                          <a:effectLst/>
                          <a:latin typeface="Arial" charset="0"/>
                          <a:ea typeface="宋体" charset="0"/>
                          <a:cs typeface="宋体" charset="0"/>
                        </a:rPr>
                        <a:t>Sno</a:t>
                      </a:r>
                      <a:endParaRPr kumimoji="0" lang="en-US" altLang="zh-CN" sz="2000" b="0" i="0" u="none" strike="noStrike" cap="none" normalizeH="0" baseline="0" dirty="0">
                        <a:ln>
                          <a:noFill/>
                        </a:ln>
                        <a:solidFill>
                          <a:srgbClr val="0000CC"/>
                        </a:solidFill>
                        <a:effectLst/>
                        <a:latin typeface="Arial" charset="0"/>
                        <a:ea typeface="宋体" charset="0"/>
                        <a:cs typeface="宋体" charset="0"/>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err="1" smtClean="0">
                          <a:ln>
                            <a:noFill/>
                          </a:ln>
                          <a:solidFill>
                            <a:srgbClr val="0000CC"/>
                          </a:solidFill>
                          <a:effectLst/>
                          <a:latin typeface="Arial" charset="0"/>
                          <a:ea typeface="宋体" charset="0"/>
                          <a:cs typeface="宋体" charset="0"/>
                        </a:rPr>
                        <a:t>Cno</a:t>
                      </a:r>
                      <a:endParaRPr kumimoji="0" lang="en-US" altLang="zh-CN" sz="2000" b="0" i="0" u="none" strike="noStrike" cap="none" normalizeH="0" baseline="0" dirty="0">
                        <a:ln>
                          <a:noFill/>
                        </a:ln>
                        <a:solidFill>
                          <a:srgbClr val="0000CC"/>
                        </a:solidFill>
                        <a:effectLst/>
                        <a:latin typeface="Arial" charset="0"/>
                        <a:ea typeface="宋体" charset="0"/>
                        <a:cs typeface="宋体"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test1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rgbClr val="0000CC"/>
                          </a:solidFill>
                          <a:effectLst/>
                          <a:latin typeface="Arial" charset="0"/>
                          <a:ea typeface="宋体" charset="0"/>
                          <a:cs typeface="宋体" charset="0"/>
                        </a:rPr>
                        <a:t>test3</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001</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OS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80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78</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90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002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OS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85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82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95</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graphicFrame>
        <p:nvGraphicFramePr>
          <p:cNvPr id="7" name="Group 30"/>
          <p:cNvGraphicFramePr>
            <a:graphicFrameLocks noGrp="1"/>
          </p:cNvGraphicFramePr>
          <p:nvPr>
            <p:extLst>
              <p:ext uri="{D42A27DB-BD31-4B8C-83A1-F6EECF244321}">
                <p14:modId xmlns:p14="http://schemas.microsoft.com/office/powerpoint/2010/main" val="2536246205"/>
              </p:ext>
            </p:extLst>
          </p:nvPr>
        </p:nvGraphicFramePr>
        <p:xfrm>
          <a:off x="5438902" y="1111929"/>
          <a:ext cx="1631763" cy="2471106"/>
        </p:xfrm>
        <a:graphic>
          <a:graphicData uri="http://schemas.openxmlformats.org/drawingml/2006/table">
            <a:tbl>
              <a:tblPr/>
              <a:tblGrid>
                <a:gridCol w="721865"/>
                <a:gridCol w="909898"/>
              </a:tblGrid>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err="1" smtClean="0">
                          <a:ln>
                            <a:noFill/>
                          </a:ln>
                          <a:solidFill>
                            <a:srgbClr val="0000CC"/>
                          </a:solidFill>
                          <a:effectLst/>
                          <a:latin typeface="Arial" charset="0"/>
                          <a:ea typeface="宋体" charset="0"/>
                          <a:cs typeface="宋体" charset="0"/>
                        </a:rPr>
                        <a:t>Sno</a:t>
                      </a:r>
                      <a:endParaRPr kumimoji="0" lang="en-US" altLang="zh-CN" sz="2000" b="0" i="0" u="none" strike="noStrike" cap="none" normalizeH="0" baseline="0" dirty="0">
                        <a:ln>
                          <a:noFill/>
                        </a:ln>
                        <a:solidFill>
                          <a:srgbClr val="0000CC"/>
                        </a:solidFill>
                        <a:effectLst/>
                        <a:latin typeface="Arial" charset="0"/>
                        <a:ea typeface="宋体" charset="0"/>
                        <a:cs typeface="宋体"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err="1" smtClean="0">
                          <a:ln>
                            <a:noFill/>
                          </a:ln>
                          <a:solidFill>
                            <a:srgbClr val="0000CC"/>
                          </a:solidFill>
                          <a:effectLst/>
                          <a:latin typeface="Arial" charset="0"/>
                          <a:ea typeface="宋体" charset="0"/>
                          <a:cs typeface="宋体" charset="0"/>
                        </a:rPr>
                        <a:t>Cno</a:t>
                      </a:r>
                      <a:endParaRPr kumimoji="0" lang="en-US" altLang="zh-CN" sz="2000" b="0" i="0" u="none" strike="noStrike" cap="none" normalizeH="0" baseline="0" dirty="0">
                        <a:ln>
                          <a:noFill/>
                        </a:ln>
                        <a:solidFill>
                          <a:srgbClr val="0000CC"/>
                        </a:solidFill>
                        <a:effectLst/>
                        <a:latin typeface="Arial" charset="0"/>
                        <a:ea typeface="宋体" charset="0"/>
                        <a:cs typeface="宋体"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C1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C2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C3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C2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85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a:ln>
                            <a:noFill/>
                          </a:ln>
                          <a:solidFill>
                            <a:schemeClr val="tx1"/>
                          </a:solidFill>
                          <a:effectLst/>
                          <a:latin typeface="Arial" charset="0"/>
                          <a:ea typeface="宋体" charset="0"/>
                          <a:cs typeface="宋体"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000" b="0" i="0" u="none" strike="noStrike" cap="none" normalizeH="0" baseline="0" dirty="0">
                          <a:ln>
                            <a:noFill/>
                          </a:ln>
                          <a:solidFill>
                            <a:schemeClr val="tx1"/>
                          </a:solidFill>
                          <a:effectLst/>
                          <a:latin typeface="Arial" charset="0"/>
                          <a:ea typeface="宋体" charset="0"/>
                          <a:cs typeface="宋体" charset="0"/>
                        </a:rPr>
                        <a:t>C4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13318470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linds(horizontal)">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blinds(horizontal)">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blinds(horizontal)">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blinds(horizontal)">
                                      <p:cBhvr>
                                        <p:cTn id="5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1NF</a:t>
            </a:r>
            <a:endParaRPr lang="en-US" dirty="0"/>
          </a:p>
        </p:txBody>
      </p:sp>
      <p:sp>
        <p:nvSpPr>
          <p:cNvPr id="3" name="Content Placeholder 2"/>
          <p:cNvSpPr>
            <a:spLocks noGrp="1"/>
          </p:cNvSpPr>
          <p:nvPr>
            <p:ph idx="1"/>
          </p:nvPr>
        </p:nvSpPr>
        <p:spPr>
          <a:xfrm>
            <a:off x="685799" y="908720"/>
            <a:ext cx="8277225" cy="5263481"/>
          </a:xfrm>
        </p:spPr>
        <p:txBody>
          <a:bodyPr/>
          <a:lstStyle/>
          <a:p>
            <a:r>
              <a:rPr lang="zh-CN" altLang="en-US" sz="2400" dirty="0"/>
              <a:t>例：</a:t>
            </a:r>
            <a:r>
              <a:rPr lang="en-US" altLang="zh-CN" sz="2400" dirty="0">
                <a:solidFill>
                  <a:srgbClr val="000090"/>
                </a:solidFill>
              </a:rPr>
              <a:t>SCD(</a:t>
            </a:r>
            <a:r>
              <a:rPr lang="zh-CN" altLang="en-US" sz="2400" dirty="0">
                <a:solidFill>
                  <a:srgbClr val="000090"/>
                </a:solidFill>
              </a:rPr>
              <a:t>学号</a:t>
            </a:r>
            <a:r>
              <a:rPr lang="en-US" altLang="zh-CN" sz="2400" dirty="0">
                <a:solidFill>
                  <a:srgbClr val="000090"/>
                </a:solidFill>
              </a:rPr>
              <a:t>, </a:t>
            </a:r>
            <a:r>
              <a:rPr lang="zh-CN" altLang="en-US" sz="2400" dirty="0">
                <a:solidFill>
                  <a:srgbClr val="000090"/>
                </a:solidFill>
              </a:rPr>
              <a:t>姓名</a:t>
            </a:r>
            <a:r>
              <a:rPr lang="en-US" altLang="zh-CN" sz="2400" dirty="0">
                <a:solidFill>
                  <a:srgbClr val="000090"/>
                </a:solidFill>
              </a:rPr>
              <a:t>, </a:t>
            </a:r>
            <a:r>
              <a:rPr lang="zh-CN" altLang="en-US" sz="2400" dirty="0">
                <a:solidFill>
                  <a:srgbClr val="000090"/>
                </a:solidFill>
              </a:rPr>
              <a:t>年龄</a:t>
            </a:r>
            <a:r>
              <a:rPr lang="en-US" altLang="zh-CN" sz="2400" dirty="0">
                <a:solidFill>
                  <a:srgbClr val="000090"/>
                </a:solidFill>
              </a:rPr>
              <a:t>, </a:t>
            </a:r>
            <a:r>
              <a:rPr lang="zh-CN" altLang="en-US" sz="2400" dirty="0">
                <a:solidFill>
                  <a:srgbClr val="000090"/>
                </a:solidFill>
              </a:rPr>
              <a:t>所在系</a:t>
            </a:r>
            <a:r>
              <a:rPr lang="en-US" altLang="zh-CN" sz="2400" dirty="0">
                <a:solidFill>
                  <a:srgbClr val="000090"/>
                </a:solidFill>
              </a:rPr>
              <a:t>, </a:t>
            </a:r>
            <a:r>
              <a:rPr lang="zh-CN" altLang="en-US" sz="2400" dirty="0">
                <a:solidFill>
                  <a:srgbClr val="000090"/>
                </a:solidFill>
              </a:rPr>
              <a:t>系主任</a:t>
            </a:r>
            <a:r>
              <a:rPr lang="en-US" altLang="zh-CN" sz="2400" dirty="0">
                <a:solidFill>
                  <a:srgbClr val="000090"/>
                </a:solidFill>
              </a:rPr>
              <a:t>, </a:t>
            </a:r>
            <a:r>
              <a:rPr lang="zh-CN" altLang="en-US" sz="2400" dirty="0">
                <a:solidFill>
                  <a:srgbClr val="000090"/>
                </a:solidFill>
              </a:rPr>
              <a:t>课程号</a:t>
            </a:r>
            <a:r>
              <a:rPr lang="en-US" altLang="zh-CN" sz="2400" dirty="0">
                <a:solidFill>
                  <a:srgbClr val="000090"/>
                </a:solidFill>
              </a:rPr>
              <a:t>, </a:t>
            </a:r>
            <a:r>
              <a:rPr lang="zh-CN" altLang="en-US" sz="2400" dirty="0">
                <a:solidFill>
                  <a:srgbClr val="000090"/>
                </a:solidFill>
              </a:rPr>
              <a:t>成绩</a:t>
            </a:r>
            <a:r>
              <a:rPr lang="en-US" altLang="zh-CN" sz="2400" dirty="0">
                <a:solidFill>
                  <a:srgbClr val="000090"/>
                </a:solidFill>
              </a:rPr>
              <a:t>)</a:t>
            </a:r>
            <a:endParaRPr lang="en-US" altLang="zh-CN" sz="2400" dirty="0" smtClean="0"/>
          </a:p>
          <a:p>
            <a:endParaRPr lang="en-US" sz="2400" dirty="0"/>
          </a:p>
          <a:p>
            <a:endParaRPr lang="en-US" sz="2400" dirty="0" smtClean="0"/>
          </a:p>
          <a:p>
            <a:endParaRPr lang="en-US" sz="2400" dirty="0"/>
          </a:p>
          <a:p>
            <a:pPr marL="0" indent="0">
              <a:buNone/>
            </a:pPr>
            <a:endParaRPr lang="en-US" sz="2400" dirty="0"/>
          </a:p>
          <a:p>
            <a:pPr marL="0" indent="0">
              <a:buNone/>
            </a:pPr>
            <a:endParaRPr lang="en-US" altLang="zh-CN" sz="1000" dirty="0" smtClean="0"/>
          </a:p>
          <a:p>
            <a:pPr marL="0" indent="0">
              <a:buNone/>
            </a:pPr>
            <a:endParaRPr lang="en-US" altLang="zh-CN" sz="1000" dirty="0"/>
          </a:p>
          <a:p>
            <a:pPr marL="0" indent="0">
              <a:buNone/>
            </a:pPr>
            <a:endParaRPr lang="en-US" altLang="zh-CN" sz="1000" dirty="0" smtClean="0"/>
          </a:p>
          <a:p>
            <a:pPr marL="0" indent="0">
              <a:buNone/>
            </a:pPr>
            <a:endParaRPr lang="en-US" altLang="zh-CN" sz="1000" dirty="0" smtClean="0"/>
          </a:p>
          <a:p>
            <a:r>
              <a:rPr lang="zh-CN" altLang="en-US" sz="2400" dirty="0" smtClean="0">
                <a:solidFill>
                  <a:srgbClr val="FF0000"/>
                </a:solidFill>
              </a:rPr>
              <a:t>解决</a:t>
            </a:r>
            <a:r>
              <a:rPr lang="zh-CN" altLang="en-US" sz="2400" dirty="0">
                <a:solidFill>
                  <a:srgbClr val="FF0000"/>
                </a:solidFill>
              </a:rPr>
              <a:t>方法：规范化</a:t>
            </a:r>
            <a:r>
              <a:rPr lang="en-US" altLang="zh-CN" sz="2400" dirty="0">
                <a:solidFill>
                  <a:srgbClr val="FF0000"/>
                </a:solidFill>
              </a:rPr>
              <a:t>(</a:t>
            </a:r>
            <a:r>
              <a:rPr lang="zh-CN" altLang="en-US" sz="2400" dirty="0">
                <a:solidFill>
                  <a:srgbClr val="FF0000"/>
                </a:solidFill>
              </a:rPr>
              <a:t>投影分解</a:t>
            </a:r>
            <a:r>
              <a:rPr lang="en-US" altLang="zh-CN" sz="2400" dirty="0">
                <a:solidFill>
                  <a:srgbClr val="FF0000"/>
                </a:solidFill>
              </a:rPr>
              <a:t>)</a:t>
            </a:r>
          </a:p>
          <a:p>
            <a:pPr lvl="1">
              <a:buNone/>
            </a:pPr>
            <a:r>
              <a:rPr lang="zh-CN" altLang="en-US" dirty="0">
                <a:solidFill>
                  <a:srgbClr val="FF0000"/>
                </a:solidFill>
              </a:rPr>
              <a:t>消除</a:t>
            </a:r>
            <a:r>
              <a:rPr lang="zh-CN" altLang="en-US" u="sng" dirty="0">
                <a:solidFill>
                  <a:srgbClr val="FF0000"/>
                </a:solidFill>
              </a:rPr>
              <a:t>非主属性对码的</a:t>
            </a:r>
            <a:r>
              <a:rPr lang="zh-CN" altLang="en-US" u="sng" dirty="0" smtClean="0">
                <a:solidFill>
                  <a:srgbClr val="FF0000"/>
                </a:solidFill>
              </a:rPr>
              <a:t>部分</a:t>
            </a:r>
            <a:r>
              <a:rPr lang="en-US" altLang="zh-CN" u="sng" dirty="0" smtClean="0">
                <a:solidFill>
                  <a:srgbClr val="FF0000"/>
                </a:solidFill>
              </a:rPr>
              <a:t>FD</a:t>
            </a:r>
            <a:r>
              <a:rPr lang="zh-CN" altLang="en-US" dirty="0" smtClean="0"/>
              <a:t>。</a:t>
            </a:r>
            <a:endParaRPr lang="zh-CN" altLang="en-US" dirty="0"/>
          </a:p>
          <a:p>
            <a:pPr lvl="1"/>
            <a:r>
              <a:rPr lang="zh-CN" altLang="en-US" dirty="0"/>
              <a:t>所有</a:t>
            </a:r>
            <a:r>
              <a:rPr lang="zh-CN" altLang="en-US" dirty="0" smtClean="0"/>
              <a:t>完全</a:t>
            </a:r>
            <a:r>
              <a:rPr lang="en-US" altLang="zh-CN" dirty="0" smtClean="0"/>
              <a:t>FD</a:t>
            </a:r>
            <a:r>
              <a:rPr lang="zh-CN" altLang="en-US" dirty="0" smtClean="0"/>
              <a:t>于码</a:t>
            </a:r>
            <a:r>
              <a:rPr lang="zh-CN" altLang="en-US" dirty="0"/>
              <a:t>的属性组成一个关系</a:t>
            </a:r>
            <a:r>
              <a:rPr lang="zh-CN" altLang="en-US" dirty="0" smtClean="0"/>
              <a:t>模式。</a:t>
            </a:r>
            <a:endParaRPr lang="zh-CN" altLang="en-US" dirty="0"/>
          </a:p>
          <a:p>
            <a:pPr lvl="1"/>
            <a:r>
              <a:rPr lang="zh-CN" altLang="en-US" dirty="0"/>
              <a:t>所有部分</a:t>
            </a:r>
            <a:r>
              <a:rPr lang="en-US" altLang="zh-CN" dirty="0"/>
              <a:t>FD</a:t>
            </a:r>
            <a:r>
              <a:rPr lang="zh-CN" altLang="en-US" dirty="0"/>
              <a:t>于码的属性组成一个关系</a:t>
            </a:r>
            <a:r>
              <a:rPr lang="zh-CN" altLang="en-US" dirty="0" smtClean="0"/>
              <a:t>模式。</a:t>
            </a:r>
            <a:endParaRPr lang="zh-CN" altLang="en-US" dirty="0"/>
          </a:p>
          <a:p>
            <a:endParaRPr lang="zh-CN" altLang="en-US" sz="2400" dirty="0"/>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25</a:t>
            </a:fld>
            <a:endParaRPr lang="en-US" altLang="zh-CN"/>
          </a:p>
        </p:txBody>
      </p:sp>
      <p:grpSp>
        <p:nvGrpSpPr>
          <p:cNvPr id="6" name="Group 32"/>
          <p:cNvGrpSpPr>
            <a:grpSpLocks/>
          </p:cNvGrpSpPr>
          <p:nvPr/>
        </p:nvGrpSpPr>
        <p:grpSpPr bwMode="auto">
          <a:xfrm>
            <a:off x="4363600" y="1749368"/>
            <a:ext cx="4404581" cy="1793035"/>
            <a:chOff x="615" y="528"/>
            <a:chExt cx="4617" cy="1421"/>
          </a:xfrm>
        </p:grpSpPr>
        <p:sp>
          <p:nvSpPr>
            <p:cNvPr id="7" name="Text Box 6"/>
            <p:cNvSpPr txBox="1">
              <a:spLocks noChangeArrowheads="1"/>
            </p:cNvSpPr>
            <p:nvPr/>
          </p:nvSpPr>
          <p:spPr bwMode="auto">
            <a:xfrm>
              <a:off x="3046" y="528"/>
              <a:ext cx="1627"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spcBef>
                  <a:spcPct val="0"/>
                </a:spcBef>
                <a:buClrTx/>
                <a:buSzTx/>
                <a:buFontTx/>
                <a:buNone/>
              </a:pPr>
              <a:endParaRPr kumimoji="0" lang="zh-CN" sz="1600"/>
            </a:p>
          </p:txBody>
        </p:sp>
        <p:grpSp>
          <p:nvGrpSpPr>
            <p:cNvPr id="8" name="Group 31"/>
            <p:cNvGrpSpPr>
              <a:grpSpLocks/>
            </p:cNvGrpSpPr>
            <p:nvPr/>
          </p:nvGrpSpPr>
          <p:grpSpPr bwMode="auto">
            <a:xfrm>
              <a:off x="615" y="576"/>
              <a:ext cx="4617" cy="1373"/>
              <a:chOff x="615" y="672"/>
              <a:chExt cx="4617" cy="1373"/>
            </a:xfrm>
          </p:grpSpPr>
          <p:sp>
            <p:nvSpPr>
              <p:cNvPr id="9" name="Text Box 5"/>
              <p:cNvSpPr txBox="1">
                <a:spLocks noChangeArrowheads="1"/>
              </p:cNvSpPr>
              <p:nvPr/>
            </p:nvSpPr>
            <p:spPr bwMode="auto">
              <a:xfrm>
                <a:off x="3046" y="1437"/>
                <a:ext cx="1627"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spcBef>
                    <a:spcPct val="0"/>
                  </a:spcBef>
                  <a:buClrTx/>
                  <a:buSzTx/>
                  <a:buFontTx/>
                  <a:buNone/>
                </a:pPr>
                <a:endParaRPr kumimoji="0" lang="zh-CN" sz="1600"/>
              </a:p>
            </p:txBody>
          </p:sp>
          <p:sp>
            <p:nvSpPr>
              <p:cNvPr id="10" name="Text Box 7"/>
              <p:cNvSpPr txBox="1">
                <a:spLocks noChangeArrowheads="1"/>
              </p:cNvSpPr>
              <p:nvPr/>
            </p:nvSpPr>
            <p:spPr bwMode="auto">
              <a:xfrm>
                <a:off x="1133" y="1195"/>
                <a:ext cx="991"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spcBef>
                    <a:spcPct val="0"/>
                  </a:spcBef>
                  <a:buClrTx/>
                  <a:buSzTx/>
                  <a:buFontTx/>
                  <a:buNone/>
                </a:pPr>
                <a:endParaRPr kumimoji="0" lang="zh-CN" sz="1600"/>
              </a:p>
            </p:txBody>
          </p:sp>
          <p:sp>
            <p:nvSpPr>
              <p:cNvPr id="11" name="Rectangle 8"/>
              <p:cNvSpPr>
                <a:spLocks noChangeArrowheads="1"/>
              </p:cNvSpPr>
              <p:nvPr/>
            </p:nvSpPr>
            <p:spPr bwMode="auto">
              <a:xfrm>
                <a:off x="1898" y="755"/>
                <a:ext cx="1403" cy="124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600"/>
              </a:p>
            </p:txBody>
          </p:sp>
          <p:sp>
            <p:nvSpPr>
              <p:cNvPr id="12" name="Text Box 11"/>
              <p:cNvSpPr txBox="1">
                <a:spLocks noChangeArrowheads="1"/>
              </p:cNvSpPr>
              <p:nvPr/>
            </p:nvSpPr>
            <p:spPr bwMode="auto">
              <a:xfrm>
                <a:off x="615" y="1248"/>
                <a:ext cx="637" cy="323"/>
              </a:xfrm>
              <a:prstGeom prst="rect">
                <a:avLst/>
              </a:prstGeom>
              <a:solidFill>
                <a:schemeClr val="accent1"/>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lnSpc>
                    <a:spcPct val="96000"/>
                  </a:lnSpc>
                  <a:spcBef>
                    <a:spcPct val="0"/>
                  </a:spcBef>
                  <a:buClrTx/>
                  <a:buSzTx/>
                  <a:buFontTx/>
                  <a:buNone/>
                </a:pPr>
                <a:r>
                  <a:rPr kumimoji="0" lang="zh-CN" altLang="en-US" sz="1600"/>
                  <a:t>成绩</a:t>
                </a:r>
              </a:p>
            </p:txBody>
          </p:sp>
          <p:sp>
            <p:nvSpPr>
              <p:cNvPr id="13" name="Line 12"/>
              <p:cNvSpPr>
                <a:spLocks noChangeShapeType="1"/>
              </p:cNvSpPr>
              <p:nvPr/>
            </p:nvSpPr>
            <p:spPr bwMode="auto">
              <a:xfrm>
                <a:off x="2918" y="1104"/>
                <a:ext cx="1403"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a:p>
            </p:txBody>
          </p:sp>
          <p:sp>
            <p:nvSpPr>
              <p:cNvPr id="14" name="Line 13"/>
              <p:cNvSpPr>
                <a:spLocks noChangeShapeType="1"/>
              </p:cNvSpPr>
              <p:nvPr/>
            </p:nvSpPr>
            <p:spPr bwMode="auto">
              <a:xfrm>
                <a:off x="2928" y="1152"/>
                <a:ext cx="1393" cy="626"/>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a:p>
            </p:txBody>
          </p:sp>
          <p:sp>
            <p:nvSpPr>
              <p:cNvPr id="15" name="Line 18"/>
              <p:cNvSpPr>
                <a:spLocks noChangeShapeType="1"/>
              </p:cNvSpPr>
              <p:nvPr/>
            </p:nvSpPr>
            <p:spPr bwMode="auto">
              <a:xfrm>
                <a:off x="3303" y="960"/>
                <a:ext cx="101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16" name="Line 19"/>
              <p:cNvSpPr>
                <a:spLocks noChangeShapeType="1"/>
              </p:cNvSpPr>
              <p:nvPr/>
            </p:nvSpPr>
            <p:spPr bwMode="auto">
              <a:xfrm>
                <a:off x="3303" y="1872"/>
                <a:ext cx="105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17" name="Text Box 20"/>
              <p:cNvSpPr txBox="1">
                <a:spLocks noChangeArrowheads="1"/>
              </p:cNvSpPr>
              <p:nvPr/>
            </p:nvSpPr>
            <p:spPr bwMode="auto">
              <a:xfrm>
                <a:off x="3600" y="672"/>
                <a:ext cx="19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l" eaLnBrk="1" hangingPunct="1">
                  <a:spcBef>
                    <a:spcPct val="50000"/>
                  </a:spcBef>
                  <a:buClrTx/>
                  <a:buSzTx/>
                  <a:buFontTx/>
                  <a:buNone/>
                </a:pPr>
                <a:r>
                  <a:rPr lang="en-US" altLang="zh-CN" sz="1600" i="1"/>
                  <a:t>p</a:t>
                </a:r>
              </a:p>
            </p:txBody>
          </p:sp>
          <p:sp>
            <p:nvSpPr>
              <p:cNvPr id="18" name="Text Box 21"/>
              <p:cNvSpPr txBox="1">
                <a:spLocks noChangeArrowheads="1"/>
              </p:cNvSpPr>
              <p:nvPr/>
            </p:nvSpPr>
            <p:spPr bwMode="auto">
              <a:xfrm>
                <a:off x="3639" y="1584"/>
                <a:ext cx="19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l" eaLnBrk="1" hangingPunct="1">
                  <a:spcBef>
                    <a:spcPct val="50000"/>
                  </a:spcBef>
                  <a:buClrTx/>
                  <a:buSzTx/>
                  <a:buFontTx/>
                  <a:buNone/>
                </a:pPr>
                <a:r>
                  <a:rPr lang="en-US" altLang="zh-CN" sz="1600" i="1"/>
                  <a:t>p</a:t>
                </a:r>
              </a:p>
            </p:txBody>
          </p:sp>
          <p:sp>
            <p:nvSpPr>
              <p:cNvPr id="19" name="Line 22"/>
              <p:cNvSpPr>
                <a:spLocks noChangeShapeType="1"/>
              </p:cNvSpPr>
              <p:nvPr/>
            </p:nvSpPr>
            <p:spPr bwMode="auto">
              <a:xfrm flipH="1">
                <a:off x="1239" y="1392"/>
                <a:ext cx="6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20" name="Text Box 23"/>
              <p:cNvSpPr txBox="1">
                <a:spLocks noChangeArrowheads="1"/>
              </p:cNvSpPr>
              <p:nvPr/>
            </p:nvSpPr>
            <p:spPr bwMode="auto">
              <a:xfrm>
                <a:off x="1536" y="1104"/>
                <a:ext cx="28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l" eaLnBrk="1" hangingPunct="1">
                  <a:spcBef>
                    <a:spcPct val="50000"/>
                  </a:spcBef>
                  <a:buClrTx/>
                  <a:buSzTx/>
                  <a:buFontTx/>
                  <a:buNone/>
                </a:pPr>
                <a:r>
                  <a:rPr lang="en-US" altLang="zh-CN" sz="1600" i="1"/>
                  <a:t>f</a:t>
                </a:r>
              </a:p>
            </p:txBody>
          </p:sp>
          <p:sp>
            <p:nvSpPr>
              <p:cNvPr id="21" name="Text Box 25"/>
              <p:cNvSpPr txBox="1">
                <a:spLocks noChangeArrowheads="1"/>
              </p:cNvSpPr>
              <p:nvPr/>
            </p:nvSpPr>
            <p:spPr bwMode="auto">
              <a:xfrm>
                <a:off x="2304" y="912"/>
                <a:ext cx="637" cy="323"/>
              </a:xfrm>
              <a:prstGeom prst="rect">
                <a:avLst/>
              </a:prstGeom>
              <a:solidFill>
                <a:schemeClr val="accent1"/>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lnSpc>
                    <a:spcPct val="96000"/>
                  </a:lnSpc>
                  <a:spcBef>
                    <a:spcPct val="0"/>
                  </a:spcBef>
                  <a:buClrTx/>
                  <a:buSzTx/>
                  <a:buFontTx/>
                  <a:buNone/>
                </a:pPr>
                <a:r>
                  <a:rPr kumimoji="0" lang="zh-CN" altLang="en-US" sz="1600"/>
                  <a:t>学号</a:t>
                </a:r>
              </a:p>
            </p:txBody>
          </p:sp>
          <p:sp>
            <p:nvSpPr>
              <p:cNvPr id="22" name="Text Box 26"/>
              <p:cNvSpPr txBox="1">
                <a:spLocks noChangeArrowheads="1"/>
              </p:cNvSpPr>
              <p:nvPr/>
            </p:nvSpPr>
            <p:spPr bwMode="auto">
              <a:xfrm>
                <a:off x="2160" y="1440"/>
                <a:ext cx="912" cy="323"/>
              </a:xfrm>
              <a:prstGeom prst="rect">
                <a:avLst/>
              </a:prstGeom>
              <a:solidFill>
                <a:schemeClr val="accent1"/>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lnSpc>
                    <a:spcPct val="96000"/>
                  </a:lnSpc>
                  <a:spcBef>
                    <a:spcPct val="0"/>
                  </a:spcBef>
                  <a:buClrTx/>
                  <a:buSzTx/>
                  <a:buFontTx/>
                  <a:buNone/>
                </a:pPr>
                <a:r>
                  <a:rPr kumimoji="0" lang="zh-CN" altLang="en-US" sz="1600"/>
                  <a:t>课程号</a:t>
                </a:r>
              </a:p>
            </p:txBody>
          </p:sp>
          <p:sp>
            <p:nvSpPr>
              <p:cNvPr id="23" name="Text Box 27"/>
              <p:cNvSpPr txBox="1">
                <a:spLocks noChangeArrowheads="1"/>
              </p:cNvSpPr>
              <p:nvPr/>
            </p:nvSpPr>
            <p:spPr bwMode="auto">
              <a:xfrm>
                <a:off x="4320" y="1632"/>
                <a:ext cx="912" cy="323"/>
              </a:xfrm>
              <a:prstGeom prst="rect">
                <a:avLst/>
              </a:prstGeom>
              <a:solidFill>
                <a:schemeClr val="accent1"/>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lnSpc>
                    <a:spcPct val="96000"/>
                  </a:lnSpc>
                  <a:spcBef>
                    <a:spcPct val="0"/>
                  </a:spcBef>
                  <a:buClrTx/>
                  <a:buSzTx/>
                  <a:buFontTx/>
                  <a:buNone/>
                </a:pPr>
                <a:r>
                  <a:rPr kumimoji="0" lang="zh-CN" altLang="en-US" sz="1600"/>
                  <a:t>系主任</a:t>
                </a:r>
              </a:p>
            </p:txBody>
          </p:sp>
          <p:sp>
            <p:nvSpPr>
              <p:cNvPr id="24" name="Text Box 28"/>
              <p:cNvSpPr txBox="1">
                <a:spLocks noChangeArrowheads="1"/>
              </p:cNvSpPr>
              <p:nvPr/>
            </p:nvSpPr>
            <p:spPr bwMode="auto">
              <a:xfrm>
                <a:off x="4320" y="864"/>
                <a:ext cx="912" cy="323"/>
              </a:xfrm>
              <a:prstGeom prst="rect">
                <a:avLst/>
              </a:prstGeom>
              <a:solidFill>
                <a:schemeClr val="accent1"/>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lnSpc>
                    <a:spcPct val="96000"/>
                  </a:lnSpc>
                  <a:spcBef>
                    <a:spcPct val="0"/>
                  </a:spcBef>
                  <a:buClrTx/>
                  <a:buSzTx/>
                  <a:buFontTx/>
                  <a:buNone/>
                </a:pPr>
                <a:r>
                  <a:rPr kumimoji="0" lang="zh-CN" altLang="en-US" sz="1600"/>
                  <a:t>所在系</a:t>
                </a:r>
              </a:p>
            </p:txBody>
          </p:sp>
          <p:sp>
            <p:nvSpPr>
              <p:cNvPr id="25" name="Line 29"/>
              <p:cNvSpPr>
                <a:spLocks noChangeShapeType="1"/>
              </p:cNvSpPr>
              <p:nvPr/>
            </p:nvSpPr>
            <p:spPr bwMode="auto">
              <a:xfrm flipH="1">
                <a:off x="4752" y="1200"/>
                <a:ext cx="0" cy="432"/>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26" name="Text Box 30"/>
              <p:cNvSpPr txBox="1">
                <a:spLocks noChangeArrowheads="1"/>
              </p:cNvSpPr>
              <p:nvPr/>
            </p:nvSpPr>
            <p:spPr bwMode="auto">
              <a:xfrm>
                <a:off x="3696" y="1248"/>
                <a:ext cx="28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l" eaLnBrk="1" hangingPunct="1">
                  <a:spcBef>
                    <a:spcPct val="50000"/>
                  </a:spcBef>
                  <a:buClrTx/>
                  <a:buSzTx/>
                  <a:buFontTx/>
                  <a:buNone/>
                </a:pPr>
                <a:r>
                  <a:rPr lang="en-US" altLang="zh-CN" sz="1600" i="1"/>
                  <a:t>t</a:t>
                </a:r>
              </a:p>
            </p:txBody>
          </p:sp>
        </p:grpSp>
      </p:grpSp>
      <p:sp>
        <p:nvSpPr>
          <p:cNvPr id="27" name="Rectangle 26"/>
          <p:cNvSpPr/>
          <p:nvPr/>
        </p:nvSpPr>
        <p:spPr>
          <a:xfrm>
            <a:off x="685799" y="1444479"/>
            <a:ext cx="7434565" cy="2298065"/>
          </a:xfrm>
          <a:prstGeom prst="rect">
            <a:avLst/>
          </a:prstGeom>
        </p:spPr>
        <p:txBody>
          <a:bodyPr wrap="square">
            <a:spAutoFit/>
          </a:bodyPr>
          <a:lstStyle/>
          <a:p>
            <a:pPr>
              <a:lnSpc>
                <a:spcPct val="120000"/>
              </a:lnSpc>
              <a:buClr>
                <a:schemeClr val="tx2"/>
              </a:buClr>
              <a:buSzPct val="90000"/>
            </a:pPr>
            <a:r>
              <a:rPr lang="en-US" altLang="zh-CN" sz="2000" dirty="0">
                <a:solidFill>
                  <a:srgbClr val="0000FF"/>
                </a:solidFill>
                <a:latin typeface="华文仿宋"/>
                <a:ea typeface="华文仿宋"/>
                <a:cs typeface="华文仿宋"/>
              </a:rPr>
              <a:t>(</a:t>
            </a:r>
            <a:r>
              <a:rPr lang="zh-CN" altLang="en-US" sz="2000" dirty="0">
                <a:solidFill>
                  <a:srgbClr val="0000FF"/>
                </a:solidFill>
                <a:latin typeface="华文仿宋"/>
                <a:ea typeface="华文仿宋"/>
                <a:cs typeface="华文仿宋"/>
              </a:rPr>
              <a:t>学号，课程号</a:t>
            </a:r>
            <a:r>
              <a:rPr lang="en-US" altLang="zh-CN" sz="2000" dirty="0">
                <a:solidFill>
                  <a:srgbClr val="0000FF"/>
                </a:solidFill>
                <a:latin typeface="华文仿宋"/>
                <a:ea typeface="华文仿宋"/>
                <a:cs typeface="华文仿宋"/>
              </a:rPr>
              <a:t>)→</a:t>
            </a:r>
            <a:r>
              <a:rPr lang="zh-CN" altLang="en-US" sz="2000" dirty="0">
                <a:solidFill>
                  <a:srgbClr val="0000FF"/>
                </a:solidFill>
                <a:latin typeface="华文仿宋"/>
                <a:ea typeface="华文仿宋"/>
                <a:cs typeface="华文仿宋"/>
              </a:rPr>
              <a:t>成绩，学号→姓名， </a:t>
            </a:r>
            <a:r>
              <a:rPr lang="zh-CN" altLang="en-US" sz="2000" dirty="0" smtClean="0">
                <a:solidFill>
                  <a:srgbClr val="0000FF"/>
                </a:solidFill>
                <a:latin typeface="华文仿宋"/>
                <a:ea typeface="华文仿宋"/>
                <a:cs typeface="华文仿宋"/>
              </a:rPr>
              <a:t>学号</a:t>
            </a:r>
            <a:r>
              <a:rPr lang="zh-CN" altLang="en-US" sz="2000" dirty="0">
                <a:solidFill>
                  <a:srgbClr val="0000FF"/>
                </a:solidFill>
                <a:latin typeface="华文仿宋"/>
                <a:ea typeface="华文仿宋"/>
                <a:cs typeface="华文仿宋"/>
              </a:rPr>
              <a:t>→</a:t>
            </a:r>
            <a:r>
              <a:rPr lang="zh-CN" altLang="en-US" sz="2000" dirty="0" smtClean="0">
                <a:solidFill>
                  <a:srgbClr val="0000FF"/>
                </a:solidFill>
                <a:latin typeface="华文仿宋"/>
                <a:ea typeface="华文仿宋"/>
                <a:cs typeface="华文仿宋"/>
              </a:rPr>
              <a:t>年龄，</a:t>
            </a:r>
            <a:endParaRPr lang="en-US" altLang="zh-CN" sz="2000" dirty="0" smtClean="0">
              <a:solidFill>
                <a:srgbClr val="0000FF"/>
              </a:solidFill>
              <a:latin typeface="华文仿宋"/>
              <a:ea typeface="华文仿宋"/>
              <a:cs typeface="华文仿宋"/>
            </a:endParaRPr>
          </a:p>
          <a:p>
            <a:pPr>
              <a:lnSpc>
                <a:spcPct val="120000"/>
              </a:lnSpc>
              <a:buClr>
                <a:schemeClr val="tx2"/>
              </a:buClr>
              <a:buSzPct val="90000"/>
            </a:pPr>
            <a:r>
              <a:rPr lang="zh-CN" altLang="en-US" sz="2000" dirty="0" smtClean="0">
                <a:solidFill>
                  <a:srgbClr val="0000FF"/>
                </a:solidFill>
                <a:latin typeface="华文仿宋"/>
                <a:ea typeface="华文仿宋"/>
                <a:cs typeface="华文仿宋"/>
              </a:rPr>
              <a:t>学号</a:t>
            </a:r>
            <a:r>
              <a:rPr lang="zh-CN" altLang="en-US" sz="2000" dirty="0">
                <a:solidFill>
                  <a:srgbClr val="0000FF"/>
                </a:solidFill>
                <a:latin typeface="华文仿宋"/>
                <a:ea typeface="华文仿宋"/>
                <a:cs typeface="华文仿宋"/>
              </a:rPr>
              <a:t>→所在系</a:t>
            </a:r>
            <a:r>
              <a:rPr lang="zh-CN" altLang="en-US" sz="2000" dirty="0" smtClean="0">
                <a:solidFill>
                  <a:srgbClr val="0000FF"/>
                </a:solidFill>
                <a:latin typeface="华文仿宋"/>
                <a:ea typeface="华文仿宋"/>
                <a:cs typeface="华文仿宋"/>
              </a:rPr>
              <a:t>，</a:t>
            </a:r>
            <a:endParaRPr lang="en-US" altLang="zh-CN" sz="2000" dirty="0" smtClean="0">
              <a:solidFill>
                <a:srgbClr val="0000FF"/>
              </a:solidFill>
              <a:latin typeface="华文仿宋"/>
              <a:ea typeface="华文仿宋"/>
              <a:cs typeface="华文仿宋"/>
            </a:endParaRPr>
          </a:p>
          <a:p>
            <a:pPr>
              <a:lnSpc>
                <a:spcPct val="120000"/>
              </a:lnSpc>
              <a:buClr>
                <a:schemeClr val="tx2"/>
              </a:buClr>
              <a:buSzPct val="90000"/>
            </a:pPr>
            <a:r>
              <a:rPr lang="zh-CN" altLang="en-US" sz="2000" dirty="0" smtClean="0">
                <a:solidFill>
                  <a:srgbClr val="0000FF"/>
                </a:solidFill>
                <a:latin typeface="华文仿宋"/>
                <a:ea typeface="华文仿宋"/>
                <a:cs typeface="华文仿宋"/>
              </a:rPr>
              <a:t> </a:t>
            </a:r>
            <a:r>
              <a:rPr lang="en-US" altLang="zh-CN" sz="2000" dirty="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学号，课程号</a:t>
            </a:r>
            <a:r>
              <a:rPr lang="en-US" altLang="zh-CN" sz="2000" dirty="0">
                <a:solidFill>
                  <a:srgbClr val="FF0000"/>
                </a:solidFill>
                <a:latin typeface="华文仿宋"/>
                <a:ea typeface="华文仿宋"/>
                <a:cs typeface="华文仿宋"/>
              </a:rPr>
              <a:t>)→</a:t>
            </a:r>
            <a:r>
              <a:rPr lang="zh-CN" altLang="en-US" sz="2000" dirty="0" smtClean="0">
                <a:solidFill>
                  <a:srgbClr val="FF0000"/>
                </a:solidFill>
                <a:latin typeface="华文仿宋"/>
                <a:ea typeface="华文仿宋"/>
                <a:cs typeface="华文仿宋"/>
              </a:rPr>
              <a:t>年龄</a:t>
            </a:r>
            <a:endParaRPr lang="en-US" altLang="zh-CN" sz="2000" dirty="0" smtClean="0">
              <a:solidFill>
                <a:srgbClr val="FF0000"/>
              </a:solidFill>
              <a:latin typeface="华文仿宋"/>
              <a:ea typeface="华文仿宋"/>
              <a:cs typeface="华文仿宋"/>
            </a:endParaRPr>
          </a:p>
          <a:p>
            <a:pPr>
              <a:lnSpc>
                <a:spcPct val="120000"/>
              </a:lnSpc>
              <a:buClr>
                <a:schemeClr val="tx2"/>
              </a:buClr>
              <a:buSzPct val="90000"/>
            </a:pPr>
            <a:r>
              <a:rPr lang="en-US" altLang="zh-CN" sz="2000" dirty="0" smtClean="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学号，课程号</a:t>
            </a:r>
            <a:r>
              <a:rPr lang="en-US" altLang="zh-CN" sz="2000" dirty="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所在系</a:t>
            </a:r>
            <a:r>
              <a:rPr lang="zh-CN" altLang="en-US" sz="2000" dirty="0" smtClean="0">
                <a:solidFill>
                  <a:srgbClr val="FF0000"/>
                </a:solidFill>
                <a:latin typeface="华文仿宋"/>
                <a:ea typeface="华文仿宋"/>
                <a:cs typeface="华文仿宋"/>
              </a:rPr>
              <a:t>，</a:t>
            </a:r>
            <a:endParaRPr lang="en-US" altLang="zh-CN" sz="2000" dirty="0" smtClean="0">
              <a:solidFill>
                <a:srgbClr val="FF0000"/>
              </a:solidFill>
              <a:latin typeface="华文仿宋"/>
              <a:ea typeface="华文仿宋"/>
              <a:cs typeface="华文仿宋"/>
            </a:endParaRPr>
          </a:p>
          <a:p>
            <a:pPr>
              <a:lnSpc>
                <a:spcPct val="120000"/>
              </a:lnSpc>
              <a:buClr>
                <a:schemeClr val="tx2"/>
              </a:buClr>
              <a:buSzPct val="90000"/>
            </a:pPr>
            <a:r>
              <a:rPr lang="en-US" altLang="zh-CN" sz="2000" dirty="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学号，课程号</a:t>
            </a:r>
            <a:r>
              <a:rPr lang="en-US" altLang="zh-CN" sz="2000" dirty="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姓名</a:t>
            </a:r>
            <a:r>
              <a:rPr lang="zh-CN" altLang="en-US" sz="2000" dirty="0">
                <a:solidFill>
                  <a:srgbClr val="0000FF"/>
                </a:solidFill>
                <a:latin typeface="华文仿宋"/>
                <a:ea typeface="华文仿宋"/>
                <a:cs typeface="华文仿宋"/>
              </a:rPr>
              <a:t>，</a:t>
            </a:r>
          </a:p>
          <a:p>
            <a:pPr>
              <a:lnSpc>
                <a:spcPct val="120000"/>
              </a:lnSpc>
              <a:buClr>
                <a:schemeClr val="tx2"/>
              </a:buClr>
              <a:buSzPct val="90000"/>
            </a:pPr>
            <a:r>
              <a:rPr lang="zh-CN" altLang="en-US" sz="2000" dirty="0" smtClean="0">
                <a:solidFill>
                  <a:srgbClr val="FF0000"/>
                </a:solidFill>
                <a:latin typeface="华文仿宋"/>
                <a:ea typeface="华文仿宋"/>
                <a:cs typeface="华文仿宋"/>
              </a:rPr>
              <a:t>学号</a:t>
            </a:r>
            <a:r>
              <a:rPr lang="zh-CN" altLang="en-US" sz="2000" dirty="0">
                <a:solidFill>
                  <a:srgbClr val="FF0000"/>
                </a:solidFill>
                <a:latin typeface="华文仿宋"/>
                <a:ea typeface="华文仿宋"/>
                <a:cs typeface="华文仿宋"/>
              </a:rPr>
              <a:t>→系主任， </a:t>
            </a:r>
            <a:r>
              <a:rPr lang="en-US" altLang="zh-CN" sz="2000" dirty="0" smtClean="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学号，课程号</a:t>
            </a:r>
            <a:r>
              <a:rPr lang="en-US" altLang="zh-CN" sz="2000" dirty="0">
                <a:solidFill>
                  <a:srgbClr val="FF0000"/>
                </a:solidFill>
                <a:latin typeface="华文仿宋"/>
                <a:ea typeface="华文仿宋"/>
                <a:cs typeface="华文仿宋"/>
              </a:rPr>
              <a:t>)→</a:t>
            </a:r>
            <a:r>
              <a:rPr lang="zh-CN" altLang="en-US" sz="2000" dirty="0">
                <a:solidFill>
                  <a:srgbClr val="FF0000"/>
                </a:solidFill>
                <a:latin typeface="华文仿宋"/>
                <a:ea typeface="华文仿宋"/>
                <a:cs typeface="华文仿宋"/>
              </a:rPr>
              <a:t>系主任</a:t>
            </a:r>
          </a:p>
        </p:txBody>
      </p:sp>
      <p:sp>
        <p:nvSpPr>
          <p:cNvPr id="28" name="Rectangle 5"/>
          <p:cNvSpPr>
            <a:spLocks noChangeArrowheads="1"/>
          </p:cNvSpPr>
          <p:nvPr/>
        </p:nvSpPr>
        <p:spPr bwMode="auto">
          <a:xfrm>
            <a:off x="4236488" y="314552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000" dirty="0">
                <a:solidFill>
                  <a:srgbClr val="FF0000"/>
                </a:solidFill>
              </a:rPr>
              <a:t>p</a:t>
            </a:r>
          </a:p>
        </p:txBody>
      </p:sp>
      <p:sp>
        <p:nvSpPr>
          <p:cNvPr id="29" name="Rectangle 5"/>
          <p:cNvSpPr>
            <a:spLocks noChangeArrowheads="1"/>
          </p:cNvSpPr>
          <p:nvPr/>
        </p:nvSpPr>
        <p:spPr bwMode="auto">
          <a:xfrm>
            <a:off x="2396316" y="205766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000" dirty="0">
                <a:solidFill>
                  <a:srgbClr val="FF0000"/>
                </a:solidFill>
              </a:rPr>
              <a:t>p</a:t>
            </a:r>
          </a:p>
        </p:txBody>
      </p:sp>
      <p:sp>
        <p:nvSpPr>
          <p:cNvPr id="30" name="Rectangle 5"/>
          <p:cNvSpPr>
            <a:spLocks noChangeArrowheads="1"/>
          </p:cNvSpPr>
          <p:nvPr/>
        </p:nvSpPr>
        <p:spPr bwMode="auto">
          <a:xfrm>
            <a:off x="2439037" y="24117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000" dirty="0">
                <a:solidFill>
                  <a:srgbClr val="FF0000"/>
                </a:solidFill>
              </a:rPr>
              <a:t>p</a:t>
            </a:r>
          </a:p>
        </p:txBody>
      </p:sp>
      <p:sp>
        <p:nvSpPr>
          <p:cNvPr id="31" name="Rectangle 5"/>
          <p:cNvSpPr>
            <a:spLocks noChangeArrowheads="1"/>
          </p:cNvSpPr>
          <p:nvPr/>
        </p:nvSpPr>
        <p:spPr bwMode="auto">
          <a:xfrm>
            <a:off x="2439037" y="2767531"/>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000" dirty="0">
                <a:solidFill>
                  <a:srgbClr val="FF0000"/>
                </a:solidFill>
              </a:rPr>
              <a:t>p</a:t>
            </a:r>
          </a:p>
        </p:txBody>
      </p:sp>
      <p:sp>
        <p:nvSpPr>
          <p:cNvPr id="32" name="Rectangle 5"/>
          <p:cNvSpPr>
            <a:spLocks noChangeArrowheads="1"/>
          </p:cNvSpPr>
          <p:nvPr/>
        </p:nvSpPr>
        <p:spPr bwMode="auto">
          <a:xfrm>
            <a:off x="1269005" y="3210928"/>
            <a:ext cx="2559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000" dirty="0" smtClean="0">
                <a:solidFill>
                  <a:srgbClr val="FF0000"/>
                </a:solidFill>
              </a:rPr>
              <a:t>t</a:t>
            </a:r>
            <a:endParaRPr lang="en-US" altLang="zh-CN" sz="2000" dirty="0">
              <a:solidFill>
                <a:srgbClr val="FF0000"/>
              </a:solidFill>
            </a:endParaRPr>
          </a:p>
        </p:txBody>
      </p:sp>
    </p:spTree>
    <p:extLst>
      <p:ext uri="{BB962C8B-B14F-4D97-AF65-F5344CB8AC3E}">
        <p14:creationId xmlns:p14="http://schemas.microsoft.com/office/powerpoint/2010/main" val="415489934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blinds(horizontal)">
                                      <p:cBhvr>
                                        <p:cTn id="7" dur="500"/>
                                        <p:tgtEl>
                                          <p:spTgt spid="2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
                                            <p:txEl>
                                              <p:pRg st="1" end="1"/>
                                            </p:txEl>
                                          </p:spTgt>
                                        </p:tgtEl>
                                        <p:attrNameLst>
                                          <p:attrName>style.visibility</p:attrName>
                                        </p:attrNameLst>
                                      </p:cBhvr>
                                      <p:to>
                                        <p:strVal val="visible"/>
                                      </p:to>
                                    </p:set>
                                    <p:animEffect transition="in" filter="blinds(horizontal)">
                                      <p:cBhvr>
                                        <p:cTn id="10" dur="500"/>
                                        <p:tgtEl>
                                          <p:spTgt spid="2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7">
                                            <p:txEl>
                                              <p:pRg st="2" end="2"/>
                                            </p:txEl>
                                          </p:spTgt>
                                        </p:tgtEl>
                                        <p:attrNameLst>
                                          <p:attrName>style.visibility</p:attrName>
                                        </p:attrNameLst>
                                      </p:cBhvr>
                                      <p:to>
                                        <p:strVal val="visible"/>
                                      </p:to>
                                    </p:set>
                                    <p:animEffect transition="in" filter="blinds(horizontal)">
                                      <p:cBhvr>
                                        <p:cTn id="20" dur="500"/>
                                        <p:tgtEl>
                                          <p:spTgt spid="2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7">
                                            <p:txEl>
                                              <p:pRg st="3" end="3"/>
                                            </p:txEl>
                                          </p:spTgt>
                                        </p:tgtEl>
                                        <p:attrNameLst>
                                          <p:attrName>style.visibility</p:attrName>
                                        </p:attrNameLst>
                                      </p:cBhvr>
                                      <p:to>
                                        <p:strVal val="visible"/>
                                      </p:to>
                                    </p:set>
                                    <p:animEffect transition="in" filter="blinds(horizontal)">
                                      <p:cBhvr>
                                        <p:cTn id="25" dur="500"/>
                                        <p:tgtEl>
                                          <p:spTgt spid="2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7">
                                            <p:txEl>
                                              <p:pRg st="4" end="4"/>
                                            </p:txEl>
                                          </p:spTgt>
                                        </p:tgtEl>
                                        <p:attrNameLst>
                                          <p:attrName>style.visibility</p:attrName>
                                        </p:attrNameLst>
                                      </p:cBhvr>
                                      <p:to>
                                        <p:strVal val="visible"/>
                                      </p:to>
                                    </p:set>
                                    <p:animEffect transition="in" filter="blinds(horizontal)">
                                      <p:cBhvr>
                                        <p:cTn id="30" dur="500"/>
                                        <p:tgtEl>
                                          <p:spTgt spid="2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7">
                                            <p:txEl>
                                              <p:pRg st="5" end="5"/>
                                            </p:txEl>
                                          </p:spTgt>
                                        </p:tgtEl>
                                        <p:attrNameLst>
                                          <p:attrName>style.visibility</p:attrName>
                                        </p:attrNameLst>
                                      </p:cBhvr>
                                      <p:to>
                                        <p:strVal val="visible"/>
                                      </p:to>
                                    </p:set>
                                    <p:animEffect transition="in" filter="blinds(horizontal)">
                                      <p:cBhvr>
                                        <p:cTn id="35" dur="500"/>
                                        <p:tgtEl>
                                          <p:spTgt spid="2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blinds(horizontal)">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blinds(horizontal)">
                                      <p:cBhvr>
                                        <p:cTn id="45" dur="500"/>
                                        <p:tgtEl>
                                          <p:spTgt spid="3">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blinds(horizontal)">
                                      <p:cBhvr>
                                        <p:cTn id="50" dur="500"/>
                                        <p:tgtEl>
                                          <p:spTgt spid="3">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blinds(horizontal)">
                                      <p:cBhvr>
                                        <p:cTn id="5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6.2.4 2NF</a:t>
            </a:r>
            <a:endParaRPr lang="en-US" dirty="0"/>
          </a:p>
        </p:txBody>
      </p:sp>
      <p:sp>
        <p:nvSpPr>
          <p:cNvPr id="3" name="Content Placeholder 2"/>
          <p:cNvSpPr>
            <a:spLocks noGrp="1"/>
          </p:cNvSpPr>
          <p:nvPr>
            <p:ph idx="1"/>
          </p:nvPr>
        </p:nvSpPr>
        <p:spPr>
          <a:xfrm>
            <a:off x="449711" y="1025948"/>
            <a:ext cx="8518447" cy="5263481"/>
          </a:xfrm>
        </p:spPr>
        <p:txBody>
          <a:bodyPr/>
          <a:lstStyle/>
          <a:p>
            <a:r>
              <a:rPr lang="zh-CN" altLang="en-US" sz="2400" dirty="0"/>
              <a:t>如果关系模式</a:t>
            </a:r>
            <a:r>
              <a:rPr lang="en-US" altLang="zh-CN" sz="2400" dirty="0"/>
              <a:t>R</a:t>
            </a:r>
            <a:r>
              <a:rPr lang="en-US" altLang="zh-CN" sz="2400" dirty="0">
                <a:sym typeface="Symbol" charset="0"/>
              </a:rPr>
              <a:t></a:t>
            </a:r>
            <a:r>
              <a:rPr lang="en-US" altLang="zh-CN" sz="2400" dirty="0"/>
              <a:t>1NF</a:t>
            </a:r>
            <a:r>
              <a:rPr lang="zh-CN" altLang="en-US" sz="2400" dirty="0"/>
              <a:t>，且</a:t>
            </a:r>
            <a:r>
              <a:rPr lang="zh-CN" altLang="en-US" sz="2400" u="sng" dirty="0">
                <a:solidFill>
                  <a:srgbClr val="FF0000"/>
                </a:solidFill>
              </a:rPr>
              <a:t>每个非主属性都完全函数依赖于</a:t>
            </a:r>
            <a:r>
              <a:rPr lang="en-US" altLang="zh-CN" sz="2400" u="sng" dirty="0">
                <a:solidFill>
                  <a:srgbClr val="FF0000"/>
                </a:solidFill>
              </a:rPr>
              <a:t>R</a:t>
            </a:r>
            <a:r>
              <a:rPr lang="zh-CN" altLang="en-US" sz="2400" u="sng" dirty="0">
                <a:solidFill>
                  <a:srgbClr val="FF0000"/>
                </a:solidFill>
              </a:rPr>
              <a:t>的码</a:t>
            </a:r>
            <a:r>
              <a:rPr lang="zh-CN" altLang="en-US" sz="2400" dirty="0"/>
              <a:t>，则称</a:t>
            </a:r>
            <a:r>
              <a:rPr lang="en-US" altLang="zh-CN" sz="2400" dirty="0"/>
              <a:t>R</a:t>
            </a:r>
            <a:r>
              <a:rPr lang="zh-CN" altLang="en-US" sz="2400" dirty="0"/>
              <a:t>属于</a:t>
            </a:r>
            <a:r>
              <a:rPr lang="zh-CN" altLang="en-US" sz="2400" dirty="0">
                <a:solidFill>
                  <a:srgbClr val="FF0066"/>
                </a:solidFill>
                <a:effectLst>
                  <a:outerShdw blurRad="38100" dist="38100" dir="2700000" algn="tl">
                    <a:srgbClr val="000000"/>
                  </a:outerShdw>
                </a:effectLst>
              </a:rPr>
              <a:t>第二范式</a:t>
            </a:r>
            <a:r>
              <a:rPr lang="zh-CN" altLang="en-US" sz="2400" dirty="0"/>
              <a:t>（简称</a:t>
            </a:r>
            <a:r>
              <a:rPr lang="en-US" altLang="zh-CN" sz="2400" dirty="0">
                <a:solidFill>
                  <a:srgbClr val="FF0066"/>
                </a:solidFill>
                <a:effectLst>
                  <a:outerShdw blurRad="38100" dist="38100" dir="2700000" algn="tl">
                    <a:srgbClr val="000000"/>
                  </a:outerShdw>
                </a:effectLst>
              </a:rPr>
              <a:t>2NF</a:t>
            </a:r>
            <a:r>
              <a:rPr lang="zh-CN" altLang="en-US" sz="2400" dirty="0"/>
              <a:t>），记作</a:t>
            </a:r>
            <a:r>
              <a:rPr lang="en-US" altLang="zh-CN" sz="2400" dirty="0">
                <a:solidFill>
                  <a:srgbClr val="0000FF"/>
                </a:solidFill>
              </a:rPr>
              <a:t>R</a:t>
            </a:r>
            <a:r>
              <a:rPr lang="en-US" altLang="zh-CN" sz="2400" dirty="0">
                <a:solidFill>
                  <a:srgbClr val="0000FF"/>
                </a:solidFill>
                <a:sym typeface="Symbol" charset="0"/>
              </a:rPr>
              <a:t></a:t>
            </a:r>
            <a:r>
              <a:rPr lang="en-US" altLang="zh-CN" sz="2400" dirty="0">
                <a:solidFill>
                  <a:srgbClr val="0000FF"/>
                </a:solidFill>
              </a:rPr>
              <a:t>2NF</a:t>
            </a:r>
            <a:r>
              <a:rPr lang="zh-CN" altLang="en-US" sz="2400" dirty="0" smtClean="0"/>
              <a:t>。</a:t>
            </a:r>
            <a:endParaRPr lang="en-US" altLang="zh-CN" sz="2400" dirty="0" smtClean="0"/>
          </a:p>
          <a:p>
            <a:endParaRPr lang="zh-CN" altLang="en-US" sz="1000" dirty="0"/>
          </a:p>
          <a:p>
            <a:r>
              <a:rPr lang="zh-CN" altLang="en-US" sz="2400" dirty="0" smtClean="0"/>
              <a:t>例：</a:t>
            </a:r>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pPr lvl="1"/>
            <a:endParaRPr lang="en-US" altLang="zh-CN" dirty="0" smtClean="0">
              <a:solidFill>
                <a:srgbClr val="0000FF"/>
              </a:solidFill>
            </a:endParaRPr>
          </a:p>
          <a:p>
            <a:pPr marL="479425" lvl="1" indent="0">
              <a:buClrTx/>
              <a:buSzTx/>
              <a:buNone/>
            </a:pPr>
            <a:r>
              <a:rPr lang="en-US" altLang="zh-CN" i="1" dirty="0">
                <a:solidFill>
                  <a:srgbClr val="0000FF"/>
                </a:solidFill>
              </a:rPr>
              <a:t>SD </a:t>
            </a:r>
            <a:r>
              <a:rPr lang="en-US" altLang="zh-CN" dirty="0">
                <a:solidFill>
                  <a:srgbClr val="0000FF"/>
                </a:solidFill>
              </a:rPr>
              <a:t>∈</a:t>
            </a:r>
            <a:r>
              <a:rPr lang="en-US" altLang="zh-CN" i="1" dirty="0" smtClean="0">
                <a:solidFill>
                  <a:srgbClr val="0000FF"/>
                </a:solidFill>
              </a:rPr>
              <a:t>2NF</a:t>
            </a:r>
          </a:p>
          <a:p>
            <a:pPr marL="204788" indent="0">
              <a:buClrTx/>
              <a:buSzTx/>
              <a:buNone/>
            </a:pPr>
            <a:r>
              <a:rPr lang="en-US" altLang="zh-CN" sz="2400" i="1" dirty="0" smtClean="0">
                <a:solidFill>
                  <a:srgbClr val="0000FF"/>
                </a:solidFill>
              </a:rPr>
              <a:t>    SC </a:t>
            </a:r>
            <a:r>
              <a:rPr lang="en-US" altLang="zh-CN" sz="2400" dirty="0">
                <a:solidFill>
                  <a:srgbClr val="0000FF"/>
                </a:solidFill>
              </a:rPr>
              <a:t>∈</a:t>
            </a:r>
            <a:r>
              <a:rPr lang="en-US" altLang="zh-CN" sz="2400" i="1" dirty="0" smtClean="0">
                <a:solidFill>
                  <a:srgbClr val="0000FF"/>
                </a:solidFill>
              </a:rPr>
              <a:t>2NF</a:t>
            </a:r>
          </a:p>
          <a:p>
            <a:pPr>
              <a:lnSpc>
                <a:spcPct val="140000"/>
              </a:lnSpc>
            </a:pPr>
            <a:r>
              <a:rPr lang="zh-CN" altLang="en-US" sz="2400" dirty="0">
                <a:solidFill>
                  <a:srgbClr val="FF0000"/>
                </a:solidFill>
              </a:rPr>
              <a:t>推论</a:t>
            </a:r>
            <a:r>
              <a:rPr lang="en-US" altLang="zh-CN" sz="2400" dirty="0"/>
              <a:t>: </a:t>
            </a:r>
            <a:r>
              <a:rPr lang="zh-CN" altLang="en-US" sz="2400" dirty="0"/>
              <a:t>若</a:t>
            </a:r>
            <a:r>
              <a:rPr lang="en-US" altLang="zh-CN" sz="2400" dirty="0">
                <a:latin typeface="Arial Narrow" charset="0"/>
              </a:rPr>
              <a:t>R∈1NF</a:t>
            </a:r>
            <a:r>
              <a:rPr lang="en-US" altLang="zh-CN" sz="2400" dirty="0"/>
              <a:t>,</a:t>
            </a:r>
            <a:r>
              <a:rPr lang="zh-CN" altLang="en-US" sz="2400" dirty="0"/>
              <a:t>且其候选码为单个属性</a:t>
            </a:r>
            <a:r>
              <a:rPr lang="en-US" altLang="zh-CN" sz="2400" dirty="0"/>
              <a:t>,</a:t>
            </a:r>
            <a:r>
              <a:rPr lang="zh-CN" altLang="en-US" sz="2400" dirty="0"/>
              <a:t>则</a:t>
            </a:r>
            <a:r>
              <a:rPr lang="en-US" altLang="zh-CN" sz="2400" dirty="0">
                <a:latin typeface="Arial Narrow" charset="0"/>
              </a:rPr>
              <a:t>R∈</a:t>
            </a:r>
            <a:r>
              <a:rPr lang="en-US" altLang="zh-CN" sz="2400" dirty="0" smtClean="0">
                <a:latin typeface="Arial Narrow" charset="0"/>
              </a:rPr>
              <a:t>2NF</a:t>
            </a:r>
            <a:r>
              <a:rPr lang="zh-CN" altLang="en-US" sz="2400" dirty="0" smtClean="0">
                <a:latin typeface="Arial Narrow" charset="0"/>
              </a:rPr>
              <a:t>。</a:t>
            </a:r>
            <a:r>
              <a:rPr lang="en-US" altLang="zh-CN" sz="2400" dirty="0" smtClean="0">
                <a:solidFill>
                  <a:srgbClr val="FF6600"/>
                </a:solidFill>
              </a:rPr>
              <a:t> (Why</a:t>
            </a:r>
            <a:r>
              <a:rPr lang="en-US" altLang="zh-CN" sz="2400" i="1" dirty="0" smtClean="0">
                <a:solidFill>
                  <a:srgbClr val="FF6600"/>
                </a:solidFill>
              </a:rPr>
              <a:t>?</a:t>
            </a:r>
            <a:r>
              <a:rPr lang="en-US" altLang="zh-CN" sz="2400" dirty="0">
                <a:solidFill>
                  <a:srgbClr val="FF6600"/>
                </a:solidFill>
              </a:rPr>
              <a:t>)</a:t>
            </a:r>
          </a:p>
          <a:p>
            <a:pPr marL="0" indent="0">
              <a:buNone/>
            </a:pPr>
            <a:endParaRPr lang="en-US" sz="2400" dirty="0">
              <a:solidFill>
                <a:srgbClr val="0000FF"/>
              </a:solidFill>
            </a:endParaRPr>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26</a:t>
            </a:fld>
            <a:endParaRPr lang="en-US" altLang="zh-CN"/>
          </a:p>
        </p:txBody>
      </p:sp>
      <p:graphicFrame>
        <p:nvGraphicFramePr>
          <p:cNvPr id="6" name="Group 4"/>
          <p:cNvGraphicFramePr>
            <a:graphicFrameLocks noGrp="1"/>
          </p:cNvGraphicFramePr>
          <p:nvPr>
            <p:extLst>
              <p:ext uri="{D42A27DB-BD31-4B8C-83A1-F6EECF244321}">
                <p14:modId xmlns:p14="http://schemas.microsoft.com/office/powerpoint/2010/main" val="3653692398"/>
              </p:ext>
            </p:extLst>
          </p:nvPr>
        </p:nvGraphicFramePr>
        <p:xfrm>
          <a:off x="786147" y="2489908"/>
          <a:ext cx="4480115" cy="2076069"/>
        </p:xfrm>
        <a:graphic>
          <a:graphicData uri="http://schemas.openxmlformats.org/drawingml/2006/table">
            <a:tbl>
              <a:tblPr/>
              <a:tblGrid>
                <a:gridCol w="645044"/>
                <a:gridCol w="907093"/>
                <a:gridCol w="768727"/>
                <a:gridCol w="1037781"/>
                <a:gridCol w="1121470"/>
              </a:tblGrid>
              <a:tr h="4603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rgbClr val="FF0000"/>
                          </a:solidFill>
                          <a:effectLst/>
                          <a:latin typeface="Arial" charset="0"/>
                          <a:ea typeface="宋体" charset="0"/>
                          <a:cs typeface="宋体" charset="0"/>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err="1">
                          <a:ln>
                            <a:noFill/>
                          </a:ln>
                          <a:solidFill>
                            <a:srgbClr val="FF0000"/>
                          </a:solidFill>
                          <a:effectLst/>
                          <a:latin typeface="Arial" charset="0"/>
                          <a:ea typeface="宋体" charset="0"/>
                          <a:cs typeface="宋体" charset="0"/>
                        </a:rPr>
                        <a:t>Sno</a:t>
                      </a:r>
                      <a:endParaRPr kumimoji="0" lang="en-US" altLang="zh-CN" sz="1800" b="0" i="0" u="none" strike="noStrike" cap="none" normalizeH="0" baseline="0" dirty="0">
                        <a:ln>
                          <a:noFill/>
                        </a:ln>
                        <a:solidFill>
                          <a:srgbClr val="FF0000"/>
                        </a:solidFill>
                        <a:effectLst/>
                        <a:latin typeface="Arial" charset="0"/>
                        <a:ea typeface="宋体" charset="0"/>
                        <a:cs typeface="宋体"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err="1">
                          <a:ln>
                            <a:noFill/>
                          </a:ln>
                          <a:solidFill>
                            <a:schemeClr val="tx1"/>
                          </a:solidFill>
                          <a:effectLst/>
                          <a:latin typeface="Arial" charset="0"/>
                          <a:ea typeface="宋体" charset="0"/>
                          <a:cs typeface="宋体" charset="0"/>
                        </a:rPr>
                        <a:t>Sname</a:t>
                      </a:r>
                      <a:endParaRPr kumimoji="0" lang="en-US" altLang="zh-CN" sz="1800" b="0" i="0" u="none" strike="noStrike" cap="none" normalizeH="0" baseline="0" dirty="0">
                        <a:ln>
                          <a:noFill/>
                        </a:ln>
                        <a:solidFill>
                          <a:schemeClr val="tx1"/>
                        </a:solidFill>
                        <a:effectLst/>
                        <a:latin typeface="Arial" charset="0"/>
                        <a:ea typeface="宋体" charset="0"/>
                        <a:cs typeface="宋体"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Age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a:ln>
                            <a:noFill/>
                          </a:ln>
                          <a:solidFill>
                            <a:schemeClr val="tx1"/>
                          </a:solidFill>
                          <a:effectLst/>
                          <a:latin typeface="Arial" charset="0"/>
                          <a:ea typeface="宋体" charset="0"/>
                          <a:cs typeface="宋体" charset="0"/>
                        </a:rPr>
                        <a:t>系别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Dept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系主任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err="1" smtClean="0">
                          <a:ln>
                            <a:noFill/>
                          </a:ln>
                          <a:solidFill>
                            <a:schemeClr val="tx1"/>
                          </a:solidFill>
                          <a:effectLst/>
                          <a:latin typeface="Arial" charset="0"/>
                          <a:ea typeface="宋体" charset="0"/>
                          <a:cs typeface="宋体" charset="0"/>
                        </a:rPr>
                        <a:t>Mname</a:t>
                      </a:r>
                      <a:endParaRPr kumimoji="0" lang="en-US" altLang="zh-CN" sz="1800" b="0" i="0" u="none" strike="noStrike" cap="none" normalizeH="0" baseline="0" dirty="0">
                        <a:ln>
                          <a:noFill/>
                        </a:ln>
                        <a:solidFill>
                          <a:schemeClr val="tx1"/>
                        </a:solidFill>
                        <a:effectLst/>
                        <a:latin typeface="Arial" charset="0"/>
                        <a:ea typeface="宋体" charset="0"/>
                        <a:cs typeface="宋体"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S1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计算机</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a:ln>
                            <a:noFill/>
                          </a:ln>
                          <a:solidFill>
                            <a:schemeClr val="tx1"/>
                          </a:solidFill>
                          <a:effectLst/>
                          <a:latin typeface="Arial" charset="0"/>
                          <a:ea typeface="宋体" charset="0"/>
                          <a:cs typeface="宋体" charset="0"/>
                        </a:rPr>
                        <a:t>王平</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S2</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刘晨</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17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计算机</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王平</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S3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王敏</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自控系</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chemeClr val="tx1"/>
                          </a:solidFill>
                          <a:effectLst/>
                          <a:latin typeface="Arial" charset="0"/>
                          <a:ea typeface="宋体" charset="0"/>
                          <a:cs typeface="宋体" charset="0"/>
                        </a:rPr>
                        <a:t>刘伟</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36"/>
          <p:cNvGraphicFramePr>
            <a:graphicFrameLocks noGrp="1"/>
          </p:cNvGraphicFramePr>
          <p:nvPr>
            <p:extLst>
              <p:ext uri="{D42A27DB-BD31-4B8C-83A1-F6EECF244321}">
                <p14:modId xmlns:p14="http://schemas.microsoft.com/office/powerpoint/2010/main" val="666287315"/>
              </p:ext>
            </p:extLst>
          </p:nvPr>
        </p:nvGraphicFramePr>
        <p:xfrm>
          <a:off x="5522915" y="2489908"/>
          <a:ext cx="2960685" cy="2536444"/>
        </p:xfrm>
        <a:graphic>
          <a:graphicData uri="http://schemas.openxmlformats.org/drawingml/2006/table">
            <a:tbl>
              <a:tblPr/>
              <a:tblGrid>
                <a:gridCol w="895091"/>
                <a:gridCol w="1032797"/>
                <a:gridCol w="1032797"/>
              </a:tblGrid>
              <a:tr h="6508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a:ln>
                            <a:noFill/>
                          </a:ln>
                          <a:solidFill>
                            <a:srgbClr val="FF0000"/>
                          </a:solidFill>
                          <a:effectLst/>
                          <a:latin typeface="Arial" charset="0"/>
                          <a:ea typeface="宋体" charset="0"/>
                          <a:cs typeface="宋体" charset="0"/>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rgbClr val="FF0000"/>
                          </a:solidFill>
                          <a:effectLst/>
                          <a:latin typeface="Arial" charset="0"/>
                          <a:ea typeface="宋体" charset="0"/>
                          <a:cs typeface="宋体" charset="0"/>
                        </a:rPr>
                        <a:t>Sno</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dirty="0">
                          <a:ln>
                            <a:noFill/>
                          </a:ln>
                          <a:solidFill>
                            <a:srgbClr val="FF0000"/>
                          </a:solidFill>
                          <a:effectLst/>
                          <a:latin typeface="Arial" charset="0"/>
                          <a:ea typeface="宋体" charset="0"/>
                          <a:cs typeface="宋体" charset="0"/>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err="1">
                          <a:ln>
                            <a:noFill/>
                          </a:ln>
                          <a:solidFill>
                            <a:srgbClr val="FF0000"/>
                          </a:solidFill>
                          <a:effectLst/>
                          <a:latin typeface="Arial" charset="0"/>
                          <a:ea typeface="宋体" charset="0"/>
                          <a:cs typeface="宋体" charset="0"/>
                        </a:rPr>
                        <a:t>Cno</a:t>
                      </a:r>
                      <a:endParaRPr kumimoji="0" lang="en-US" altLang="zh-CN" sz="1800" b="0" i="0" u="none" strike="noStrike" cap="none" normalizeH="0" baseline="0" dirty="0">
                        <a:ln>
                          <a:noFill/>
                        </a:ln>
                        <a:solidFill>
                          <a:srgbClr val="FF0000"/>
                        </a:solidFill>
                        <a:effectLst/>
                        <a:latin typeface="Arial" charset="0"/>
                        <a:ea typeface="宋体" charset="0"/>
                        <a:cs typeface="宋体"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1800" b="0" i="0" u="none" strike="noStrike" cap="none" normalizeH="0" baseline="0">
                          <a:ln>
                            <a:noFill/>
                          </a:ln>
                          <a:solidFill>
                            <a:schemeClr val="tx1"/>
                          </a:solidFill>
                          <a:effectLst/>
                          <a:latin typeface="Arial" charset="0"/>
                          <a:ea typeface="宋体" charset="0"/>
                          <a:cs typeface="宋体" charset="0"/>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Score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S1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C1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85</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S1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C2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82</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S2</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C4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78</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0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a:ln>
                            <a:noFill/>
                          </a:ln>
                          <a:solidFill>
                            <a:schemeClr val="tx1"/>
                          </a:solidFill>
                          <a:effectLst/>
                          <a:latin typeface="Arial" charset="0"/>
                          <a:ea typeface="宋体" charset="0"/>
                          <a:cs typeface="宋体" charset="0"/>
                        </a:rPr>
                        <a:t>S3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C2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0" i="0" u="none" strike="noStrike" cap="none" normalizeH="0" baseline="0" dirty="0">
                          <a:ln>
                            <a:noFill/>
                          </a:ln>
                          <a:solidFill>
                            <a:schemeClr val="tx1"/>
                          </a:solidFill>
                          <a:effectLst/>
                          <a:latin typeface="Arial" charset="0"/>
                          <a:ea typeface="宋体" charset="0"/>
                          <a:cs typeface="宋体" charset="0"/>
                        </a:rPr>
                        <a:t>87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
        <p:nvSpPr>
          <p:cNvPr id="8" name="Text Box 74"/>
          <p:cNvSpPr txBox="1">
            <a:spLocks noChangeArrowheads="1"/>
          </p:cNvSpPr>
          <p:nvPr/>
        </p:nvSpPr>
        <p:spPr bwMode="auto">
          <a:xfrm>
            <a:off x="1461464" y="2028243"/>
            <a:ext cx="5781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spcBef>
                <a:spcPct val="0"/>
              </a:spcBef>
              <a:defRPr kumimoji="1" sz="3600" b="1">
                <a:solidFill>
                  <a:schemeClr val="tx1"/>
                </a:solidFill>
                <a:latin typeface="宋体" charset="0"/>
                <a:ea typeface="宋体" charset="0"/>
                <a:cs typeface="宋体" charset="0"/>
              </a:defRPr>
            </a:lvl1pPr>
            <a:lvl2pPr marL="742950" indent="-285750">
              <a:spcBef>
                <a:spcPct val="0"/>
              </a:spcBef>
              <a:defRPr kumimoji="1" sz="3600" b="1">
                <a:solidFill>
                  <a:schemeClr val="tx1"/>
                </a:solidFill>
                <a:latin typeface="宋体" charset="0"/>
                <a:ea typeface="宋体" charset="0"/>
                <a:cs typeface="宋体" charset="0"/>
              </a:defRPr>
            </a:lvl2pPr>
            <a:lvl3pPr marL="1143000" indent="-228600">
              <a:spcBef>
                <a:spcPct val="0"/>
              </a:spcBef>
              <a:defRPr kumimoji="1" sz="3600" b="1">
                <a:solidFill>
                  <a:schemeClr val="tx1"/>
                </a:solidFill>
                <a:latin typeface="宋体" charset="0"/>
                <a:ea typeface="宋体" charset="0"/>
                <a:cs typeface="宋体" charset="0"/>
              </a:defRPr>
            </a:lvl3pPr>
            <a:lvl4pPr marL="1600200" indent="-228600">
              <a:spcBef>
                <a:spcPct val="0"/>
              </a:spcBef>
              <a:defRPr kumimoji="1" sz="3600" b="1">
                <a:solidFill>
                  <a:schemeClr val="tx1"/>
                </a:solidFill>
                <a:latin typeface="宋体" charset="0"/>
                <a:ea typeface="宋体" charset="0"/>
                <a:cs typeface="宋体" charset="0"/>
              </a:defRPr>
            </a:lvl4pPr>
            <a:lvl5pPr marL="2057400" indent="-228600">
              <a:spcBef>
                <a:spcPct val="0"/>
              </a:spcBef>
              <a:defRPr kumimoji="1" sz="3600" b="1">
                <a:solidFill>
                  <a:schemeClr val="tx1"/>
                </a:solidFill>
                <a:latin typeface="宋体" charset="0"/>
                <a:ea typeface="宋体" charset="0"/>
                <a:cs typeface="宋体" charset="0"/>
              </a:defRPr>
            </a:lvl5pPr>
            <a:lvl6pPr marL="25146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eaLnBrk="1" hangingPunct="1">
              <a:spcBef>
                <a:spcPct val="50000"/>
              </a:spcBef>
            </a:pPr>
            <a:r>
              <a:rPr lang="en-US" altLang="zh-CN" sz="2400" dirty="0">
                <a:latin typeface="Times New Roman" charset="0"/>
                <a:ea typeface="经典综艺体简" charset="0"/>
                <a:cs typeface="经典综艺体简" charset="0"/>
              </a:rPr>
              <a:t>SD</a:t>
            </a:r>
          </a:p>
        </p:txBody>
      </p:sp>
      <p:sp>
        <p:nvSpPr>
          <p:cNvPr id="9" name="Text Box 75"/>
          <p:cNvSpPr txBox="1">
            <a:spLocks noChangeArrowheads="1"/>
          </p:cNvSpPr>
          <p:nvPr/>
        </p:nvSpPr>
        <p:spPr bwMode="auto">
          <a:xfrm>
            <a:off x="5562615" y="2028243"/>
            <a:ext cx="5781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spcBef>
                <a:spcPct val="0"/>
              </a:spcBef>
              <a:defRPr kumimoji="1" sz="3600" b="1">
                <a:solidFill>
                  <a:schemeClr val="tx1"/>
                </a:solidFill>
                <a:latin typeface="宋体" charset="0"/>
                <a:ea typeface="宋体" charset="0"/>
                <a:cs typeface="宋体" charset="0"/>
              </a:defRPr>
            </a:lvl1pPr>
            <a:lvl2pPr marL="742950" indent="-285750">
              <a:spcBef>
                <a:spcPct val="0"/>
              </a:spcBef>
              <a:defRPr kumimoji="1" sz="3600" b="1">
                <a:solidFill>
                  <a:schemeClr val="tx1"/>
                </a:solidFill>
                <a:latin typeface="宋体" charset="0"/>
                <a:ea typeface="宋体" charset="0"/>
                <a:cs typeface="宋体" charset="0"/>
              </a:defRPr>
            </a:lvl2pPr>
            <a:lvl3pPr marL="1143000" indent="-228600">
              <a:spcBef>
                <a:spcPct val="0"/>
              </a:spcBef>
              <a:defRPr kumimoji="1" sz="3600" b="1">
                <a:solidFill>
                  <a:schemeClr val="tx1"/>
                </a:solidFill>
                <a:latin typeface="宋体" charset="0"/>
                <a:ea typeface="宋体" charset="0"/>
                <a:cs typeface="宋体" charset="0"/>
              </a:defRPr>
            </a:lvl3pPr>
            <a:lvl4pPr marL="1600200" indent="-228600">
              <a:spcBef>
                <a:spcPct val="0"/>
              </a:spcBef>
              <a:defRPr kumimoji="1" sz="3600" b="1">
                <a:solidFill>
                  <a:schemeClr val="tx1"/>
                </a:solidFill>
                <a:latin typeface="宋体" charset="0"/>
                <a:ea typeface="宋体" charset="0"/>
                <a:cs typeface="宋体" charset="0"/>
              </a:defRPr>
            </a:lvl4pPr>
            <a:lvl5pPr marL="2057400" indent="-228600">
              <a:spcBef>
                <a:spcPct val="0"/>
              </a:spcBef>
              <a:defRPr kumimoji="1" sz="3600" b="1">
                <a:solidFill>
                  <a:schemeClr val="tx1"/>
                </a:solidFill>
                <a:latin typeface="宋体" charset="0"/>
                <a:ea typeface="宋体" charset="0"/>
                <a:cs typeface="宋体" charset="0"/>
              </a:defRPr>
            </a:lvl5pPr>
            <a:lvl6pPr marL="25146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eaLnBrk="1" hangingPunct="1">
              <a:spcBef>
                <a:spcPct val="50000"/>
              </a:spcBef>
            </a:pPr>
            <a:r>
              <a:rPr lang="en-US" altLang="zh-CN" sz="2400" dirty="0">
                <a:latin typeface="Times New Roman" charset="0"/>
                <a:ea typeface="经典综艺体简" charset="0"/>
                <a:cs typeface="经典综艺体简" charset="0"/>
              </a:rPr>
              <a:t>SC</a:t>
            </a:r>
          </a:p>
        </p:txBody>
      </p:sp>
      <p:sp>
        <p:nvSpPr>
          <p:cNvPr id="10" name="Cloud Callout 9"/>
          <p:cNvSpPr/>
          <p:nvPr/>
        </p:nvSpPr>
        <p:spPr>
          <a:xfrm>
            <a:off x="6228689" y="1792708"/>
            <a:ext cx="1733555" cy="672630"/>
          </a:xfrm>
          <a:prstGeom prst="cloudCallout">
            <a:avLst>
              <a:gd name="adj1" fmla="val -21996"/>
              <a:gd name="adj2" fmla="val 38528"/>
            </a:avLst>
          </a:prstGeom>
          <a:solidFill>
            <a:srgbClr val="FFFF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smtClean="0">
                <a:solidFill>
                  <a:srgbClr val="FF0000"/>
                </a:solidFill>
              </a:rPr>
              <a:t>还有没有问题？</a:t>
            </a:r>
            <a:endParaRPr lang="en-US" dirty="0">
              <a:solidFill>
                <a:srgbClr val="FF0000"/>
              </a:solidFill>
            </a:endParaRPr>
          </a:p>
        </p:txBody>
      </p:sp>
      <p:sp>
        <p:nvSpPr>
          <p:cNvPr id="11" name="Cloud Callout 10"/>
          <p:cNvSpPr/>
          <p:nvPr/>
        </p:nvSpPr>
        <p:spPr>
          <a:xfrm>
            <a:off x="3532707" y="1792708"/>
            <a:ext cx="1733555" cy="672630"/>
          </a:xfrm>
          <a:prstGeom prst="cloudCallout">
            <a:avLst>
              <a:gd name="adj1" fmla="val -20833"/>
              <a:gd name="adj2" fmla="val 38528"/>
            </a:avLst>
          </a:prstGeom>
          <a:solidFill>
            <a:srgbClr val="FFFF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smtClean="0">
                <a:solidFill>
                  <a:srgbClr val="FF0000"/>
                </a:solidFill>
              </a:rPr>
              <a:t>解决了哪些问题？</a:t>
            </a:r>
            <a:endParaRPr lang="en-US" dirty="0">
              <a:solidFill>
                <a:srgbClr val="FF0000"/>
              </a:solidFill>
            </a:endParaRPr>
          </a:p>
        </p:txBody>
      </p:sp>
    </p:spTree>
    <p:extLst>
      <p:ext uri="{BB962C8B-B14F-4D97-AF65-F5344CB8AC3E}">
        <p14:creationId xmlns:p14="http://schemas.microsoft.com/office/powerpoint/2010/main" val="275522773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checkerboard(across)">
                                      <p:cBhvr>
                                        <p:cTn id="20" dur="500"/>
                                        <p:tgtEl>
                                          <p:spTgt spid="8"/>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heckerboard(across)">
                                      <p:cBhvr>
                                        <p:cTn id="23" dur="500"/>
                                        <p:tgtEl>
                                          <p:spTgt spid="9"/>
                                        </p:tgtEl>
                                      </p:cBhvr>
                                    </p:animEffect>
                                  </p:childTnLst>
                                </p:cTn>
                              </p:par>
                              <p:par>
                                <p:cTn id="24" presetID="5" presetClass="entr" presetSubtype="1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checkerboard(across)">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linds(horizontal)">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blinds(horizontal)">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blinds(horizontal)">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checkerboard(across)">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checkerboard(across)">
                                      <p:cBhvr>
                                        <p:cTn id="5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uiExpand="1"/>
      <p:bldP spid="9" grpId="0" uiExpand="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2NF</a:t>
            </a:r>
            <a:endParaRPr lang="en-US" dirty="0"/>
          </a:p>
        </p:txBody>
      </p:sp>
      <p:sp>
        <p:nvSpPr>
          <p:cNvPr id="3" name="Content Placeholder 2"/>
          <p:cNvSpPr>
            <a:spLocks noGrp="1"/>
          </p:cNvSpPr>
          <p:nvPr>
            <p:ph idx="1"/>
          </p:nvPr>
        </p:nvSpPr>
        <p:spPr>
          <a:xfrm>
            <a:off x="527537" y="908720"/>
            <a:ext cx="8435487" cy="2497605"/>
          </a:xfrm>
        </p:spPr>
        <p:txBody>
          <a:bodyPr/>
          <a:lstStyle/>
          <a:p>
            <a:r>
              <a:rPr lang="en-US" altLang="zh-CN" sz="2400" dirty="0" smtClean="0"/>
              <a:t>SDC</a:t>
            </a:r>
            <a:r>
              <a:rPr lang="zh-CN" altLang="en-US" sz="2400" dirty="0" smtClean="0"/>
              <a:t>分解</a:t>
            </a:r>
            <a:r>
              <a:rPr lang="zh-CN" altLang="en-US" sz="2400" dirty="0"/>
              <a:t>后，</a:t>
            </a:r>
            <a:r>
              <a:rPr lang="en-US" altLang="zh-CN" sz="2400" dirty="0"/>
              <a:t>SD</a:t>
            </a:r>
            <a:r>
              <a:rPr lang="zh-CN" altLang="en-US" sz="2400" dirty="0"/>
              <a:t>和</a:t>
            </a:r>
            <a:r>
              <a:rPr lang="en-US" altLang="zh-CN" sz="2400" dirty="0"/>
              <a:t>SC</a:t>
            </a:r>
            <a:r>
              <a:rPr lang="zh-CN" altLang="en-US" sz="2400" dirty="0"/>
              <a:t>的函数依赖分别如下图所示：</a:t>
            </a:r>
          </a:p>
          <a:p>
            <a:endParaRPr lang="en-US" sz="2400" dirty="0" smtClean="0"/>
          </a:p>
          <a:p>
            <a:endParaRPr lang="en-US" sz="2400" dirty="0"/>
          </a:p>
          <a:p>
            <a:pPr marL="0" indent="0">
              <a:buNone/>
            </a:pPr>
            <a:endParaRPr lang="en-US" sz="2400" dirty="0" smtClean="0"/>
          </a:p>
          <a:p>
            <a:pPr marL="0" indent="0">
              <a:buNone/>
            </a:pPr>
            <a:endParaRPr lang="en-US" sz="2400" dirty="0" smtClean="0"/>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dirty="0"/>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27</a:t>
            </a:fld>
            <a:endParaRPr lang="en-US" altLang="zh-CN"/>
          </a:p>
        </p:txBody>
      </p:sp>
      <p:grpSp>
        <p:nvGrpSpPr>
          <p:cNvPr id="6" name="Group 20"/>
          <p:cNvGrpSpPr>
            <a:grpSpLocks/>
          </p:cNvGrpSpPr>
          <p:nvPr/>
        </p:nvGrpSpPr>
        <p:grpSpPr bwMode="auto">
          <a:xfrm>
            <a:off x="685800" y="1457325"/>
            <a:ext cx="7597775" cy="1743075"/>
            <a:chOff x="336" y="775"/>
            <a:chExt cx="4882" cy="1529"/>
          </a:xfrm>
        </p:grpSpPr>
        <p:sp>
          <p:nvSpPr>
            <p:cNvPr id="7" name="Rectangle 6"/>
            <p:cNvSpPr>
              <a:spLocks noChangeArrowheads="1"/>
            </p:cNvSpPr>
            <p:nvPr/>
          </p:nvSpPr>
          <p:spPr bwMode="auto">
            <a:xfrm>
              <a:off x="3072" y="960"/>
              <a:ext cx="939" cy="912"/>
            </a:xfrm>
            <a:prstGeom prst="rect">
              <a:avLst/>
            </a:prstGeom>
            <a:solidFill>
              <a:srgbClr val="FFFFFF"/>
            </a:solidFill>
            <a:ln w="9525">
              <a:solidFill>
                <a:srgbClr val="000000"/>
              </a:solidFill>
              <a:miter lim="800000"/>
              <a:headEnd/>
              <a:tailEnd/>
            </a:ln>
          </p:spPr>
          <p:txBody>
            <a:bodyPr anchor="ctr" anchorCtr="1"/>
            <a:lstStyle/>
            <a:p>
              <a:endParaRPr lang="zh-CN" altLang="en-US"/>
            </a:p>
          </p:txBody>
        </p:sp>
        <p:sp>
          <p:nvSpPr>
            <p:cNvPr id="8" name="Text Box 7"/>
            <p:cNvSpPr txBox="1">
              <a:spLocks noChangeArrowheads="1"/>
            </p:cNvSpPr>
            <p:nvPr/>
          </p:nvSpPr>
          <p:spPr bwMode="auto">
            <a:xfrm>
              <a:off x="3206" y="1056"/>
              <a:ext cx="670" cy="314"/>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学号</a:t>
              </a:r>
            </a:p>
          </p:txBody>
        </p:sp>
        <p:sp>
          <p:nvSpPr>
            <p:cNvPr id="9" name="Text Box 8"/>
            <p:cNvSpPr txBox="1">
              <a:spLocks noChangeArrowheads="1"/>
            </p:cNvSpPr>
            <p:nvPr/>
          </p:nvSpPr>
          <p:spPr bwMode="auto">
            <a:xfrm>
              <a:off x="3206" y="1456"/>
              <a:ext cx="670" cy="320"/>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课程号</a:t>
              </a:r>
            </a:p>
          </p:txBody>
        </p:sp>
        <p:sp>
          <p:nvSpPr>
            <p:cNvPr id="10" name="Text Box 9"/>
            <p:cNvSpPr txBox="1">
              <a:spLocks noChangeArrowheads="1"/>
            </p:cNvSpPr>
            <p:nvPr/>
          </p:nvSpPr>
          <p:spPr bwMode="auto">
            <a:xfrm>
              <a:off x="4413" y="1305"/>
              <a:ext cx="805" cy="327"/>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成绩</a:t>
              </a:r>
            </a:p>
          </p:txBody>
        </p:sp>
        <p:sp>
          <p:nvSpPr>
            <p:cNvPr id="11" name="Line 10"/>
            <p:cNvSpPr>
              <a:spLocks noChangeShapeType="1"/>
            </p:cNvSpPr>
            <p:nvPr/>
          </p:nvSpPr>
          <p:spPr bwMode="auto">
            <a:xfrm>
              <a:off x="4011" y="1492"/>
              <a:ext cx="40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grpSp>
          <p:nvGrpSpPr>
            <p:cNvPr id="12" name="Group 19"/>
            <p:cNvGrpSpPr>
              <a:grpSpLocks/>
            </p:cNvGrpSpPr>
            <p:nvPr/>
          </p:nvGrpSpPr>
          <p:grpSpPr bwMode="auto">
            <a:xfrm>
              <a:off x="336" y="775"/>
              <a:ext cx="2160" cy="1529"/>
              <a:chOff x="336" y="775"/>
              <a:chExt cx="2160" cy="1529"/>
            </a:xfrm>
          </p:grpSpPr>
          <p:sp>
            <p:nvSpPr>
              <p:cNvPr id="13" name="Text Box 4"/>
              <p:cNvSpPr txBox="1">
                <a:spLocks noChangeArrowheads="1"/>
              </p:cNvSpPr>
              <p:nvPr/>
            </p:nvSpPr>
            <p:spPr bwMode="auto">
              <a:xfrm>
                <a:off x="336" y="1229"/>
                <a:ext cx="671" cy="307"/>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学号</a:t>
                </a:r>
              </a:p>
            </p:txBody>
          </p:sp>
          <p:sp>
            <p:nvSpPr>
              <p:cNvPr id="14" name="Text Box 5"/>
              <p:cNvSpPr txBox="1">
                <a:spLocks noChangeArrowheads="1"/>
              </p:cNvSpPr>
              <p:nvPr/>
            </p:nvSpPr>
            <p:spPr bwMode="auto">
              <a:xfrm>
                <a:off x="1812" y="775"/>
                <a:ext cx="670" cy="310"/>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姓名</a:t>
                </a:r>
              </a:p>
            </p:txBody>
          </p:sp>
          <p:sp>
            <p:nvSpPr>
              <p:cNvPr id="15" name="Text Box 11"/>
              <p:cNvSpPr txBox="1">
                <a:spLocks noChangeArrowheads="1"/>
              </p:cNvSpPr>
              <p:nvPr/>
            </p:nvSpPr>
            <p:spPr bwMode="auto">
              <a:xfrm>
                <a:off x="1812" y="1120"/>
                <a:ext cx="670" cy="309"/>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年龄</a:t>
                </a:r>
              </a:p>
            </p:txBody>
          </p:sp>
          <p:sp>
            <p:nvSpPr>
              <p:cNvPr id="16" name="Text Box 12"/>
              <p:cNvSpPr txBox="1">
                <a:spLocks noChangeArrowheads="1"/>
              </p:cNvSpPr>
              <p:nvPr/>
            </p:nvSpPr>
            <p:spPr bwMode="auto">
              <a:xfrm>
                <a:off x="1812" y="1464"/>
                <a:ext cx="670" cy="310"/>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所在系</a:t>
                </a:r>
              </a:p>
            </p:txBody>
          </p:sp>
          <p:sp>
            <p:nvSpPr>
              <p:cNvPr id="17" name="Text Box 13"/>
              <p:cNvSpPr txBox="1">
                <a:spLocks noChangeArrowheads="1"/>
              </p:cNvSpPr>
              <p:nvPr/>
            </p:nvSpPr>
            <p:spPr bwMode="auto">
              <a:xfrm>
                <a:off x="1826" y="1994"/>
                <a:ext cx="670" cy="310"/>
              </a:xfrm>
              <a:prstGeom prst="rect">
                <a:avLst/>
              </a:prstGeom>
              <a:solidFill>
                <a:srgbClr val="FFFFFF"/>
              </a:solidFill>
              <a:ln w="9525">
                <a:solidFill>
                  <a:srgbClr val="000000"/>
                </a:solidFill>
                <a:miter lim="800000"/>
                <a:headEnd/>
                <a:tailEnd/>
              </a:ln>
            </p:spPr>
            <p:txBody>
              <a:bodyPr anchor="ctr" anchorCtr="1"/>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a:spcBef>
                    <a:spcPct val="0"/>
                  </a:spcBef>
                  <a:buClrTx/>
                  <a:buSzTx/>
                  <a:buFontTx/>
                  <a:buNone/>
                </a:pPr>
                <a:r>
                  <a:rPr kumimoji="0" lang="zh-CN" altLang="en-US" sz="2000"/>
                  <a:t>系主任</a:t>
                </a:r>
              </a:p>
            </p:txBody>
          </p:sp>
          <p:sp>
            <p:nvSpPr>
              <p:cNvPr id="18" name="Line 14"/>
              <p:cNvSpPr>
                <a:spLocks noChangeShapeType="1"/>
              </p:cNvSpPr>
              <p:nvPr/>
            </p:nvSpPr>
            <p:spPr bwMode="auto">
              <a:xfrm flipV="1">
                <a:off x="1007" y="1206"/>
                <a:ext cx="805" cy="1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19" name="Line 15"/>
              <p:cNvSpPr>
                <a:spLocks noChangeShapeType="1"/>
              </p:cNvSpPr>
              <p:nvPr/>
            </p:nvSpPr>
            <p:spPr bwMode="auto">
              <a:xfrm>
                <a:off x="1007" y="1378"/>
                <a:ext cx="805" cy="259"/>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20" name="Line 16"/>
              <p:cNvSpPr>
                <a:spLocks noChangeShapeType="1"/>
              </p:cNvSpPr>
              <p:nvPr/>
            </p:nvSpPr>
            <p:spPr bwMode="auto">
              <a:xfrm flipV="1">
                <a:off x="1007" y="947"/>
                <a:ext cx="805" cy="431"/>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21" name="Line 17"/>
              <p:cNvSpPr>
                <a:spLocks noChangeShapeType="1"/>
              </p:cNvSpPr>
              <p:nvPr/>
            </p:nvSpPr>
            <p:spPr bwMode="auto">
              <a:xfrm>
                <a:off x="1007" y="1378"/>
                <a:ext cx="817" cy="68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22" name="Line 18"/>
              <p:cNvSpPr>
                <a:spLocks noChangeShapeType="1"/>
              </p:cNvSpPr>
              <p:nvPr/>
            </p:nvSpPr>
            <p:spPr bwMode="auto">
              <a:xfrm>
                <a:off x="2160" y="1776"/>
                <a:ext cx="0" cy="24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grpSp>
      </p:grpSp>
      <p:sp>
        <p:nvSpPr>
          <p:cNvPr id="23" name="Rectangle 22"/>
          <p:cNvSpPr/>
          <p:nvPr/>
        </p:nvSpPr>
        <p:spPr>
          <a:xfrm>
            <a:off x="225174" y="3310758"/>
            <a:ext cx="4572000" cy="2246769"/>
          </a:xfrm>
          <a:prstGeom prst="rect">
            <a:avLst/>
          </a:prstGeom>
          <a:ln>
            <a:solidFill>
              <a:srgbClr val="0000FF"/>
            </a:solidFill>
          </a:ln>
        </p:spPr>
        <p:txBody>
          <a:bodyPr>
            <a:spAutoFit/>
          </a:bodyPr>
          <a:lstStyle/>
          <a:p>
            <a:r>
              <a:rPr lang="en-US" altLang="zh-CN" sz="2000" dirty="0" smtClean="0"/>
              <a:t>1NF</a:t>
            </a:r>
            <a:r>
              <a:rPr lang="en-US" altLang="zh-CN" sz="2000" dirty="0" smtClean="0">
                <a:sym typeface="Wingdings"/>
              </a:rPr>
              <a:t></a:t>
            </a:r>
            <a:r>
              <a:rPr lang="zh-CN" altLang="en-US" sz="2000" dirty="0" smtClean="0"/>
              <a:t>2</a:t>
            </a:r>
            <a:r>
              <a:rPr lang="en-US" altLang="zh-CN" sz="2000" dirty="0" smtClean="0"/>
              <a:t>NF</a:t>
            </a:r>
            <a:r>
              <a:rPr lang="zh-CN" altLang="en-US" sz="2000" dirty="0" smtClean="0"/>
              <a:t>,解决的问题：</a:t>
            </a:r>
            <a:endParaRPr lang="en-US" sz="2000" dirty="0"/>
          </a:p>
          <a:p>
            <a:pPr marL="285750" indent="-285750">
              <a:buFont typeface="Arial"/>
              <a:buChar char="•"/>
            </a:pPr>
            <a:r>
              <a:rPr lang="zh-CN" altLang="en-US" sz="2000" dirty="0" smtClean="0">
                <a:solidFill>
                  <a:srgbClr val="FF0000"/>
                </a:solidFill>
                <a:latin typeface="华文仿宋"/>
                <a:ea typeface="华文仿宋"/>
                <a:cs typeface="华文仿宋"/>
              </a:rPr>
              <a:t>消除了一些数据冗余</a:t>
            </a:r>
            <a:r>
              <a:rPr lang="zh-CN" altLang="en-US" sz="2000" dirty="0" smtClean="0">
                <a:solidFill>
                  <a:srgbClr val="000000"/>
                </a:solidFill>
                <a:latin typeface="华文仿宋"/>
                <a:ea typeface="华文仿宋"/>
                <a:cs typeface="华文仿宋"/>
              </a:rPr>
              <a:t>，</a:t>
            </a:r>
            <a:r>
              <a:rPr lang="zh-CN" altLang="en-US" sz="2000" dirty="0" smtClean="0">
                <a:latin typeface="华文仿宋"/>
                <a:ea typeface="华文仿宋"/>
                <a:cs typeface="华文仿宋"/>
              </a:rPr>
              <a:t>如</a:t>
            </a:r>
            <a:r>
              <a:rPr lang="zh-CN" altLang="en-US" sz="2000" dirty="0">
                <a:latin typeface="华文仿宋"/>
                <a:ea typeface="华文仿宋"/>
                <a:cs typeface="华文仿宋"/>
              </a:rPr>
              <a:t>：姓名、年龄不需要重复存储多次。</a:t>
            </a:r>
          </a:p>
          <a:p>
            <a:pPr marL="285750" indent="-285750">
              <a:buFont typeface="Arial"/>
              <a:buChar char="•"/>
            </a:pPr>
            <a:r>
              <a:rPr lang="zh-CN" altLang="en-US" sz="2000" dirty="0" smtClean="0">
                <a:solidFill>
                  <a:srgbClr val="FF0000"/>
                </a:solidFill>
                <a:latin typeface="华文仿宋"/>
                <a:ea typeface="华文仿宋"/>
                <a:cs typeface="华文仿宋"/>
              </a:rPr>
              <a:t>插入异常部分解决</a:t>
            </a:r>
            <a:r>
              <a:rPr lang="zh-CN" altLang="en-US" sz="2000" dirty="0" smtClean="0">
                <a:latin typeface="华文仿宋"/>
                <a:ea typeface="华文仿宋"/>
                <a:cs typeface="华文仿宋"/>
              </a:rPr>
              <a:t>，如：学生的基本信息与选课信息分开插入。</a:t>
            </a:r>
            <a:endParaRPr lang="zh-CN" altLang="en-US" sz="2000" dirty="0">
              <a:latin typeface="华文仿宋"/>
              <a:ea typeface="华文仿宋"/>
              <a:cs typeface="华文仿宋"/>
            </a:endParaRPr>
          </a:p>
          <a:p>
            <a:pPr marL="285750" indent="-285750">
              <a:buFont typeface="Arial"/>
              <a:buChar char="•"/>
            </a:pPr>
            <a:r>
              <a:rPr lang="zh-CN" altLang="en-US" sz="2000" dirty="0" smtClean="0">
                <a:solidFill>
                  <a:srgbClr val="FF0000"/>
                </a:solidFill>
                <a:latin typeface="华文仿宋"/>
                <a:ea typeface="华文仿宋"/>
                <a:cs typeface="华文仿宋"/>
              </a:rPr>
              <a:t>删除异常部分解决</a:t>
            </a:r>
            <a:r>
              <a:rPr lang="zh-CN" altLang="en-US" sz="2000" dirty="0" smtClean="0">
                <a:latin typeface="华文仿宋"/>
                <a:ea typeface="华文仿宋"/>
                <a:cs typeface="华文仿宋"/>
              </a:rPr>
              <a:t>，如：删除某学生选课信息，而学生其它</a:t>
            </a:r>
            <a:r>
              <a:rPr lang="zh-CN" altLang="en-US" sz="2000" dirty="0">
                <a:latin typeface="华文仿宋"/>
                <a:ea typeface="华文仿宋"/>
                <a:cs typeface="华文仿宋"/>
              </a:rPr>
              <a:t>信</a:t>
            </a:r>
            <a:r>
              <a:rPr lang="zh-CN" altLang="en-US" sz="2000" dirty="0" smtClean="0">
                <a:latin typeface="华文仿宋"/>
                <a:ea typeface="华文仿宋"/>
                <a:cs typeface="华文仿宋"/>
              </a:rPr>
              <a:t>息不受影响</a:t>
            </a:r>
            <a:r>
              <a:rPr lang="zh-CN" altLang="en-US" sz="2000" dirty="0">
                <a:latin typeface="华文仿宋"/>
                <a:ea typeface="华文仿宋"/>
                <a:cs typeface="华文仿宋"/>
              </a:rPr>
              <a:t>。</a:t>
            </a:r>
          </a:p>
        </p:txBody>
      </p:sp>
      <p:sp>
        <p:nvSpPr>
          <p:cNvPr id="24" name="Rectangle 23"/>
          <p:cNvSpPr/>
          <p:nvPr/>
        </p:nvSpPr>
        <p:spPr>
          <a:xfrm>
            <a:off x="4883317" y="3310758"/>
            <a:ext cx="4019233" cy="2246769"/>
          </a:xfrm>
          <a:prstGeom prst="rect">
            <a:avLst/>
          </a:prstGeom>
          <a:ln>
            <a:solidFill>
              <a:srgbClr val="0000FF"/>
            </a:solidFill>
          </a:ln>
        </p:spPr>
        <p:txBody>
          <a:bodyPr wrap="square">
            <a:spAutoFit/>
          </a:bodyPr>
          <a:lstStyle/>
          <a:p>
            <a:r>
              <a:rPr lang="zh-CN" altLang="en-US" sz="2000" dirty="0" smtClean="0"/>
              <a:t>仍然存在的问题：</a:t>
            </a:r>
            <a:endParaRPr lang="en-US" sz="2000" dirty="0"/>
          </a:p>
          <a:p>
            <a:pPr marL="285750" indent="-285750">
              <a:buFont typeface="Arial"/>
              <a:buChar char="•"/>
            </a:pPr>
            <a:r>
              <a:rPr lang="zh-CN" altLang="en-US" sz="2000" dirty="0" smtClean="0">
                <a:solidFill>
                  <a:srgbClr val="FF0000"/>
                </a:solidFill>
                <a:latin typeface="华文仿宋"/>
                <a:ea typeface="华文仿宋"/>
                <a:cs typeface="华文仿宋"/>
              </a:rPr>
              <a:t>冗余仍然存在</a:t>
            </a:r>
            <a:r>
              <a:rPr lang="zh-CN" altLang="en-US" sz="2000" dirty="0" smtClean="0">
                <a:solidFill>
                  <a:srgbClr val="000000"/>
                </a:solidFill>
                <a:latin typeface="华文仿宋"/>
                <a:ea typeface="华文仿宋"/>
                <a:cs typeface="华文仿宋"/>
              </a:rPr>
              <a:t>，</a:t>
            </a:r>
            <a:r>
              <a:rPr lang="zh-CN" altLang="en-US" sz="2000" dirty="0" smtClean="0">
                <a:latin typeface="华文仿宋"/>
                <a:ea typeface="华文仿宋"/>
                <a:cs typeface="华文仿宋"/>
              </a:rPr>
              <a:t>如：系主任。</a:t>
            </a:r>
            <a:endParaRPr lang="zh-CN" altLang="en-US" sz="2000" dirty="0">
              <a:latin typeface="华文仿宋"/>
              <a:ea typeface="华文仿宋"/>
              <a:cs typeface="华文仿宋"/>
            </a:endParaRPr>
          </a:p>
          <a:p>
            <a:pPr marL="285750" indent="-285750">
              <a:buFont typeface="Arial"/>
              <a:buChar char="•"/>
            </a:pPr>
            <a:r>
              <a:rPr lang="zh-CN" altLang="en-US" sz="2000" dirty="0" smtClean="0">
                <a:solidFill>
                  <a:srgbClr val="FF0000"/>
                </a:solidFill>
                <a:latin typeface="华文仿宋"/>
                <a:ea typeface="华文仿宋"/>
                <a:cs typeface="华文仿宋"/>
              </a:rPr>
              <a:t>更新复杂</a:t>
            </a:r>
            <a:r>
              <a:rPr lang="zh-CN" altLang="en-US" sz="2000" dirty="0" smtClean="0">
                <a:latin typeface="华文仿宋"/>
                <a:ea typeface="华文仿宋"/>
                <a:cs typeface="华文仿宋"/>
              </a:rPr>
              <a:t>，如：更换系主任。</a:t>
            </a:r>
            <a:endParaRPr lang="en-US" altLang="zh-CN" sz="2000" dirty="0" smtClean="0">
              <a:latin typeface="华文仿宋"/>
              <a:ea typeface="华文仿宋"/>
              <a:cs typeface="华文仿宋"/>
            </a:endParaRPr>
          </a:p>
          <a:p>
            <a:pPr marL="285750" indent="-285750">
              <a:buFont typeface="Arial"/>
              <a:buChar char="•"/>
            </a:pPr>
            <a:r>
              <a:rPr lang="zh-CN" altLang="en-US" sz="2000" dirty="0" smtClean="0">
                <a:solidFill>
                  <a:srgbClr val="FF0000"/>
                </a:solidFill>
                <a:latin typeface="华文仿宋"/>
                <a:ea typeface="华文仿宋"/>
                <a:cs typeface="华文仿宋"/>
              </a:rPr>
              <a:t>插入异常</a:t>
            </a:r>
            <a:r>
              <a:rPr lang="zh-CN" altLang="en-US" sz="2000" dirty="0" smtClean="0">
                <a:latin typeface="华文仿宋"/>
                <a:ea typeface="华文仿宋"/>
                <a:cs typeface="华文仿宋"/>
              </a:rPr>
              <a:t>，如：没有学生，系主任无法插入。</a:t>
            </a:r>
            <a:endParaRPr lang="zh-CN" altLang="en-US" sz="2000" dirty="0">
              <a:latin typeface="华文仿宋"/>
              <a:ea typeface="华文仿宋"/>
              <a:cs typeface="华文仿宋"/>
            </a:endParaRPr>
          </a:p>
          <a:p>
            <a:pPr marL="285750" indent="-285750">
              <a:buFont typeface="Arial"/>
              <a:buChar char="•"/>
            </a:pPr>
            <a:r>
              <a:rPr lang="zh-CN" altLang="en-US" sz="2000" dirty="0" smtClean="0">
                <a:solidFill>
                  <a:srgbClr val="FF0000"/>
                </a:solidFill>
                <a:latin typeface="华文仿宋"/>
                <a:ea typeface="华文仿宋"/>
                <a:cs typeface="华文仿宋"/>
              </a:rPr>
              <a:t>删除异常</a:t>
            </a:r>
            <a:r>
              <a:rPr lang="zh-CN" altLang="en-US" sz="2000" dirty="0" smtClean="0">
                <a:latin typeface="华文仿宋"/>
                <a:ea typeface="华文仿宋"/>
                <a:cs typeface="华文仿宋"/>
              </a:rPr>
              <a:t>，如：删除某系全体学生，删除系主任信息。</a:t>
            </a:r>
            <a:endParaRPr lang="zh-CN" altLang="en-US" sz="2000" dirty="0">
              <a:latin typeface="华文仿宋"/>
              <a:ea typeface="华文仿宋"/>
              <a:cs typeface="华文仿宋"/>
            </a:endParaRPr>
          </a:p>
        </p:txBody>
      </p:sp>
      <p:sp>
        <p:nvSpPr>
          <p:cNvPr id="25" name="Rectangle 24"/>
          <p:cNvSpPr/>
          <p:nvPr/>
        </p:nvSpPr>
        <p:spPr>
          <a:xfrm>
            <a:off x="366273" y="5569107"/>
            <a:ext cx="8435488" cy="461665"/>
          </a:xfrm>
          <a:prstGeom prst="rect">
            <a:avLst/>
          </a:prstGeom>
        </p:spPr>
        <p:txBody>
          <a:bodyPr wrap="square">
            <a:spAutoFit/>
          </a:bodyPr>
          <a:lstStyle/>
          <a:p>
            <a:pPr algn="just"/>
            <a:r>
              <a:rPr lang="zh-CN" altLang="en-US" sz="2400" dirty="0">
                <a:solidFill>
                  <a:srgbClr val="0000FF"/>
                </a:solidFill>
                <a:latin typeface="Arial Narrow"/>
                <a:ea typeface="黑体"/>
                <a:cs typeface="Arial Narrow"/>
              </a:rPr>
              <a:t>症由</a:t>
            </a:r>
            <a:r>
              <a:rPr lang="zh-CN" altLang="en-US" sz="2400" dirty="0" smtClean="0">
                <a:solidFill>
                  <a:srgbClr val="0000FF"/>
                </a:solidFill>
                <a:latin typeface="Arial Narrow"/>
                <a:ea typeface="黑体"/>
                <a:cs typeface="Arial Narrow"/>
              </a:rPr>
              <a:t>：</a:t>
            </a:r>
            <a:r>
              <a:rPr lang="zh-CN" altLang="en-US" sz="2400" dirty="0" smtClean="0">
                <a:latin typeface="Arial Narrow"/>
                <a:ea typeface="黑体"/>
                <a:cs typeface="Arial Narrow"/>
              </a:rPr>
              <a:t>非主</a:t>
            </a:r>
            <a:r>
              <a:rPr lang="zh-CN" altLang="en-US" sz="2400" dirty="0">
                <a:latin typeface="Arial Narrow"/>
                <a:ea typeface="黑体"/>
                <a:cs typeface="Arial Narrow"/>
              </a:rPr>
              <a:t>属性对码的传递依赖</a:t>
            </a:r>
            <a:r>
              <a:rPr lang="en-US" altLang="zh-CN" sz="2400" dirty="0">
                <a:latin typeface="Arial Narrow"/>
                <a:ea typeface="黑体"/>
                <a:cs typeface="Arial Narrow"/>
              </a:rPr>
              <a:t>:</a:t>
            </a:r>
            <a:r>
              <a:rPr lang="en-US" altLang="zh-CN" sz="2400" i="1" dirty="0" err="1">
                <a:latin typeface="Arial Narrow"/>
                <a:ea typeface="黑体"/>
                <a:cs typeface="Arial Narrow"/>
              </a:rPr>
              <a:t>sno</a:t>
            </a:r>
            <a:r>
              <a:rPr lang="en-US" altLang="zh-CN" sz="2400" i="1" dirty="0" err="1">
                <a:latin typeface="Arial Narrow"/>
                <a:ea typeface="黑体"/>
                <a:cs typeface="Arial Narrow"/>
                <a:sym typeface="Symbol" charset="0"/>
              </a:rPr>
              <a:t>dept</a:t>
            </a:r>
            <a:r>
              <a:rPr lang="en-US" altLang="zh-CN" sz="2400" i="1" dirty="0">
                <a:latin typeface="Arial Narrow"/>
                <a:ea typeface="黑体"/>
                <a:cs typeface="Arial Narrow"/>
                <a:sym typeface="Symbol" charset="0"/>
              </a:rPr>
              <a:t>,</a:t>
            </a:r>
            <a:r>
              <a:rPr lang="en-US" altLang="zh-CN" sz="2400" i="1" dirty="0">
                <a:latin typeface="Arial Narrow"/>
                <a:ea typeface="黑体"/>
                <a:cs typeface="Arial Narrow"/>
              </a:rPr>
              <a:t> </a:t>
            </a:r>
            <a:r>
              <a:rPr lang="en-US" altLang="zh-CN" sz="2400" i="1" dirty="0" err="1">
                <a:latin typeface="Arial Narrow"/>
                <a:ea typeface="黑体"/>
                <a:cs typeface="Arial Narrow"/>
              </a:rPr>
              <a:t>dept</a:t>
            </a:r>
            <a:r>
              <a:rPr lang="en-US" altLang="zh-CN" sz="2400" i="1" dirty="0" err="1">
                <a:latin typeface="Arial Narrow"/>
                <a:ea typeface="黑体"/>
                <a:cs typeface="Arial Narrow"/>
                <a:sym typeface="Symbol" charset="0"/>
              </a:rPr>
              <a:t></a:t>
            </a:r>
            <a:r>
              <a:rPr lang="en-US" altLang="zh-CN" sz="2400" i="1" dirty="0" err="1" smtClean="0">
                <a:latin typeface="Arial Narrow"/>
                <a:ea typeface="黑体"/>
                <a:cs typeface="Arial Narrow"/>
                <a:sym typeface="Symbol" charset="0"/>
              </a:rPr>
              <a:t>mname</a:t>
            </a:r>
            <a:endParaRPr lang="en-US" altLang="zh-CN" sz="2400" i="1" dirty="0">
              <a:latin typeface="Arial Narrow"/>
              <a:ea typeface="黑体"/>
              <a:cs typeface="Arial Narrow"/>
              <a:sym typeface="Symbol" charset="0"/>
            </a:endParaRPr>
          </a:p>
        </p:txBody>
      </p:sp>
      <p:sp>
        <p:nvSpPr>
          <p:cNvPr id="26" name="Rectangle 25"/>
          <p:cNvSpPr/>
          <p:nvPr/>
        </p:nvSpPr>
        <p:spPr>
          <a:xfrm>
            <a:off x="366273" y="5970304"/>
            <a:ext cx="7616144" cy="461665"/>
          </a:xfrm>
          <a:prstGeom prst="rect">
            <a:avLst/>
          </a:prstGeom>
        </p:spPr>
        <p:txBody>
          <a:bodyPr wrap="square">
            <a:spAutoFit/>
          </a:bodyPr>
          <a:lstStyle/>
          <a:p>
            <a:pPr algn="just"/>
            <a:r>
              <a:rPr lang="zh-CN" altLang="en-US" sz="2400" dirty="0">
                <a:solidFill>
                  <a:srgbClr val="0000FF"/>
                </a:solidFill>
                <a:latin typeface="黑体"/>
                <a:ea typeface="黑体"/>
                <a:cs typeface="黑体"/>
                <a:sym typeface="Symbol" charset="0"/>
              </a:rPr>
              <a:t>解决</a:t>
            </a:r>
            <a:r>
              <a:rPr lang="zh-CN" altLang="en-US" sz="2400" dirty="0" smtClean="0">
                <a:solidFill>
                  <a:srgbClr val="0000FF"/>
                </a:solidFill>
                <a:latin typeface="黑体"/>
                <a:ea typeface="黑体"/>
                <a:cs typeface="黑体"/>
                <a:sym typeface="Symbol" charset="0"/>
              </a:rPr>
              <a:t>方法</a:t>
            </a:r>
            <a:r>
              <a:rPr lang="zh-CN" altLang="en-US" sz="2400" dirty="0">
                <a:solidFill>
                  <a:srgbClr val="0000FF"/>
                </a:solidFill>
                <a:latin typeface="黑体"/>
                <a:ea typeface="黑体"/>
                <a:cs typeface="黑体"/>
                <a:sym typeface="Symbol" charset="0"/>
              </a:rPr>
              <a:t>：</a:t>
            </a:r>
            <a:r>
              <a:rPr lang="zh-CN" altLang="en-US" sz="2400" dirty="0" smtClean="0">
                <a:latin typeface="黑体"/>
                <a:ea typeface="黑体"/>
                <a:cs typeface="黑体"/>
              </a:rPr>
              <a:t>投影分解，消去</a:t>
            </a:r>
            <a:r>
              <a:rPr lang="zh-CN" altLang="en-US" sz="2400" dirty="0">
                <a:latin typeface="黑体"/>
                <a:ea typeface="黑体"/>
                <a:cs typeface="黑体"/>
              </a:rPr>
              <a:t>非主属性对码的传递依赖。</a:t>
            </a:r>
          </a:p>
        </p:txBody>
      </p:sp>
    </p:spTree>
    <p:extLst>
      <p:ext uri="{BB962C8B-B14F-4D97-AF65-F5344CB8AC3E}">
        <p14:creationId xmlns:p14="http://schemas.microsoft.com/office/powerpoint/2010/main" val="28328641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checkerboard(across)">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checkerboard(across)">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linds(horizontal)">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linds(horizontal)">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6.2.5 3NF</a:t>
            </a:r>
            <a:endParaRPr lang="en-US" dirty="0"/>
          </a:p>
        </p:txBody>
      </p:sp>
      <p:sp>
        <p:nvSpPr>
          <p:cNvPr id="3" name="Content Placeholder 2"/>
          <p:cNvSpPr>
            <a:spLocks noGrp="1"/>
          </p:cNvSpPr>
          <p:nvPr>
            <p:ph idx="1"/>
          </p:nvPr>
        </p:nvSpPr>
        <p:spPr>
          <a:xfrm>
            <a:off x="605691" y="908720"/>
            <a:ext cx="7911123" cy="5263481"/>
          </a:xfrm>
        </p:spPr>
        <p:txBody>
          <a:bodyPr/>
          <a:lstStyle/>
          <a:p>
            <a:pPr>
              <a:lnSpc>
                <a:spcPct val="110000"/>
              </a:lnSpc>
            </a:pPr>
            <a:r>
              <a:rPr lang="zh-CN" altLang="en-US" sz="2400" dirty="0"/>
              <a:t>如果关系模式</a:t>
            </a:r>
            <a:r>
              <a:rPr lang="en-US" altLang="zh-CN" sz="2400" dirty="0"/>
              <a:t>R(U, F</a:t>
            </a:r>
            <a:r>
              <a:rPr lang="en-US" altLang="zh-CN" sz="2400" dirty="0" smtClean="0"/>
              <a:t>)</a:t>
            </a:r>
            <a:r>
              <a:rPr lang="en-US" altLang="zh-CN" sz="2400" dirty="0">
                <a:sym typeface="Symbol" charset="0"/>
              </a:rPr>
              <a:t> </a:t>
            </a:r>
            <a:r>
              <a:rPr lang="en-US" altLang="zh-CN" sz="2400" dirty="0" smtClean="0"/>
              <a:t>1NF</a:t>
            </a:r>
            <a:r>
              <a:rPr lang="zh-CN" altLang="en-US" sz="2400" dirty="0" smtClean="0"/>
              <a:t>，其中不存在码</a:t>
            </a:r>
            <a:r>
              <a:rPr lang="en-US" altLang="zh-CN" sz="2400" dirty="0"/>
              <a:t>X</a:t>
            </a:r>
            <a:r>
              <a:rPr lang="zh-CN" altLang="en-US" sz="2400" dirty="0"/>
              <a:t>、属性组</a:t>
            </a:r>
            <a:r>
              <a:rPr lang="en-US" altLang="zh-CN" sz="2400" dirty="0"/>
              <a:t>Y</a:t>
            </a:r>
            <a:r>
              <a:rPr lang="zh-CN" altLang="en-US" sz="2400" dirty="0"/>
              <a:t>及非主属性</a:t>
            </a:r>
            <a:r>
              <a:rPr lang="en-US" altLang="zh-CN" sz="2400" dirty="0"/>
              <a:t>Z</a:t>
            </a:r>
            <a:r>
              <a:rPr lang="zh-CN" altLang="en-US" sz="2400" dirty="0"/>
              <a:t>（</a:t>
            </a:r>
            <a:r>
              <a:rPr lang="en-US" altLang="zh-CN" sz="2400" dirty="0" smtClean="0"/>
              <a:t>Z</a:t>
            </a:r>
            <a:r>
              <a:rPr lang="en-US" altLang="zh-CN" sz="2400" dirty="0">
                <a:sym typeface="Symbol" charset="0"/>
              </a:rPr>
              <a:t></a:t>
            </a:r>
            <a:r>
              <a:rPr lang="en-US" altLang="zh-CN" sz="2400" dirty="0" smtClean="0">
                <a:sym typeface="Symbol" charset="0"/>
              </a:rPr>
              <a:t>Y</a:t>
            </a:r>
            <a:r>
              <a:rPr lang="zh-CN" altLang="en-US" sz="2400" dirty="0">
                <a:sym typeface="Symbol" charset="0"/>
              </a:rPr>
              <a:t>）</a:t>
            </a:r>
            <a:r>
              <a:rPr lang="zh-CN" altLang="en-US" sz="2400" dirty="0"/>
              <a:t>使得</a:t>
            </a:r>
            <a:r>
              <a:rPr lang="en-US" altLang="zh-CN" sz="2400" dirty="0"/>
              <a:t>X→Y</a:t>
            </a:r>
            <a:r>
              <a:rPr lang="zh-CN" altLang="en-US" sz="2400" dirty="0"/>
              <a:t>（</a:t>
            </a:r>
            <a:r>
              <a:rPr lang="en-US" altLang="zh-CN" sz="2400" dirty="0"/>
              <a:t>Y→X</a:t>
            </a:r>
            <a:r>
              <a:rPr lang="zh-CN" altLang="en-US" sz="2400" dirty="0"/>
              <a:t>），</a:t>
            </a:r>
            <a:r>
              <a:rPr lang="en-US" altLang="zh-CN" sz="2400" dirty="0"/>
              <a:t>Y→Z</a:t>
            </a:r>
            <a:r>
              <a:rPr lang="zh-CN" altLang="en-US" sz="2400" dirty="0"/>
              <a:t>成立，则称</a:t>
            </a:r>
            <a:r>
              <a:rPr lang="en-US" altLang="zh-CN" sz="2400" dirty="0"/>
              <a:t>R</a:t>
            </a:r>
            <a:r>
              <a:rPr lang="zh-CN" altLang="en-US" sz="2400" dirty="0"/>
              <a:t>属于</a:t>
            </a:r>
            <a:r>
              <a:rPr lang="zh-CN" altLang="en-US" sz="2400" dirty="0">
                <a:solidFill>
                  <a:srgbClr val="FF0066"/>
                </a:solidFill>
                <a:effectLst>
                  <a:outerShdw blurRad="38100" dist="38100" dir="2700000" algn="tl">
                    <a:srgbClr val="000000"/>
                  </a:outerShdw>
                </a:effectLst>
              </a:rPr>
              <a:t>第三范式</a:t>
            </a:r>
            <a:r>
              <a:rPr lang="zh-CN" altLang="en-US" sz="2400" dirty="0"/>
              <a:t>（</a:t>
            </a:r>
            <a:r>
              <a:rPr lang="en-US" altLang="zh-CN" sz="2400" dirty="0"/>
              <a:t>Third Normal Form</a:t>
            </a:r>
            <a:r>
              <a:rPr lang="zh-CN" altLang="en-US" sz="2400" dirty="0"/>
              <a:t>），简称</a:t>
            </a:r>
            <a:r>
              <a:rPr lang="en-US" altLang="zh-CN" sz="2400" dirty="0">
                <a:solidFill>
                  <a:srgbClr val="FF0066"/>
                </a:solidFill>
                <a:effectLst>
                  <a:outerShdw blurRad="38100" dist="38100" dir="2700000" algn="tl">
                    <a:srgbClr val="000000"/>
                  </a:outerShdw>
                </a:effectLst>
              </a:rPr>
              <a:t>3NF</a:t>
            </a:r>
            <a:r>
              <a:rPr lang="zh-CN" altLang="en-US" sz="2400" dirty="0"/>
              <a:t>，记作</a:t>
            </a:r>
            <a:r>
              <a:rPr lang="en-US" altLang="zh-CN" sz="2400" dirty="0">
                <a:solidFill>
                  <a:srgbClr val="FF0000"/>
                </a:solidFill>
              </a:rPr>
              <a:t>R</a:t>
            </a:r>
            <a:r>
              <a:rPr lang="en-US" altLang="zh-CN" sz="2400" dirty="0">
                <a:solidFill>
                  <a:srgbClr val="FF0000"/>
                </a:solidFill>
                <a:sym typeface="Symbol" charset="0"/>
              </a:rPr>
              <a:t></a:t>
            </a:r>
            <a:r>
              <a:rPr lang="en-US" altLang="zh-CN" sz="2400" dirty="0">
                <a:solidFill>
                  <a:srgbClr val="FF0000"/>
                </a:solidFill>
              </a:rPr>
              <a:t>3NF</a:t>
            </a:r>
            <a:r>
              <a:rPr lang="zh-CN" altLang="en-US" sz="2400" dirty="0"/>
              <a:t>。</a:t>
            </a:r>
          </a:p>
          <a:p>
            <a:pPr>
              <a:lnSpc>
                <a:spcPct val="110000"/>
              </a:lnSpc>
            </a:pPr>
            <a:r>
              <a:rPr lang="zh-CN" altLang="en-US" sz="2400" dirty="0">
                <a:latin typeface="宋体" charset="0"/>
              </a:rPr>
              <a:t>若</a:t>
            </a:r>
            <a:r>
              <a:rPr lang="en-US" altLang="zh-CN" sz="2400" dirty="0" smtClean="0"/>
              <a:t>R∈</a:t>
            </a:r>
            <a:r>
              <a:rPr lang="en-US" altLang="zh-CN" sz="2400" i="1" dirty="0" smtClean="0"/>
              <a:t>3NF</a:t>
            </a:r>
            <a:r>
              <a:rPr lang="zh-CN" altLang="en-US" sz="2400" i="1" dirty="0" smtClean="0"/>
              <a:t>，</a:t>
            </a:r>
            <a:r>
              <a:rPr lang="zh-CN" altLang="en-US" sz="2400" dirty="0" smtClean="0"/>
              <a:t>则每一</a:t>
            </a:r>
            <a:r>
              <a:rPr lang="zh-CN" altLang="en-US" sz="2400" dirty="0"/>
              <a:t>非主属性既不部分依赖于码也不传递依赖于码。</a:t>
            </a:r>
          </a:p>
          <a:p>
            <a:pPr algn="just">
              <a:lnSpc>
                <a:spcPct val="110000"/>
              </a:lnSpc>
              <a:spcBef>
                <a:spcPct val="0"/>
              </a:spcBef>
            </a:pPr>
            <a:r>
              <a:rPr lang="zh-CN" altLang="en-US" sz="2400" dirty="0">
                <a:solidFill>
                  <a:srgbClr val="0000FF"/>
                </a:solidFill>
              </a:rPr>
              <a:t>若</a:t>
            </a:r>
            <a:r>
              <a:rPr lang="en-US" altLang="zh-CN" sz="2400" dirty="0">
                <a:solidFill>
                  <a:srgbClr val="0000FF"/>
                </a:solidFill>
              </a:rPr>
              <a:t>R ∈ </a:t>
            </a:r>
            <a:r>
              <a:rPr lang="en-US" altLang="zh-CN" sz="2400" i="1" dirty="0">
                <a:solidFill>
                  <a:srgbClr val="0000FF"/>
                </a:solidFill>
              </a:rPr>
              <a:t>3NF</a:t>
            </a:r>
            <a:r>
              <a:rPr lang="en-US" altLang="zh-CN" sz="2400" dirty="0">
                <a:solidFill>
                  <a:srgbClr val="0000FF"/>
                </a:solidFill>
              </a:rPr>
              <a:t> ,</a:t>
            </a:r>
            <a:r>
              <a:rPr lang="zh-CN" altLang="en-US" sz="2400" dirty="0">
                <a:solidFill>
                  <a:srgbClr val="0000FF"/>
                </a:solidFill>
              </a:rPr>
              <a:t>则必有</a:t>
            </a:r>
            <a:r>
              <a:rPr lang="en-US" altLang="zh-CN" sz="2400" dirty="0">
                <a:solidFill>
                  <a:srgbClr val="0000FF"/>
                </a:solidFill>
              </a:rPr>
              <a:t>R ∈ </a:t>
            </a:r>
            <a:r>
              <a:rPr lang="en-US" altLang="zh-CN" sz="2400" i="1" dirty="0">
                <a:solidFill>
                  <a:srgbClr val="0000FF"/>
                </a:solidFill>
              </a:rPr>
              <a:t>2NF</a:t>
            </a:r>
            <a:r>
              <a:rPr lang="en-US" altLang="zh-CN" sz="2400" dirty="0">
                <a:solidFill>
                  <a:srgbClr val="0000FF"/>
                </a:solidFill>
              </a:rPr>
              <a:t> </a:t>
            </a:r>
            <a:r>
              <a:rPr lang="zh-CN" altLang="en-US" sz="2400" dirty="0">
                <a:latin typeface="宋体" charset="0"/>
              </a:rPr>
              <a:t>。</a:t>
            </a:r>
          </a:p>
          <a:p>
            <a:pPr>
              <a:lnSpc>
                <a:spcPct val="110000"/>
              </a:lnSpc>
              <a:spcBef>
                <a:spcPct val="0"/>
              </a:spcBef>
              <a:spcAft>
                <a:spcPct val="30000"/>
              </a:spcAft>
            </a:pPr>
            <a:r>
              <a:rPr lang="zh-CN" altLang="en-US" sz="2400" dirty="0"/>
              <a:t>采用投影分解法将一个</a:t>
            </a:r>
            <a:r>
              <a:rPr lang="en-US" altLang="zh-CN" sz="2400" dirty="0"/>
              <a:t>2NF</a:t>
            </a:r>
            <a:r>
              <a:rPr lang="zh-CN" altLang="en-US" sz="2400" dirty="0"/>
              <a:t>的关系分解为多个</a:t>
            </a:r>
            <a:r>
              <a:rPr lang="en-US" altLang="zh-CN" sz="2400" dirty="0"/>
              <a:t>3NF</a:t>
            </a:r>
            <a:r>
              <a:rPr lang="zh-CN" altLang="en-US" sz="2400" dirty="0"/>
              <a:t>的关系，可以在一定程度上解决原</a:t>
            </a:r>
            <a:r>
              <a:rPr lang="en-US" altLang="zh-CN" sz="2400" dirty="0"/>
              <a:t>2NF</a:t>
            </a:r>
            <a:r>
              <a:rPr lang="zh-CN" altLang="en-US" sz="2400" dirty="0"/>
              <a:t>关系中存在的插入异常、删除异常、数据冗余度大、修改复杂等问题。</a:t>
            </a:r>
            <a:endParaRPr lang="zh-CN" altLang="en-US" sz="2400" dirty="0">
              <a:latin typeface="宋体" charset="0"/>
            </a:endParaRPr>
          </a:p>
          <a:p>
            <a:pPr>
              <a:lnSpc>
                <a:spcPct val="110000"/>
              </a:lnSpc>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28</a:t>
            </a:fld>
            <a:endParaRPr lang="en-US" altLang="zh-CN"/>
          </a:p>
        </p:txBody>
      </p:sp>
      <p:cxnSp>
        <p:nvCxnSpPr>
          <p:cNvPr id="7" name="Straight Connector 6"/>
          <p:cNvCxnSpPr/>
          <p:nvPr/>
        </p:nvCxnSpPr>
        <p:spPr>
          <a:xfrm flipH="1">
            <a:off x="3039631" y="1361262"/>
            <a:ext cx="175847" cy="42984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4555644" y="1361262"/>
            <a:ext cx="136769" cy="42984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282992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3NF</a:t>
            </a:r>
            <a:endParaRPr lang="en-US" dirty="0"/>
          </a:p>
        </p:txBody>
      </p:sp>
      <p:sp>
        <p:nvSpPr>
          <p:cNvPr id="3" name="Content Placeholder 2"/>
          <p:cNvSpPr>
            <a:spLocks noGrp="1"/>
          </p:cNvSpPr>
          <p:nvPr>
            <p:ph idx="1"/>
          </p:nvPr>
        </p:nvSpPr>
        <p:spPr/>
        <p:txBody>
          <a:bodyPr/>
          <a:lstStyle/>
          <a:p>
            <a:r>
              <a:rPr lang="zh-CN" altLang="en-US" sz="2400" dirty="0">
                <a:solidFill>
                  <a:srgbClr val="FF0066"/>
                </a:solidFill>
                <a:effectLst>
                  <a:outerShdw blurRad="38100" dist="38100" dir="2700000" algn="tl">
                    <a:srgbClr val="000000"/>
                  </a:outerShdw>
                </a:effectLst>
              </a:rPr>
              <a:t>试证：如果</a:t>
            </a:r>
            <a:r>
              <a:rPr lang="en-US" altLang="zh-CN" sz="2400" dirty="0">
                <a:solidFill>
                  <a:srgbClr val="FF0066"/>
                </a:solidFill>
                <a:effectLst>
                  <a:outerShdw blurRad="38100" dist="38100" dir="2700000" algn="tl">
                    <a:srgbClr val="000000"/>
                  </a:outerShdw>
                </a:effectLst>
              </a:rPr>
              <a:t>R</a:t>
            </a:r>
            <a:r>
              <a:rPr lang="en-US" altLang="zh-CN" sz="2400" dirty="0">
                <a:solidFill>
                  <a:srgbClr val="FF0066"/>
                </a:solidFill>
                <a:effectLst>
                  <a:outerShdw blurRad="38100" dist="38100" dir="2700000" algn="tl">
                    <a:srgbClr val="000000"/>
                  </a:outerShdw>
                </a:effectLst>
                <a:sym typeface="Symbol" charset="0"/>
              </a:rPr>
              <a:t></a:t>
            </a:r>
            <a:r>
              <a:rPr lang="en-US" altLang="zh-CN" sz="2400" dirty="0">
                <a:solidFill>
                  <a:srgbClr val="FF0066"/>
                </a:solidFill>
                <a:effectLst>
                  <a:outerShdw blurRad="38100" dist="38100" dir="2700000" algn="tl">
                    <a:srgbClr val="000000"/>
                  </a:outerShdw>
                </a:effectLst>
              </a:rPr>
              <a:t>3NF</a:t>
            </a:r>
            <a:r>
              <a:rPr lang="zh-CN" altLang="en-US" sz="2400" dirty="0">
                <a:solidFill>
                  <a:srgbClr val="FF0066"/>
                </a:solidFill>
                <a:effectLst>
                  <a:outerShdw blurRad="38100" dist="38100" dir="2700000" algn="tl">
                    <a:srgbClr val="000000"/>
                  </a:outerShdw>
                </a:effectLst>
              </a:rPr>
              <a:t>，则</a:t>
            </a:r>
            <a:r>
              <a:rPr lang="en-US" altLang="zh-CN" sz="2400" dirty="0">
                <a:solidFill>
                  <a:srgbClr val="FF0066"/>
                </a:solidFill>
                <a:effectLst>
                  <a:outerShdw blurRad="38100" dist="38100" dir="2700000" algn="tl">
                    <a:srgbClr val="000000"/>
                  </a:outerShdw>
                </a:effectLst>
              </a:rPr>
              <a:t>R</a:t>
            </a:r>
            <a:r>
              <a:rPr lang="en-US" altLang="zh-CN" sz="2400" dirty="0">
                <a:solidFill>
                  <a:srgbClr val="FF0066"/>
                </a:solidFill>
                <a:effectLst>
                  <a:outerShdw blurRad="38100" dist="38100" dir="2700000" algn="tl">
                    <a:srgbClr val="000000"/>
                  </a:outerShdw>
                </a:effectLst>
                <a:sym typeface="Symbol" charset="0"/>
              </a:rPr>
              <a:t></a:t>
            </a:r>
            <a:r>
              <a:rPr lang="en-US" altLang="zh-CN" sz="2400" dirty="0">
                <a:solidFill>
                  <a:srgbClr val="FF0066"/>
                </a:solidFill>
                <a:effectLst>
                  <a:outerShdw blurRad="38100" dist="38100" dir="2700000" algn="tl">
                    <a:srgbClr val="000000"/>
                  </a:outerShdw>
                </a:effectLst>
              </a:rPr>
              <a:t>2NF</a:t>
            </a:r>
            <a:r>
              <a:rPr lang="zh-CN" altLang="en-US" sz="2400" dirty="0">
                <a:solidFill>
                  <a:srgbClr val="FF0066"/>
                </a:solidFill>
                <a:effectLst>
                  <a:outerShdw blurRad="38100" dist="38100" dir="2700000" algn="tl">
                    <a:srgbClr val="000000"/>
                  </a:outerShdw>
                </a:effectLst>
              </a:rPr>
              <a:t>。</a:t>
            </a:r>
          </a:p>
          <a:p>
            <a:r>
              <a:rPr lang="zh-CN" altLang="en-US" sz="2400" dirty="0">
                <a:solidFill>
                  <a:srgbClr val="0000FF"/>
                </a:solidFill>
              </a:rPr>
              <a:t>证明： </a:t>
            </a:r>
            <a:r>
              <a:rPr lang="zh-CN" altLang="en-US" sz="2400" dirty="0"/>
              <a:t>（反证法）</a:t>
            </a:r>
          </a:p>
          <a:p>
            <a:pPr marL="274637" lvl="1" indent="0">
              <a:buNone/>
            </a:pPr>
            <a:r>
              <a:rPr lang="zh-CN" altLang="en-US" dirty="0"/>
              <a:t>假设</a:t>
            </a:r>
            <a:r>
              <a:rPr lang="en-US" altLang="zh-CN" dirty="0"/>
              <a:t>R</a:t>
            </a:r>
            <a:r>
              <a:rPr lang="en-US" altLang="zh-CN" dirty="0">
                <a:sym typeface="Symbol" charset="0"/>
              </a:rPr>
              <a:t></a:t>
            </a:r>
            <a:r>
              <a:rPr lang="en-US" altLang="zh-CN" dirty="0"/>
              <a:t>3NF</a:t>
            </a:r>
            <a:r>
              <a:rPr lang="zh-CN" altLang="en-US" dirty="0"/>
              <a:t>，且</a:t>
            </a:r>
            <a:r>
              <a:rPr lang="en-US" altLang="zh-CN" dirty="0"/>
              <a:t>R</a:t>
            </a:r>
            <a:r>
              <a:rPr lang="en-US" altLang="zh-CN" dirty="0">
                <a:sym typeface="Symbol" charset="0"/>
              </a:rPr>
              <a:t></a:t>
            </a:r>
            <a:r>
              <a:rPr lang="en-US" altLang="zh-CN" dirty="0"/>
              <a:t>2NF</a:t>
            </a:r>
            <a:r>
              <a:rPr lang="zh-CN" altLang="en-US" dirty="0"/>
              <a:t>。</a:t>
            </a:r>
          </a:p>
          <a:p>
            <a:pPr marL="274637" lvl="1" indent="0">
              <a:buNone/>
            </a:pPr>
            <a:r>
              <a:rPr lang="zh-CN" altLang="en-US" dirty="0"/>
              <a:t>∵</a:t>
            </a:r>
            <a:r>
              <a:rPr lang="en-US" altLang="zh-CN" dirty="0"/>
              <a:t>R</a:t>
            </a:r>
            <a:r>
              <a:rPr lang="en-US" altLang="zh-CN" dirty="0">
                <a:sym typeface="Symbol" charset="0"/>
              </a:rPr>
              <a:t></a:t>
            </a:r>
            <a:r>
              <a:rPr lang="en-US" altLang="zh-CN" dirty="0"/>
              <a:t>2NF </a:t>
            </a:r>
          </a:p>
          <a:p>
            <a:pPr marL="274637" lvl="1" indent="0">
              <a:buNone/>
            </a:pPr>
            <a:r>
              <a:rPr lang="en-US" altLang="zh-CN" dirty="0"/>
              <a:t>∴</a:t>
            </a:r>
            <a:r>
              <a:rPr lang="zh-CN" altLang="en-US" dirty="0"/>
              <a:t>存在非主属性</a:t>
            </a:r>
            <a:r>
              <a:rPr lang="en-US" altLang="zh-CN" dirty="0"/>
              <a:t>Z</a:t>
            </a:r>
            <a:r>
              <a:rPr lang="zh-CN" altLang="en-US" dirty="0"/>
              <a:t>对码</a:t>
            </a:r>
            <a:r>
              <a:rPr lang="en-US" altLang="zh-CN" dirty="0"/>
              <a:t>X</a:t>
            </a:r>
            <a:r>
              <a:rPr lang="zh-CN" altLang="en-US" dirty="0"/>
              <a:t>的部分依赖，即存在一个</a:t>
            </a:r>
            <a:r>
              <a:rPr lang="en-US" altLang="zh-CN" dirty="0"/>
              <a:t>X</a:t>
            </a:r>
            <a:r>
              <a:rPr lang="zh-CN" altLang="en-US" dirty="0"/>
              <a:t>的真子集</a:t>
            </a:r>
            <a:r>
              <a:rPr lang="en-US" altLang="zh-CN" dirty="0"/>
              <a:t>X’ </a:t>
            </a:r>
            <a:r>
              <a:rPr lang="zh-CN" altLang="en-US" dirty="0"/>
              <a:t>，使得</a:t>
            </a:r>
            <a:r>
              <a:rPr lang="en-US" altLang="zh-CN" dirty="0"/>
              <a:t>X’→Z </a:t>
            </a:r>
            <a:r>
              <a:rPr lang="zh-CN" altLang="en-US" dirty="0"/>
              <a:t>；</a:t>
            </a:r>
          </a:p>
          <a:p>
            <a:pPr marL="274637" lvl="1" indent="0">
              <a:buNone/>
            </a:pPr>
            <a:r>
              <a:rPr lang="zh-CN" altLang="en-US" dirty="0"/>
              <a:t>∵</a:t>
            </a:r>
            <a:r>
              <a:rPr lang="en-US" altLang="zh-CN" dirty="0"/>
              <a:t>X→X’</a:t>
            </a:r>
            <a:r>
              <a:rPr lang="zh-CN" altLang="en-US" dirty="0"/>
              <a:t>，</a:t>
            </a:r>
            <a:r>
              <a:rPr lang="en-US" altLang="zh-CN" dirty="0"/>
              <a:t>X’→X</a:t>
            </a:r>
            <a:r>
              <a:rPr lang="zh-CN" altLang="en-US" dirty="0"/>
              <a:t>，</a:t>
            </a:r>
            <a:r>
              <a:rPr lang="en-US" altLang="zh-CN" dirty="0"/>
              <a:t>X’→Z</a:t>
            </a:r>
            <a:r>
              <a:rPr lang="zh-CN" altLang="en-US" dirty="0"/>
              <a:t>，说明</a:t>
            </a:r>
            <a:r>
              <a:rPr lang="en-US" altLang="zh-CN" dirty="0"/>
              <a:t>R</a:t>
            </a:r>
            <a:r>
              <a:rPr lang="zh-CN" altLang="en-US" dirty="0"/>
              <a:t>中存在非主属性</a:t>
            </a:r>
            <a:r>
              <a:rPr lang="en-US" altLang="zh-CN" dirty="0"/>
              <a:t>Z</a:t>
            </a:r>
            <a:r>
              <a:rPr lang="zh-CN" altLang="en-US" dirty="0"/>
              <a:t>对码</a:t>
            </a:r>
            <a:r>
              <a:rPr lang="en-US" altLang="zh-CN" dirty="0"/>
              <a:t>X</a:t>
            </a:r>
            <a:r>
              <a:rPr lang="zh-CN" altLang="en-US" dirty="0"/>
              <a:t>的传递依赖，则根据第三范式的定义</a:t>
            </a:r>
            <a:r>
              <a:rPr lang="en-US" altLang="zh-CN" dirty="0"/>
              <a:t>R</a:t>
            </a:r>
            <a:r>
              <a:rPr lang="en-US" altLang="zh-CN" dirty="0">
                <a:sym typeface="Symbol" charset="0"/>
              </a:rPr>
              <a:t></a:t>
            </a:r>
            <a:r>
              <a:rPr lang="en-US" altLang="zh-CN" dirty="0"/>
              <a:t>3NF</a:t>
            </a:r>
            <a:r>
              <a:rPr lang="zh-CN" altLang="en-US" dirty="0"/>
              <a:t>，这与假设相矛盾。</a:t>
            </a:r>
          </a:p>
          <a:p>
            <a:pPr marL="274637" lvl="1" indent="0">
              <a:buNone/>
            </a:pPr>
            <a:r>
              <a:rPr lang="zh-CN" altLang="en-US" dirty="0"/>
              <a:t>∴若</a:t>
            </a:r>
            <a:r>
              <a:rPr lang="en-US" altLang="zh-CN" dirty="0"/>
              <a:t>R</a:t>
            </a:r>
            <a:r>
              <a:rPr lang="en-US" altLang="zh-CN" dirty="0">
                <a:sym typeface="Symbol" charset="0"/>
              </a:rPr>
              <a:t></a:t>
            </a:r>
            <a:r>
              <a:rPr lang="en-US" altLang="zh-CN" dirty="0"/>
              <a:t>3NF</a:t>
            </a:r>
            <a:r>
              <a:rPr lang="zh-CN" altLang="en-US" dirty="0"/>
              <a:t>，则</a:t>
            </a:r>
            <a:r>
              <a:rPr lang="en-US" altLang="zh-CN" dirty="0"/>
              <a:t>R</a:t>
            </a:r>
            <a:r>
              <a:rPr lang="en-US" altLang="zh-CN" dirty="0">
                <a:sym typeface="Symbol" charset="0"/>
              </a:rPr>
              <a:t></a:t>
            </a:r>
            <a:r>
              <a:rPr lang="en-US" altLang="zh-CN" dirty="0"/>
              <a:t>2NF</a:t>
            </a:r>
            <a:r>
              <a:rPr lang="zh-CN" altLang="en-US" dirty="0"/>
              <a:t>。（证毕）</a:t>
            </a:r>
          </a:p>
          <a:p>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29</a:t>
            </a:fld>
            <a:endParaRPr lang="en-US" altLang="zh-CN"/>
          </a:p>
        </p:txBody>
      </p:sp>
    </p:spTree>
    <p:extLst>
      <p:ext uri="{BB962C8B-B14F-4D97-AF65-F5344CB8AC3E}">
        <p14:creationId xmlns:p14="http://schemas.microsoft.com/office/powerpoint/2010/main" val="231804081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3NF</a:t>
            </a:r>
            <a:endParaRPr lang="en-US" dirty="0"/>
          </a:p>
        </p:txBody>
      </p:sp>
      <p:sp>
        <p:nvSpPr>
          <p:cNvPr id="3" name="Content Placeholder 2"/>
          <p:cNvSpPr>
            <a:spLocks noGrp="1"/>
          </p:cNvSpPr>
          <p:nvPr>
            <p:ph idx="1"/>
          </p:nvPr>
        </p:nvSpPr>
        <p:spPr>
          <a:xfrm>
            <a:off x="685799" y="908720"/>
            <a:ext cx="8277225" cy="5263481"/>
          </a:xfrm>
        </p:spPr>
        <p:txBody>
          <a:bodyPr/>
          <a:lstStyle/>
          <a:p>
            <a:pPr>
              <a:lnSpc>
                <a:spcPct val="110000"/>
              </a:lnSpc>
              <a:spcBef>
                <a:spcPts val="0"/>
              </a:spcBef>
            </a:pPr>
            <a:r>
              <a:rPr lang="zh-CN" altLang="en-US" sz="2400" dirty="0" smtClean="0"/>
              <a:t>以</a:t>
            </a:r>
            <a:r>
              <a:rPr lang="en-US" altLang="zh-CN" sz="2400" dirty="0"/>
              <a:t>2NF</a:t>
            </a:r>
            <a:r>
              <a:rPr lang="zh-CN" altLang="en-US" sz="2400" dirty="0"/>
              <a:t>关系模式</a:t>
            </a:r>
            <a:r>
              <a:rPr lang="en-US" altLang="zh-CN" sz="2400" dirty="0"/>
              <a:t>SD</a:t>
            </a:r>
            <a:r>
              <a:rPr lang="zh-CN" altLang="en-US" sz="2400" dirty="0"/>
              <a:t>为例，说明</a:t>
            </a:r>
            <a:r>
              <a:rPr lang="en-US" altLang="zh-CN" sz="2400" dirty="0"/>
              <a:t>3NF</a:t>
            </a:r>
            <a:r>
              <a:rPr lang="zh-CN" altLang="en-US" sz="2400" dirty="0"/>
              <a:t>规范化的过程。</a:t>
            </a:r>
          </a:p>
          <a:p>
            <a:pPr marL="0" indent="0">
              <a:lnSpc>
                <a:spcPct val="110000"/>
              </a:lnSpc>
              <a:spcBef>
                <a:spcPts val="0"/>
              </a:spcBef>
              <a:buNone/>
            </a:pPr>
            <a:r>
              <a:rPr lang="zh-CN" altLang="en-US" sz="2400" dirty="0">
                <a:solidFill>
                  <a:srgbClr val="0000FF"/>
                </a:solidFill>
              </a:rPr>
              <a:t>	</a:t>
            </a:r>
            <a:r>
              <a:rPr lang="en-US" altLang="zh-CN" sz="2400" dirty="0">
                <a:solidFill>
                  <a:srgbClr val="0000FF"/>
                </a:solidFill>
              </a:rPr>
              <a:t>SD(</a:t>
            </a:r>
            <a:r>
              <a:rPr lang="zh-CN" altLang="en-US" sz="2400" dirty="0">
                <a:solidFill>
                  <a:srgbClr val="0000FF"/>
                </a:solidFill>
              </a:rPr>
              <a:t>学号</a:t>
            </a:r>
            <a:r>
              <a:rPr lang="en-US" altLang="zh-CN" sz="2400" dirty="0">
                <a:solidFill>
                  <a:srgbClr val="0000FF"/>
                </a:solidFill>
              </a:rPr>
              <a:t>, </a:t>
            </a:r>
            <a:r>
              <a:rPr lang="zh-CN" altLang="en-US" sz="2400" dirty="0">
                <a:solidFill>
                  <a:srgbClr val="0000FF"/>
                </a:solidFill>
              </a:rPr>
              <a:t>姓名</a:t>
            </a:r>
            <a:r>
              <a:rPr lang="en-US" altLang="zh-CN" sz="2400" dirty="0">
                <a:solidFill>
                  <a:srgbClr val="0000FF"/>
                </a:solidFill>
              </a:rPr>
              <a:t>, </a:t>
            </a:r>
            <a:r>
              <a:rPr lang="zh-CN" altLang="en-US" sz="2400" dirty="0">
                <a:solidFill>
                  <a:srgbClr val="0000FF"/>
                </a:solidFill>
              </a:rPr>
              <a:t>年龄</a:t>
            </a:r>
            <a:r>
              <a:rPr lang="en-US" altLang="zh-CN" sz="2400" dirty="0">
                <a:solidFill>
                  <a:srgbClr val="0000FF"/>
                </a:solidFill>
              </a:rPr>
              <a:t>, </a:t>
            </a:r>
            <a:r>
              <a:rPr lang="zh-CN" altLang="en-US" sz="2400" dirty="0">
                <a:solidFill>
                  <a:srgbClr val="0000FF"/>
                </a:solidFill>
              </a:rPr>
              <a:t>所在系</a:t>
            </a:r>
            <a:r>
              <a:rPr lang="en-US" altLang="zh-CN" sz="2400" dirty="0">
                <a:solidFill>
                  <a:srgbClr val="0000FF"/>
                </a:solidFill>
              </a:rPr>
              <a:t>, </a:t>
            </a:r>
            <a:r>
              <a:rPr lang="zh-CN" altLang="en-US" sz="2400" dirty="0">
                <a:solidFill>
                  <a:srgbClr val="0000FF"/>
                </a:solidFill>
              </a:rPr>
              <a:t>系主任</a:t>
            </a:r>
            <a:r>
              <a:rPr lang="en-US" altLang="zh-CN" sz="2400" dirty="0">
                <a:solidFill>
                  <a:srgbClr val="0000FF"/>
                </a:solidFill>
              </a:rPr>
              <a:t>)</a:t>
            </a:r>
            <a:endParaRPr lang="en-US" altLang="zh-CN" sz="2400" dirty="0"/>
          </a:p>
          <a:p>
            <a:pPr>
              <a:lnSpc>
                <a:spcPct val="110000"/>
              </a:lnSpc>
              <a:spcBef>
                <a:spcPts val="0"/>
              </a:spcBef>
              <a:buClrTx/>
              <a:buSzTx/>
            </a:pPr>
            <a:r>
              <a:rPr lang="zh-CN" altLang="en-US" sz="2400" dirty="0"/>
              <a:t>分析</a:t>
            </a:r>
            <a:r>
              <a:rPr lang="en-US" altLang="zh-CN" sz="2400" dirty="0"/>
              <a:t>SD</a:t>
            </a:r>
            <a:r>
              <a:rPr lang="zh-CN" altLang="en-US" sz="2400" dirty="0"/>
              <a:t>的属性，可以发现关系</a:t>
            </a:r>
            <a:r>
              <a:rPr lang="en-US" altLang="zh-CN" sz="2400" dirty="0"/>
              <a:t>SD</a:t>
            </a:r>
            <a:r>
              <a:rPr lang="zh-CN" altLang="en-US" sz="2400" dirty="0"/>
              <a:t>实际上描述了两个实体：</a:t>
            </a:r>
          </a:p>
          <a:p>
            <a:pPr marL="633413" indent="-342900">
              <a:lnSpc>
                <a:spcPct val="110000"/>
              </a:lnSpc>
              <a:spcBef>
                <a:spcPts val="0"/>
              </a:spcBef>
              <a:buClrTx/>
              <a:buSzTx/>
            </a:pPr>
            <a:r>
              <a:rPr lang="zh-CN" altLang="en-US" sz="2400" dirty="0" smtClean="0"/>
              <a:t>一个为学生实体</a:t>
            </a:r>
            <a:r>
              <a:rPr lang="zh-CN" altLang="en-US" sz="2400" dirty="0"/>
              <a:t>，属性有学号，姓名，年龄，所在系；</a:t>
            </a:r>
          </a:p>
          <a:p>
            <a:pPr marL="633413" indent="-342900">
              <a:lnSpc>
                <a:spcPct val="110000"/>
              </a:lnSpc>
              <a:spcBef>
                <a:spcPts val="0"/>
              </a:spcBef>
              <a:buClrTx/>
              <a:buSzTx/>
            </a:pPr>
            <a:r>
              <a:rPr lang="zh-CN" altLang="en-US" sz="2400" dirty="0" smtClean="0"/>
              <a:t>一个</a:t>
            </a:r>
            <a:r>
              <a:rPr lang="zh-CN" altLang="en-US" sz="2400" dirty="0"/>
              <a:t>是系的实体，其属性有系名和系主任。</a:t>
            </a:r>
          </a:p>
          <a:p>
            <a:pPr>
              <a:lnSpc>
                <a:spcPct val="110000"/>
              </a:lnSpc>
              <a:spcBef>
                <a:spcPts val="0"/>
              </a:spcBef>
              <a:buClrTx/>
              <a:buSzTx/>
            </a:pPr>
            <a:r>
              <a:rPr lang="zh-CN" altLang="en-US" sz="2400" dirty="0"/>
              <a:t>可以将</a:t>
            </a:r>
            <a:r>
              <a:rPr lang="en-US" altLang="zh-CN" sz="2400" dirty="0"/>
              <a:t>SD</a:t>
            </a:r>
            <a:r>
              <a:rPr lang="zh-CN" altLang="en-US" sz="2400" dirty="0"/>
              <a:t>分解成如下两个关系：</a:t>
            </a:r>
          </a:p>
          <a:p>
            <a:pPr marL="633413" indent="-342900">
              <a:lnSpc>
                <a:spcPct val="110000"/>
              </a:lnSpc>
              <a:spcBef>
                <a:spcPts val="0"/>
              </a:spcBef>
              <a:buClrTx/>
              <a:buSzTx/>
            </a:pPr>
            <a:r>
              <a:rPr lang="en-US" altLang="zh-CN" sz="2400" dirty="0" smtClean="0">
                <a:solidFill>
                  <a:srgbClr val="0000FF"/>
                </a:solidFill>
              </a:rPr>
              <a:t>S</a:t>
            </a:r>
            <a:r>
              <a:rPr lang="en-US" altLang="zh-CN" sz="2400" dirty="0">
                <a:solidFill>
                  <a:srgbClr val="0000FF"/>
                </a:solidFill>
              </a:rPr>
              <a:t>(</a:t>
            </a:r>
            <a:r>
              <a:rPr lang="zh-CN" altLang="en-US" sz="2400" dirty="0">
                <a:solidFill>
                  <a:srgbClr val="0000FF"/>
                </a:solidFill>
              </a:rPr>
              <a:t>学号</a:t>
            </a:r>
            <a:r>
              <a:rPr lang="en-US" altLang="zh-CN" sz="2400" dirty="0">
                <a:solidFill>
                  <a:srgbClr val="0000FF"/>
                </a:solidFill>
              </a:rPr>
              <a:t>,</a:t>
            </a:r>
            <a:r>
              <a:rPr lang="zh-CN" altLang="en-US" sz="2400" dirty="0">
                <a:solidFill>
                  <a:srgbClr val="0000FF"/>
                </a:solidFill>
              </a:rPr>
              <a:t>姓名</a:t>
            </a:r>
            <a:r>
              <a:rPr lang="en-US" altLang="zh-CN" sz="2400" dirty="0">
                <a:solidFill>
                  <a:srgbClr val="0000FF"/>
                </a:solidFill>
              </a:rPr>
              <a:t>,</a:t>
            </a:r>
            <a:r>
              <a:rPr lang="zh-CN" altLang="en-US" sz="2400" dirty="0">
                <a:solidFill>
                  <a:srgbClr val="0000FF"/>
                </a:solidFill>
              </a:rPr>
              <a:t>年龄</a:t>
            </a:r>
            <a:r>
              <a:rPr lang="en-US" altLang="zh-CN" sz="2400" dirty="0">
                <a:solidFill>
                  <a:srgbClr val="0000FF"/>
                </a:solidFill>
              </a:rPr>
              <a:t>,</a:t>
            </a:r>
            <a:r>
              <a:rPr lang="zh-CN" altLang="en-US" sz="2400" dirty="0">
                <a:solidFill>
                  <a:srgbClr val="0000FF"/>
                </a:solidFill>
              </a:rPr>
              <a:t>所在系</a:t>
            </a:r>
            <a:r>
              <a:rPr lang="en-US" altLang="zh-CN" sz="2400" dirty="0">
                <a:solidFill>
                  <a:srgbClr val="0000FF"/>
                </a:solidFill>
              </a:rPr>
              <a:t>)</a:t>
            </a:r>
            <a:r>
              <a:rPr lang="zh-CN" altLang="en-US" sz="2400" dirty="0"/>
              <a:t>，描述学生实体；</a:t>
            </a:r>
          </a:p>
          <a:p>
            <a:pPr marL="633413" indent="-342900">
              <a:lnSpc>
                <a:spcPct val="110000"/>
              </a:lnSpc>
              <a:spcBef>
                <a:spcPts val="0"/>
              </a:spcBef>
              <a:buClrTx/>
              <a:buSzTx/>
            </a:pPr>
            <a:r>
              <a:rPr lang="en-US" altLang="zh-CN" sz="2400" dirty="0" smtClean="0">
                <a:solidFill>
                  <a:srgbClr val="0000FF"/>
                </a:solidFill>
              </a:rPr>
              <a:t>D</a:t>
            </a:r>
            <a:r>
              <a:rPr lang="en-US" altLang="zh-CN" sz="2400" dirty="0">
                <a:solidFill>
                  <a:srgbClr val="0000FF"/>
                </a:solidFill>
              </a:rPr>
              <a:t>(</a:t>
            </a:r>
            <a:r>
              <a:rPr lang="zh-CN" altLang="en-US" sz="2400" dirty="0">
                <a:solidFill>
                  <a:srgbClr val="0000FF"/>
                </a:solidFill>
              </a:rPr>
              <a:t>系名</a:t>
            </a:r>
            <a:r>
              <a:rPr lang="en-US" altLang="zh-CN" sz="2400" dirty="0">
                <a:solidFill>
                  <a:srgbClr val="0000FF"/>
                </a:solidFill>
              </a:rPr>
              <a:t>, </a:t>
            </a:r>
            <a:r>
              <a:rPr lang="zh-CN" altLang="en-US" sz="2400" dirty="0">
                <a:solidFill>
                  <a:srgbClr val="0000FF"/>
                </a:solidFill>
              </a:rPr>
              <a:t>系主任</a:t>
            </a:r>
            <a:r>
              <a:rPr lang="en-US" altLang="zh-CN" sz="2400" dirty="0">
                <a:solidFill>
                  <a:srgbClr val="0000FF"/>
                </a:solidFill>
              </a:rPr>
              <a:t>)</a:t>
            </a:r>
            <a:r>
              <a:rPr lang="zh-CN" altLang="en-US" sz="2400" dirty="0"/>
              <a:t>，描述系的实体。</a:t>
            </a:r>
          </a:p>
          <a:p>
            <a:pPr>
              <a:lnSpc>
                <a:spcPct val="110000"/>
              </a:lnSpc>
              <a:spcBef>
                <a:spcPts val="0"/>
              </a:spcBef>
              <a:buClrTx/>
              <a:buSzTx/>
            </a:pPr>
            <a:r>
              <a:rPr lang="zh-CN" altLang="en-US" sz="2400" dirty="0"/>
              <a:t>分解后的两个关系</a:t>
            </a:r>
            <a:r>
              <a:rPr lang="en-US" altLang="zh-CN" sz="2400" dirty="0"/>
              <a:t>S</a:t>
            </a:r>
            <a:r>
              <a:rPr lang="zh-CN" altLang="en-US" sz="2400" dirty="0"/>
              <a:t>和</a:t>
            </a:r>
            <a:r>
              <a:rPr lang="en-US" altLang="zh-CN" sz="2400" dirty="0"/>
              <a:t>D</a:t>
            </a:r>
            <a:r>
              <a:rPr lang="zh-CN" altLang="en-US" sz="2400" dirty="0"/>
              <a:t>，码分别为学号和系名，不存在非主属性对码的传递函数依赖。因此，</a:t>
            </a:r>
            <a:r>
              <a:rPr lang="en-US" altLang="zh-CN" sz="2400" dirty="0"/>
              <a:t>S</a:t>
            </a:r>
            <a:r>
              <a:rPr lang="en-US" altLang="zh-CN" sz="2400" dirty="0">
                <a:sym typeface="Symbol" charset="0"/>
              </a:rPr>
              <a:t></a:t>
            </a:r>
            <a:r>
              <a:rPr lang="en-US" altLang="zh-CN" sz="2400" dirty="0"/>
              <a:t>3NF</a:t>
            </a:r>
            <a:r>
              <a:rPr lang="zh-CN" altLang="en-US" sz="2400" dirty="0"/>
              <a:t>，</a:t>
            </a:r>
            <a:r>
              <a:rPr lang="en-US" altLang="zh-CN" sz="2400" dirty="0"/>
              <a:t>D</a:t>
            </a:r>
            <a:r>
              <a:rPr lang="en-US" altLang="zh-CN" sz="2400" dirty="0">
                <a:sym typeface="Symbol" charset="0"/>
              </a:rPr>
              <a:t></a:t>
            </a:r>
            <a:r>
              <a:rPr lang="en-US" altLang="zh-CN" sz="2400" dirty="0"/>
              <a:t>3NF</a:t>
            </a:r>
            <a:r>
              <a:rPr lang="zh-CN" altLang="en-US" sz="2400" dirty="0" smtClean="0"/>
              <a:t>。</a:t>
            </a:r>
            <a:endParaRPr lang="en-US" altLang="zh-CN" sz="2400" dirty="0" smtClean="0"/>
          </a:p>
          <a:p>
            <a:pPr>
              <a:lnSpc>
                <a:spcPct val="110000"/>
              </a:lnSpc>
              <a:spcBef>
                <a:spcPts val="0"/>
              </a:spcBef>
              <a:buClrTx/>
            </a:pPr>
            <a:r>
              <a:rPr lang="zh-CN" altLang="en-US" sz="2400" dirty="0">
                <a:solidFill>
                  <a:srgbClr val="0000FF"/>
                </a:solidFill>
              </a:rPr>
              <a:t>分解为</a:t>
            </a:r>
            <a:r>
              <a:rPr lang="en-US" altLang="zh-CN" sz="2400" dirty="0">
                <a:solidFill>
                  <a:srgbClr val="0000FF"/>
                </a:solidFill>
              </a:rPr>
              <a:t>3NF</a:t>
            </a:r>
            <a:r>
              <a:rPr lang="zh-CN" altLang="en-US" sz="2400" dirty="0">
                <a:solidFill>
                  <a:srgbClr val="0000FF"/>
                </a:solidFill>
              </a:rPr>
              <a:t>后：</a:t>
            </a:r>
          </a:p>
          <a:p>
            <a:pPr lvl="1">
              <a:lnSpc>
                <a:spcPct val="110000"/>
              </a:lnSpc>
              <a:spcBef>
                <a:spcPts val="0"/>
              </a:spcBef>
              <a:buClrTx/>
            </a:pPr>
            <a:r>
              <a:rPr lang="zh-CN" altLang="en-US" dirty="0"/>
              <a:t>数据冗余降低。</a:t>
            </a:r>
          </a:p>
          <a:p>
            <a:pPr lvl="1">
              <a:lnSpc>
                <a:spcPct val="110000"/>
              </a:lnSpc>
              <a:spcBef>
                <a:spcPts val="0"/>
              </a:spcBef>
              <a:buClrTx/>
            </a:pPr>
            <a:r>
              <a:rPr lang="zh-CN" altLang="en-US" dirty="0"/>
              <a:t>不存在插入异常、不存在删除异常、不存在更新异常。</a:t>
            </a:r>
          </a:p>
          <a:p>
            <a:pPr>
              <a:lnSpc>
                <a:spcPct val="110000"/>
              </a:lnSpc>
              <a:spcBef>
                <a:spcPts val="0"/>
              </a:spcBef>
              <a:buClrTx/>
              <a:buSzTx/>
            </a:pPr>
            <a:endParaRPr lang="zh-CN" altLang="en-US" sz="2400" dirty="0"/>
          </a:p>
          <a:p>
            <a:pPr>
              <a:lnSpc>
                <a:spcPct val="110000"/>
              </a:lnSpc>
              <a:spcBef>
                <a:spcPts val="0"/>
              </a:spcBef>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30</a:t>
            </a:fld>
            <a:endParaRPr lang="en-US" altLang="zh-CN"/>
          </a:p>
        </p:txBody>
      </p:sp>
    </p:spTree>
    <p:extLst>
      <p:ext uri="{BB962C8B-B14F-4D97-AF65-F5344CB8AC3E}">
        <p14:creationId xmlns:p14="http://schemas.microsoft.com/office/powerpoint/2010/main" val="1207630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blinds(horizontal)">
                                      <p:cBhvr>
                                        <p:cTn id="55" dur="500"/>
                                        <p:tgtEl>
                                          <p:spTgt spid="3">
                                            <p:txEl>
                                              <p:pRg st="10" end="10"/>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blinds(horizontal)">
                                      <p:cBhvr>
                                        <p:cTn id="5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3NF</a:t>
            </a:r>
            <a:endParaRPr lang="en-US" dirty="0"/>
          </a:p>
        </p:txBody>
      </p:sp>
      <p:sp>
        <p:nvSpPr>
          <p:cNvPr id="3" name="Content Placeholder 2"/>
          <p:cNvSpPr>
            <a:spLocks noGrp="1"/>
          </p:cNvSpPr>
          <p:nvPr>
            <p:ph idx="1"/>
          </p:nvPr>
        </p:nvSpPr>
        <p:spPr/>
        <p:txBody>
          <a:bodyPr/>
          <a:lstStyle/>
          <a:p>
            <a:pPr>
              <a:lnSpc>
                <a:spcPct val="140000"/>
              </a:lnSpc>
              <a:spcAft>
                <a:spcPts val="600"/>
              </a:spcAft>
            </a:pPr>
            <a:r>
              <a:rPr lang="zh-CN" altLang="en-US" sz="2400" dirty="0">
                <a:solidFill>
                  <a:srgbClr val="FF0000"/>
                </a:solidFill>
              </a:rPr>
              <a:t>推论</a:t>
            </a:r>
            <a:r>
              <a:rPr lang="en-US" altLang="zh-CN" sz="2400" dirty="0">
                <a:solidFill>
                  <a:srgbClr val="FF0000"/>
                </a:solidFill>
              </a:rPr>
              <a:t>1</a:t>
            </a:r>
            <a:r>
              <a:rPr lang="en-US" altLang="zh-CN" sz="2400" dirty="0"/>
              <a:t>: </a:t>
            </a:r>
            <a:r>
              <a:rPr lang="zh-CN" altLang="en-US" sz="2400" dirty="0">
                <a:latin typeface="宋体" charset="0"/>
              </a:rPr>
              <a:t>若</a:t>
            </a:r>
            <a:r>
              <a:rPr lang="en-US" altLang="zh-CN" sz="2400" dirty="0"/>
              <a:t>R∈2NF</a:t>
            </a:r>
            <a:r>
              <a:rPr lang="zh-CN" altLang="en-US" sz="2400" dirty="0">
                <a:latin typeface="宋体" charset="0"/>
              </a:rPr>
              <a:t>，且至多存在一个非主属性，则</a:t>
            </a:r>
            <a:r>
              <a:rPr lang="en-US" altLang="zh-CN" sz="2400" dirty="0"/>
              <a:t>R∈3NF</a:t>
            </a:r>
          </a:p>
          <a:p>
            <a:pPr>
              <a:lnSpc>
                <a:spcPct val="140000"/>
              </a:lnSpc>
              <a:spcAft>
                <a:spcPts val="600"/>
              </a:spcAft>
            </a:pPr>
            <a:r>
              <a:rPr lang="zh-CN" altLang="en-US" sz="2400" dirty="0">
                <a:solidFill>
                  <a:srgbClr val="FF0000"/>
                </a:solidFill>
                <a:latin typeface="宋体" charset="0"/>
              </a:rPr>
              <a:t>推论</a:t>
            </a:r>
            <a:r>
              <a:rPr lang="en-US" altLang="zh-CN" sz="2400" dirty="0">
                <a:solidFill>
                  <a:srgbClr val="FF0000"/>
                </a:solidFill>
              </a:rPr>
              <a:t>2</a:t>
            </a:r>
            <a:r>
              <a:rPr lang="en-US" altLang="zh-CN" sz="2400" dirty="0"/>
              <a:t>: </a:t>
            </a:r>
            <a:r>
              <a:rPr lang="zh-CN" altLang="en-US" sz="2400" dirty="0">
                <a:latin typeface="宋体" charset="0"/>
              </a:rPr>
              <a:t>任何二元关系模式</a:t>
            </a:r>
            <a:r>
              <a:rPr lang="en-US" altLang="zh-CN" sz="2400" dirty="0"/>
              <a:t>R(A,B)</a:t>
            </a:r>
            <a:r>
              <a:rPr lang="zh-CN" altLang="en-US" sz="2400" dirty="0">
                <a:latin typeface="宋体" charset="0"/>
              </a:rPr>
              <a:t>必为</a:t>
            </a:r>
            <a:r>
              <a:rPr lang="en-US" altLang="zh-CN" sz="2400" dirty="0"/>
              <a:t>3NF</a:t>
            </a:r>
            <a:r>
              <a:rPr lang="zh-CN" altLang="en-US" sz="2400" dirty="0">
                <a:latin typeface="宋体" charset="0"/>
              </a:rPr>
              <a:t>。</a:t>
            </a:r>
          </a:p>
          <a:p>
            <a:pPr>
              <a:lnSpc>
                <a:spcPct val="140000"/>
              </a:lnSpc>
              <a:spcAft>
                <a:spcPts val="600"/>
              </a:spcAft>
            </a:pPr>
            <a:r>
              <a:rPr lang="zh-CN" altLang="en-US" sz="2400" dirty="0" smtClean="0">
                <a:latin typeface="宋体" charset="0"/>
              </a:rPr>
              <a:t>说明：</a:t>
            </a:r>
            <a:endParaRPr lang="zh-CN" altLang="en-US" sz="2400" dirty="0">
              <a:latin typeface="宋体" charset="0"/>
            </a:endParaRPr>
          </a:p>
          <a:p>
            <a:pPr lvl="1">
              <a:lnSpc>
                <a:spcPct val="140000"/>
              </a:lnSpc>
              <a:spcAft>
                <a:spcPts val="600"/>
              </a:spcAft>
            </a:pPr>
            <a:r>
              <a:rPr lang="zh-CN" altLang="en-US" dirty="0">
                <a:latin typeface="宋体" charset="0"/>
              </a:rPr>
              <a:t>部分</a:t>
            </a:r>
            <a:r>
              <a:rPr lang="en-US" altLang="zh-CN" i="1" dirty="0"/>
              <a:t>FD</a:t>
            </a:r>
            <a:r>
              <a:rPr lang="zh-CN" altLang="en-US" dirty="0">
                <a:latin typeface="宋体" charset="0"/>
              </a:rPr>
              <a:t>和传递</a:t>
            </a:r>
            <a:r>
              <a:rPr lang="en-US" altLang="zh-CN" i="1" dirty="0"/>
              <a:t>FD</a:t>
            </a:r>
            <a:r>
              <a:rPr lang="zh-CN" altLang="en-US" dirty="0">
                <a:latin typeface="宋体" charset="0"/>
              </a:rPr>
              <a:t>是冗余及操作异常的重要根源。</a:t>
            </a:r>
          </a:p>
          <a:p>
            <a:pPr lvl="1" algn="just">
              <a:lnSpc>
                <a:spcPct val="80000"/>
              </a:lnSpc>
              <a:spcAft>
                <a:spcPts val="600"/>
              </a:spcAft>
            </a:pPr>
            <a:r>
              <a:rPr lang="en-US" altLang="zh-CN" dirty="0"/>
              <a:t>3NF</a:t>
            </a:r>
            <a:r>
              <a:rPr lang="zh-CN" altLang="en-US" dirty="0">
                <a:latin typeface="宋体" charset="0"/>
              </a:rPr>
              <a:t>不存在非主属性对候选码的部分</a:t>
            </a:r>
            <a:r>
              <a:rPr lang="en-US" altLang="zh-CN" i="1" dirty="0"/>
              <a:t>FD</a:t>
            </a:r>
            <a:r>
              <a:rPr lang="zh-CN" altLang="en-US" dirty="0">
                <a:latin typeface="宋体" charset="0"/>
              </a:rPr>
              <a:t>和传递</a:t>
            </a:r>
            <a:r>
              <a:rPr lang="en-US" altLang="zh-CN" i="1" dirty="0"/>
              <a:t>FD</a:t>
            </a:r>
            <a:r>
              <a:rPr lang="zh-CN" altLang="en-US" dirty="0">
                <a:latin typeface="宋体" charset="0"/>
              </a:rPr>
              <a:t>。</a:t>
            </a:r>
          </a:p>
          <a:p>
            <a:pPr lvl="1" algn="just">
              <a:lnSpc>
                <a:spcPct val="80000"/>
              </a:lnSpc>
              <a:spcAft>
                <a:spcPts val="600"/>
              </a:spcAft>
            </a:pPr>
            <a:r>
              <a:rPr lang="en-US" altLang="zh-CN" dirty="0"/>
              <a:t>3NF</a:t>
            </a:r>
            <a:r>
              <a:rPr lang="zh-CN" altLang="en-US" dirty="0">
                <a:latin typeface="宋体" charset="0"/>
              </a:rPr>
              <a:t>消去了大部分冗余及操作异常。</a:t>
            </a:r>
          </a:p>
          <a:p>
            <a:pPr lvl="1" algn="just">
              <a:lnSpc>
                <a:spcPct val="80000"/>
              </a:lnSpc>
              <a:spcAft>
                <a:spcPts val="600"/>
              </a:spcAft>
            </a:pPr>
            <a:r>
              <a:rPr lang="zh-CN" altLang="en-US" dirty="0">
                <a:latin typeface="宋体" charset="0"/>
              </a:rPr>
              <a:t>但并非所有的</a:t>
            </a:r>
            <a:r>
              <a:rPr lang="en-US" altLang="zh-CN" dirty="0"/>
              <a:t>3NF</a:t>
            </a:r>
            <a:r>
              <a:rPr lang="zh-CN" altLang="en-US" dirty="0">
                <a:latin typeface="宋体" charset="0"/>
              </a:rPr>
              <a:t>都能完全消除冗余及操作异常。</a:t>
            </a:r>
          </a:p>
          <a:p>
            <a:pPr>
              <a:spcAft>
                <a:spcPts val="600"/>
              </a:spcAft>
            </a:pPr>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31</a:t>
            </a:fld>
            <a:endParaRPr lang="en-US" altLang="zh-CN"/>
          </a:p>
        </p:txBody>
      </p:sp>
    </p:spTree>
    <p:extLst>
      <p:ext uri="{BB962C8B-B14F-4D97-AF65-F5344CB8AC3E}">
        <p14:creationId xmlns:p14="http://schemas.microsoft.com/office/powerpoint/2010/main" val="414957477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07898"/>
            <a:ext cx="7772400" cy="784128"/>
          </a:xfrm>
        </p:spPr>
        <p:txBody>
          <a:bodyPr>
            <a:noAutofit/>
          </a:bodyPr>
          <a:lstStyle/>
          <a:p>
            <a:r>
              <a:rPr lang="zh-CN" altLang="en-US" sz="2800" dirty="0">
                <a:solidFill>
                  <a:srgbClr val="000090"/>
                </a:solidFill>
              </a:rPr>
              <a:t>课堂练习：</a:t>
            </a:r>
            <a:r>
              <a:rPr lang="zh-CN" altLang="en-US" sz="2800" dirty="0">
                <a:solidFill>
                  <a:schemeClr val="tx1"/>
                </a:solidFill>
              </a:rPr>
              <a:t>试证明，若关系模式</a:t>
            </a:r>
            <a:r>
              <a:rPr lang="en-US" altLang="zh-CN" sz="2800" dirty="0">
                <a:solidFill>
                  <a:schemeClr val="tx1"/>
                </a:solidFill>
              </a:rPr>
              <a:t>R</a:t>
            </a:r>
            <a:r>
              <a:rPr lang="zh-CN" altLang="en-US" sz="2800" dirty="0">
                <a:solidFill>
                  <a:schemeClr val="tx1"/>
                </a:solidFill>
              </a:rPr>
              <a:t>是二元关系，则</a:t>
            </a:r>
            <a:r>
              <a:rPr lang="en-US" altLang="zh-CN" sz="2800" dirty="0">
                <a:solidFill>
                  <a:schemeClr val="tx1"/>
                </a:solidFill>
              </a:rPr>
              <a:t>R</a:t>
            </a:r>
            <a:r>
              <a:rPr lang="en-US" altLang="zh-CN" sz="2800" dirty="0">
                <a:solidFill>
                  <a:schemeClr val="tx1"/>
                </a:solidFill>
                <a:sym typeface="Symbol" charset="0"/>
              </a:rPr>
              <a:t></a:t>
            </a:r>
            <a:r>
              <a:rPr lang="en-US" altLang="zh-CN" sz="2800" dirty="0">
                <a:solidFill>
                  <a:schemeClr val="tx1"/>
                </a:solidFill>
              </a:rPr>
              <a:t>3NF</a:t>
            </a:r>
            <a:r>
              <a:rPr lang="zh-CN" altLang="en-US" sz="2800" dirty="0" smtClean="0">
                <a:solidFill>
                  <a:schemeClr val="tx1"/>
                </a:solidFill>
              </a:rPr>
              <a:t>。</a:t>
            </a:r>
            <a:endParaRPr lang="en-US" sz="2800" dirty="0">
              <a:solidFill>
                <a:schemeClr val="tx1"/>
              </a:solidFill>
            </a:endParaRPr>
          </a:p>
        </p:txBody>
      </p:sp>
      <p:sp>
        <p:nvSpPr>
          <p:cNvPr id="3" name="Content Placeholder 2"/>
          <p:cNvSpPr>
            <a:spLocks noGrp="1"/>
          </p:cNvSpPr>
          <p:nvPr>
            <p:ph idx="1"/>
          </p:nvPr>
        </p:nvSpPr>
        <p:spPr/>
        <p:txBody>
          <a:bodyPr/>
          <a:lstStyle/>
          <a:p>
            <a:pPr marL="0" indent="0">
              <a:buNone/>
            </a:pPr>
            <a:r>
              <a:rPr lang="zh-CN" altLang="en-US" sz="2400" dirty="0">
                <a:solidFill>
                  <a:srgbClr val="0000FF"/>
                </a:solidFill>
              </a:rPr>
              <a:t>证明： </a:t>
            </a:r>
          </a:p>
          <a:p>
            <a:pPr marL="0" indent="0">
              <a:buNone/>
            </a:pPr>
            <a:r>
              <a:rPr lang="zh-CN" altLang="en-US" sz="2400" dirty="0"/>
              <a:t> 假设</a:t>
            </a:r>
            <a:r>
              <a:rPr lang="en-US" altLang="zh-CN" sz="2400" dirty="0"/>
              <a:t>R</a:t>
            </a:r>
            <a:r>
              <a:rPr lang="zh-CN" altLang="en-US" sz="2400" dirty="0"/>
              <a:t>的两个属性分别为</a:t>
            </a:r>
            <a:r>
              <a:rPr lang="en-US" altLang="zh-CN" sz="2400" dirty="0"/>
              <a:t>A</a:t>
            </a:r>
            <a:r>
              <a:rPr lang="zh-CN" altLang="en-US" sz="2400" dirty="0"/>
              <a:t>和</a:t>
            </a:r>
            <a:r>
              <a:rPr lang="en-US" altLang="zh-CN" sz="2400" dirty="0"/>
              <a:t>B</a:t>
            </a:r>
            <a:r>
              <a:rPr lang="zh-CN" altLang="en-US" sz="2400" dirty="0"/>
              <a:t>，分两种情况证明：</a:t>
            </a:r>
          </a:p>
          <a:p>
            <a:pPr marL="0" indent="0">
              <a:buNone/>
            </a:pPr>
            <a:r>
              <a:rPr lang="zh-CN" altLang="en-US" sz="2400" dirty="0">
                <a:solidFill>
                  <a:srgbClr val="0000FF"/>
                </a:solidFill>
              </a:rPr>
              <a:t> </a:t>
            </a:r>
            <a:r>
              <a:rPr lang="en-US" altLang="zh-CN" sz="2400" dirty="0">
                <a:solidFill>
                  <a:srgbClr val="0000FF"/>
                </a:solidFill>
              </a:rPr>
              <a:t>1) </a:t>
            </a:r>
            <a:r>
              <a:rPr lang="zh-CN" altLang="en-US" sz="2400" dirty="0">
                <a:solidFill>
                  <a:srgbClr val="0000FF"/>
                </a:solidFill>
              </a:rPr>
              <a:t>若</a:t>
            </a:r>
            <a:r>
              <a:rPr lang="en-US" altLang="zh-CN" sz="2400" dirty="0">
                <a:solidFill>
                  <a:srgbClr val="0000FF"/>
                </a:solidFill>
              </a:rPr>
              <a:t>R</a:t>
            </a:r>
            <a:r>
              <a:rPr lang="zh-CN" altLang="en-US" sz="2400" dirty="0">
                <a:solidFill>
                  <a:srgbClr val="0000FF"/>
                </a:solidFill>
              </a:rPr>
              <a:t>的码为单属性码</a:t>
            </a:r>
          </a:p>
          <a:p>
            <a:pPr marL="0" indent="0">
              <a:buNone/>
            </a:pPr>
            <a:r>
              <a:rPr lang="zh-CN" altLang="en-US" sz="2400" dirty="0"/>
              <a:t> ∵</a:t>
            </a:r>
            <a:r>
              <a:rPr lang="en-US" altLang="zh-CN" sz="2400" dirty="0"/>
              <a:t>R</a:t>
            </a:r>
            <a:r>
              <a:rPr lang="zh-CN" altLang="en-US" sz="2400" dirty="0">
                <a:sym typeface="Symbol" charset="0"/>
              </a:rPr>
              <a:t>的码不可再分</a:t>
            </a:r>
          </a:p>
          <a:p>
            <a:pPr marL="0" indent="0">
              <a:buNone/>
            </a:pPr>
            <a:r>
              <a:rPr lang="zh-CN" altLang="en-US" sz="2400" dirty="0"/>
              <a:t> ∴不存在非主属性对码的部分依赖</a:t>
            </a:r>
          </a:p>
          <a:p>
            <a:pPr marL="0" indent="0">
              <a:buNone/>
            </a:pPr>
            <a:r>
              <a:rPr lang="zh-CN" altLang="en-US" sz="2400" dirty="0"/>
              <a:t> 又∵</a:t>
            </a:r>
            <a:r>
              <a:rPr lang="en-US" altLang="zh-CN" sz="2400" dirty="0"/>
              <a:t>R</a:t>
            </a:r>
            <a:r>
              <a:rPr lang="zh-CN" altLang="en-US" sz="2400" dirty="0"/>
              <a:t>中只有两个属性</a:t>
            </a:r>
          </a:p>
          <a:p>
            <a:pPr marL="0" indent="0">
              <a:buNone/>
            </a:pPr>
            <a:r>
              <a:rPr lang="zh-CN" altLang="en-US" sz="2400" dirty="0"/>
              <a:t> ∴不存在非主属性对码的传递依赖</a:t>
            </a:r>
          </a:p>
          <a:p>
            <a:pPr marL="0" indent="0">
              <a:buNone/>
            </a:pPr>
            <a:r>
              <a:rPr lang="zh-CN" altLang="en-US" sz="2400" dirty="0"/>
              <a:t> ∴ </a:t>
            </a:r>
            <a:r>
              <a:rPr lang="en-US" altLang="zh-CN" sz="2400" dirty="0"/>
              <a:t>R</a:t>
            </a:r>
            <a:r>
              <a:rPr lang="en-US" altLang="zh-CN" sz="2400" dirty="0">
                <a:sym typeface="Symbol" charset="0"/>
              </a:rPr>
              <a:t></a:t>
            </a:r>
            <a:r>
              <a:rPr lang="en-US" altLang="zh-CN" sz="2400" dirty="0"/>
              <a:t>3NF</a:t>
            </a:r>
            <a:r>
              <a:rPr lang="zh-CN" altLang="en-US" sz="2400" dirty="0"/>
              <a:t>。</a:t>
            </a:r>
          </a:p>
          <a:p>
            <a:pPr marL="0" indent="0">
              <a:buNone/>
            </a:pPr>
            <a:r>
              <a:rPr lang="zh-CN" altLang="en-US" sz="2400" dirty="0">
                <a:solidFill>
                  <a:srgbClr val="0000FF"/>
                </a:solidFill>
              </a:rPr>
              <a:t> </a:t>
            </a:r>
            <a:r>
              <a:rPr lang="en-US" altLang="zh-CN" sz="2400" dirty="0">
                <a:solidFill>
                  <a:srgbClr val="0000FF"/>
                </a:solidFill>
              </a:rPr>
              <a:t>2) </a:t>
            </a:r>
            <a:r>
              <a:rPr lang="zh-CN" altLang="en-US" sz="2400" dirty="0">
                <a:solidFill>
                  <a:srgbClr val="0000FF"/>
                </a:solidFill>
              </a:rPr>
              <a:t>若</a:t>
            </a:r>
            <a:r>
              <a:rPr lang="en-US" altLang="zh-CN" sz="2400" dirty="0">
                <a:solidFill>
                  <a:srgbClr val="0000FF"/>
                </a:solidFill>
              </a:rPr>
              <a:t>R</a:t>
            </a:r>
            <a:r>
              <a:rPr lang="zh-CN" altLang="en-US" sz="2400" dirty="0">
                <a:solidFill>
                  <a:srgbClr val="0000FF"/>
                </a:solidFill>
              </a:rPr>
              <a:t>的码为全码</a:t>
            </a:r>
          </a:p>
          <a:p>
            <a:pPr marL="0" indent="0">
              <a:buNone/>
            </a:pPr>
            <a:r>
              <a:rPr lang="zh-CN" altLang="en-US" sz="2400" dirty="0"/>
              <a:t> ∵ </a:t>
            </a:r>
            <a:r>
              <a:rPr lang="en-US" altLang="zh-CN" sz="2400" dirty="0"/>
              <a:t>R</a:t>
            </a:r>
            <a:r>
              <a:rPr lang="zh-CN" altLang="en-US" sz="2400" dirty="0"/>
              <a:t>中没有非主属性</a:t>
            </a:r>
          </a:p>
          <a:p>
            <a:pPr marL="0" indent="0">
              <a:buNone/>
            </a:pPr>
            <a:r>
              <a:rPr lang="zh-CN" altLang="en-US" sz="2400" dirty="0"/>
              <a:t> ∴不可能存在非主属性对码的部分依赖或传递依赖</a:t>
            </a:r>
          </a:p>
          <a:p>
            <a:pPr marL="0" indent="0">
              <a:buNone/>
            </a:pPr>
            <a:r>
              <a:rPr lang="zh-CN" altLang="en-US" sz="2400" dirty="0"/>
              <a:t> ∴ </a:t>
            </a:r>
            <a:r>
              <a:rPr lang="en-US" altLang="zh-CN" sz="2400" dirty="0"/>
              <a:t>R</a:t>
            </a:r>
            <a:r>
              <a:rPr lang="en-US" altLang="zh-CN" sz="2400" dirty="0">
                <a:sym typeface="Symbol" charset="0"/>
              </a:rPr>
              <a:t></a:t>
            </a:r>
            <a:r>
              <a:rPr lang="en-US" altLang="zh-CN" sz="2400" dirty="0"/>
              <a:t>3NF</a:t>
            </a:r>
            <a:r>
              <a:rPr lang="zh-CN" altLang="en-US" sz="2400" dirty="0"/>
              <a:t>。</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32</a:t>
            </a:fld>
            <a:endParaRPr lang="en-US" altLang="zh-CN"/>
          </a:p>
        </p:txBody>
      </p:sp>
    </p:spTree>
    <p:extLst>
      <p:ext uri="{BB962C8B-B14F-4D97-AF65-F5344CB8AC3E}">
        <p14:creationId xmlns:p14="http://schemas.microsoft.com/office/powerpoint/2010/main" val="2252821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4"/>
          <p:cNvSpPr txBox="1">
            <a:spLocks noGrp="1"/>
          </p:cNvSpPr>
          <p:nvPr/>
        </p:nvSpPr>
        <p:spPr bwMode="auto">
          <a:xfrm>
            <a:off x="5219700" y="6381750"/>
            <a:ext cx="3600450" cy="3206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0"/>
              </a:spcBef>
              <a:defRPr/>
            </a:pPr>
            <a:r>
              <a:rPr kumimoji="0" lang="en-US" altLang="zh-CN" sz="1400">
                <a:solidFill>
                  <a:srgbClr val="F03628"/>
                </a:solidFill>
                <a:latin typeface="+mn-lt"/>
                <a:ea typeface="宋体" pitchFamily="2" charset="-122"/>
                <a:cs typeface="+mn-cs"/>
              </a:rPr>
              <a:t>An Introduction to Database System</a:t>
            </a:r>
          </a:p>
        </p:txBody>
      </p:sp>
      <p:sp>
        <p:nvSpPr>
          <p:cNvPr id="1568771" name="Rectangle 2"/>
          <p:cNvSpPr>
            <a:spLocks noGrp="1" noChangeArrowheads="1"/>
          </p:cNvSpPr>
          <p:nvPr>
            <p:ph type="title" idx="4294967295"/>
          </p:nvPr>
        </p:nvSpPr>
        <p:spPr>
          <a:xfrm>
            <a:off x="549902" y="100158"/>
            <a:ext cx="8153400" cy="928688"/>
          </a:xfrm>
        </p:spPr>
        <p:txBody>
          <a:bodyPr/>
          <a:lstStyle/>
          <a:p>
            <a:r>
              <a:rPr lang="zh-CN" altLang="en-US" dirty="0" smtClean="0">
                <a:latin typeface="宋体" charset="0"/>
              </a:rPr>
              <a:t>案例</a:t>
            </a:r>
            <a:r>
              <a:rPr lang="zh-CN" altLang="en-US" dirty="0">
                <a:latin typeface="宋体" charset="0"/>
              </a:rPr>
              <a:t>：规范化的过程</a:t>
            </a:r>
            <a:endParaRPr lang="en-US" altLang="zh-CN" dirty="0">
              <a:latin typeface="宋体" charset="0"/>
            </a:endParaRPr>
          </a:p>
        </p:txBody>
      </p:sp>
      <p:sp>
        <p:nvSpPr>
          <p:cNvPr id="1568772" name="Rectangle 3"/>
          <p:cNvSpPr>
            <a:spLocks noGrp="1" noChangeArrowheads="1"/>
          </p:cNvSpPr>
          <p:nvPr>
            <p:ph type="body" idx="4294967295"/>
          </p:nvPr>
        </p:nvSpPr>
        <p:spPr/>
        <p:txBody>
          <a:bodyPr/>
          <a:lstStyle/>
          <a:p>
            <a:r>
              <a:rPr lang="zh-CN" altLang="en-US"/>
              <a:t>某书店购书情况汇总登记表 ：</a:t>
            </a:r>
          </a:p>
        </p:txBody>
      </p:sp>
      <p:pic>
        <p:nvPicPr>
          <p:cNvPr id="1568773" name="Picture 4" descr="guifan2"/>
          <p:cNvPicPr>
            <a:picLocks noChangeAspect="1" noChangeArrowheads="1"/>
          </p:cNvPicPr>
          <p:nvPr/>
        </p:nvPicPr>
        <p:blipFill>
          <a:blip r:embed="rId2">
            <a:extLst>
              <a:ext uri="{28A0092B-C50C-407E-A947-70E740481C1C}">
                <a14:useLocalDpi xmlns:a14="http://schemas.microsoft.com/office/drawing/2010/main" val="0"/>
              </a:ext>
            </a:extLst>
          </a:blip>
          <a:srcRect t="14815" r="549"/>
          <a:stretch>
            <a:fillRect/>
          </a:stretch>
        </p:blipFill>
        <p:spPr bwMode="auto">
          <a:xfrm>
            <a:off x="304800" y="1774093"/>
            <a:ext cx="8610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5110000"/>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4"/>
          <p:cNvSpPr txBox="1">
            <a:spLocks noGrp="1"/>
          </p:cNvSpPr>
          <p:nvPr/>
        </p:nvSpPr>
        <p:spPr bwMode="auto">
          <a:xfrm>
            <a:off x="5219700" y="6381750"/>
            <a:ext cx="3600450" cy="3206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0"/>
              </a:spcBef>
              <a:defRPr/>
            </a:pPr>
            <a:r>
              <a:rPr kumimoji="0" lang="en-US" altLang="zh-CN" sz="1400">
                <a:solidFill>
                  <a:srgbClr val="F03628"/>
                </a:solidFill>
                <a:latin typeface="+mn-lt"/>
                <a:ea typeface="宋体" pitchFamily="2" charset="-122"/>
                <a:cs typeface="+mn-cs"/>
              </a:rPr>
              <a:t>An Introduction to Database System</a:t>
            </a:r>
          </a:p>
        </p:txBody>
      </p:sp>
      <p:sp>
        <p:nvSpPr>
          <p:cNvPr id="1569795" name="Rectangle 2"/>
          <p:cNvSpPr>
            <a:spLocks noGrp="1" noChangeArrowheads="1"/>
          </p:cNvSpPr>
          <p:nvPr>
            <p:ph type="title" idx="4294967295"/>
          </p:nvPr>
        </p:nvSpPr>
        <p:spPr/>
        <p:txBody>
          <a:bodyPr/>
          <a:lstStyle/>
          <a:p>
            <a:r>
              <a:rPr lang="zh-CN" altLang="en-US" dirty="0">
                <a:latin typeface="宋体" charset="0"/>
              </a:rPr>
              <a:t>案例：规范化的过程</a:t>
            </a:r>
            <a:r>
              <a:rPr lang="en-US" altLang="zh-CN" dirty="0">
                <a:latin typeface="宋体" charset="0"/>
              </a:rPr>
              <a:t>(2)</a:t>
            </a:r>
          </a:p>
        </p:txBody>
      </p:sp>
      <p:sp>
        <p:nvSpPr>
          <p:cNvPr id="1569796" name="Rectangle 3"/>
          <p:cNvSpPr>
            <a:spLocks noGrp="1" noChangeArrowheads="1"/>
          </p:cNvSpPr>
          <p:nvPr>
            <p:ph type="body" idx="4294967295"/>
          </p:nvPr>
        </p:nvSpPr>
        <p:spPr>
          <a:xfrm>
            <a:off x="457200" y="1006562"/>
            <a:ext cx="8229600" cy="4411663"/>
          </a:xfrm>
        </p:spPr>
        <p:txBody>
          <a:bodyPr/>
          <a:lstStyle/>
          <a:p>
            <a:pPr>
              <a:buFont typeface="Wingdings" charset="0"/>
              <a:buNone/>
            </a:pPr>
            <a:r>
              <a:rPr lang="zh-CN" altLang="en-US" sz="2400" dirty="0" smtClean="0"/>
              <a:t>消除重复组</a:t>
            </a:r>
            <a:r>
              <a:rPr lang="zh-CN" altLang="en-US" sz="2400" dirty="0"/>
              <a:t>后，关系模式满足</a:t>
            </a:r>
            <a:r>
              <a:rPr lang="en-US" altLang="zh-CN" sz="2400" dirty="0"/>
              <a:t>1NF</a:t>
            </a:r>
            <a:r>
              <a:rPr lang="zh-CN" altLang="en-US" sz="2400" dirty="0"/>
              <a:t>的要求。</a:t>
            </a:r>
          </a:p>
        </p:txBody>
      </p:sp>
      <p:pic>
        <p:nvPicPr>
          <p:cNvPr id="1569797" name="Picture 4" descr="guifan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69985" y="1516724"/>
            <a:ext cx="8839200" cy="31242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Rectangle 1"/>
          <p:cNvSpPr/>
          <p:nvPr/>
        </p:nvSpPr>
        <p:spPr>
          <a:xfrm>
            <a:off x="457199" y="4947548"/>
            <a:ext cx="8001001" cy="1200328"/>
          </a:xfrm>
          <a:prstGeom prst="rect">
            <a:avLst/>
          </a:prstGeom>
        </p:spPr>
        <p:txBody>
          <a:bodyPr wrap="square">
            <a:spAutoFit/>
          </a:bodyPr>
          <a:lstStyle/>
          <a:p>
            <a:pPr>
              <a:buFont typeface="Wingdings" charset="0"/>
              <a:buNone/>
            </a:pPr>
            <a:r>
              <a:rPr lang="zh-CN" altLang="en-US" sz="2400" dirty="0">
                <a:latin typeface="华文仿宋"/>
                <a:ea typeface="华文仿宋"/>
                <a:cs typeface="华文仿宋"/>
              </a:rPr>
              <a:t>根据分析可以得到一组函数依赖：</a:t>
            </a:r>
          </a:p>
          <a:p>
            <a:pPr>
              <a:buFont typeface="Wingdings" charset="0"/>
              <a:buNone/>
            </a:pPr>
            <a:r>
              <a:rPr lang="en-US" altLang="zh-CN" sz="2400" dirty="0">
                <a:latin typeface="华文仿宋"/>
                <a:ea typeface="华文仿宋"/>
                <a:cs typeface="华文仿宋"/>
              </a:rPr>
              <a:t>F={ NO→C#,C#→CN,C#→CA,B#→BN,B#→EU,B#→UP,(NO,B#) →QUA }</a:t>
            </a:r>
            <a:r>
              <a:rPr lang="zh-CN" altLang="en-US" sz="2400" dirty="0">
                <a:latin typeface="华文仿宋"/>
                <a:ea typeface="华文仿宋"/>
                <a:cs typeface="华文仿宋"/>
              </a:rPr>
              <a:t>，表中（</a:t>
            </a:r>
            <a:r>
              <a:rPr lang="en-US" altLang="zh-CN" sz="2400" dirty="0">
                <a:latin typeface="华文仿宋"/>
                <a:ea typeface="华文仿宋"/>
                <a:cs typeface="华文仿宋"/>
              </a:rPr>
              <a:t>NO,B#</a:t>
            </a:r>
            <a:r>
              <a:rPr lang="zh-CN" altLang="en-US" sz="2400" dirty="0">
                <a:latin typeface="华文仿宋"/>
                <a:ea typeface="华文仿宋"/>
                <a:cs typeface="华文仿宋"/>
              </a:rPr>
              <a:t>）为主码。</a:t>
            </a:r>
          </a:p>
        </p:txBody>
      </p:sp>
    </p:spTree>
    <p:extLst>
      <p:ext uri="{BB962C8B-B14F-4D97-AF65-F5344CB8AC3E}">
        <p14:creationId xmlns:p14="http://schemas.microsoft.com/office/powerpoint/2010/main" val="2201028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9796">
                                            <p:txEl>
                                              <p:pRg st="0" end="0"/>
                                            </p:txEl>
                                          </p:spTgt>
                                        </p:tgtEl>
                                        <p:attrNameLst>
                                          <p:attrName>style.visibility</p:attrName>
                                        </p:attrNameLst>
                                      </p:cBhvr>
                                      <p:to>
                                        <p:strVal val="visible"/>
                                      </p:to>
                                    </p:set>
                                    <p:animEffect transition="in" filter="blinds(horizontal)">
                                      <p:cBhvr>
                                        <p:cTn id="7" dur="500"/>
                                        <p:tgtEl>
                                          <p:spTgt spid="15697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69797"/>
                                        </p:tgtEl>
                                        <p:attrNameLst>
                                          <p:attrName>style.visibility</p:attrName>
                                        </p:attrNameLst>
                                      </p:cBhvr>
                                      <p:to>
                                        <p:strVal val="visible"/>
                                      </p:to>
                                    </p:set>
                                    <p:animEffect transition="in" filter="blinds(horizontal)">
                                      <p:cBhvr>
                                        <p:cTn id="12" dur="500"/>
                                        <p:tgtEl>
                                          <p:spTgt spid="15697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9796" grpId="0" build="p"/>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6"/>
          <p:cNvSpPr txBox="1">
            <a:spLocks noGrp="1"/>
          </p:cNvSpPr>
          <p:nvPr/>
        </p:nvSpPr>
        <p:spPr bwMode="auto">
          <a:xfrm>
            <a:off x="5219700" y="6381750"/>
            <a:ext cx="3600450" cy="3206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0"/>
              </a:spcBef>
              <a:defRPr/>
            </a:pPr>
            <a:r>
              <a:rPr kumimoji="0" lang="en-US" altLang="zh-CN" sz="1400">
                <a:solidFill>
                  <a:srgbClr val="F03628"/>
                </a:solidFill>
                <a:latin typeface="+mn-lt"/>
                <a:ea typeface="宋体" pitchFamily="2" charset="-122"/>
                <a:cs typeface="+mn-cs"/>
              </a:rPr>
              <a:t>An Introduction to Database System</a:t>
            </a:r>
          </a:p>
        </p:txBody>
      </p:sp>
      <p:sp>
        <p:nvSpPr>
          <p:cNvPr id="1570819" name="Rectangle 2"/>
          <p:cNvSpPr>
            <a:spLocks noGrp="1" noChangeArrowheads="1"/>
          </p:cNvSpPr>
          <p:nvPr>
            <p:ph type="title" idx="4294967295"/>
          </p:nvPr>
        </p:nvSpPr>
        <p:spPr/>
        <p:txBody>
          <a:bodyPr/>
          <a:lstStyle/>
          <a:p>
            <a:r>
              <a:rPr lang="zh-CN" altLang="en-US" dirty="0">
                <a:latin typeface="宋体" charset="0"/>
              </a:rPr>
              <a:t>案例：规范化的过程</a:t>
            </a:r>
            <a:r>
              <a:rPr lang="en-US" altLang="zh-CN" dirty="0">
                <a:latin typeface="宋体" charset="0"/>
              </a:rPr>
              <a:t>(3)</a:t>
            </a:r>
          </a:p>
        </p:txBody>
      </p:sp>
      <p:sp>
        <p:nvSpPr>
          <p:cNvPr id="1570820" name="Rectangle 3"/>
          <p:cNvSpPr>
            <a:spLocks noGrp="1" noChangeArrowheads="1"/>
          </p:cNvSpPr>
          <p:nvPr>
            <p:ph type="body" sz="half" idx="4294967295"/>
          </p:nvPr>
        </p:nvSpPr>
        <p:spPr/>
        <p:txBody>
          <a:bodyPr/>
          <a:lstStyle/>
          <a:p>
            <a:r>
              <a:rPr lang="zh-CN" altLang="en-US" sz="2400"/>
              <a:t>将其分解成三个关系，使每一个非主属性都完全依赖于主码，满足</a:t>
            </a:r>
            <a:r>
              <a:rPr lang="en-US" altLang="zh-CN" sz="2400"/>
              <a:t>2NF</a:t>
            </a:r>
            <a:r>
              <a:rPr lang="zh-CN" altLang="en-US" sz="2400"/>
              <a:t>的要求。 </a:t>
            </a:r>
          </a:p>
        </p:txBody>
      </p:sp>
      <p:pic>
        <p:nvPicPr>
          <p:cNvPr id="1570821" name="Picture 4" descr="guifan5"/>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50964" b="62640"/>
          <a:stretch>
            <a:fillRect/>
          </a:stretch>
        </p:blipFill>
        <p:spPr>
          <a:xfrm>
            <a:off x="381000" y="4216412"/>
            <a:ext cx="4495800" cy="1806575"/>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70822" name="Picture 5" descr="guifan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r="53705" b="70175"/>
          <a:stretch>
            <a:fillRect/>
          </a:stretch>
        </p:blipFill>
        <p:spPr>
          <a:xfrm>
            <a:off x="291872" y="2190644"/>
            <a:ext cx="5334000" cy="1812925"/>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70823" name="Picture 6" descr="guifan5"/>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t="37556" r="68857" b="-1938"/>
          <a:stretch>
            <a:fillRect/>
          </a:stretch>
        </p:blipFill>
        <p:spPr>
          <a:xfrm>
            <a:off x="5651500" y="2190644"/>
            <a:ext cx="3282950" cy="3625968"/>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6702269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0822"/>
                                        </p:tgtEl>
                                        <p:attrNameLst>
                                          <p:attrName>style.visibility</p:attrName>
                                        </p:attrNameLst>
                                      </p:cBhvr>
                                      <p:to>
                                        <p:strVal val="visible"/>
                                      </p:to>
                                    </p:set>
                                    <p:animEffect transition="in" filter="blinds(horizontal)">
                                      <p:cBhvr>
                                        <p:cTn id="7" dur="500"/>
                                        <p:tgtEl>
                                          <p:spTgt spid="15708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70821"/>
                                        </p:tgtEl>
                                        <p:attrNameLst>
                                          <p:attrName>style.visibility</p:attrName>
                                        </p:attrNameLst>
                                      </p:cBhvr>
                                      <p:to>
                                        <p:strVal val="visible"/>
                                      </p:to>
                                    </p:set>
                                    <p:animEffect transition="in" filter="blinds(horizontal)">
                                      <p:cBhvr>
                                        <p:cTn id="12" dur="500"/>
                                        <p:tgtEl>
                                          <p:spTgt spid="15708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70823"/>
                                        </p:tgtEl>
                                        <p:attrNameLst>
                                          <p:attrName>style.visibility</p:attrName>
                                        </p:attrNameLst>
                                      </p:cBhvr>
                                      <p:to>
                                        <p:strVal val="visible"/>
                                      </p:to>
                                    </p:set>
                                    <p:animEffect transition="in" filter="blinds(horizontal)">
                                      <p:cBhvr>
                                        <p:cTn id="17" dur="500"/>
                                        <p:tgtEl>
                                          <p:spTgt spid="1570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页脚占位符 6"/>
          <p:cNvSpPr txBox="1">
            <a:spLocks noGrp="1"/>
          </p:cNvSpPr>
          <p:nvPr/>
        </p:nvSpPr>
        <p:spPr bwMode="auto">
          <a:xfrm>
            <a:off x="5219700" y="6381750"/>
            <a:ext cx="3600450" cy="3206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0"/>
              </a:spcBef>
              <a:defRPr/>
            </a:pPr>
            <a:r>
              <a:rPr kumimoji="0" lang="en-US" altLang="zh-CN" sz="1400">
                <a:solidFill>
                  <a:srgbClr val="F03628"/>
                </a:solidFill>
                <a:latin typeface="+mn-lt"/>
                <a:ea typeface="宋体" pitchFamily="2" charset="-122"/>
                <a:cs typeface="+mn-cs"/>
              </a:rPr>
              <a:t>An Introduction to Database System</a:t>
            </a:r>
          </a:p>
        </p:txBody>
      </p:sp>
      <p:sp>
        <p:nvSpPr>
          <p:cNvPr id="1571843" name="Rectangle 2"/>
          <p:cNvSpPr>
            <a:spLocks noGrp="1" noChangeArrowheads="1"/>
          </p:cNvSpPr>
          <p:nvPr>
            <p:ph type="title" idx="4294967295"/>
          </p:nvPr>
        </p:nvSpPr>
        <p:spPr/>
        <p:txBody>
          <a:bodyPr/>
          <a:lstStyle/>
          <a:p>
            <a:r>
              <a:rPr lang="zh-CN" altLang="en-US" dirty="0">
                <a:latin typeface="宋体" charset="0"/>
              </a:rPr>
              <a:t>案例：规范化的过程</a:t>
            </a:r>
            <a:r>
              <a:rPr lang="en-US" altLang="zh-CN" dirty="0">
                <a:latin typeface="宋体" charset="0"/>
              </a:rPr>
              <a:t>(4)</a:t>
            </a:r>
          </a:p>
        </p:txBody>
      </p:sp>
      <p:sp>
        <p:nvSpPr>
          <p:cNvPr id="1571844" name="Rectangle 3"/>
          <p:cNvSpPr>
            <a:spLocks noGrp="1" noChangeArrowheads="1"/>
          </p:cNvSpPr>
          <p:nvPr>
            <p:ph type="body" sz="half" idx="4294967295"/>
          </p:nvPr>
        </p:nvSpPr>
        <p:spPr>
          <a:xfrm>
            <a:off x="457200" y="1034160"/>
            <a:ext cx="8077200" cy="4495800"/>
          </a:xfrm>
        </p:spPr>
        <p:txBody>
          <a:bodyPr/>
          <a:lstStyle/>
          <a:p>
            <a:r>
              <a:rPr lang="zh-CN" altLang="en-US" sz="2400" dirty="0">
                <a:latin typeface="宋体" charset="0"/>
              </a:rPr>
              <a:t>进一步消除传递函数依赖，满足</a:t>
            </a:r>
            <a:r>
              <a:rPr lang="en-US" altLang="zh-CN" sz="2400" dirty="0">
                <a:latin typeface="宋体" charset="0"/>
              </a:rPr>
              <a:t>3NF</a:t>
            </a:r>
            <a:r>
              <a:rPr lang="zh-CN" altLang="en-US" sz="2400" dirty="0">
                <a:latin typeface="宋体" charset="0"/>
              </a:rPr>
              <a:t>的要求。</a:t>
            </a:r>
          </a:p>
        </p:txBody>
      </p:sp>
      <p:pic>
        <p:nvPicPr>
          <p:cNvPr id="1571845" name="Picture 4" descr="guifan7"/>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46922" b="66219"/>
          <a:stretch>
            <a:fillRect/>
          </a:stretch>
        </p:blipFill>
        <p:spPr>
          <a:xfrm>
            <a:off x="533400" y="3755308"/>
            <a:ext cx="4800600" cy="1763713"/>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71846" name="Picture 5" descr="guifan7"/>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t="38998" r="64780"/>
          <a:stretch>
            <a:fillRect/>
          </a:stretch>
        </p:blipFill>
        <p:spPr>
          <a:xfrm>
            <a:off x="6084888" y="1901108"/>
            <a:ext cx="2819400" cy="28194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71847" name="Picture 6" descr="guifan7"/>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47902" t="39172" r="25114" b="31401"/>
          <a:stretch>
            <a:fillRect/>
          </a:stretch>
        </p:blipFill>
        <p:spPr>
          <a:xfrm>
            <a:off x="3314700" y="1756646"/>
            <a:ext cx="2514600" cy="16129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71848" name="Picture 7" descr="guifan7"/>
          <p:cNvPicPr>
            <a:picLocks noChangeAspect="1" noChangeArrowheads="1"/>
          </p:cNvPicPr>
          <p:nvPr/>
        </p:nvPicPr>
        <p:blipFill>
          <a:blip r:embed="rId2">
            <a:extLst>
              <a:ext uri="{28A0092B-C50C-407E-A947-70E740481C1C}">
                <a14:useLocalDpi xmlns:a14="http://schemas.microsoft.com/office/drawing/2010/main" val="0"/>
              </a:ext>
            </a:extLst>
          </a:blip>
          <a:srcRect r="69812" b="67975"/>
          <a:stretch>
            <a:fillRect/>
          </a:stretch>
        </p:blipFill>
        <p:spPr bwMode="auto">
          <a:xfrm>
            <a:off x="457200" y="1774108"/>
            <a:ext cx="274320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186596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1847"/>
                                        </p:tgtEl>
                                        <p:attrNameLst>
                                          <p:attrName>style.visibility</p:attrName>
                                        </p:attrNameLst>
                                      </p:cBhvr>
                                      <p:to>
                                        <p:strVal val="visible"/>
                                      </p:to>
                                    </p:set>
                                    <p:animEffect transition="in" filter="blinds(horizontal)">
                                      <p:cBhvr>
                                        <p:cTn id="7" dur="500"/>
                                        <p:tgtEl>
                                          <p:spTgt spid="1571847"/>
                                        </p:tgtEl>
                                      </p:cBhvr>
                                    </p:animEffect>
                                  </p:childTnLst>
                                </p:cTn>
                              </p:par>
                              <p:par>
                                <p:cTn id="8" presetID="3" presetClass="entr" presetSubtype="10" fill="hold" nodeType="withEffect">
                                  <p:stCondLst>
                                    <p:cond delay="0"/>
                                  </p:stCondLst>
                                  <p:childTnLst>
                                    <p:set>
                                      <p:cBhvr>
                                        <p:cTn id="9" dur="1" fill="hold">
                                          <p:stCondLst>
                                            <p:cond delay="0"/>
                                          </p:stCondLst>
                                        </p:cTn>
                                        <p:tgtEl>
                                          <p:spTgt spid="1571848"/>
                                        </p:tgtEl>
                                        <p:attrNameLst>
                                          <p:attrName>style.visibility</p:attrName>
                                        </p:attrNameLst>
                                      </p:cBhvr>
                                      <p:to>
                                        <p:strVal val="visible"/>
                                      </p:to>
                                    </p:set>
                                    <p:animEffect transition="in" filter="blinds(horizontal)">
                                      <p:cBhvr>
                                        <p:cTn id="10" dur="500"/>
                                        <p:tgtEl>
                                          <p:spTgt spid="1571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3NF</a:t>
            </a:r>
            <a:r>
              <a:rPr lang="zh-CN" altLang="en-US" dirty="0" smtClean="0"/>
              <a:t>可能存在的问题</a:t>
            </a:r>
            <a:endParaRPr lang="en-US" dirty="0"/>
          </a:p>
        </p:txBody>
      </p:sp>
      <p:sp>
        <p:nvSpPr>
          <p:cNvPr id="3" name="Content Placeholder 2"/>
          <p:cNvSpPr>
            <a:spLocks noGrp="1"/>
          </p:cNvSpPr>
          <p:nvPr>
            <p:ph idx="1"/>
          </p:nvPr>
        </p:nvSpPr>
        <p:spPr>
          <a:xfrm>
            <a:off x="685800" y="908720"/>
            <a:ext cx="7797799" cy="5263481"/>
          </a:xfrm>
        </p:spPr>
        <p:txBody>
          <a:bodyPr/>
          <a:lstStyle/>
          <a:p>
            <a:pPr>
              <a:buClr>
                <a:schemeClr val="tx2"/>
              </a:buClr>
              <a:buSzPct val="90000"/>
            </a:pPr>
            <a:r>
              <a:rPr lang="zh-CN" altLang="en-US" sz="2400" dirty="0">
                <a:solidFill>
                  <a:srgbClr val="FF0066"/>
                </a:solidFill>
                <a:effectLst>
                  <a:outerShdw blurRad="38100" dist="38100" dir="2700000" algn="tl">
                    <a:srgbClr val="000000"/>
                  </a:outerShdw>
                </a:effectLst>
              </a:rPr>
              <a:t>语义：</a:t>
            </a:r>
          </a:p>
          <a:p>
            <a:pPr>
              <a:buClr>
                <a:srgbClr val="0000FF"/>
              </a:buClr>
              <a:buSzPct val="90000"/>
              <a:buFont typeface="Wingdings" charset="0"/>
              <a:buChar char="v"/>
            </a:pPr>
            <a:r>
              <a:rPr lang="zh-CN" altLang="en-US" sz="2400" dirty="0"/>
              <a:t>每门课可由多个教师讲；</a:t>
            </a:r>
          </a:p>
          <a:p>
            <a:pPr>
              <a:buClr>
                <a:srgbClr val="0000FF"/>
              </a:buClr>
              <a:buSzPct val="90000"/>
              <a:buFont typeface="Wingdings" charset="0"/>
              <a:buChar char="v"/>
            </a:pPr>
            <a:r>
              <a:rPr lang="zh-CN" altLang="en-US" sz="2400" dirty="0"/>
              <a:t>每位教师只讲一门课；</a:t>
            </a:r>
          </a:p>
          <a:p>
            <a:pPr>
              <a:buClr>
                <a:srgbClr val="0000FF"/>
              </a:buClr>
              <a:buSzPct val="90000"/>
              <a:buFont typeface="Wingdings" charset="0"/>
              <a:buChar char="v"/>
            </a:pPr>
            <a:r>
              <a:rPr lang="zh-CN" altLang="en-US" sz="2400" dirty="0"/>
              <a:t>学生一旦选定一门课</a:t>
            </a:r>
            <a:r>
              <a:rPr lang="zh-CN" altLang="en-US" sz="2400" dirty="0" smtClean="0"/>
              <a:t>，</a:t>
            </a:r>
            <a:endParaRPr lang="en-US" altLang="zh-CN" sz="2400" dirty="0" smtClean="0"/>
          </a:p>
          <a:p>
            <a:pPr marL="0" indent="0">
              <a:buClr>
                <a:srgbClr val="0000FF"/>
              </a:buClr>
              <a:buSzPct val="90000"/>
              <a:buNone/>
            </a:pPr>
            <a:r>
              <a:rPr lang="en-US" altLang="zh-CN" sz="2400" dirty="0"/>
              <a:t> </a:t>
            </a:r>
            <a:r>
              <a:rPr lang="en-US" altLang="zh-CN" sz="2400" dirty="0" smtClean="0"/>
              <a:t>   </a:t>
            </a:r>
            <a:r>
              <a:rPr lang="zh-CN" altLang="en-US" sz="2400" dirty="0" smtClean="0"/>
              <a:t>就确定了一个固定教师</a:t>
            </a:r>
            <a:r>
              <a:rPr lang="zh-CN" altLang="en-US" sz="2400" dirty="0"/>
              <a:t>。</a:t>
            </a:r>
          </a:p>
          <a:p>
            <a:endParaRPr lang="en-US" sz="1000" dirty="0" smtClean="0"/>
          </a:p>
          <a:p>
            <a:r>
              <a:rPr lang="zh-CN" altLang="en-US" sz="2400" dirty="0" smtClean="0"/>
              <a:t>解：</a:t>
            </a:r>
            <a:endParaRPr lang="en-US" sz="2400" dirty="0" smtClean="0"/>
          </a:p>
          <a:p>
            <a:pPr>
              <a:buClr>
                <a:schemeClr val="tx2"/>
              </a:buClr>
              <a:buSzPct val="90000"/>
            </a:pPr>
            <a:r>
              <a:rPr lang="zh-CN" altLang="en-US" sz="2400" dirty="0">
                <a:solidFill>
                  <a:srgbClr val="FF0066"/>
                </a:solidFill>
                <a:effectLst>
                  <a:outerShdw blurRad="38100" dist="38100" dir="2700000" algn="tl">
                    <a:srgbClr val="000000"/>
                  </a:outerShdw>
                </a:effectLst>
              </a:rPr>
              <a:t>候选码：</a:t>
            </a:r>
            <a:r>
              <a:rPr lang="zh-CN" altLang="en-US" sz="2400" dirty="0"/>
              <a:t>（学号，课程），（学号，教师）</a:t>
            </a:r>
          </a:p>
          <a:p>
            <a:pPr>
              <a:buClr>
                <a:schemeClr val="tx2"/>
              </a:buClr>
              <a:buSzPct val="90000"/>
            </a:pPr>
            <a:r>
              <a:rPr lang="zh-CN" altLang="en-US" sz="2400" dirty="0">
                <a:solidFill>
                  <a:srgbClr val="FF0066"/>
                </a:solidFill>
                <a:effectLst>
                  <a:outerShdw blurRad="38100" dist="38100" dir="2700000" algn="tl">
                    <a:srgbClr val="000000"/>
                  </a:outerShdw>
                </a:effectLst>
              </a:rPr>
              <a:t>非主属性：</a:t>
            </a:r>
            <a:r>
              <a:rPr lang="zh-CN" altLang="en-US" sz="2400" dirty="0"/>
              <a:t>无</a:t>
            </a:r>
          </a:p>
          <a:p>
            <a:pPr>
              <a:buClr>
                <a:schemeClr val="tx2"/>
              </a:buClr>
              <a:buSzPct val="90000"/>
            </a:pPr>
            <a:r>
              <a:rPr lang="zh-CN" altLang="en-US" sz="2400" dirty="0">
                <a:solidFill>
                  <a:srgbClr val="FF0066"/>
                </a:solidFill>
                <a:effectLst>
                  <a:outerShdw blurRad="38100" dist="38100" dir="2700000" algn="tl">
                    <a:srgbClr val="000000"/>
                  </a:outerShdw>
                </a:effectLst>
              </a:rPr>
              <a:t>函数依赖：</a:t>
            </a:r>
            <a:r>
              <a:rPr lang="en-US" altLang="zh-CN" sz="2400" dirty="0"/>
              <a:t>(</a:t>
            </a:r>
            <a:r>
              <a:rPr lang="zh-CN" altLang="en-US" sz="2400" dirty="0"/>
              <a:t>学号</a:t>
            </a:r>
            <a:r>
              <a:rPr lang="en-US" altLang="zh-CN" sz="2400" dirty="0"/>
              <a:t>,</a:t>
            </a:r>
            <a:r>
              <a:rPr lang="zh-CN" altLang="en-US" sz="2400" dirty="0"/>
              <a:t>课程</a:t>
            </a:r>
            <a:r>
              <a:rPr lang="en-US" altLang="zh-CN" sz="2400" dirty="0"/>
              <a:t>)→</a:t>
            </a:r>
            <a:r>
              <a:rPr lang="zh-CN" altLang="en-US" sz="2400" dirty="0"/>
              <a:t>教师，</a:t>
            </a:r>
            <a:r>
              <a:rPr lang="zh-CN" altLang="en-US" sz="2400" dirty="0" smtClean="0"/>
              <a:t>教师</a:t>
            </a:r>
            <a:r>
              <a:rPr lang="en-US" altLang="zh-CN" sz="2400" dirty="0"/>
              <a:t>→</a:t>
            </a:r>
            <a:r>
              <a:rPr lang="zh-CN" altLang="en-US" sz="2400" dirty="0" smtClean="0"/>
              <a:t>课</a:t>
            </a:r>
            <a:r>
              <a:rPr lang="zh-CN" altLang="en-US" sz="2400" dirty="0"/>
              <a:t>程</a:t>
            </a:r>
          </a:p>
          <a:p>
            <a:pPr>
              <a:buClr>
                <a:schemeClr val="tx2"/>
              </a:buClr>
              <a:buSzPct val="90000"/>
            </a:pPr>
            <a:r>
              <a:rPr lang="zh-CN" altLang="en-US" sz="2400" dirty="0">
                <a:solidFill>
                  <a:srgbClr val="0000FF"/>
                </a:solidFill>
              </a:rPr>
              <a:t>思考：</a:t>
            </a:r>
            <a:r>
              <a:rPr lang="en-US" altLang="zh-CN" sz="2400" dirty="0">
                <a:solidFill>
                  <a:srgbClr val="0000FF"/>
                </a:solidFill>
              </a:rPr>
              <a:t>R </a:t>
            </a:r>
            <a:r>
              <a:rPr lang="en-US" altLang="zh-CN" sz="2400" dirty="0">
                <a:solidFill>
                  <a:srgbClr val="0000FF"/>
                </a:solidFill>
                <a:sym typeface="Symbol" charset="0"/>
              </a:rPr>
              <a:t></a:t>
            </a:r>
            <a:r>
              <a:rPr lang="en-US" altLang="zh-CN" sz="2400" dirty="0">
                <a:solidFill>
                  <a:srgbClr val="0000FF"/>
                </a:solidFill>
              </a:rPr>
              <a:t>3NF</a:t>
            </a:r>
            <a:r>
              <a:rPr lang="zh-CN" altLang="en-US" sz="2400" dirty="0">
                <a:solidFill>
                  <a:srgbClr val="0000FF"/>
                </a:solidFill>
              </a:rPr>
              <a:t>？</a:t>
            </a:r>
            <a:endParaRPr lang="zh-CN" altLang="en-US" sz="2400" dirty="0">
              <a:solidFill>
                <a:srgbClr val="0000FF"/>
              </a:solidFill>
              <a:effectLst>
                <a:outerShdw blurRad="38100" dist="38100" dir="2700000" algn="tl">
                  <a:srgbClr val="000000"/>
                </a:outerShdw>
              </a:effectLst>
            </a:endParaRPr>
          </a:p>
          <a:p>
            <a:pPr marL="0" indent="0">
              <a:buClr>
                <a:schemeClr val="tx2"/>
              </a:buClr>
              <a:buSzPct val="90000"/>
              <a:buNone/>
            </a:pPr>
            <a:r>
              <a:rPr lang="en-US" altLang="zh-CN" sz="2400" dirty="0" smtClean="0"/>
              <a:t>  </a:t>
            </a:r>
            <a:r>
              <a:rPr lang="zh-CN" altLang="en-US" sz="2400" dirty="0" smtClean="0"/>
              <a:t>∵</a:t>
            </a:r>
            <a:r>
              <a:rPr lang="zh-CN" altLang="en-US" sz="2400" dirty="0"/>
              <a:t>不存在非主属性，∴</a:t>
            </a:r>
            <a:r>
              <a:rPr lang="en-US" altLang="zh-CN" sz="2400" dirty="0"/>
              <a:t>R</a:t>
            </a:r>
            <a:r>
              <a:rPr lang="en-US" altLang="zh-CN" sz="2400" dirty="0">
                <a:sym typeface="Symbol" charset="0"/>
              </a:rPr>
              <a:t></a:t>
            </a:r>
            <a:r>
              <a:rPr lang="en-US" altLang="zh-CN" sz="2400" dirty="0"/>
              <a:t>3NF</a:t>
            </a:r>
            <a:r>
              <a:rPr lang="zh-CN" altLang="en-US" sz="2400" dirty="0"/>
              <a:t>。</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37</a:t>
            </a:fld>
            <a:endParaRPr lang="en-US" altLang="zh-CN"/>
          </a:p>
        </p:txBody>
      </p:sp>
      <p:grpSp>
        <p:nvGrpSpPr>
          <p:cNvPr id="6" name="Group 4"/>
          <p:cNvGrpSpPr>
            <a:grpSpLocks/>
          </p:cNvGrpSpPr>
          <p:nvPr/>
        </p:nvGrpSpPr>
        <p:grpSpPr bwMode="auto">
          <a:xfrm>
            <a:off x="4994399" y="363894"/>
            <a:ext cx="3810000" cy="2895600"/>
            <a:chOff x="192" y="528"/>
            <a:chExt cx="2400" cy="1824"/>
          </a:xfrm>
          <a:solidFill>
            <a:srgbClr val="D8E5E5"/>
          </a:solidFill>
        </p:grpSpPr>
        <p:sp>
          <p:nvSpPr>
            <p:cNvPr id="7" name="Rectangle 5"/>
            <p:cNvSpPr>
              <a:spLocks noChangeArrowheads="1"/>
            </p:cNvSpPr>
            <p:nvPr/>
          </p:nvSpPr>
          <p:spPr bwMode="auto">
            <a:xfrm>
              <a:off x="1888"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a:t>
              </a:r>
            </a:p>
          </p:txBody>
        </p:sp>
        <p:sp>
          <p:nvSpPr>
            <p:cNvPr id="8" name="Rectangle 6"/>
            <p:cNvSpPr>
              <a:spLocks noChangeArrowheads="1"/>
            </p:cNvSpPr>
            <p:nvPr/>
          </p:nvSpPr>
          <p:spPr bwMode="auto">
            <a:xfrm>
              <a:off x="1184"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a:t>
              </a:r>
            </a:p>
          </p:txBody>
        </p:sp>
        <p:sp>
          <p:nvSpPr>
            <p:cNvPr id="9" name="Rectangle 7"/>
            <p:cNvSpPr>
              <a:spLocks noChangeArrowheads="1"/>
            </p:cNvSpPr>
            <p:nvPr/>
          </p:nvSpPr>
          <p:spPr bwMode="auto">
            <a:xfrm>
              <a:off x="480"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a:t>
              </a:r>
            </a:p>
          </p:txBody>
        </p:sp>
        <p:sp>
          <p:nvSpPr>
            <p:cNvPr id="10" name="Rectangle 8"/>
            <p:cNvSpPr>
              <a:spLocks noChangeArrowheads="1"/>
            </p:cNvSpPr>
            <p:nvPr/>
          </p:nvSpPr>
          <p:spPr bwMode="auto">
            <a:xfrm>
              <a:off x="1888"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于得水 </a:t>
              </a:r>
            </a:p>
          </p:txBody>
        </p:sp>
        <p:sp>
          <p:nvSpPr>
            <p:cNvPr id="11" name="Rectangle 9"/>
            <p:cNvSpPr>
              <a:spLocks noChangeArrowheads="1"/>
            </p:cNvSpPr>
            <p:nvPr/>
          </p:nvSpPr>
          <p:spPr bwMode="auto">
            <a:xfrm>
              <a:off x="1184"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12" name="Rectangle 10"/>
            <p:cNvSpPr>
              <a:spLocks noChangeArrowheads="1"/>
            </p:cNvSpPr>
            <p:nvPr/>
          </p:nvSpPr>
          <p:spPr bwMode="auto">
            <a:xfrm>
              <a:off x="480"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S5 </a:t>
              </a:r>
            </a:p>
          </p:txBody>
        </p:sp>
        <p:sp>
          <p:nvSpPr>
            <p:cNvPr id="13" name="Rectangle 11"/>
            <p:cNvSpPr>
              <a:spLocks noChangeArrowheads="1"/>
            </p:cNvSpPr>
            <p:nvPr/>
          </p:nvSpPr>
          <p:spPr bwMode="auto">
            <a:xfrm>
              <a:off x="1888"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牛得草 </a:t>
              </a:r>
            </a:p>
          </p:txBody>
        </p:sp>
        <p:sp>
          <p:nvSpPr>
            <p:cNvPr id="14" name="Rectangle 12"/>
            <p:cNvSpPr>
              <a:spLocks noChangeArrowheads="1"/>
            </p:cNvSpPr>
            <p:nvPr/>
          </p:nvSpPr>
          <p:spPr bwMode="auto">
            <a:xfrm>
              <a:off x="1184"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DB </a:t>
              </a:r>
            </a:p>
          </p:txBody>
        </p:sp>
        <p:sp>
          <p:nvSpPr>
            <p:cNvPr id="15" name="Rectangle 13"/>
            <p:cNvSpPr>
              <a:spLocks noChangeArrowheads="1"/>
            </p:cNvSpPr>
            <p:nvPr/>
          </p:nvSpPr>
          <p:spPr bwMode="auto">
            <a:xfrm>
              <a:off x="480"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S5 </a:t>
              </a:r>
            </a:p>
          </p:txBody>
        </p:sp>
        <p:sp>
          <p:nvSpPr>
            <p:cNvPr id="16" name="Rectangle 14"/>
            <p:cNvSpPr>
              <a:spLocks noChangeArrowheads="1"/>
            </p:cNvSpPr>
            <p:nvPr/>
          </p:nvSpPr>
          <p:spPr bwMode="auto">
            <a:xfrm>
              <a:off x="1888"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牛得草 </a:t>
              </a:r>
            </a:p>
          </p:txBody>
        </p:sp>
        <p:sp>
          <p:nvSpPr>
            <p:cNvPr id="17" name="Rectangle 15"/>
            <p:cNvSpPr>
              <a:spLocks noChangeArrowheads="1"/>
            </p:cNvSpPr>
            <p:nvPr/>
          </p:nvSpPr>
          <p:spPr bwMode="auto">
            <a:xfrm>
              <a:off x="1184"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DB </a:t>
              </a:r>
            </a:p>
          </p:txBody>
        </p:sp>
        <p:sp>
          <p:nvSpPr>
            <p:cNvPr id="18" name="Rectangle 16"/>
            <p:cNvSpPr>
              <a:spLocks noChangeArrowheads="1"/>
            </p:cNvSpPr>
            <p:nvPr/>
          </p:nvSpPr>
          <p:spPr bwMode="auto">
            <a:xfrm>
              <a:off x="480"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S4 </a:t>
              </a:r>
            </a:p>
          </p:txBody>
        </p:sp>
        <p:sp>
          <p:nvSpPr>
            <p:cNvPr id="19" name="Rectangle 17"/>
            <p:cNvSpPr>
              <a:spLocks noChangeArrowheads="1"/>
            </p:cNvSpPr>
            <p:nvPr/>
          </p:nvSpPr>
          <p:spPr bwMode="auto">
            <a:xfrm>
              <a:off x="1888"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马千里 </a:t>
              </a:r>
            </a:p>
          </p:txBody>
        </p:sp>
        <p:sp>
          <p:nvSpPr>
            <p:cNvPr id="20" name="Rectangle 18"/>
            <p:cNvSpPr>
              <a:spLocks noChangeArrowheads="1"/>
            </p:cNvSpPr>
            <p:nvPr/>
          </p:nvSpPr>
          <p:spPr bwMode="auto">
            <a:xfrm>
              <a:off x="1184"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21" name="Rectangle 19"/>
            <p:cNvSpPr>
              <a:spLocks noChangeArrowheads="1"/>
            </p:cNvSpPr>
            <p:nvPr/>
          </p:nvSpPr>
          <p:spPr bwMode="auto">
            <a:xfrm>
              <a:off x="480"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S2 </a:t>
              </a:r>
            </a:p>
          </p:txBody>
        </p:sp>
        <p:sp>
          <p:nvSpPr>
            <p:cNvPr id="22" name="Rectangle 20"/>
            <p:cNvSpPr>
              <a:spLocks noChangeArrowheads="1"/>
            </p:cNvSpPr>
            <p:nvPr/>
          </p:nvSpPr>
          <p:spPr bwMode="auto">
            <a:xfrm>
              <a:off x="1888"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于得水 </a:t>
              </a:r>
            </a:p>
          </p:txBody>
        </p:sp>
        <p:sp>
          <p:nvSpPr>
            <p:cNvPr id="23" name="Rectangle 21"/>
            <p:cNvSpPr>
              <a:spLocks noChangeArrowheads="1"/>
            </p:cNvSpPr>
            <p:nvPr/>
          </p:nvSpPr>
          <p:spPr bwMode="auto">
            <a:xfrm>
              <a:off x="1184"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24" name="Rectangle 22"/>
            <p:cNvSpPr>
              <a:spLocks noChangeArrowheads="1"/>
            </p:cNvSpPr>
            <p:nvPr/>
          </p:nvSpPr>
          <p:spPr bwMode="auto">
            <a:xfrm>
              <a:off x="480"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S1 </a:t>
              </a:r>
            </a:p>
          </p:txBody>
        </p:sp>
        <p:sp>
          <p:nvSpPr>
            <p:cNvPr id="25" name="Rectangle 23"/>
            <p:cNvSpPr>
              <a:spLocks noChangeArrowheads="1"/>
            </p:cNvSpPr>
            <p:nvPr/>
          </p:nvSpPr>
          <p:spPr bwMode="auto">
            <a:xfrm>
              <a:off x="1888"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教师 </a:t>
              </a:r>
            </a:p>
          </p:txBody>
        </p:sp>
        <p:sp>
          <p:nvSpPr>
            <p:cNvPr id="26" name="Rectangle 24"/>
            <p:cNvSpPr>
              <a:spLocks noChangeArrowheads="1"/>
            </p:cNvSpPr>
            <p:nvPr/>
          </p:nvSpPr>
          <p:spPr bwMode="auto">
            <a:xfrm>
              <a:off x="1184"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课程 </a:t>
              </a:r>
            </a:p>
          </p:txBody>
        </p:sp>
        <p:sp>
          <p:nvSpPr>
            <p:cNvPr id="27" name="Rectangle 25"/>
            <p:cNvSpPr>
              <a:spLocks noChangeArrowheads="1"/>
            </p:cNvSpPr>
            <p:nvPr/>
          </p:nvSpPr>
          <p:spPr bwMode="auto">
            <a:xfrm>
              <a:off x="480"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dirty="0"/>
                <a:t>学号 </a:t>
              </a:r>
            </a:p>
          </p:txBody>
        </p:sp>
        <p:sp>
          <p:nvSpPr>
            <p:cNvPr id="28" name="Line 26"/>
            <p:cNvSpPr>
              <a:spLocks noChangeShapeType="1"/>
            </p:cNvSpPr>
            <p:nvPr/>
          </p:nvSpPr>
          <p:spPr bwMode="auto">
            <a:xfrm>
              <a:off x="480" y="609"/>
              <a:ext cx="2112" cy="0"/>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9" name="Line 27"/>
            <p:cNvSpPr>
              <a:spLocks noChangeShapeType="1"/>
            </p:cNvSpPr>
            <p:nvPr/>
          </p:nvSpPr>
          <p:spPr bwMode="auto">
            <a:xfrm>
              <a:off x="480" y="858"/>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0" name="Line 28"/>
            <p:cNvSpPr>
              <a:spLocks noChangeShapeType="1"/>
            </p:cNvSpPr>
            <p:nvPr/>
          </p:nvSpPr>
          <p:spPr bwMode="auto">
            <a:xfrm>
              <a:off x="480" y="1107"/>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1" name="Line 29"/>
            <p:cNvSpPr>
              <a:spLocks noChangeShapeType="1"/>
            </p:cNvSpPr>
            <p:nvPr/>
          </p:nvSpPr>
          <p:spPr bwMode="auto">
            <a:xfrm>
              <a:off x="480" y="1356"/>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2" name="Line 30"/>
            <p:cNvSpPr>
              <a:spLocks noChangeShapeType="1"/>
            </p:cNvSpPr>
            <p:nvPr/>
          </p:nvSpPr>
          <p:spPr bwMode="auto">
            <a:xfrm>
              <a:off x="480" y="1605"/>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3" name="Line 31"/>
            <p:cNvSpPr>
              <a:spLocks noChangeShapeType="1"/>
            </p:cNvSpPr>
            <p:nvPr/>
          </p:nvSpPr>
          <p:spPr bwMode="auto">
            <a:xfrm>
              <a:off x="480" y="1854"/>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4" name="Line 32"/>
            <p:cNvSpPr>
              <a:spLocks noChangeShapeType="1"/>
            </p:cNvSpPr>
            <p:nvPr/>
          </p:nvSpPr>
          <p:spPr bwMode="auto">
            <a:xfrm>
              <a:off x="480" y="2103"/>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5" name="Line 33"/>
            <p:cNvSpPr>
              <a:spLocks noChangeShapeType="1"/>
            </p:cNvSpPr>
            <p:nvPr/>
          </p:nvSpPr>
          <p:spPr bwMode="auto">
            <a:xfrm>
              <a:off x="480" y="2352"/>
              <a:ext cx="2112" cy="0"/>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6" name="Line 34"/>
            <p:cNvSpPr>
              <a:spLocks noChangeShapeType="1"/>
            </p:cNvSpPr>
            <p:nvPr/>
          </p:nvSpPr>
          <p:spPr bwMode="auto">
            <a:xfrm>
              <a:off x="480" y="609"/>
              <a:ext cx="0" cy="1743"/>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7" name="Line 35"/>
            <p:cNvSpPr>
              <a:spLocks noChangeShapeType="1"/>
            </p:cNvSpPr>
            <p:nvPr/>
          </p:nvSpPr>
          <p:spPr bwMode="auto">
            <a:xfrm>
              <a:off x="1184" y="609"/>
              <a:ext cx="0" cy="1743"/>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8" name="Line 36"/>
            <p:cNvSpPr>
              <a:spLocks noChangeShapeType="1"/>
            </p:cNvSpPr>
            <p:nvPr/>
          </p:nvSpPr>
          <p:spPr bwMode="auto">
            <a:xfrm>
              <a:off x="1888" y="609"/>
              <a:ext cx="0" cy="1743"/>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9" name="Line 37"/>
            <p:cNvSpPr>
              <a:spLocks noChangeShapeType="1"/>
            </p:cNvSpPr>
            <p:nvPr/>
          </p:nvSpPr>
          <p:spPr bwMode="auto">
            <a:xfrm>
              <a:off x="2592" y="609"/>
              <a:ext cx="0" cy="1743"/>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40" name="Rectangle 38"/>
            <p:cNvSpPr>
              <a:spLocks noChangeArrowheads="1"/>
            </p:cNvSpPr>
            <p:nvPr/>
          </p:nvSpPr>
          <p:spPr bwMode="auto">
            <a:xfrm>
              <a:off x="192" y="528"/>
              <a:ext cx="255" cy="288"/>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dirty="0"/>
                <a:t>R</a:t>
              </a:r>
            </a:p>
          </p:txBody>
        </p:sp>
      </p:grpSp>
    </p:spTree>
    <p:extLst>
      <p:ext uri="{BB962C8B-B14F-4D97-AF65-F5344CB8AC3E}">
        <p14:creationId xmlns:p14="http://schemas.microsoft.com/office/powerpoint/2010/main" val="360337042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linds(horizontal)">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linds(horizontal)">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blinds(horizontal)">
                                      <p:cBhvr>
                                        <p:cTn id="44" dur="500"/>
                                        <p:tgtEl>
                                          <p:spTgt spid="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blinds(horizontal)">
                                      <p:cBhvr>
                                        <p:cTn id="49" dur="500"/>
                                        <p:tgtEl>
                                          <p:spTgt spid="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blinds(horizontal)">
                                      <p:cBhvr>
                                        <p:cTn id="5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3NF</a:t>
            </a:r>
            <a:r>
              <a:rPr lang="zh-CN" altLang="en-US" dirty="0"/>
              <a:t>可能存在的问题</a:t>
            </a:r>
            <a:endParaRPr lang="en-US" dirty="0"/>
          </a:p>
        </p:txBody>
      </p:sp>
      <p:sp>
        <p:nvSpPr>
          <p:cNvPr id="3" name="Content Placeholder 2"/>
          <p:cNvSpPr>
            <a:spLocks noGrp="1"/>
          </p:cNvSpPr>
          <p:nvPr>
            <p:ph idx="1"/>
          </p:nvPr>
        </p:nvSpPr>
        <p:spPr>
          <a:xfrm>
            <a:off x="324952" y="1038604"/>
            <a:ext cx="8409615" cy="5188929"/>
          </a:xfrm>
        </p:spPr>
        <p:txBody>
          <a:bodyPr/>
          <a:lstStyle/>
          <a:p>
            <a:pPr marL="0" indent="0">
              <a:buNone/>
            </a:pPr>
            <a:r>
              <a:rPr lang="en-US" altLang="zh-CN" sz="2400" dirty="0">
                <a:solidFill>
                  <a:srgbClr val="0000FF"/>
                </a:solidFill>
              </a:rPr>
              <a:t>1</a:t>
            </a:r>
            <a:r>
              <a:rPr lang="zh-CN" altLang="en-US" sz="2400" dirty="0">
                <a:solidFill>
                  <a:srgbClr val="0000FF"/>
                </a:solidFill>
              </a:rPr>
              <a:t>）数据冗余</a:t>
            </a:r>
          </a:p>
          <a:p>
            <a:pPr marL="0" indent="0">
              <a:buNone/>
            </a:pPr>
            <a:r>
              <a:rPr lang="en-US" altLang="zh-CN" sz="2400" dirty="0" smtClean="0"/>
              <a:t>   </a:t>
            </a:r>
            <a:r>
              <a:rPr lang="zh-CN" altLang="en-US" sz="2400" dirty="0" smtClean="0"/>
              <a:t>多个学生选同一个教师</a:t>
            </a:r>
            <a:r>
              <a:rPr lang="zh-CN" altLang="en-US" sz="2400" dirty="0"/>
              <a:t>的同一门课时</a:t>
            </a:r>
            <a:r>
              <a:rPr lang="zh-CN" altLang="en-US" sz="2400" dirty="0" smtClean="0"/>
              <a:t>，</a:t>
            </a:r>
            <a:endParaRPr lang="en-US" altLang="zh-CN" sz="2400" dirty="0" smtClean="0"/>
          </a:p>
          <a:p>
            <a:pPr marL="0" indent="0">
              <a:buNone/>
            </a:pPr>
            <a:r>
              <a:rPr lang="en-US" altLang="zh-CN" sz="2400" dirty="0"/>
              <a:t> </a:t>
            </a:r>
            <a:r>
              <a:rPr lang="en-US" altLang="zh-CN" sz="2400" dirty="0" smtClean="0"/>
              <a:t>      </a:t>
            </a:r>
            <a:r>
              <a:rPr lang="zh-CN" altLang="en-US" sz="2400" dirty="0" smtClean="0"/>
              <a:t>课</a:t>
            </a:r>
            <a:r>
              <a:rPr lang="zh-CN" altLang="en-US" sz="2400" dirty="0"/>
              <a:t>程，教师重复。</a:t>
            </a:r>
          </a:p>
          <a:p>
            <a:pPr marL="0" indent="0">
              <a:buNone/>
            </a:pPr>
            <a:r>
              <a:rPr lang="en-US" altLang="zh-CN" sz="2400" dirty="0">
                <a:solidFill>
                  <a:srgbClr val="0000FF"/>
                </a:solidFill>
              </a:rPr>
              <a:t>2</a:t>
            </a:r>
            <a:r>
              <a:rPr lang="zh-CN" altLang="en-US" sz="2400" dirty="0">
                <a:solidFill>
                  <a:srgbClr val="0000FF"/>
                </a:solidFill>
              </a:rPr>
              <a:t>）更新异常</a:t>
            </a:r>
          </a:p>
          <a:p>
            <a:pPr marL="0" indent="0">
              <a:buNone/>
            </a:pPr>
            <a:r>
              <a:rPr lang="en-US" altLang="zh-CN" sz="2400" dirty="0"/>
              <a:t> </a:t>
            </a:r>
            <a:r>
              <a:rPr lang="en-US" altLang="zh-CN" sz="2400" dirty="0" smtClean="0"/>
              <a:t>   </a:t>
            </a:r>
            <a:r>
              <a:rPr lang="zh-CN" altLang="en-US" sz="2400" dirty="0" smtClean="0"/>
              <a:t>某门课</a:t>
            </a:r>
            <a:r>
              <a:rPr lang="zh-CN" altLang="en-US" sz="2400" dirty="0"/>
              <a:t>程改名，则修改多个元组。</a:t>
            </a:r>
          </a:p>
          <a:p>
            <a:pPr marL="0" indent="0">
              <a:buNone/>
            </a:pPr>
            <a:r>
              <a:rPr lang="en-US" altLang="zh-CN" sz="2400" dirty="0">
                <a:solidFill>
                  <a:srgbClr val="0000FF"/>
                </a:solidFill>
              </a:rPr>
              <a:t>3</a:t>
            </a:r>
            <a:r>
              <a:rPr lang="zh-CN" altLang="en-US" sz="2400" dirty="0">
                <a:solidFill>
                  <a:srgbClr val="0000FF"/>
                </a:solidFill>
              </a:rPr>
              <a:t>）插入异</a:t>
            </a:r>
            <a:r>
              <a:rPr lang="zh-CN" altLang="en-US" sz="2400" dirty="0" smtClean="0">
                <a:solidFill>
                  <a:srgbClr val="0000FF"/>
                </a:solidFill>
              </a:rPr>
              <a:t>常</a:t>
            </a:r>
            <a:endParaRPr lang="en-US" altLang="zh-CN" sz="2400" dirty="0" smtClean="0">
              <a:solidFill>
                <a:srgbClr val="0000FF"/>
              </a:solidFill>
            </a:endParaRPr>
          </a:p>
          <a:p>
            <a:pPr marL="0" indent="0">
              <a:buNone/>
            </a:pPr>
            <a:r>
              <a:rPr lang="en-US" altLang="zh-CN" sz="2400" dirty="0" smtClean="0"/>
              <a:t>      </a:t>
            </a:r>
            <a:r>
              <a:rPr lang="zh-CN" altLang="en-US" sz="2400" dirty="0" smtClean="0"/>
              <a:t>候选码为</a:t>
            </a:r>
            <a:r>
              <a:rPr lang="zh-CN" altLang="en-US" sz="2400" dirty="0"/>
              <a:t>（学号，课程）和（学号，教师），则</a:t>
            </a:r>
            <a:r>
              <a:rPr lang="zh-CN" altLang="en-US" sz="2400" dirty="0" smtClean="0"/>
              <a:t>：</a:t>
            </a:r>
            <a:r>
              <a:rPr lang="en-US" altLang="zh-CN" sz="2400" dirty="0" smtClean="0"/>
              <a:t> </a:t>
            </a:r>
          </a:p>
          <a:p>
            <a:pPr marL="0" indent="0">
              <a:buNone/>
            </a:pPr>
            <a:r>
              <a:rPr lang="en-US" altLang="zh-CN" sz="2400" dirty="0"/>
              <a:t> </a:t>
            </a:r>
            <a:r>
              <a:rPr lang="en-US" altLang="zh-CN" sz="2400" dirty="0" smtClean="0"/>
              <a:t>     </a:t>
            </a:r>
            <a:r>
              <a:rPr lang="zh-CN" altLang="en-US" sz="2400" dirty="0" smtClean="0"/>
              <a:t>教师开设某门课</a:t>
            </a:r>
            <a:r>
              <a:rPr lang="zh-CN" altLang="en-US" sz="2400" dirty="0"/>
              <a:t>程，尚无学生选修，因为无学号信息，则课程、教师信息不能进入数据库。</a:t>
            </a:r>
          </a:p>
          <a:p>
            <a:pPr marL="0" indent="0">
              <a:buNone/>
            </a:pPr>
            <a:r>
              <a:rPr lang="en-US" altLang="zh-CN" sz="2400" dirty="0">
                <a:solidFill>
                  <a:srgbClr val="0000FF"/>
                </a:solidFill>
              </a:rPr>
              <a:t>4</a:t>
            </a:r>
            <a:r>
              <a:rPr lang="zh-CN" altLang="en-US" sz="2400" dirty="0">
                <a:solidFill>
                  <a:srgbClr val="0000FF"/>
                </a:solidFill>
              </a:rPr>
              <a:t>）</a:t>
            </a:r>
            <a:r>
              <a:rPr lang="zh-CN" altLang="en-US" sz="2400" dirty="0" smtClean="0">
                <a:solidFill>
                  <a:srgbClr val="0000FF"/>
                </a:solidFill>
              </a:rPr>
              <a:t>删除异常</a:t>
            </a:r>
            <a:endParaRPr lang="en-US" altLang="zh-CN" sz="2400" dirty="0" smtClean="0">
              <a:solidFill>
                <a:srgbClr val="0000FF"/>
              </a:solidFill>
            </a:endParaRPr>
          </a:p>
          <a:p>
            <a:pPr marL="0" indent="0">
              <a:buNone/>
            </a:pPr>
            <a:r>
              <a:rPr lang="en-US" altLang="zh-CN" sz="2400" dirty="0">
                <a:solidFill>
                  <a:srgbClr val="0000FF"/>
                </a:solidFill>
              </a:rPr>
              <a:t> </a:t>
            </a:r>
            <a:r>
              <a:rPr lang="en-US" altLang="zh-CN" sz="2400" dirty="0" smtClean="0">
                <a:solidFill>
                  <a:srgbClr val="0000FF"/>
                </a:solidFill>
              </a:rPr>
              <a:t>     </a:t>
            </a:r>
            <a:r>
              <a:rPr lang="zh-CN" altLang="en-US" sz="2400" dirty="0" smtClean="0"/>
              <a:t>删去学生选课</a:t>
            </a:r>
            <a:r>
              <a:rPr lang="zh-CN" altLang="en-US" sz="2400" dirty="0"/>
              <a:t>信息，丢失教师授课信息。</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38</a:t>
            </a:fld>
            <a:endParaRPr lang="en-US" altLang="zh-CN"/>
          </a:p>
        </p:txBody>
      </p:sp>
      <p:grpSp>
        <p:nvGrpSpPr>
          <p:cNvPr id="6" name="Group 4"/>
          <p:cNvGrpSpPr>
            <a:grpSpLocks/>
          </p:cNvGrpSpPr>
          <p:nvPr/>
        </p:nvGrpSpPr>
        <p:grpSpPr bwMode="auto">
          <a:xfrm>
            <a:off x="5575885" y="0"/>
            <a:ext cx="3568115" cy="2287940"/>
            <a:chOff x="192" y="528"/>
            <a:chExt cx="2400" cy="1824"/>
          </a:xfrm>
          <a:solidFill>
            <a:srgbClr val="D8E5E5"/>
          </a:solidFill>
        </p:grpSpPr>
        <p:sp>
          <p:nvSpPr>
            <p:cNvPr id="7" name="Rectangle 5"/>
            <p:cNvSpPr>
              <a:spLocks noChangeArrowheads="1"/>
            </p:cNvSpPr>
            <p:nvPr/>
          </p:nvSpPr>
          <p:spPr bwMode="auto">
            <a:xfrm>
              <a:off x="1888"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a:t>
              </a:r>
            </a:p>
          </p:txBody>
        </p:sp>
        <p:sp>
          <p:nvSpPr>
            <p:cNvPr id="8" name="Rectangle 6"/>
            <p:cNvSpPr>
              <a:spLocks noChangeArrowheads="1"/>
            </p:cNvSpPr>
            <p:nvPr/>
          </p:nvSpPr>
          <p:spPr bwMode="auto">
            <a:xfrm>
              <a:off x="1184"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dirty="0"/>
                <a:t>……</a:t>
              </a:r>
            </a:p>
          </p:txBody>
        </p:sp>
        <p:sp>
          <p:nvSpPr>
            <p:cNvPr id="9" name="Rectangle 7"/>
            <p:cNvSpPr>
              <a:spLocks noChangeArrowheads="1"/>
            </p:cNvSpPr>
            <p:nvPr/>
          </p:nvSpPr>
          <p:spPr bwMode="auto">
            <a:xfrm>
              <a:off x="480" y="2103"/>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a:t>
              </a:r>
            </a:p>
          </p:txBody>
        </p:sp>
        <p:sp>
          <p:nvSpPr>
            <p:cNvPr id="10" name="Rectangle 8"/>
            <p:cNvSpPr>
              <a:spLocks noChangeArrowheads="1"/>
            </p:cNvSpPr>
            <p:nvPr/>
          </p:nvSpPr>
          <p:spPr bwMode="auto">
            <a:xfrm>
              <a:off x="1888"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于得水 </a:t>
              </a:r>
            </a:p>
          </p:txBody>
        </p:sp>
        <p:sp>
          <p:nvSpPr>
            <p:cNvPr id="11" name="Rectangle 9"/>
            <p:cNvSpPr>
              <a:spLocks noChangeArrowheads="1"/>
            </p:cNvSpPr>
            <p:nvPr/>
          </p:nvSpPr>
          <p:spPr bwMode="auto">
            <a:xfrm>
              <a:off x="1184"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12" name="Rectangle 10"/>
            <p:cNvSpPr>
              <a:spLocks noChangeArrowheads="1"/>
            </p:cNvSpPr>
            <p:nvPr/>
          </p:nvSpPr>
          <p:spPr bwMode="auto">
            <a:xfrm>
              <a:off x="480" y="1854"/>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S5 </a:t>
              </a:r>
            </a:p>
          </p:txBody>
        </p:sp>
        <p:sp>
          <p:nvSpPr>
            <p:cNvPr id="13" name="Rectangle 11"/>
            <p:cNvSpPr>
              <a:spLocks noChangeArrowheads="1"/>
            </p:cNvSpPr>
            <p:nvPr/>
          </p:nvSpPr>
          <p:spPr bwMode="auto">
            <a:xfrm>
              <a:off x="1888"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牛得草 </a:t>
              </a:r>
            </a:p>
          </p:txBody>
        </p:sp>
        <p:sp>
          <p:nvSpPr>
            <p:cNvPr id="14" name="Rectangle 12"/>
            <p:cNvSpPr>
              <a:spLocks noChangeArrowheads="1"/>
            </p:cNvSpPr>
            <p:nvPr/>
          </p:nvSpPr>
          <p:spPr bwMode="auto">
            <a:xfrm>
              <a:off x="1184"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DB </a:t>
              </a:r>
            </a:p>
          </p:txBody>
        </p:sp>
        <p:sp>
          <p:nvSpPr>
            <p:cNvPr id="15" name="Rectangle 13"/>
            <p:cNvSpPr>
              <a:spLocks noChangeArrowheads="1"/>
            </p:cNvSpPr>
            <p:nvPr/>
          </p:nvSpPr>
          <p:spPr bwMode="auto">
            <a:xfrm>
              <a:off x="480" y="1605"/>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S5 </a:t>
              </a:r>
            </a:p>
          </p:txBody>
        </p:sp>
        <p:sp>
          <p:nvSpPr>
            <p:cNvPr id="16" name="Rectangle 14"/>
            <p:cNvSpPr>
              <a:spLocks noChangeArrowheads="1"/>
            </p:cNvSpPr>
            <p:nvPr/>
          </p:nvSpPr>
          <p:spPr bwMode="auto">
            <a:xfrm>
              <a:off x="1888"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牛得草 </a:t>
              </a:r>
            </a:p>
          </p:txBody>
        </p:sp>
        <p:sp>
          <p:nvSpPr>
            <p:cNvPr id="17" name="Rectangle 15"/>
            <p:cNvSpPr>
              <a:spLocks noChangeArrowheads="1"/>
            </p:cNvSpPr>
            <p:nvPr/>
          </p:nvSpPr>
          <p:spPr bwMode="auto">
            <a:xfrm>
              <a:off x="1184"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DB </a:t>
              </a:r>
            </a:p>
          </p:txBody>
        </p:sp>
        <p:sp>
          <p:nvSpPr>
            <p:cNvPr id="18" name="Rectangle 16"/>
            <p:cNvSpPr>
              <a:spLocks noChangeArrowheads="1"/>
            </p:cNvSpPr>
            <p:nvPr/>
          </p:nvSpPr>
          <p:spPr bwMode="auto">
            <a:xfrm>
              <a:off x="480" y="1356"/>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S4 </a:t>
              </a:r>
            </a:p>
          </p:txBody>
        </p:sp>
        <p:sp>
          <p:nvSpPr>
            <p:cNvPr id="19" name="Rectangle 17"/>
            <p:cNvSpPr>
              <a:spLocks noChangeArrowheads="1"/>
            </p:cNvSpPr>
            <p:nvPr/>
          </p:nvSpPr>
          <p:spPr bwMode="auto">
            <a:xfrm>
              <a:off x="1888"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马千里 </a:t>
              </a:r>
            </a:p>
          </p:txBody>
        </p:sp>
        <p:sp>
          <p:nvSpPr>
            <p:cNvPr id="20" name="Rectangle 18"/>
            <p:cNvSpPr>
              <a:spLocks noChangeArrowheads="1"/>
            </p:cNvSpPr>
            <p:nvPr/>
          </p:nvSpPr>
          <p:spPr bwMode="auto">
            <a:xfrm>
              <a:off x="1184"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21" name="Rectangle 19"/>
            <p:cNvSpPr>
              <a:spLocks noChangeArrowheads="1"/>
            </p:cNvSpPr>
            <p:nvPr/>
          </p:nvSpPr>
          <p:spPr bwMode="auto">
            <a:xfrm>
              <a:off x="480" y="1107"/>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S2 </a:t>
              </a:r>
            </a:p>
          </p:txBody>
        </p:sp>
        <p:sp>
          <p:nvSpPr>
            <p:cNvPr id="22" name="Rectangle 20"/>
            <p:cNvSpPr>
              <a:spLocks noChangeArrowheads="1"/>
            </p:cNvSpPr>
            <p:nvPr/>
          </p:nvSpPr>
          <p:spPr bwMode="auto">
            <a:xfrm>
              <a:off x="1888"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于得水 </a:t>
              </a:r>
            </a:p>
          </p:txBody>
        </p:sp>
        <p:sp>
          <p:nvSpPr>
            <p:cNvPr id="23" name="Rectangle 21"/>
            <p:cNvSpPr>
              <a:spLocks noChangeArrowheads="1"/>
            </p:cNvSpPr>
            <p:nvPr/>
          </p:nvSpPr>
          <p:spPr bwMode="auto">
            <a:xfrm>
              <a:off x="1184"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OS </a:t>
              </a:r>
            </a:p>
          </p:txBody>
        </p:sp>
        <p:sp>
          <p:nvSpPr>
            <p:cNvPr id="24" name="Rectangle 22"/>
            <p:cNvSpPr>
              <a:spLocks noChangeArrowheads="1"/>
            </p:cNvSpPr>
            <p:nvPr/>
          </p:nvSpPr>
          <p:spPr bwMode="auto">
            <a:xfrm>
              <a:off x="480" y="858"/>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altLang="zh-CN" sz="2000"/>
                <a:t>S1 </a:t>
              </a:r>
            </a:p>
          </p:txBody>
        </p:sp>
        <p:sp>
          <p:nvSpPr>
            <p:cNvPr id="25" name="Rectangle 23"/>
            <p:cNvSpPr>
              <a:spLocks noChangeArrowheads="1"/>
            </p:cNvSpPr>
            <p:nvPr/>
          </p:nvSpPr>
          <p:spPr bwMode="auto">
            <a:xfrm>
              <a:off x="1888"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教师 </a:t>
              </a:r>
            </a:p>
          </p:txBody>
        </p:sp>
        <p:sp>
          <p:nvSpPr>
            <p:cNvPr id="26" name="Rectangle 24"/>
            <p:cNvSpPr>
              <a:spLocks noChangeArrowheads="1"/>
            </p:cNvSpPr>
            <p:nvPr/>
          </p:nvSpPr>
          <p:spPr bwMode="auto">
            <a:xfrm>
              <a:off x="1184"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a:t>课程 </a:t>
              </a:r>
            </a:p>
          </p:txBody>
        </p:sp>
        <p:sp>
          <p:nvSpPr>
            <p:cNvPr id="27" name="Rectangle 25"/>
            <p:cNvSpPr>
              <a:spLocks noChangeArrowheads="1"/>
            </p:cNvSpPr>
            <p:nvPr/>
          </p:nvSpPr>
          <p:spPr bwMode="auto">
            <a:xfrm>
              <a:off x="480" y="609"/>
              <a:ext cx="704" cy="249"/>
            </a:xfrm>
            <a:prstGeom prst="rect">
              <a:avLst/>
            </a:prstGeom>
            <a:grp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zh-CN" altLang="en-US" sz="2000" dirty="0"/>
                <a:t>学号 </a:t>
              </a:r>
            </a:p>
          </p:txBody>
        </p:sp>
        <p:sp>
          <p:nvSpPr>
            <p:cNvPr id="28" name="Line 26"/>
            <p:cNvSpPr>
              <a:spLocks noChangeShapeType="1"/>
            </p:cNvSpPr>
            <p:nvPr/>
          </p:nvSpPr>
          <p:spPr bwMode="auto">
            <a:xfrm>
              <a:off x="480" y="609"/>
              <a:ext cx="2112" cy="0"/>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9" name="Line 27"/>
            <p:cNvSpPr>
              <a:spLocks noChangeShapeType="1"/>
            </p:cNvSpPr>
            <p:nvPr/>
          </p:nvSpPr>
          <p:spPr bwMode="auto">
            <a:xfrm>
              <a:off x="480" y="858"/>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0" name="Line 28"/>
            <p:cNvSpPr>
              <a:spLocks noChangeShapeType="1"/>
            </p:cNvSpPr>
            <p:nvPr/>
          </p:nvSpPr>
          <p:spPr bwMode="auto">
            <a:xfrm>
              <a:off x="480" y="1107"/>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1" name="Line 29"/>
            <p:cNvSpPr>
              <a:spLocks noChangeShapeType="1"/>
            </p:cNvSpPr>
            <p:nvPr/>
          </p:nvSpPr>
          <p:spPr bwMode="auto">
            <a:xfrm>
              <a:off x="480" y="1356"/>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2" name="Line 30"/>
            <p:cNvSpPr>
              <a:spLocks noChangeShapeType="1"/>
            </p:cNvSpPr>
            <p:nvPr/>
          </p:nvSpPr>
          <p:spPr bwMode="auto">
            <a:xfrm>
              <a:off x="480" y="1605"/>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3" name="Line 31"/>
            <p:cNvSpPr>
              <a:spLocks noChangeShapeType="1"/>
            </p:cNvSpPr>
            <p:nvPr/>
          </p:nvSpPr>
          <p:spPr bwMode="auto">
            <a:xfrm>
              <a:off x="480" y="1854"/>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4" name="Line 32"/>
            <p:cNvSpPr>
              <a:spLocks noChangeShapeType="1"/>
            </p:cNvSpPr>
            <p:nvPr/>
          </p:nvSpPr>
          <p:spPr bwMode="auto">
            <a:xfrm>
              <a:off x="480" y="2103"/>
              <a:ext cx="2112" cy="0"/>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5" name="Line 33"/>
            <p:cNvSpPr>
              <a:spLocks noChangeShapeType="1"/>
            </p:cNvSpPr>
            <p:nvPr/>
          </p:nvSpPr>
          <p:spPr bwMode="auto">
            <a:xfrm>
              <a:off x="480" y="2352"/>
              <a:ext cx="2112" cy="0"/>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6" name="Line 34"/>
            <p:cNvSpPr>
              <a:spLocks noChangeShapeType="1"/>
            </p:cNvSpPr>
            <p:nvPr/>
          </p:nvSpPr>
          <p:spPr bwMode="auto">
            <a:xfrm>
              <a:off x="480" y="609"/>
              <a:ext cx="0" cy="1743"/>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7" name="Line 35"/>
            <p:cNvSpPr>
              <a:spLocks noChangeShapeType="1"/>
            </p:cNvSpPr>
            <p:nvPr/>
          </p:nvSpPr>
          <p:spPr bwMode="auto">
            <a:xfrm>
              <a:off x="1184" y="609"/>
              <a:ext cx="0" cy="1743"/>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8" name="Line 36"/>
            <p:cNvSpPr>
              <a:spLocks noChangeShapeType="1"/>
            </p:cNvSpPr>
            <p:nvPr/>
          </p:nvSpPr>
          <p:spPr bwMode="auto">
            <a:xfrm>
              <a:off x="1888" y="609"/>
              <a:ext cx="0" cy="1743"/>
            </a:xfrm>
            <a:prstGeom prst="line">
              <a:avLst/>
            </a:prstGeom>
            <a:grpFill/>
            <a:ln w="12700">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39" name="Line 37"/>
            <p:cNvSpPr>
              <a:spLocks noChangeShapeType="1"/>
            </p:cNvSpPr>
            <p:nvPr/>
          </p:nvSpPr>
          <p:spPr bwMode="auto">
            <a:xfrm>
              <a:off x="2592" y="609"/>
              <a:ext cx="0" cy="1743"/>
            </a:xfrm>
            <a:prstGeom prst="line">
              <a:avLst/>
            </a:prstGeom>
            <a:grpFill/>
            <a:ln w="28575"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40" name="Rectangle 38"/>
            <p:cNvSpPr>
              <a:spLocks noChangeArrowheads="1"/>
            </p:cNvSpPr>
            <p:nvPr/>
          </p:nvSpPr>
          <p:spPr bwMode="auto">
            <a:xfrm>
              <a:off x="192" y="528"/>
              <a:ext cx="255" cy="288"/>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dirty="0"/>
                <a:t>R</a:t>
              </a:r>
            </a:p>
          </p:txBody>
        </p:sp>
      </p:grpSp>
    </p:spTree>
    <p:extLst>
      <p:ext uri="{BB962C8B-B14F-4D97-AF65-F5344CB8AC3E}">
        <p14:creationId xmlns:p14="http://schemas.microsoft.com/office/powerpoint/2010/main" val="349109929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linds(horizontal)">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blinds(horizontal)">
                                      <p:cBhvr>
                                        <p:cTn id="5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3NF</a:t>
            </a:r>
            <a:r>
              <a:rPr lang="zh-CN" altLang="en-US" dirty="0"/>
              <a:t>可能存在的问题</a:t>
            </a:r>
            <a:endParaRPr lang="en-US" dirty="0"/>
          </a:p>
        </p:txBody>
      </p:sp>
      <p:sp>
        <p:nvSpPr>
          <p:cNvPr id="3" name="Content Placeholder 2"/>
          <p:cNvSpPr>
            <a:spLocks noGrp="1"/>
          </p:cNvSpPr>
          <p:nvPr>
            <p:ph idx="1"/>
          </p:nvPr>
        </p:nvSpPr>
        <p:spPr>
          <a:xfrm>
            <a:off x="477982" y="970247"/>
            <a:ext cx="7772400" cy="5263481"/>
          </a:xfrm>
        </p:spPr>
        <p:txBody>
          <a:bodyPr/>
          <a:lstStyle/>
          <a:p>
            <a:r>
              <a:rPr lang="zh-CN" altLang="en-US" sz="2400" dirty="0">
                <a:solidFill>
                  <a:srgbClr val="FF0066"/>
                </a:solidFill>
                <a:effectLst>
                  <a:outerShdw blurRad="38100" dist="38100" dir="2700000" algn="tl">
                    <a:srgbClr val="000000"/>
                  </a:outerShdw>
                </a:effectLst>
              </a:rPr>
              <a:t>存在上述问题的</a:t>
            </a:r>
            <a:r>
              <a:rPr lang="zh-CN" altLang="en-US" sz="2400" dirty="0" smtClean="0">
                <a:solidFill>
                  <a:srgbClr val="FF0066"/>
                </a:solidFill>
                <a:effectLst>
                  <a:outerShdw blurRad="38100" dist="38100" dir="2700000" algn="tl">
                    <a:srgbClr val="000000"/>
                  </a:outerShdw>
                </a:effectLst>
              </a:rPr>
              <a:t>原因</a:t>
            </a:r>
            <a:r>
              <a:rPr lang="zh-CN" altLang="en-US" sz="2400" dirty="0" smtClean="0"/>
              <a:t>：</a:t>
            </a:r>
            <a:endParaRPr lang="en-US" altLang="zh-CN" sz="2400" dirty="0" smtClean="0"/>
          </a:p>
          <a:p>
            <a:pPr marL="0" indent="0">
              <a:buNone/>
            </a:pPr>
            <a:r>
              <a:rPr lang="en-US" altLang="zh-CN" sz="2400" dirty="0" smtClean="0"/>
              <a:t>  </a:t>
            </a:r>
            <a:r>
              <a:rPr lang="zh-CN" altLang="en-US" sz="2400" dirty="0" smtClean="0"/>
              <a:t>存在</a:t>
            </a:r>
            <a:r>
              <a:rPr lang="zh-CN" altLang="en-US" sz="2400" dirty="0">
                <a:solidFill>
                  <a:srgbClr val="FF0066"/>
                </a:solidFill>
                <a:effectLst>
                  <a:outerShdw blurRad="38100" dist="38100" dir="2700000" algn="tl">
                    <a:srgbClr val="000000"/>
                  </a:outerShdw>
                </a:effectLst>
              </a:rPr>
              <a:t>主属性</a:t>
            </a:r>
            <a:r>
              <a:rPr lang="zh-CN" altLang="en-US" sz="2400" dirty="0"/>
              <a:t>对候选码的不良依赖</a:t>
            </a:r>
            <a:r>
              <a:rPr lang="zh-CN" altLang="en-US" sz="2400" dirty="0" smtClean="0"/>
              <a:t>。</a:t>
            </a:r>
            <a:endParaRPr lang="en-US" altLang="zh-CN" sz="2400" dirty="0" smtClean="0"/>
          </a:p>
          <a:p>
            <a:pPr marL="0" indent="0">
              <a:buNone/>
            </a:pPr>
            <a:r>
              <a:rPr lang="en-US" altLang="zh-CN" sz="2400" dirty="0"/>
              <a:t> </a:t>
            </a:r>
            <a:r>
              <a:rPr lang="en-US" altLang="zh-CN" sz="2400" dirty="0" smtClean="0"/>
              <a:t>  </a:t>
            </a:r>
            <a:r>
              <a:rPr lang="zh-CN" altLang="en-US" sz="2400" dirty="0" smtClean="0"/>
              <a:t>∵ </a:t>
            </a:r>
            <a:r>
              <a:rPr lang="zh-CN" altLang="en-US" sz="2400" dirty="0"/>
              <a:t>教师→课程</a:t>
            </a:r>
            <a:r>
              <a:rPr lang="en-US" altLang="zh-CN" sz="2400" dirty="0"/>
              <a:t>  </a:t>
            </a:r>
            <a:r>
              <a:rPr lang="zh-CN" altLang="en-US" sz="2400" dirty="0"/>
              <a:t>∴（学号，教师）→课</a:t>
            </a:r>
            <a:r>
              <a:rPr lang="zh-CN" altLang="en-US" sz="2400" dirty="0" smtClean="0"/>
              <a:t>程</a:t>
            </a:r>
            <a:endParaRPr lang="en-US" altLang="zh-CN" sz="2400" dirty="0" smtClean="0"/>
          </a:p>
          <a:p>
            <a:r>
              <a:rPr lang="zh-CN" altLang="en-US" sz="2400" dirty="0"/>
              <a:t>解决方法</a:t>
            </a:r>
            <a:r>
              <a:rPr lang="zh-CN" altLang="en-US" sz="2400" dirty="0" smtClean="0"/>
              <a:t>：</a:t>
            </a:r>
            <a:r>
              <a:rPr lang="zh-CN" altLang="en-US" sz="2400" dirty="0" smtClean="0">
                <a:solidFill>
                  <a:srgbClr val="009900"/>
                </a:solidFill>
              </a:rPr>
              <a:t>投影</a:t>
            </a:r>
            <a:r>
              <a:rPr lang="zh-CN" altLang="en-US" sz="2400" dirty="0">
                <a:solidFill>
                  <a:srgbClr val="009900"/>
                </a:solidFill>
              </a:rPr>
              <a:t>分解</a:t>
            </a:r>
            <a:endParaRPr lang="en-US" altLang="zh-CN" sz="2400" dirty="0">
              <a:solidFill>
                <a:srgbClr val="009900"/>
              </a:solidFill>
            </a:endParaRPr>
          </a:p>
          <a:p>
            <a:pPr lvl="1">
              <a:buFontTx/>
              <a:buNone/>
            </a:pPr>
            <a:r>
              <a:rPr lang="en-US" altLang="zh-CN" dirty="0"/>
              <a:t>——</a:t>
            </a:r>
            <a:r>
              <a:rPr lang="zh-CN" altLang="en-US" dirty="0"/>
              <a:t>消去</a:t>
            </a:r>
            <a:r>
              <a:rPr lang="zh-CN" altLang="en-US" dirty="0">
                <a:solidFill>
                  <a:srgbClr val="D60093"/>
                </a:solidFill>
              </a:rPr>
              <a:t>主属性对候选码</a:t>
            </a:r>
            <a:r>
              <a:rPr lang="zh-CN" altLang="en-US" dirty="0"/>
              <a:t>的部分</a:t>
            </a:r>
            <a:r>
              <a:rPr lang="en-US" altLang="zh-CN" dirty="0" err="1"/>
              <a:t>fd</a:t>
            </a:r>
            <a:r>
              <a:rPr lang="zh-CN" altLang="en-US" dirty="0"/>
              <a:t>。</a:t>
            </a:r>
            <a:endParaRPr lang="en-US" altLang="zh-CN" dirty="0"/>
          </a:p>
          <a:p>
            <a:r>
              <a:rPr lang="zh-CN" altLang="en-US" sz="2400" dirty="0" smtClean="0">
                <a:solidFill>
                  <a:srgbClr val="FF0066"/>
                </a:solidFill>
                <a:effectLst>
                  <a:outerShdw blurRad="38100" dist="38100" dir="2700000" algn="tl">
                    <a:srgbClr val="000000"/>
                  </a:outerShdw>
                </a:effectLst>
              </a:rPr>
              <a:t>可将</a:t>
            </a:r>
            <a:r>
              <a:rPr lang="en-US" altLang="zh-CN" sz="2400" dirty="0">
                <a:solidFill>
                  <a:srgbClr val="FF0066"/>
                </a:solidFill>
                <a:effectLst>
                  <a:outerShdw blurRad="38100" dist="38100" dir="2700000" algn="tl">
                    <a:srgbClr val="000000"/>
                  </a:outerShdw>
                </a:effectLst>
              </a:rPr>
              <a:t>R</a:t>
            </a:r>
            <a:r>
              <a:rPr lang="zh-CN" altLang="en-US" sz="2400" dirty="0">
                <a:solidFill>
                  <a:srgbClr val="FF0066"/>
                </a:solidFill>
                <a:effectLst>
                  <a:outerShdw blurRad="38100" dist="38100" dir="2700000" algn="tl">
                    <a:srgbClr val="000000"/>
                  </a:outerShdw>
                </a:effectLst>
              </a:rPr>
              <a:t>分解为：</a:t>
            </a:r>
          </a:p>
          <a:p>
            <a:endParaRPr lang="en-US" altLang="zh-CN" sz="2400" dirty="0" smtClean="0">
              <a:solidFill>
                <a:srgbClr val="FF0066"/>
              </a:solidFill>
              <a:effectLst>
                <a:outerShdw blurRad="38100" dist="38100" dir="2700000" algn="tl">
                  <a:srgbClr val="000000"/>
                </a:outerShdw>
              </a:effectLst>
            </a:endParaRPr>
          </a:p>
          <a:p>
            <a:endParaRPr lang="en-US" altLang="zh-CN" sz="2400" dirty="0">
              <a:solidFill>
                <a:srgbClr val="FF0066"/>
              </a:solidFill>
              <a:effectLst>
                <a:outerShdw blurRad="38100" dist="38100" dir="2700000" algn="tl">
                  <a:srgbClr val="000000"/>
                </a:outerShdw>
              </a:effectLst>
            </a:endParaRPr>
          </a:p>
          <a:p>
            <a:endParaRPr lang="en-US" altLang="zh-CN" sz="2400" dirty="0" smtClean="0">
              <a:solidFill>
                <a:srgbClr val="FF0066"/>
              </a:solidFill>
              <a:effectLst>
                <a:outerShdw blurRad="38100" dist="38100" dir="2700000" algn="tl">
                  <a:srgbClr val="000000"/>
                </a:outerShdw>
              </a:effectLst>
            </a:endParaRPr>
          </a:p>
          <a:p>
            <a:endParaRPr lang="en-US" altLang="zh-CN" sz="2400" dirty="0" smtClean="0">
              <a:solidFill>
                <a:srgbClr val="FF0066"/>
              </a:solidFill>
              <a:effectLst>
                <a:outerShdw blurRad="38100" dist="38100" dir="2700000" algn="tl">
                  <a:srgbClr val="000000"/>
                </a:outerShdw>
              </a:effectLst>
            </a:endParaRPr>
          </a:p>
          <a:p>
            <a:endParaRPr lang="en-US" altLang="zh-CN" sz="2400" dirty="0">
              <a:solidFill>
                <a:srgbClr val="FF0066"/>
              </a:solidFill>
              <a:effectLst>
                <a:outerShdw blurRad="38100" dist="38100" dir="2700000" algn="tl">
                  <a:srgbClr val="000000"/>
                </a:outerShdw>
              </a:effectLst>
            </a:endParaRPr>
          </a:p>
          <a:p>
            <a:r>
              <a:rPr lang="zh-CN" altLang="en-US" sz="2400" dirty="0" smtClean="0"/>
              <a:t>分解</a:t>
            </a:r>
            <a:r>
              <a:rPr lang="zh-CN" altLang="en-US" sz="2400" dirty="0"/>
              <a:t>后</a:t>
            </a:r>
            <a:r>
              <a:rPr lang="zh-CN" altLang="en-US" sz="2400" dirty="0" smtClean="0"/>
              <a:t>存在的问题得到解决，新关系模式满</a:t>
            </a:r>
            <a:r>
              <a:rPr lang="zh-CN" altLang="en-US" sz="2400" dirty="0"/>
              <a:t>足</a:t>
            </a:r>
            <a:r>
              <a:rPr lang="en-US" altLang="zh-CN" sz="2400" dirty="0">
                <a:solidFill>
                  <a:srgbClr val="FF0066"/>
                </a:solidFill>
                <a:effectLst>
                  <a:outerShdw blurRad="38100" dist="38100" dir="2700000" algn="tl">
                    <a:srgbClr val="000000"/>
                  </a:outerShdw>
                </a:effectLst>
              </a:rPr>
              <a:t>BC</a:t>
            </a:r>
            <a:r>
              <a:rPr lang="zh-CN" altLang="en-US" sz="2400" dirty="0">
                <a:solidFill>
                  <a:srgbClr val="FF0066"/>
                </a:solidFill>
                <a:effectLst>
                  <a:outerShdw blurRad="38100" dist="38100" dir="2700000" algn="tl">
                    <a:srgbClr val="000000"/>
                  </a:outerShdw>
                </a:effectLst>
              </a:rPr>
              <a:t>范式</a:t>
            </a:r>
            <a:r>
              <a:rPr lang="zh-CN" altLang="en-US" sz="2400" dirty="0"/>
              <a:t>。</a:t>
            </a:r>
          </a:p>
          <a:p>
            <a:endParaRPr lang="zh-CN" altLang="en-US" sz="2400" dirty="0">
              <a:solidFill>
                <a:srgbClr val="FF0066"/>
              </a:solidFill>
              <a:effectLst>
                <a:outerShdw blurRad="38100" dist="38100" dir="2700000" algn="tl">
                  <a:srgbClr val="000000"/>
                </a:outerShdw>
              </a:effectLst>
            </a:endParaRPr>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39</a:t>
            </a:fld>
            <a:endParaRPr lang="en-US" altLang="zh-CN"/>
          </a:p>
        </p:txBody>
      </p:sp>
      <p:graphicFrame>
        <p:nvGraphicFramePr>
          <p:cNvPr id="6" name="Group 47"/>
          <p:cNvGraphicFramePr>
            <a:graphicFrameLocks noGrp="1"/>
          </p:cNvGraphicFramePr>
          <p:nvPr>
            <p:extLst>
              <p:ext uri="{D42A27DB-BD31-4B8C-83A1-F6EECF244321}">
                <p14:modId xmlns:p14="http://schemas.microsoft.com/office/powerpoint/2010/main" val="564262992"/>
              </p:ext>
            </p:extLst>
          </p:nvPr>
        </p:nvGraphicFramePr>
        <p:xfrm>
          <a:off x="1479061" y="3742858"/>
          <a:ext cx="5257800" cy="1828800"/>
        </p:xfrm>
        <a:graphic>
          <a:graphicData uri="http://schemas.openxmlformats.org/drawingml/2006/table">
            <a:tbl>
              <a:tblPr/>
              <a:tblGrid>
                <a:gridCol w="1050925"/>
                <a:gridCol w="1047750"/>
                <a:gridCol w="1055688"/>
                <a:gridCol w="1052512"/>
                <a:gridCol w="1050925"/>
              </a:tblGrid>
              <a:tr h="341319">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学号</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教师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rowSpan="5">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endParaRPr kumimoji="1" lang="zh-CN" sz="1800" b="0" i="0" u="none" strike="noStrike" cap="none" normalizeH="0" baseline="0">
                        <a:ln>
                          <a:noFill/>
                        </a:ln>
                        <a:solidFill>
                          <a:schemeClr val="tx1"/>
                        </a:solidFill>
                        <a:effectLst/>
                        <a:latin typeface="Times New Roman" charset="0"/>
                        <a:ea typeface="楷体_GB2312" charset="0"/>
                        <a:cs typeface="楷体_GB2312"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教师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a:ln>
                            <a:noFill/>
                          </a:ln>
                          <a:solidFill>
                            <a:schemeClr val="tx1"/>
                          </a:solidFill>
                          <a:effectLst/>
                          <a:latin typeface="Times New Roman" charset="0"/>
                          <a:ea typeface="楷体_GB2312" charset="0"/>
                          <a:cs typeface="楷体_GB2312" charset="0"/>
                        </a:rPr>
                        <a:t>课程</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1319">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a:ln>
                            <a:noFill/>
                          </a:ln>
                          <a:solidFill>
                            <a:schemeClr val="tx1"/>
                          </a:solidFill>
                          <a:effectLst/>
                          <a:latin typeface="Times New Roman" charset="0"/>
                          <a:ea typeface="楷体_GB2312" charset="0"/>
                          <a:cs typeface="楷体_GB2312" charset="0"/>
                        </a:rPr>
                        <a:t>S1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于得水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于得水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a:ln>
                            <a:noFill/>
                          </a:ln>
                          <a:solidFill>
                            <a:schemeClr val="tx1"/>
                          </a:solidFill>
                          <a:effectLst/>
                          <a:latin typeface="Times New Roman" charset="0"/>
                          <a:ea typeface="楷体_GB2312" charset="0"/>
                          <a:cs typeface="楷体_GB2312" charset="0"/>
                        </a:rPr>
                        <a:t>OS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1319">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S2</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马千里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马千里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OS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1319">
                <a:tc rowSpan="2">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rowSpan="2">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zh-CN" altLang="en-US" sz="1800" b="1" i="0" u="none" strike="noStrike" cap="none" normalizeH="0" baseline="0" dirty="0">
                          <a:ln>
                            <a:noFill/>
                          </a:ln>
                          <a:solidFill>
                            <a:schemeClr val="tx1"/>
                          </a:solidFill>
                          <a:effectLst/>
                          <a:latin typeface="Times New Roman" charset="0"/>
                          <a:ea typeface="楷体_GB2312" charset="0"/>
                          <a:cs typeface="楷体_GB2312" charset="0"/>
                        </a:rPr>
                        <a:t>牛得草 </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a:ln>
                            <a:noFill/>
                          </a:ln>
                          <a:solidFill>
                            <a:schemeClr val="tx1"/>
                          </a:solidFill>
                          <a:effectLst/>
                          <a:latin typeface="Times New Roman" charset="0"/>
                          <a:ea typeface="楷体_GB2312" charset="0"/>
                          <a:cs typeface="楷体_GB2312" charset="0"/>
                        </a:rPr>
                        <a:t>DB </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8E5E5"/>
                    </a:solidFill>
                  </a:tcPr>
                </a:tc>
              </a:tr>
              <a:tr h="34131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rgbClr val="FF9933"/>
                        </a:buClr>
                        <a:buSzPct val="75000"/>
                        <a:buFont typeface="Wingdings" charset="0"/>
                        <a:buNone/>
                        <a:tabLst/>
                      </a:pPr>
                      <a:r>
                        <a:rPr kumimoji="1" lang="en-US" altLang="zh-CN" sz="1800" b="1" i="0" u="none" strike="noStrike" cap="none" normalizeH="0" baseline="0" dirty="0">
                          <a:ln>
                            <a:noFill/>
                          </a:ln>
                          <a:solidFill>
                            <a:schemeClr val="tx1"/>
                          </a:solidFill>
                          <a:effectLst/>
                          <a:latin typeface="Times New Roman" charset="0"/>
                          <a:ea typeface="楷体_GB2312" charset="0"/>
                          <a:cs typeface="楷体_GB2312" charset="0"/>
                        </a:rPr>
                        <a:t>……</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8E5E5"/>
                    </a:solidFill>
                  </a:tcPr>
                </a:tc>
              </a:tr>
            </a:tbl>
          </a:graphicData>
        </a:graphic>
      </p:graphicFrame>
    </p:spTree>
    <p:extLst>
      <p:ext uri="{BB962C8B-B14F-4D97-AF65-F5344CB8AC3E}">
        <p14:creationId xmlns:p14="http://schemas.microsoft.com/office/powerpoint/2010/main" val="261878486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linds(horizontal)">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blinds(horizontal)">
                                      <p:cBhvr>
                                        <p:cTn id="4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zh-CN" altLang="en-US" sz="2400" dirty="0">
                <a:solidFill>
                  <a:srgbClr val="0000FF"/>
                </a:solidFill>
              </a:rPr>
              <a:t>定义：</a:t>
            </a:r>
            <a:r>
              <a:rPr lang="zh-CN" altLang="en-US" sz="2400" dirty="0"/>
              <a:t>如果关系模式</a:t>
            </a:r>
            <a:r>
              <a:rPr lang="en-US" altLang="zh-CN" sz="2400" dirty="0"/>
              <a:t>R(U,F)</a:t>
            </a:r>
            <a:r>
              <a:rPr lang="en-US" altLang="zh-CN" sz="2400" dirty="0">
                <a:sym typeface="Symbol" charset="0"/>
              </a:rPr>
              <a:t></a:t>
            </a:r>
            <a:r>
              <a:rPr lang="en-US" altLang="zh-CN" sz="2400" dirty="0"/>
              <a:t>1NF</a:t>
            </a:r>
            <a:r>
              <a:rPr lang="zh-CN" altLang="en-US" sz="2400" dirty="0"/>
              <a:t>，且对于所有的非平凡函数依赖</a:t>
            </a:r>
            <a:r>
              <a:rPr lang="en-US" altLang="zh-CN" sz="2400" dirty="0"/>
              <a:t>X→Y</a:t>
            </a:r>
            <a:r>
              <a:rPr lang="zh-CN" altLang="en-US" sz="2400" dirty="0"/>
              <a:t>，</a:t>
            </a:r>
            <a:r>
              <a:rPr lang="en-US" altLang="zh-CN" sz="2400" dirty="0"/>
              <a:t>X</a:t>
            </a:r>
            <a:r>
              <a:rPr lang="zh-CN" altLang="en-US" sz="2400" dirty="0"/>
              <a:t>必包含了</a:t>
            </a:r>
            <a:r>
              <a:rPr lang="en-US" altLang="zh-CN" sz="2400" dirty="0"/>
              <a:t>R</a:t>
            </a:r>
            <a:r>
              <a:rPr lang="zh-CN" altLang="en-US" sz="2400" dirty="0"/>
              <a:t>的一个码，则称</a:t>
            </a:r>
            <a:r>
              <a:rPr lang="en-US" altLang="zh-CN" sz="2400" dirty="0"/>
              <a:t>R</a:t>
            </a:r>
            <a:r>
              <a:rPr lang="zh-CN" altLang="en-US" sz="2400" dirty="0"/>
              <a:t>属于</a:t>
            </a:r>
            <a:r>
              <a:rPr lang="en-US" altLang="zh-CN" sz="2400" dirty="0">
                <a:solidFill>
                  <a:srgbClr val="FF0066"/>
                </a:solidFill>
                <a:effectLst>
                  <a:outerShdw blurRad="38100" dist="38100" dir="2700000" algn="tl">
                    <a:srgbClr val="000000"/>
                  </a:outerShdw>
                </a:effectLst>
              </a:rPr>
              <a:t>BC</a:t>
            </a:r>
            <a:r>
              <a:rPr lang="zh-CN" altLang="en-US" sz="2400" dirty="0">
                <a:solidFill>
                  <a:srgbClr val="FF0066"/>
                </a:solidFill>
                <a:effectLst>
                  <a:outerShdw blurRad="38100" dist="38100" dir="2700000" algn="tl">
                    <a:srgbClr val="000000"/>
                  </a:outerShdw>
                </a:effectLst>
              </a:rPr>
              <a:t>范式（</a:t>
            </a:r>
            <a:r>
              <a:rPr lang="en-US" altLang="zh-CN" sz="2400" dirty="0">
                <a:solidFill>
                  <a:srgbClr val="FF0066"/>
                </a:solidFill>
                <a:effectLst>
                  <a:outerShdw blurRad="38100" dist="38100" dir="2700000" algn="tl">
                    <a:srgbClr val="000000"/>
                  </a:outerShdw>
                </a:effectLst>
              </a:rPr>
              <a:t>Boyce-</a:t>
            </a:r>
            <a:r>
              <a:rPr lang="en-US" altLang="zh-CN" sz="2400" dirty="0" err="1">
                <a:solidFill>
                  <a:srgbClr val="FF0066"/>
                </a:solidFill>
                <a:effectLst>
                  <a:outerShdw blurRad="38100" dist="38100" dir="2700000" algn="tl">
                    <a:srgbClr val="000000"/>
                  </a:outerShdw>
                </a:effectLst>
              </a:rPr>
              <a:t>Codd</a:t>
            </a:r>
            <a:r>
              <a:rPr lang="en-US" altLang="zh-CN" sz="2400" dirty="0">
                <a:solidFill>
                  <a:srgbClr val="FF0066"/>
                </a:solidFill>
                <a:effectLst>
                  <a:outerShdw blurRad="38100" dist="38100" dir="2700000" algn="tl">
                    <a:srgbClr val="000000"/>
                  </a:outerShdw>
                </a:effectLst>
              </a:rPr>
              <a:t> Normal Form</a:t>
            </a:r>
            <a:r>
              <a:rPr lang="zh-CN" altLang="en-US" sz="2400" dirty="0">
                <a:solidFill>
                  <a:srgbClr val="FF0066"/>
                </a:solidFill>
                <a:effectLst>
                  <a:outerShdw blurRad="38100" dist="38100" dir="2700000" algn="tl">
                    <a:srgbClr val="000000"/>
                  </a:outerShdw>
                </a:effectLst>
              </a:rPr>
              <a:t>）</a:t>
            </a:r>
            <a:r>
              <a:rPr lang="zh-CN" altLang="en-US" sz="2400" dirty="0"/>
              <a:t>，记作</a:t>
            </a:r>
            <a:r>
              <a:rPr lang="en-US" altLang="zh-CN" sz="2400" dirty="0">
                <a:solidFill>
                  <a:srgbClr val="FF0066"/>
                </a:solidFill>
                <a:effectLst>
                  <a:outerShdw blurRad="38100" dist="38100" dir="2700000" algn="tl">
                    <a:srgbClr val="000000"/>
                  </a:outerShdw>
                </a:effectLst>
              </a:rPr>
              <a:t>R</a:t>
            </a:r>
            <a:r>
              <a:rPr lang="en-US" altLang="zh-CN" sz="2400" dirty="0">
                <a:solidFill>
                  <a:srgbClr val="FF0066"/>
                </a:solidFill>
                <a:effectLst>
                  <a:outerShdw blurRad="38100" dist="38100" dir="2700000" algn="tl">
                    <a:srgbClr val="000000"/>
                  </a:outerShdw>
                </a:effectLst>
                <a:sym typeface="Symbol" charset="0"/>
              </a:rPr>
              <a:t></a:t>
            </a:r>
            <a:r>
              <a:rPr lang="en-US" altLang="zh-CN" sz="2400" dirty="0">
                <a:solidFill>
                  <a:srgbClr val="FF0066"/>
                </a:solidFill>
                <a:effectLst>
                  <a:outerShdw blurRad="38100" dist="38100" dir="2700000" algn="tl">
                    <a:srgbClr val="000000"/>
                  </a:outerShdw>
                </a:effectLst>
              </a:rPr>
              <a:t>BCNF</a:t>
            </a:r>
            <a:r>
              <a:rPr lang="zh-CN" altLang="en-US" sz="2400" dirty="0"/>
              <a:t>。</a:t>
            </a:r>
          </a:p>
          <a:p>
            <a:pPr marL="0" indent="0">
              <a:buNone/>
            </a:pPr>
            <a:endParaRPr lang="en-US" altLang="zh-CN" sz="2400" dirty="0" smtClean="0">
              <a:solidFill>
                <a:srgbClr val="0000FF"/>
              </a:solidFill>
              <a:ea typeface="仿宋_GB2312" charset="0"/>
              <a:cs typeface="仿宋_GB2312" charset="0"/>
            </a:endParaRPr>
          </a:p>
          <a:p>
            <a:pPr marL="0" indent="0">
              <a:buNone/>
            </a:pPr>
            <a:r>
              <a:rPr lang="zh-CN" altLang="en-US" sz="2400" dirty="0" smtClean="0">
                <a:solidFill>
                  <a:srgbClr val="0000FF"/>
                </a:solidFill>
                <a:ea typeface="仿宋_GB2312" charset="0"/>
                <a:cs typeface="仿宋_GB2312" charset="0"/>
              </a:rPr>
              <a:t>定理</a:t>
            </a:r>
            <a:r>
              <a:rPr lang="zh-CN" altLang="en-US" sz="2400" dirty="0">
                <a:solidFill>
                  <a:srgbClr val="0000FF"/>
                </a:solidFill>
                <a:ea typeface="仿宋_GB2312" charset="0"/>
                <a:cs typeface="仿宋_GB2312" charset="0"/>
              </a:rPr>
              <a:t>：如果</a:t>
            </a:r>
            <a:r>
              <a:rPr lang="en-US" altLang="zh-CN" sz="2400" dirty="0">
                <a:solidFill>
                  <a:srgbClr val="0000FF"/>
                </a:solidFill>
                <a:ea typeface="仿宋_GB2312" charset="0"/>
                <a:cs typeface="仿宋_GB2312" charset="0"/>
              </a:rPr>
              <a:t>R</a:t>
            </a:r>
            <a:r>
              <a:rPr lang="en-US" altLang="zh-CN" sz="2400" dirty="0">
                <a:solidFill>
                  <a:srgbClr val="0000FF"/>
                </a:solidFill>
                <a:ea typeface="仿宋_GB2312" charset="0"/>
                <a:cs typeface="仿宋_GB2312" charset="0"/>
                <a:sym typeface="Symbol" charset="0"/>
              </a:rPr>
              <a:t></a:t>
            </a:r>
            <a:r>
              <a:rPr lang="en-US" altLang="zh-CN" sz="2400" dirty="0">
                <a:solidFill>
                  <a:srgbClr val="0000FF"/>
                </a:solidFill>
                <a:ea typeface="仿宋_GB2312" charset="0"/>
                <a:cs typeface="仿宋_GB2312" charset="0"/>
              </a:rPr>
              <a:t>BCNF</a:t>
            </a:r>
            <a:r>
              <a:rPr lang="zh-CN" altLang="en-US" sz="2400" dirty="0">
                <a:solidFill>
                  <a:srgbClr val="0000FF"/>
                </a:solidFill>
                <a:ea typeface="仿宋_GB2312" charset="0"/>
                <a:cs typeface="仿宋_GB2312" charset="0"/>
              </a:rPr>
              <a:t>，则</a:t>
            </a:r>
            <a:r>
              <a:rPr lang="en-US" altLang="zh-CN" sz="2400" dirty="0">
                <a:solidFill>
                  <a:srgbClr val="0000FF"/>
                </a:solidFill>
                <a:ea typeface="仿宋_GB2312" charset="0"/>
                <a:cs typeface="仿宋_GB2312" charset="0"/>
              </a:rPr>
              <a:t>R</a:t>
            </a:r>
            <a:r>
              <a:rPr lang="en-US" altLang="zh-CN" sz="2400" dirty="0">
                <a:solidFill>
                  <a:srgbClr val="0000FF"/>
                </a:solidFill>
                <a:ea typeface="仿宋_GB2312" charset="0"/>
                <a:cs typeface="仿宋_GB2312" charset="0"/>
                <a:sym typeface="Symbol" charset="0"/>
              </a:rPr>
              <a:t></a:t>
            </a:r>
            <a:r>
              <a:rPr lang="en-US" altLang="zh-CN" sz="2400" dirty="0">
                <a:solidFill>
                  <a:srgbClr val="0000FF"/>
                </a:solidFill>
                <a:ea typeface="仿宋_GB2312" charset="0"/>
                <a:cs typeface="仿宋_GB2312" charset="0"/>
              </a:rPr>
              <a:t>3NF</a:t>
            </a:r>
            <a:r>
              <a:rPr lang="zh-CN" altLang="en-US" sz="2400" dirty="0">
                <a:solidFill>
                  <a:srgbClr val="0000FF"/>
                </a:solidFill>
                <a:ea typeface="仿宋_GB2312" charset="0"/>
                <a:cs typeface="仿宋_GB2312" charset="0"/>
              </a:rPr>
              <a:t>。</a:t>
            </a:r>
          </a:p>
          <a:p>
            <a:pPr marL="0" indent="0">
              <a:lnSpc>
                <a:spcPct val="95000"/>
              </a:lnSpc>
              <a:buNone/>
            </a:pPr>
            <a:r>
              <a:rPr lang="zh-CN" altLang="en-US" sz="2400" dirty="0" smtClean="0">
                <a:solidFill>
                  <a:srgbClr val="0000FF"/>
                </a:solidFill>
              </a:rPr>
              <a:t>证</a:t>
            </a:r>
            <a:r>
              <a:rPr lang="zh-CN" altLang="en-US" sz="2400" dirty="0">
                <a:solidFill>
                  <a:srgbClr val="0000FF"/>
                </a:solidFill>
              </a:rPr>
              <a:t>明： </a:t>
            </a:r>
            <a:r>
              <a:rPr lang="zh-CN" altLang="en-US" sz="2400" dirty="0"/>
              <a:t>（反证法）</a:t>
            </a:r>
          </a:p>
          <a:p>
            <a:pPr marL="0" indent="0">
              <a:lnSpc>
                <a:spcPct val="95000"/>
              </a:lnSpc>
              <a:buNone/>
            </a:pPr>
            <a:r>
              <a:rPr lang="zh-CN" altLang="en-US" sz="2400" dirty="0"/>
              <a:t>假设</a:t>
            </a:r>
            <a:r>
              <a:rPr lang="en-US" altLang="zh-CN" sz="2400" dirty="0"/>
              <a:t>R</a:t>
            </a:r>
            <a:r>
              <a:rPr lang="en-US" altLang="zh-CN" sz="2400" dirty="0">
                <a:sym typeface="Symbol" charset="0"/>
              </a:rPr>
              <a:t></a:t>
            </a:r>
            <a:r>
              <a:rPr lang="en-US" altLang="zh-CN" sz="2400" dirty="0"/>
              <a:t>BCNF</a:t>
            </a:r>
            <a:r>
              <a:rPr lang="zh-CN" altLang="en-US" sz="2400" dirty="0"/>
              <a:t>，且</a:t>
            </a:r>
            <a:r>
              <a:rPr lang="en-US" altLang="zh-CN" sz="2400" dirty="0"/>
              <a:t>R</a:t>
            </a:r>
            <a:r>
              <a:rPr lang="en-US" altLang="zh-CN" sz="2400" dirty="0">
                <a:sym typeface="Symbol" charset="0"/>
              </a:rPr>
              <a:t>3</a:t>
            </a:r>
            <a:r>
              <a:rPr lang="en-US" altLang="zh-CN" sz="2400" dirty="0"/>
              <a:t>NF</a:t>
            </a:r>
            <a:r>
              <a:rPr lang="zh-CN" altLang="en-US" sz="2400" dirty="0"/>
              <a:t>。</a:t>
            </a:r>
          </a:p>
          <a:p>
            <a:pPr marL="0" indent="0">
              <a:lnSpc>
                <a:spcPct val="95000"/>
              </a:lnSpc>
              <a:buNone/>
            </a:pPr>
            <a:r>
              <a:rPr lang="zh-CN" altLang="en-US" sz="2400" dirty="0"/>
              <a:t>∵</a:t>
            </a:r>
            <a:r>
              <a:rPr lang="en-US" altLang="zh-CN" sz="2400" dirty="0"/>
              <a:t>R</a:t>
            </a:r>
            <a:r>
              <a:rPr lang="en-US" altLang="zh-CN" sz="2400" dirty="0">
                <a:sym typeface="Symbol" charset="0"/>
              </a:rPr>
              <a:t></a:t>
            </a:r>
            <a:r>
              <a:rPr lang="en-US" altLang="zh-CN" sz="2400" dirty="0"/>
              <a:t>3NF</a:t>
            </a:r>
            <a:r>
              <a:rPr lang="zh-CN" altLang="en-US" sz="2400" dirty="0"/>
              <a:t>，∴存在码</a:t>
            </a:r>
            <a:r>
              <a:rPr lang="en-US" altLang="zh-CN" sz="2400" dirty="0"/>
              <a:t>X</a:t>
            </a:r>
            <a:r>
              <a:rPr lang="zh-CN" altLang="en-US" sz="2400" dirty="0"/>
              <a:t>、属性组</a:t>
            </a:r>
            <a:r>
              <a:rPr lang="en-US" altLang="zh-CN" sz="2400" dirty="0"/>
              <a:t>Y</a:t>
            </a:r>
            <a:r>
              <a:rPr lang="zh-CN" altLang="en-US" sz="2400" dirty="0"/>
              <a:t>及非主属性</a:t>
            </a:r>
            <a:r>
              <a:rPr lang="en-US" altLang="zh-CN" sz="2400" dirty="0"/>
              <a:t>Z</a:t>
            </a:r>
            <a:r>
              <a:rPr lang="zh-CN" altLang="en-US" sz="2400" dirty="0"/>
              <a:t>（</a:t>
            </a:r>
            <a:r>
              <a:rPr lang="en-US" altLang="zh-CN" sz="2400" dirty="0"/>
              <a:t>Z</a:t>
            </a:r>
            <a:r>
              <a:rPr lang="en-US" altLang="zh-CN" sz="2400" dirty="0">
                <a:sym typeface="Symbol" charset="0"/>
              </a:rPr>
              <a:t>Y</a:t>
            </a:r>
            <a:r>
              <a:rPr lang="zh-CN" altLang="en-US" sz="2400" dirty="0">
                <a:sym typeface="Symbol" charset="0"/>
              </a:rPr>
              <a:t>）</a:t>
            </a:r>
            <a:r>
              <a:rPr lang="zh-CN" altLang="en-US" sz="2400" dirty="0"/>
              <a:t>使得</a:t>
            </a:r>
            <a:r>
              <a:rPr lang="en-US" altLang="zh-CN" sz="2400" dirty="0"/>
              <a:t>X→Y</a:t>
            </a:r>
            <a:r>
              <a:rPr lang="zh-CN" altLang="en-US" sz="2400" dirty="0"/>
              <a:t>（</a:t>
            </a:r>
            <a:r>
              <a:rPr lang="en-US" altLang="zh-CN" sz="2400" dirty="0"/>
              <a:t>Y→X</a:t>
            </a:r>
            <a:r>
              <a:rPr lang="zh-CN" altLang="en-US" sz="2400" dirty="0"/>
              <a:t>），</a:t>
            </a:r>
            <a:r>
              <a:rPr lang="en-US" altLang="zh-CN" sz="2400" dirty="0"/>
              <a:t>Y→Z</a:t>
            </a:r>
            <a:r>
              <a:rPr lang="zh-CN" altLang="en-US" sz="2400" dirty="0"/>
              <a:t>成立；</a:t>
            </a:r>
          </a:p>
          <a:p>
            <a:pPr marL="0" indent="0">
              <a:lnSpc>
                <a:spcPct val="95000"/>
              </a:lnSpc>
              <a:buNone/>
            </a:pPr>
            <a:r>
              <a:rPr lang="zh-CN" altLang="en-US" sz="2400" dirty="0"/>
              <a:t>∵</a:t>
            </a:r>
            <a:r>
              <a:rPr lang="en-US" altLang="zh-CN" sz="2400" dirty="0"/>
              <a:t>Y→X</a:t>
            </a:r>
            <a:r>
              <a:rPr lang="zh-CN" altLang="en-US" sz="2400" dirty="0"/>
              <a:t>， ∴ </a:t>
            </a:r>
            <a:r>
              <a:rPr lang="en-US" altLang="zh-CN" sz="2400" dirty="0"/>
              <a:t>Y</a:t>
            </a:r>
            <a:r>
              <a:rPr lang="zh-CN" altLang="en-US" sz="2400" dirty="0"/>
              <a:t>不包含码，即非平凡函数依赖</a:t>
            </a:r>
            <a:r>
              <a:rPr lang="en-US" altLang="zh-CN" sz="2400" dirty="0"/>
              <a:t>Y→Z</a:t>
            </a:r>
            <a:r>
              <a:rPr lang="zh-CN" altLang="en-US" sz="2400" dirty="0"/>
              <a:t>的决定部分不包含码。</a:t>
            </a:r>
          </a:p>
          <a:p>
            <a:pPr marL="0" indent="0">
              <a:lnSpc>
                <a:spcPct val="95000"/>
              </a:lnSpc>
              <a:buNone/>
            </a:pPr>
            <a:r>
              <a:rPr lang="zh-CN" altLang="en-US" sz="2400" dirty="0"/>
              <a:t>根据</a:t>
            </a:r>
            <a:r>
              <a:rPr lang="en-US" altLang="zh-CN" sz="2400" dirty="0"/>
              <a:t>BC</a:t>
            </a:r>
            <a:r>
              <a:rPr lang="zh-CN" altLang="en-US" sz="2400" dirty="0"/>
              <a:t>范式的定义，</a:t>
            </a:r>
            <a:r>
              <a:rPr lang="en-US" altLang="zh-CN" sz="2400" dirty="0"/>
              <a:t>R</a:t>
            </a:r>
            <a:r>
              <a:rPr lang="en-US" altLang="zh-CN" sz="2400" dirty="0">
                <a:sym typeface="Symbol" charset="0"/>
              </a:rPr>
              <a:t></a:t>
            </a:r>
            <a:r>
              <a:rPr lang="en-US" altLang="zh-CN" sz="2400" dirty="0"/>
              <a:t>BCNF</a:t>
            </a:r>
            <a:r>
              <a:rPr lang="zh-CN" altLang="en-US" sz="2400" dirty="0"/>
              <a:t>，这与假设相矛盾。</a:t>
            </a:r>
          </a:p>
          <a:p>
            <a:pPr marL="0" indent="0">
              <a:lnSpc>
                <a:spcPct val="95000"/>
              </a:lnSpc>
              <a:buNone/>
            </a:pPr>
            <a:r>
              <a:rPr lang="zh-CN" altLang="en-US" sz="2400" dirty="0"/>
              <a:t>∴</a:t>
            </a:r>
            <a:r>
              <a:rPr lang="en-US" altLang="zh-CN" sz="2400" dirty="0"/>
              <a:t>R</a:t>
            </a:r>
            <a:r>
              <a:rPr lang="en-US" altLang="zh-CN" sz="2400" dirty="0">
                <a:sym typeface="Symbol" charset="0"/>
              </a:rPr>
              <a:t></a:t>
            </a:r>
            <a:r>
              <a:rPr lang="en-US" altLang="zh-CN" sz="2400" dirty="0"/>
              <a:t>3NF</a:t>
            </a:r>
            <a:r>
              <a:rPr lang="zh-CN" altLang="en-US" sz="2400" dirty="0"/>
              <a:t>。（证毕）</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40</a:t>
            </a:fld>
            <a:endParaRPr lang="en-US" altLang="zh-CN"/>
          </a:p>
        </p:txBody>
      </p:sp>
      <p:sp>
        <p:nvSpPr>
          <p:cNvPr id="6" name="Title 5"/>
          <p:cNvSpPr>
            <a:spLocks noGrp="1"/>
          </p:cNvSpPr>
          <p:nvPr>
            <p:ph type="title"/>
          </p:nvPr>
        </p:nvSpPr>
        <p:spPr/>
        <p:txBody>
          <a:bodyPr/>
          <a:lstStyle/>
          <a:p>
            <a:r>
              <a:rPr lang="en-US" altLang="zh-CN" dirty="0" smtClean="0"/>
              <a:t>6.2.6 BC</a:t>
            </a:r>
            <a:r>
              <a:rPr lang="zh-CN" altLang="en-US" dirty="0" smtClean="0"/>
              <a:t>范式</a:t>
            </a:r>
            <a:r>
              <a:rPr lang="en-US" altLang="zh-CN" dirty="0" smtClean="0"/>
              <a:t> </a:t>
            </a:r>
            <a:endParaRPr lang="en-US" dirty="0"/>
          </a:p>
        </p:txBody>
      </p:sp>
      <p:cxnSp>
        <p:nvCxnSpPr>
          <p:cNvPr id="7" name="Straight Connector 6"/>
          <p:cNvCxnSpPr/>
          <p:nvPr/>
        </p:nvCxnSpPr>
        <p:spPr>
          <a:xfrm flipH="1">
            <a:off x="2261536" y="4226998"/>
            <a:ext cx="139172" cy="3131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1339526" y="4679270"/>
            <a:ext cx="104378" cy="26092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358982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课堂练习</a:t>
            </a:r>
            <a:endParaRPr lang="en-US" dirty="0"/>
          </a:p>
        </p:txBody>
      </p:sp>
      <p:sp>
        <p:nvSpPr>
          <p:cNvPr id="3" name="Content Placeholder 2"/>
          <p:cNvSpPr>
            <a:spLocks noGrp="1"/>
          </p:cNvSpPr>
          <p:nvPr>
            <p:ph idx="1"/>
          </p:nvPr>
        </p:nvSpPr>
        <p:spPr/>
        <p:txBody>
          <a:bodyPr/>
          <a:lstStyle/>
          <a:p>
            <a:r>
              <a:rPr lang="zh-CN" altLang="en-US" sz="2400" dirty="0">
                <a:sym typeface="Symbol" charset="0"/>
              </a:rPr>
              <a:t>关系模式</a:t>
            </a:r>
            <a:r>
              <a:rPr lang="en-US" altLang="zh-CN" sz="2400" dirty="0">
                <a:solidFill>
                  <a:srgbClr val="0000FF"/>
                </a:solidFill>
                <a:sym typeface="Symbol" charset="0"/>
              </a:rPr>
              <a:t>R(</a:t>
            </a:r>
            <a:r>
              <a:rPr lang="en-US" altLang="zh-CN" sz="2400" dirty="0" err="1">
                <a:solidFill>
                  <a:srgbClr val="0000FF"/>
                </a:solidFill>
                <a:sym typeface="Symbol" charset="0"/>
              </a:rPr>
              <a:t>Sno</a:t>
            </a:r>
            <a:r>
              <a:rPr lang="en-US" altLang="zh-CN" sz="2400" dirty="0">
                <a:solidFill>
                  <a:srgbClr val="0000FF"/>
                </a:solidFill>
                <a:sym typeface="Symbol" charset="0"/>
              </a:rPr>
              <a:t>, </a:t>
            </a:r>
            <a:r>
              <a:rPr lang="en-US" altLang="zh-CN" sz="2400" dirty="0" err="1">
                <a:solidFill>
                  <a:srgbClr val="0000FF"/>
                </a:solidFill>
                <a:sym typeface="Symbol" charset="0"/>
              </a:rPr>
              <a:t>Cno</a:t>
            </a:r>
            <a:r>
              <a:rPr lang="en-US" altLang="zh-CN" sz="2400" dirty="0">
                <a:solidFill>
                  <a:srgbClr val="0000FF"/>
                </a:solidFill>
                <a:sym typeface="Symbol" charset="0"/>
              </a:rPr>
              <a:t>, ORDER)</a:t>
            </a:r>
            <a:r>
              <a:rPr lang="zh-CN" altLang="en-US" sz="2400" dirty="0">
                <a:sym typeface="Symbol" charset="0"/>
              </a:rPr>
              <a:t>表示学生选修课</a:t>
            </a:r>
            <a:r>
              <a:rPr lang="zh-CN" altLang="en-US" sz="2400" dirty="0" smtClean="0">
                <a:sym typeface="Symbol" charset="0"/>
              </a:rPr>
              <a:t>程的成绩排名（假设每门课中没有并列名次），</a:t>
            </a:r>
            <a:endParaRPr lang="en-US" altLang="zh-CN" sz="2400" dirty="0" smtClean="0">
              <a:sym typeface="Symbol" charset="0"/>
            </a:endParaRPr>
          </a:p>
          <a:p>
            <a:r>
              <a:rPr lang="zh-CN" altLang="en-US" sz="2400" dirty="0" smtClean="0">
                <a:sym typeface="Symbol" charset="0"/>
              </a:rPr>
              <a:t>则由语义有函数依赖：</a:t>
            </a:r>
            <a:endParaRPr lang="en-US" altLang="zh-CN" sz="2400" dirty="0" smtClean="0">
              <a:sym typeface="Symbol" charset="0"/>
            </a:endParaRPr>
          </a:p>
          <a:p>
            <a:pPr marL="0" indent="0">
              <a:buNone/>
            </a:pPr>
            <a:r>
              <a:rPr lang="en-US" altLang="zh-CN" sz="2400" dirty="0">
                <a:solidFill>
                  <a:srgbClr val="0000FF"/>
                </a:solidFill>
                <a:sym typeface="Symbol" charset="0"/>
              </a:rPr>
              <a:t> </a:t>
            </a:r>
            <a:r>
              <a:rPr lang="en-US" altLang="zh-CN" sz="2400" dirty="0" smtClean="0">
                <a:solidFill>
                  <a:srgbClr val="0000FF"/>
                </a:solidFill>
                <a:sym typeface="Symbol" charset="0"/>
              </a:rPr>
              <a:t>  (</a:t>
            </a:r>
            <a:r>
              <a:rPr lang="en-US" altLang="zh-CN" sz="2400" dirty="0" err="1">
                <a:solidFill>
                  <a:srgbClr val="0000FF"/>
                </a:solidFill>
                <a:sym typeface="Symbol" charset="0"/>
              </a:rPr>
              <a:t>Sno,Cno</a:t>
            </a:r>
            <a:r>
              <a:rPr lang="en-US" altLang="zh-CN" sz="2400" dirty="0">
                <a:solidFill>
                  <a:srgbClr val="0000FF"/>
                </a:solidFill>
                <a:sym typeface="Symbol" charset="0"/>
              </a:rPr>
              <a:t>)</a:t>
            </a:r>
            <a:r>
              <a:rPr lang="en-US" altLang="zh-CN" sz="2400" dirty="0">
                <a:solidFill>
                  <a:srgbClr val="0000FF"/>
                </a:solidFill>
              </a:rPr>
              <a:t>→</a:t>
            </a:r>
            <a:r>
              <a:rPr lang="en-US" altLang="zh-CN" sz="2400" dirty="0">
                <a:solidFill>
                  <a:srgbClr val="0000FF"/>
                </a:solidFill>
                <a:sym typeface="Symbol" charset="0"/>
              </a:rPr>
              <a:t>ORDER</a:t>
            </a:r>
            <a:r>
              <a:rPr lang="zh-CN" altLang="en-US" sz="2400" dirty="0">
                <a:sym typeface="Symbol" charset="0"/>
              </a:rPr>
              <a:t>，</a:t>
            </a:r>
            <a:r>
              <a:rPr lang="en-US" altLang="zh-CN" sz="2400" dirty="0">
                <a:solidFill>
                  <a:srgbClr val="0000FF"/>
                </a:solidFill>
                <a:sym typeface="Symbol" charset="0"/>
              </a:rPr>
              <a:t>(</a:t>
            </a:r>
            <a:r>
              <a:rPr lang="en-US" altLang="zh-CN" sz="2400" dirty="0" err="1">
                <a:solidFill>
                  <a:srgbClr val="0000FF"/>
                </a:solidFill>
                <a:sym typeface="Symbol" charset="0"/>
              </a:rPr>
              <a:t>Cno,ORDER</a:t>
            </a:r>
            <a:r>
              <a:rPr lang="en-US" altLang="zh-CN" sz="2400" dirty="0">
                <a:solidFill>
                  <a:srgbClr val="0000FF"/>
                </a:solidFill>
                <a:sym typeface="Symbol" charset="0"/>
              </a:rPr>
              <a:t>)</a:t>
            </a:r>
            <a:r>
              <a:rPr lang="en-US" altLang="zh-CN" sz="2400" dirty="0">
                <a:solidFill>
                  <a:srgbClr val="0000FF"/>
                </a:solidFill>
              </a:rPr>
              <a:t>→</a:t>
            </a:r>
            <a:r>
              <a:rPr lang="en-US" altLang="zh-CN" sz="2400" dirty="0" err="1">
                <a:solidFill>
                  <a:srgbClr val="0000FF"/>
                </a:solidFill>
                <a:sym typeface="Symbol" charset="0"/>
              </a:rPr>
              <a:t>Sno</a:t>
            </a:r>
            <a:r>
              <a:rPr lang="zh-CN" altLang="en-US" sz="2400" dirty="0">
                <a:sym typeface="Symbol" charset="0"/>
              </a:rPr>
              <a:t>， </a:t>
            </a:r>
            <a:endParaRPr lang="en-US" altLang="zh-CN" sz="2400" dirty="0" smtClean="0">
              <a:sym typeface="Symbol" charset="0"/>
            </a:endParaRPr>
          </a:p>
          <a:p>
            <a:pPr marL="0" indent="0">
              <a:buNone/>
            </a:pPr>
            <a:r>
              <a:rPr lang="en-US" altLang="zh-CN" sz="2400" dirty="0" smtClean="0">
                <a:sym typeface="Symbol" charset="0"/>
              </a:rPr>
              <a:t>   </a:t>
            </a:r>
            <a:r>
              <a:rPr lang="zh-CN" altLang="en-US" sz="2400" dirty="0" smtClean="0">
                <a:sym typeface="Symbol" charset="0"/>
              </a:rPr>
              <a:t>请问：</a:t>
            </a:r>
            <a:r>
              <a:rPr lang="en-US" altLang="zh-CN" sz="2400" dirty="0" smtClean="0">
                <a:sym typeface="Symbol" charset="0"/>
              </a:rPr>
              <a:t>R</a:t>
            </a:r>
            <a:r>
              <a:rPr lang="zh-CN" altLang="en-US" sz="2400" dirty="0">
                <a:sym typeface="Symbol" charset="0"/>
              </a:rPr>
              <a:t>属于</a:t>
            </a:r>
            <a:r>
              <a:rPr lang="en-US" altLang="zh-CN" sz="2400" dirty="0">
                <a:sym typeface="Symbol" charset="0"/>
              </a:rPr>
              <a:t>3NF</a:t>
            </a:r>
            <a:r>
              <a:rPr lang="zh-CN" altLang="en-US" sz="2400" dirty="0">
                <a:sym typeface="Symbol" charset="0"/>
              </a:rPr>
              <a:t>吗？ </a:t>
            </a:r>
            <a:r>
              <a:rPr lang="en-US" altLang="zh-CN" sz="2400" dirty="0">
                <a:sym typeface="Symbol" charset="0"/>
              </a:rPr>
              <a:t>R</a:t>
            </a:r>
            <a:r>
              <a:rPr lang="zh-CN" altLang="en-US" sz="2400" dirty="0">
                <a:sym typeface="Symbol" charset="0"/>
              </a:rPr>
              <a:t>属于</a:t>
            </a:r>
            <a:r>
              <a:rPr lang="en-US" altLang="zh-CN" sz="2400" dirty="0">
                <a:sym typeface="Symbol" charset="0"/>
              </a:rPr>
              <a:t>BCNF</a:t>
            </a:r>
            <a:r>
              <a:rPr lang="zh-CN" altLang="en-US" sz="2400" dirty="0">
                <a:sym typeface="Symbol" charset="0"/>
              </a:rPr>
              <a:t>吗？</a:t>
            </a:r>
          </a:p>
          <a:p>
            <a:endParaRPr lang="en-US" sz="2400" dirty="0" smtClean="0"/>
          </a:p>
          <a:p>
            <a:pPr eaLnBrk="1" hangingPunct="1">
              <a:lnSpc>
                <a:spcPct val="120000"/>
              </a:lnSpc>
              <a:buClr>
                <a:schemeClr val="hlink"/>
              </a:buClr>
              <a:buSzPct val="65000"/>
            </a:pPr>
            <a:r>
              <a:rPr lang="zh-CN" altLang="en-US" dirty="0">
                <a:solidFill>
                  <a:srgbClr val="FF0066"/>
                </a:solidFill>
                <a:effectLst>
                  <a:outerShdw blurRad="38100" dist="38100" dir="2700000" algn="tl">
                    <a:srgbClr val="000000"/>
                  </a:outerShdw>
                </a:effectLst>
                <a:ea typeface="仿宋_GB2312" charset="0"/>
                <a:cs typeface="仿宋_GB2312" charset="0"/>
                <a:sym typeface="Symbol" charset="0"/>
              </a:rPr>
              <a:t>解答：</a:t>
            </a:r>
          </a:p>
          <a:p>
            <a:pPr lvl="1" eaLnBrk="1" hangingPunct="1">
              <a:lnSpc>
                <a:spcPct val="120000"/>
              </a:lnSpc>
              <a:buSzPct val="60000"/>
              <a:buFont typeface="Wingdings" charset="0"/>
              <a:buChar char="l"/>
            </a:pPr>
            <a:r>
              <a:rPr lang="en-US" altLang="zh-CN" dirty="0">
                <a:solidFill>
                  <a:srgbClr val="0000FF"/>
                </a:solidFill>
                <a:ea typeface="仿宋_GB2312" charset="0"/>
                <a:cs typeface="仿宋_GB2312" charset="0"/>
                <a:sym typeface="Symbol" charset="0"/>
              </a:rPr>
              <a:t>(</a:t>
            </a:r>
            <a:r>
              <a:rPr lang="en-US" altLang="zh-CN" dirty="0" err="1">
                <a:solidFill>
                  <a:srgbClr val="0000FF"/>
                </a:solidFill>
                <a:ea typeface="仿宋_GB2312" charset="0"/>
                <a:cs typeface="仿宋_GB2312" charset="0"/>
                <a:sym typeface="Symbol" charset="0"/>
              </a:rPr>
              <a:t>Sno,Cno</a:t>
            </a:r>
            <a:r>
              <a:rPr lang="en-US" altLang="zh-CN" dirty="0">
                <a:solidFill>
                  <a:srgbClr val="0000FF"/>
                </a:solidFill>
                <a:ea typeface="仿宋_GB2312" charset="0"/>
                <a:cs typeface="仿宋_GB2312" charset="0"/>
                <a:sym typeface="Symbol" charset="0"/>
              </a:rPr>
              <a:t>)</a:t>
            </a:r>
            <a:r>
              <a:rPr lang="zh-CN" altLang="en-US" dirty="0">
                <a:ea typeface="仿宋_GB2312" charset="0"/>
                <a:cs typeface="仿宋_GB2312" charset="0"/>
                <a:sym typeface="Symbol" charset="0"/>
              </a:rPr>
              <a:t>或者</a:t>
            </a:r>
            <a:r>
              <a:rPr lang="en-US" altLang="zh-CN" dirty="0">
                <a:solidFill>
                  <a:srgbClr val="0000FF"/>
                </a:solidFill>
                <a:ea typeface="仿宋_GB2312" charset="0"/>
                <a:cs typeface="仿宋_GB2312" charset="0"/>
                <a:sym typeface="Symbol" charset="0"/>
              </a:rPr>
              <a:t>(</a:t>
            </a:r>
            <a:r>
              <a:rPr lang="en-US" altLang="zh-CN" dirty="0" err="1">
                <a:solidFill>
                  <a:srgbClr val="0000FF"/>
                </a:solidFill>
                <a:ea typeface="仿宋_GB2312" charset="0"/>
                <a:cs typeface="仿宋_GB2312" charset="0"/>
                <a:sym typeface="Symbol" charset="0"/>
              </a:rPr>
              <a:t>Cno,ORDER</a:t>
            </a:r>
            <a:r>
              <a:rPr lang="en-US" altLang="zh-CN" dirty="0">
                <a:solidFill>
                  <a:srgbClr val="0000FF"/>
                </a:solidFill>
                <a:ea typeface="仿宋_GB2312" charset="0"/>
                <a:cs typeface="仿宋_GB2312" charset="0"/>
                <a:sym typeface="Symbol" charset="0"/>
              </a:rPr>
              <a:t>)</a:t>
            </a:r>
            <a:r>
              <a:rPr lang="zh-CN" altLang="en-US" dirty="0">
                <a:ea typeface="仿宋_GB2312" charset="0"/>
                <a:cs typeface="仿宋_GB2312" charset="0"/>
                <a:sym typeface="Symbol" charset="0"/>
              </a:rPr>
              <a:t>都可以作为候选码</a:t>
            </a:r>
          </a:p>
          <a:p>
            <a:pPr lvl="1" eaLnBrk="1" hangingPunct="1">
              <a:lnSpc>
                <a:spcPct val="120000"/>
              </a:lnSpc>
              <a:buSzPct val="60000"/>
              <a:buFont typeface="Wingdings" charset="0"/>
              <a:buChar char="l"/>
            </a:pPr>
            <a:r>
              <a:rPr lang="zh-CN" altLang="en-US" dirty="0">
                <a:ea typeface="仿宋_GB2312" charset="0"/>
                <a:cs typeface="仿宋_GB2312" charset="0"/>
                <a:sym typeface="Symbol" charset="0"/>
              </a:rPr>
              <a:t>不存在非主属性对码传递依赖或部分依赖，</a:t>
            </a:r>
            <a:r>
              <a:rPr lang="en-US" altLang="zh-CN" dirty="0">
                <a:ea typeface="仿宋_GB2312" charset="0"/>
                <a:cs typeface="仿宋_GB2312" charset="0"/>
                <a:sym typeface="Symbol" charset="0"/>
              </a:rPr>
              <a:t>SCO∈3NF</a:t>
            </a:r>
          </a:p>
          <a:p>
            <a:pPr lvl="1" eaLnBrk="1" hangingPunct="1">
              <a:lnSpc>
                <a:spcPct val="120000"/>
              </a:lnSpc>
              <a:buSzPct val="60000"/>
              <a:buFont typeface="Wingdings" charset="0"/>
              <a:buChar char="l"/>
            </a:pPr>
            <a:r>
              <a:rPr lang="zh-CN" altLang="en-US" dirty="0">
                <a:ea typeface="仿宋_GB2312" charset="0"/>
                <a:cs typeface="仿宋_GB2312" charset="0"/>
                <a:sym typeface="Symbol" charset="0"/>
              </a:rPr>
              <a:t>没有其他决定因素，</a:t>
            </a:r>
            <a:r>
              <a:rPr lang="en-US" altLang="zh-CN" dirty="0">
                <a:ea typeface="仿宋_GB2312" charset="0"/>
                <a:cs typeface="仿宋_GB2312" charset="0"/>
                <a:sym typeface="Symbol" charset="0"/>
              </a:rPr>
              <a:t>R∈BCNF</a:t>
            </a:r>
            <a:endParaRPr lang="en-US" altLang="zh-CN" dirty="0">
              <a:ea typeface="仿宋_GB2312" charset="0"/>
              <a:cs typeface="仿宋_GB2312" charset="0"/>
            </a:endParaRP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41</a:t>
            </a:fld>
            <a:endParaRPr lang="en-US" altLang="zh-CN"/>
          </a:p>
        </p:txBody>
      </p:sp>
    </p:spTree>
    <p:extLst>
      <p:ext uri="{BB962C8B-B14F-4D97-AF65-F5344CB8AC3E}">
        <p14:creationId xmlns:p14="http://schemas.microsoft.com/office/powerpoint/2010/main" val="104951913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BCNF</a:t>
            </a:r>
            <a:endParaRPr lang="en-US" dirty="0"/>
          </a:p>
        </p:txBody>
      </p:sp>
      <p:sp>
        <p:nvSpPr>
          <p:cNvPr id="3" name="Content Placeholder 2"/>
          <p:cNvSpPr>
            <a:spLocks noGrp="1"/>
          </p:cNvSpPr>
          <p:nvPr>
            <p:ph idx="1"/>
          </p:nvPr>
        </p:nvSpPr>
        <p:spPr>
          <a:xfrm>
            <a:off x="390769" y="908720"/>
            <a:ext cx="8572256" cy="5263481"/>
          </a:xfrm>
        </p:spPr>
        <p:txBody>
          <a:bodyPr/>
          <a:lstStyle/>
          <a:p>
            <a:r>
              <a:rPr lang="en-US" altLang="zh-CN" sz="2400" dirty="0" smtClean="0"/>
              <a:t>BCNF</a:t>
            </a:r>
            <a:r>
              <a:rPr lang="zh-CN" altLang="en-US" sz="2400" dirty="0" smtClean="0"/>
              <a:t>的性质：</a:t>
            </a:r>
            <a:endParaRPr lang="en-US" altLang="zh-CN" sz="2400" dirty="0" smtClean="0"/>
          </a:p>
          <a:p>
            <a:pPr marL="274637" lvl="1" indent="0">
              <a:buClr>
                <a:schemeClr val="tx2"/>
              </a:buClr>
              <a:buSzPct val="90000"/>
              <a:buNone/>
            </a:pPr>
            <a:r>
              <a:rPr lang="en-US" altLang="zh-CN" dirty="0"/>
              <a:t>1</a:t>
            </a:r>
            <a:r>
              <a:rPr lang="zh-CN" altLang="en-US" dirty="0"/>
              <a:t>）所有非主属性都完全依赖于候选码；</a:t>
            </a:r>
          </a:p>
          <a:p>
            <a:pPr marL="274637" lvl="1" indent="0">
              <a:buClr>
                <a:schemeClr val="tx2"/>
              </a:buClr>
              <a:buSzPct val="90000"/>
              <a:buNone/>
            </a:pPr>
            <a:r>
              <a:rPr lang="en-US" altLang="zh-CN" dirty="0"/>
              <a:t>2</a:t>
            </a:r>
            <a:r>
              <a:rPr lang="zh-CN" altLang="en-US" dirty="0"/>
              <a:t>）所有非主属性都不传递依赖于候选码；</a:t>
            </a:r>
          </a:p>
          <a:p>
            <a:pPr marL="274637" lvl="1" indent="0">
              <a:buClr>
                <a:schemeClr val="tx2"/>
              </a:buClr>
              <a:buSzPct val="90000"/>
              <a:buNone/>
            </a:pPr>
            <a:r>
              <a:rPr lang="en-US" altLang="zh-CN" dirty="0"/>
              <a:t>3</a:t>
            </a:r>
            <a:r>
              <a:rPr lang="zh-CN" altLang="en-US" dirty="0"/>
              <a:t>）所有主属性都完全依赖于不包含它的候选码；</a:t>
            </a:r>
          </a:p>
          <a:p>
            <a:pPr marL="274637" lvl="1" indent="0">
              <a:buClr>
                <a:schemeClr val="tx2"/>
              </a:buClr>
              <a:buSzPct val="90000"/>
              <a:buNone/>
            </a:pPr>
            <a:r>
              <a:rPr lang="en-US" altLang="zh-CN" dirty="0"/>
              <a:t>4</a:t>
            </a:r>
            <a:r>
              <a:rPr lang="zh-CN" altLang="en-US" dirty="0"/>
              <a:t>）所有主属性都不传递依赖于候选码。</a:t>
            </a:r>
          </a:p>
          <a:p>
            <a:pPr>
              <a:buClr>
                <a:srgbClr val="0000FF"/>
              </a:buClr>
              <a:buSzPct val="90000"/>
              <a:buFont typeface="Wingdings" charset="0"/>
              <a:buChar char="v"/>
            </a:pPr>
            <a:r>
              <a:rPr lang="zh-CN" altLang="en-US" sz="2400" dirty="0"/>
              <a:t>如果一个关</a:t>
            </a:r>
            <a:r>
              <a:rPr lang="zh-CN" altLang="en-US" sz="2400" dirty="0" smtClean="0"/>
              <a:t>系</a:t>
            </a:r>
            <a:r>
              <a:rPr lang="en-US" altLang="zh-CN" sz="2400" dirty="0" smtClean="0"/>
              <a:t>DB</a:t>
            </a:r>
            <a:r>
              <a:rPr lang="zh-CN" altLang="en-US" sz="2400" dirty="0" smtClean="0"/>
              <a:t>中</a:t>
            </a:r>
            <a:r>
              <a:rPr lang="zh-CN" altLang="en-US" sz="2400" dirty="0"/>
              <a:t>所有关系模式都属于</a:t>
            </a:r>
            <a:r>
              <a:rPr lang="en-US" altLang="zh-CN" sz="2400" dirty="0"/>
              <a:t>3NF</a:t>
            </a:r>
            <a:r>
              <a:rPr lang="zh-CN" altLang="en-US" sz="2400" dirty="0"/>
              <a:t>，则已在很大程度上消除了插入异常和删除异</a:t>
            </a:r>
            <a:r>
              <a:rPr lang="zh-CN" altLang="en-US" sz="2400" dirty="0" smtClean="0"/>
              <a:t>常，</a:t>
            </a:r>
            <a:r>
              <a:rPr lang="zh-CN" altLang="en-US" sz="2400" dirty="0"/>
              <a:t>但仍然可能存在主属性对候选键的部分依赖和传递依赖。</a:t>
            </a:r>
          </a:p>
          <a:p>
            <a:pPr>
              <a:buClr>
                <a:srgbClr val="0000FF"/>
              </a:buClr>
              <a:buSzPct val="90000"/>
              <a:buFont typeface="Wingdings" charset="0"/>
              <a:buChar char="v"/>
            </a:pPr>
            <a:r>
              <a:rPr lang="zh-CN" altLang="en-US" sz="2400" dirty="0"/>
              <a:t> 如果一个关系数据库中所有关系模式都属于</a:t>
            </a:r>
            <a:r>
              <a:rPr lang="en-US" altLang="zh-CN" sz="2400" dirty="0"/>
              <a:t>BCNF</a:t>
            </a:r>
            <a:r>
              <a:rPr lang="zh-CN" altLang="en-US" sz="2400" dirty="0"/>
              <a:t>，那么</a:t>
            </a:r>
            <a:r>
              <a:rPr lang="zh-CN" altLang="en-US" sz="2400" dirty="0">
                <a:solidFill>
                  <a:srgbClr val="FF0066"/>
                </a:solidFill>
                <a:effectLst>
                  <a:outerShdw blurRad="38100" dist="38100" dir="2700000" algn="tl">
                    <a:srgbClr val="000000"/>
                  </a:outerShdw>
                </a:effectLst>
              </a:rPr>
              <a:t>在函数依赖的范畴内</a:t>
            </a:r>
            <a:r>
              <a:rPr lang="zh-CN" altLang="en-US" sz="2400" dirty="0"/>
              <a:t>，已经实现了模式的彻底分解</a:t>
            </a:r>
            <a:r>
              <a:rPr lang="zh-CN" altLang="en-US" sz="2400" dirty="0" smtClean="0"/>
              <a:t>，</a:t>
            </a:r>
            <a:r>
              <a:rPr lang="zh-CN" altLang="en-US" sz="2400" dirty="0" smtClean="0">
                <a:solidFill>
                  <a:srgbClr val="FF0000"/>
                </a:solidFill>
              </a:rPr>
              <a:t>完全</a:t>
            </a:r>
            <a:r>
              <a:rPr lang="zh-CN" altLang="en-US" sz="2400" dirty="0" smtClean="0"/>
              <a:t>消除了产生插入异常和删除异</a:t>
            </a:r>
            <a:r>
              <a:rPr lang="zh-CN" altLang="en-US" sz="2400" dirty="0"/>
              <a:t>常的根源，而且数据冗余也减少到极小程度。</a:t>
            </a:r>
          </a:p>
          <a:p>
            <a:pPr>
              <a:buClr>
                <a:srgbClr val="0000FF"/>
              </a:buClr>
              <a:buSzPct val="90000"/>
              <a:buFont typeface="Wingdings" charset="0"/>
              <a:buChar char="v"/>
            </a:pPr>
            <a:r>
              <a:rPr lang="zh-CN" altLang="en-US" sz="2400" dirty="0"/>
              <a:t> 但是除了函数依赖，还存在另一种数据依赖</a:t>
            </a:r>
            <a:r>
              <a:rPr lang="en-US" altLang="zh-CN" sz="2400" dirty="0"/>
              <a:t>——</a:t>
            </a:r>
            <a:r>
              <a:rPr lang="zh-CN" altLang="en-US" sz="2400" dirty="0">
                <a:solidFill>
                  <a:srgbClr val="FF0066"/>
                </a:solidFill>
                <a:effectLst>
                  <a:outerShdw blurRad="38100" dist="38100" dir="2700000" algn="tl">
                    <a:srgbClr val="000000"/>
                  </a:outerShdw>
                </a:effectLst>
              </a:rPr>
              <a:t>多值依赖</a:t>
            </a:r>
            <a:r>
              <a:rPr lang="zh-CN" altLang="en-US" sz="2400" dirty="0"/>
              <a:t>。</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42</a:t>
            </a:fld>
            <a:endParaRPr lang="en-US" altLang="zh-CN"/>
          </a:p>
        </p:txBody>
      </p:sp>
    </p:spTree>
    <p:extLst>
      <p:ext uri="{BB962C8B-B14F-4D97-AF65-F5344CB8AC3E}">
        <p14:creationId xmlns:p14="http://schemas.microsoft.com/office/powerpoint/2010/main" val="218971719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6.2.7 </a:t>
            </a:r>
            <a:r>
              <a:rPr lang="zh-CN" altLang="en-US" dirty="0" smtClean="0"/>
              <a:t>多值依赖</a:t>
            </a:r>
            <a:endParaRPr lang="en-US" dirty="0"/>
          </a:p>
        </p:txBody>
      </p:sp>
      <p:sp>
        <p:nvSpPr>
          <p:cNvPr id="3" name="Content Placeholder 2"/>
          <p:cNvSpPr>
            <a:spLocks noGrp="1"/>
          </p:cNvSpPr>
          <p:nvPr>
            <p:ph idx="1"/>
          </p:nvPr>
        </p:nvSpPr>
        <p:spPr/>
        <p:txBody>
          <a:bodyPr/>
          <a:lstStyle/>
          <a:p>
            <a:pPr>
              <a:lnSpc>
                <a:spcPct val="120000"/>
              </a:lnSpc>
            </a:pPr>
            <a:r>
              <a:rPr lang="en-US" altLang="zh-CN" sz="2400" dirty="0"/>
              <a:t>1.</a:t>
            </a:r>
            <a:r>
              <a:rPr lang="zh-CN" altLang="en-US" sz="2400" dirty="0">
                <a:latin typeface="宋体" charset="0"/>
              </a:rPr>
              <a:t>问题的提出</a:t>
            </a:r>
          </a:p>
          <a:p>
            <a:pPr algn="just">
              <a:lnSpc>
                <a:spcPct val="120000"/>
              </a:lnSpc>
              <a:spcBef>
                <a:spcPct val="0"/>
              </a:spcBef>
              <a:buNone/>
            </a:pPr>
            <a:r>
              <a:rPr lang="zh-CN" altLang="en-US" sz="2400" b="1" dirty="0">
                <a:latin typeface="黑体" charset="0"/>
                <a:ea typeface="黑体" charset="0"/>
                <a:cs typeface="黑体" charset="0"/>
              </a:rPr>
              <a:t>	</a:t>
            </a:r>
            <a:r>
              <a:rPr lang="zh-CN" altLang="en-US" sz="2400" dirty="0"/>
              <a:t>设学校中某一门课</a:t>
            </a:r>
            <a:r>
              <a:rPr lang="zh-CN" altLang="en-US" sz="2400" dirty="0" smtClean="0"/>
              <a:t>程</a:t>
            </a:r>
            <a:r>
              <a:rPr lang="en-US" altLang="zh-CN" sz="2400" dirty="0" smtClean="0"/>
              <a:t>C</a:t>
            </a:r>
            <a:r>
              <a:rPr lang="zh-CN" altLang="en-US" sz="2400" dirty="0" smtClean="0"/>
              <a:t>由多个教师</a:t>
            </a:r>
            <a:r>
              <a:rPr lang="en-US" altLang="zh-CN" sz="2400" dirty="0" smtClean="0"/>
              <a:t>T</a:t>
            </a:r>
            <a:r>
              <a:rPr lang="zh-CN" altLang="en-US" sz="2400" dirty="0" smtClean="0"/>
              <a:t>讲授</a:t>
            </a:r>
            <a:r>
              <a:rPr lang="zh-CN" altLang="en-US" sz="2400" dirty="0"/>
              <a:t>，他们使用</a:t>
            </a:r>
            <a:r>
              <a:rPr lang="zh-CN" altLang="en-US" sz="2400" dirty="0" smtClean="0"/>
              <a:t>相同的一套参考书</a:t>
            </a:r>
            <a:r>
              <a:rPr lang="en-US" altLang="zh-CN" sz="2400" dirty="0" smtClean="0"/>
              <a:t>B</a:t>
            </a:r>
            <a:r>
              <a:rPr lang="zh-CN" altLang="en-US" sz="2400" dirty="0" smtClean="0"/>
              <a:t>，</a:t>
            </a:r>
            <a:r>
              <a:rPr lang="zh-CN" altLang="en-US" sz="2400" dirty="0"/>
              <a:t>每个教员可以讲授多门课程</a:t>
            </a:r>
            <a:r>
              <a:rPr lang="en-US" altLang="zh-CN" sz="2400" dirty="0"/>
              <a:t>,</a:t>
            </a:r>
            <a:r>
              <a:rPr lang="zh-CN" altLang="en-US" sz="2400" dirty="0"/>
              <a:t>每种参考书可以供多门课程使用</a:t>
            </a:r>
            <a:r>
              <a:rPr lang="zh-CN" altLang="en-US" sz="2400" dirty="0" smtClean="0"/>
              <a:t>。</a:t>
            </a:r>
            <a:endParaRPr lang="en-US" altLang="zh-CN" sz="2400" dirty="0" smtClean="0"/>
          </a:p>
          <a:p>
            <a:pPr algn="just">
              <a:lnSpc>
                <a:spcPct val="120000"/>
              </a:lnSpc>
              <a:spcBef>
                <a:spcPct val="0"/>
              </a:spcBef>
              <a:buNone/>
            </a:pPr>
            <a:endParaRPr lang="en-US" altLang="zh-CN" sz="2400" dirty="0"/>
          </a:p>
          <a:p>
            <a:pPr algn="just">
              <a:lnSpc>
                <a:spcPct val="120000"/>
              </a:lnSpc>
              <a:spcBef>
                <a:spcPct val="0"/>
              </a:spcBef>
              <a:buNone/>
            </a:pPr>
            <a:endParaRPr lang="en-US" altLang="zh-CN" sz="2400" dirty="0"/>
          </a:p>
          <a:p>
            <a:pPr algn="just">
              <a:lnSpc>
                <a:spcPct val="120000"/>
              </a:lnSpc>
              <a:spcBef>
                <a:spcPct val="0"/>
              </a:spcBef>
            </a:pPr>
            <a:r>
              <a:rPr lang="zh-CN" altLang="en-US" sz="2400" dirty="0" smtClean="0"/>
              <a:t>考察关</a:t>
            </a:r>
            <a:r>
              <a:rPr lang="zh-CN" altLang="en-US" sz="2400" dirty="0"/>
              <a:t>系模式</a:t>
            </a:r>
            <a:r>
              <a:rPr lang="zh-CN" altLang="en-US" sz="2400" dirty="0" smtClean="0"/>
              <a:t>：</a:t>
            </a:r>
            <a:endParaRPr lang="en-US" altLang="zh-CN" sz="2400" dirty="0" smtClean="0"/>
          </a:p>
          <a:p>
            <a:pPr marL="0" indent="0" algn="just">
              <a:lnSpc>
                <a:spcPct val="120000"/>
              </a:lnSpc>
              <a:spcBef>
                <a:spcPct val="0"/>
              </a:spcBef>
              <a:buNone/>
            </a:pPr>
            <a:r>
              <a:rPr lang="en-US" altLang="zh-CN" sz="2400" dirty="0"/>
              <a:t> </a:t>
            </a:r>
            <a:r>
              <a:rPr lang="en-US" altLang="zh-CN" sz="2400" dirty="0" smtClean="0"/>
              <a:t>   </a:t>
            </a:r>
            <a:r>
              <a:rPr lang="en-US" altLang="zh-CN" sz="2400" dirty="0" smtClean="0">
                <a:solidFill>
                  <a:srgbClr val="FF0000"/>
                </a:solidFill>
              </a:rPr>
              <a:t>Teaching</a:t>
            </a:r>
            <a:r>
              <a:rPr lang="en-US" altLang="zh-CN" sz="2400" dirty="0">
                <a:solidFill>
                  <a:srgbClr val="FF0000"/>
                </a:solidFill>
              </a:rPr>
              <a:t>(C, T, B</a:t>
            </a:r>
            <a:r>
              <a:rPr lang="en-US" altLang="zh-CN" sz="2400" dirty="0" smtClean="0">
                <a:solidFill>
                  <a:srgbClr val="FF0000"/>
                </a:solidFill>
              </a:rPr>
              <a:t>)</a:t>
            </a:r>
            <a:endParaRPr lang="en-US" altLang="zh-CN" sz="2400" dirty="0">
              <a:solidFill>
                <a:srgbClr val="FF0000"/>
              </a:solidFill>
            </a:endParaRPr>
          </a:p>
          <a:p>
            <a:pPr algn="just">
              <a:lnSpc>
                <a:spcPct val="120000"/>
              </a:lnSpc>
              <a:spcBef>
                <a:spcPct val="0"/>
              </a:spcBef>
              <a:buNone/>
            </a:pPr>
            <a:r>
              <a:rPr lang="en-US" altLang="zh-CN" sz="2400" dirty="0"/>
              <a:t>    </a:t>
            </a:r>
            <a:r>
              <a:rPr lang="en-US" altLang="zh-CN" sz="2400" dirty="0" smtClean="0"/>
              <a:t>      </a:t>
            </a:r>
            <a:r>
              <a:rPr lang="zh-CN" altLang="en-US" sz="2400" dirty="0" smtClean="0"/>
              <a:t>课</a:t>
            </a:r>
            <a:r>
              <a:rPr lang="zh-CN" altLang="en-US" sz="2400" dirty="0"/>
              <a:t>程</a:t>
            </a:r>
            <a:r>
              <a:rPr lang="en-US" altLang="zh-CN" sz="2400" dirty="0" smtClean="0"/>
              <a:t>C</a:t>
            </a:r>
          </a:p>
          <a:p>
            <a:pPr algn="just">
              <a:lnSpc>
                <a:spcPct val="120000"/>
              </a:lnSpc>
              <a:spcBef>
                <a:spcPct val="0"/>
              </a:spcBef>
              <a:buNone/>
            </a:pPr>
            <a:r>
              <a:rPr lang="en-US" altLang="zh-CN" sz="2400" dirty="0"/>
              <a:t> </a:t>
            </a:r>
            <a:r>
              <a:rPr lang="en-US" altLang="zh-CN" sz="2400" dirty="0" smtClean="0"/>
              <a:t>         </a:t>
            </a:r>
            <a:r>
              <a:rPr lang="zh-CN" altLang="en-US" sz="2400" dirty="0" smtClean="0"/>
              <a:t>教师</a:t>
            </a:r>
            <a:r>
              <a:rPr lang="en-US" altLang="zh-CN" sz="2400" dirty="0" smtClean="0"/>
              <a:t>T</a:t>
            </a:r>
          </a:p>
          <a:p>
            <a:pPr algn="just">
              <a:lnSpc>
                <a:spcPct val="120000"/>
              </a:lnSpc>
              <a:spcBef>
                <a:spcPct val="0"/>
              </a:spcBef>
              <a:buNone/>
            </a:pPr>
            <a:r>
              <a:rPr lang="en-US" altLang="zh-CN" sz="2400" dirty="0"/>
              <a:t> </a:t>
            </a:r>
            <a:r>
              <a:rPr lang="en-US" altLang="zh-CN" sz="2400" dirty="0" smtClean="0"/>
              <a:t>         </a:t>
            </a:r>
            <a:r>
              <a:rPr lang="zh-CN" altLang="en-US" sz="2400" dirty="0" smtClean="0"/>
              <a:t>参考书</a:t>
            </a:r>
            <a:r>
              <a:rPr lang="en-US" altLang="zh-CN" sz="2400" dirty="0"/>
              <a:t>B</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43</a:t>
            </a:fld>
            <a:endParaRPr lang="en-US" altLang="zh-CN"/>
          </a:p>
        </p:txBody>
      </p:sp>
      <p:graphicFrame>
        <p:nvGraphicFramePr>
          <p:cNvPr id="6" name="Group 4"/>
          <p:cNvGraphicFramePr>
            <a:graphicFrameLocks noGrp="1"/>
          </p:cNvGraphicFramePr>
          <p:nvPr>
            <p:extLst>
              <p:ext uri="{D42A27DB-BD31-4B8C-83A1-F6EECF244321}">
                <p14:modId xmlns:p14="http://schemas.microsoft.com/office/powerpoint/2010/main" val="419422563"/>
              </p:ext>
            </p:extLst>
          </p:nvPr>
        </p:nvGraphicFramePr>
        <p:xfrm>
          <a:off x="3826738" y="2928939"/>
          <a:ext cx="4489740" cy="2843789"/>
        </p:xfrm>
        <a:graphic>
          <a:graphicData uri="http://schemas.openxmlformats.org/drawingml/2006/table">
            <a:tbl>
              <a:tblPr/>
              <a:tblGrid>
                <a:gridCol w="1226896"/>
                <a:gridCol w="1132006"/>
                <a:gridCol w="2130838"/>
              </a:tblGrid>
              <a:tr h="40625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2"/>
                          </a:solidFill>
                          <a:effectLst/>
                          <a:latin typeface="Arial" charset="0"/>
                          <a:ea typeface="宋体" charset="0"/>
                          <a:cs typeface="宋体" charset="0"/>
                        </a:rPr>
                        <a:t>课程</a:t>
                      </a:r>
                      <a:r>
                        <a:rPr kumimoji="0" lang="en-US" altLang="zh-CN" sz="2000" b="0" i="0" u="none" strike="noStrike" cap="none" normalizeH="0" baseline="0">
                          <a:ln>
                            <a:noFill/>
                          </a:ln>
                          <a:solidFill>
                            <a:schemeClr val="tx2"/>
                          </a:solidFill>
                          <a:effectLst/>
                          <a:latin typeface="Arial" charset="0"/>
                          <a:ea typeface="宋体" charset="0"/>
                          <a:cs typeface="宋体" charset="0"/>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2"/>
                          </a:solidFill>
                          <a:effectLst/>
                          <a:latin typeface="Arial" charset="0"/>
                          <a:ea typeface="宋体" charset="0"/>
                          <a:cs typeface="宋体" charset="0"/>
                        </a:rPr>
                        <a:t>教员</a:t>
                      </a:r>
                      <a:r>
                        <a:rPr kumimoji="0" lang="en-US" altLang="zh-CN" sz="2000" b="0" i="0" u="none" strike="noStrike" cap="none" normalizeH="0" baseline="0">
                          <a:ln>
                            <a:noFill/>
                          </a:ln>
                          <a:solidFill>
                            <a:schemeClr val="tx2"/>
                          </a:solidFill>
                          <a:effectLst/>
                          <a:latin typeface="Arial" charset="0"/>
                          <a:ea typeface="宋体" charset="0"/>
                          <a:cs typeface="宋体" charset="0"/>
                        </a:rPr>
                        <a:t>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2"/>
                          </a:solidFill>
                          <a:effectLst/>
                          <a:latin typeface="Arial" charset="0"/>
                          <a:ea typeface="宋体" charset="0"/>
                          <a:cs typeface="宋体" charset="0"/>
                        </a:rPr>
                        <a:t>参考书</a:t>
                      </a:r>
                      <a:r>
                        <a:rPr kumimoji="0" lang="en-US" altLang="zh-CN" sz="2000" b="0" i="0" u="none" strike="noStrike" cap="none" normalizeH="0" baseline="0" dirty="0">
                          <a:ln>
                            <a:noFill/>
                          </a:ln>
                          <a:solidFill>
                            <a:schemeClr val="tx2"/>
                          </a:solidFill>
                          <a:effectLst/>
                          <a:latin typeface="Arial" charset="0"/>
                          <a:ea typeface="宋体" charset="0"/>
                          <a:cs typeface="宋体" charset="0"/>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5E5"/>
                    </a:solidFill>
                  </a:tcPr>
                </a:tc>
              </a:tr>
              <a:tr h="81251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李勇</a:t>
                      </a:r>
                    </a:p>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王军</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Arial" charset="0"/>
                          <a:ea typeface="宋体" charset="0"/>
                          <a:cs typeface="宋体" charset="0"/>
                        </a:rPr>
                        <a:t>普通物理学</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Arial" charset="0"/>
                          <a:ea typeface="宋体" charset="0"/>
                          <a:cs typeface="宋体" charset="0"/>
                        </a:rPr>
                        <a:t>光学原理</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51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李勇</a:t>
                      </a:r>
                    </a:p>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数学分析</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高等代数</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51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张平</a:t>
                      </a:r>
                    </a:p>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Arial" charset="0"/>
                          <a:ea typeface="宋体" charset="0"/>
                          <a:cs typeface="宋体" charset="0"/>
                        </a:rPr>
                        <a:t>周峰</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Arial"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751302954"/>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多值依赖</a:t>
            </a:r>
            <a:endParaRPr lang="en-US" dirty="0"/>
          </a:p>
        </p:txBody>
      </p:sp>
      <p:sp>
        <p:nvSpPr>
          <p:cNvPr id="3" name="Content Placeholder 2"/>
          <p:cNvSpPr>
            <a:spLocks noGrp="1"/>
          </p:cNvSpPr>
          <p:nvPr>
            <p:ph idx="1"/>
          </p:nvPr>
        </p:nvSpPr>
        <p:spPr/>
        <p:txBody>
          <a:bodyPr/>
          <a:lstStyle/>
          <a:p>
            <a:r>
              <a:rPr lang="en-US" altLang="zh-CN" sz="2400" dirty="0"/>
              <a:t>Teaching(C, T, B</a:t>
            </a:r>
            <a:r>
              <a:rPr lang="en-US" altLang="zh-CN" sz="2400" dirty="0" smtClean="0"/>
              <a:t>) </a:t>
            </a:r>
            <a:r>
              <a:rPr lang="zh-CN" altLang="en-US" sz="2400" dirty="0" smtClean="0">
                <a:latin typeface="Times New Roman" charset="0"/>
              </a:rPr>
              <a:t>规范化</a:t>
            </a:r>
            <a:r>
              <a:rPr lang="zh-CN" altLang="en-US" sz="2400" dirty="0">
                <a:latin typeface="Times New Roman" charset="0"/>
              </a:rPr>
              <a:t>的二维表</a:t>
            </a:r>
            <a:r>
              <a:rPr lang="zh-CN" altLang="en-US" sz="2400" dirty="0" smtClean="0">
                <a:latin typeface="Times New Roman" charset="0"/>
              </a:rPr>
              <a:t>格：</a:t>
            </a: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44</a:t>
            </a:fld>
            <a:endParaRPr lang="en-US" altLang="zh-CN"/>
          </a:p>
        </p:txBody>
      </p:sp>
      <p:graphicFrame>
        <p:nvGraphicFramePr>
          <p:cNvPr id="6" name="Group 3"/>
          <p:cNvGraphicFramePr>
            <a:graphicFrameLocks noGrp="1"/>
          </p:cNvGraphicFramePr>
          <p:nvPr>
            <p:extLst>
              <p:ext uri="{D42A27DB-BD31-4B8C-83A1-F6EECF244321}">
                <p14:modId xmlns:p14="http://schemas.microsoft.com/office/powerpoint/2010/main" val="4251083322"/>
              </p:ext>
            </p:extLst>
          </p:nvPr>
        </p:nvGraphicFramePr>
        <p:xfrm>
          <a:off x="1016000" y="1547520"/>
          <a:ext cx="4090090" cy="4624681"/>
        </p:xfrm>
        <a:graphic>
          <a:graphicData uri="http://schemas.openxmlformats.org/drawingml/2006/table">
            <a:tbl>
              <a:tblPr/>
              <a:tblGrid>
                <a:gridCol w="1236498"/>
                <a:gridCol w="1107467"/>
                <a:gridCol w="1746125"/>
              </a:tblGrid>
              <a:tr h="42169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2"/>
                          </a:solidFill>
                          <a:effectLst/>
                          <a:latin typeface="宋体" charset="0"/>
                          <a:ea typeface="宋体" charset="0"/>
                          <a:cs typeface="宋体" charset="0"/>
                        </a:rPr>
                        <a:t>课程</a:t>
                      </a:r>
                      <a:r>
                        <a:rPr kumimoji="0" lang="en-US" altLang="zh-CN" sz="2000" b="0" i="0" u="none" strike="noStrike" cap="none" normalizeH="0" baseline="0" dirty="0">
                          <a:ln>
                            <a:noFill/>
                          </a:ln>
                          <a:solidFill>
                            <a:schemeClr val="tx2"/>
                          </a:solidFill>
                          <a:effectLst/>
                          <a:latin typeface="宋体" charset="0"/>
                          <a:ea typeface="宋体" charset="0"/>
                          <a:cs typeface="宋体" charset="0"/>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2"/>
                          </a:solidFill>
                          <a:effectLst/>
                          <a:latin typeface="宋体" charset="0"/>
                          <a:ea typeface="宋体" charset="0"/>
                          <a:cs typeface="宋体" charset="0"/>
                        </a:rPr>
                        <a:t>教员</a:t>
                      </a:r>
                      <a:r>
                        <a:rPr kumimoji="0" lang="en-US" altLang="zh-CN" sz="2000" b="0" i="0" u="none" strike="noStrike" cap="none" normalizeH="0" baseline="0">
                          <a:ln>
                            <a:noFill/>
                          </a:ln>
                          <a:solidFill>
                            <a:schemeClr val="tx2"/>
                          </a:solidFill>
                          <a:effectLst/>
                          <a:latin typeface="宋体" charset="0"/>
                          <a:ea typeface="宋体" charset="0"/>
                          <a:cs typeface="宋体" charset="0"/>
                        </a:rPr>
                        <a:t>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2"/>
                          </a:solidFill>
                          <a:effectLst/>
                          <a:latin typeface="宋体" charset="0"/>
                          <a:ea typeface="宋体" charset="0"/>
                          <a:cs typeface="宋体" charset="0"/>
                        </a:rPr>
                        <a:t>参考书</a:t>
                      </a:r>
                      <a:r>
                        <a:rPr kumimoji="0" lang="en-US" altLang="zh-CN" sz="2000" b="0" i="0" u="none" strike="noStrike" cap="none" normalizeH="0" baseline="0" dirty="0">
                          <a:ln>
                            <a:noFill/>
                          </a:ln>
                          <a:solidFill>
                            <a:schemeClr val="tx2"/>
                          </a:solidFill>
                          <a:effectLst/>
                          <a:latin typeface="宋体" charset="0"/>
                          <a:ea typeface="宋体" charset="0"/>
                          <a:cs typeface="宋体" charset="0"/>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890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普通物理学</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0299">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光学原理</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69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王军</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普通物理学</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890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王军</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光学原理</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69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06">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高等代数</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69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69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高等代数</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890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69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周峰</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dirty="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Content Placeholder 2"/>
          <p:cNvSpPr txBox="1">
            <a:spLocks/>
          </p:cNvSpPr>
          <p:nvPr/>
        </p:nvSpPr>
        <p:spPr bwMode="auto">
          <a:xfrm>
            <a:off x="5502937" y="1547520"/>
            <a:ext cx="3898468" cy="472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lnSpc>
                <a:spcPct val="100000"/>
              </a:lnSpc>
              <a:spcBef>
                <a:spcPts val="600"/>
              </a:spcBef>
              <a:spcAft>
                <a:spcPts val="0"/>
              </a:spcAft>
              <a:buClr>
                <a:schemeClr val="accent1"/>
              </a:buClr>
              <a:buSzPct val="85000"/>
              <a:buFont typeface="Wingdings" charset="0"/>
              <a:buChar char="§"/>
              <a:defRPr sz="2800" kern="1200">
                <a:solidFill>
                  <a:schemeClr val="tx1"/>
                </a:solidFill>
                <a:latin typeface="Arial Narrow"/>
                <a:ea typeface="+mn-ea"/>
                <a:cs typeface="Arial Narrow"/>
              </a:defRPr>
            </a:lvl1pPr>
            <a:lvl2pPr marL="457200" indent="-182563" algn="l" rtl="0" eaLnBrk="0" fontAlgn="base" hangingPunct="0">
              <a:lnSpc>
                <a:spcPct val="100000"/>
              </a:lnSpc>
              <a:spcBef>
                <a:spcPts val="600"/>
              </a:spcBef>
              <a:spcAft>
                <a:spcPts val="0"/>
              </a:spcAft>
              <a:buClr>
                <a:schemeClr val="accent1"/>
              </a:buClr>
              <a:buSzPct val="85000"/>
              <a:buFont typeface="Wingdings" charset="0"/>
              <a:buChar char="§"/>
              <a:defRPr sz="2400" kern="1200">
                <a:solidFill>
                  <a:schemeClr val="tx1"/>
                </a:solidFill>
                <a:latin typeface="Arial Narrow"/>
                <a:ea typeface="+mn-ea"/>
                <a:cs typeface="Arial Narrow"/>
              </a:defRPr>
            </a:lvl2pPr>
            <a:lvl3pPr marL="730250" indent="-182563" algn="l" rtl="0" eaLnBrk="0" fontAlgn="base" hangingPunct="0">
              <a:lnSpc>
                <a:spcPct val="100000"/>
              </a:lnSpc>
              <a:spcBef>
                <a:spcPts val="600"/>
              </a:spcBef>
              <a:spcAft>
                <a:spcPts val="0"/>
              </a:spcAft>
              <a:buClr>
                <a:schemeClr val="accent1"/>
              </a:buClr>
              <a:buSzPct val="85000"/>
              <a:buFont typeface="Wingdings" charset="0"/>
              <a:buChar char="§"/>
              <a:defRPr sz="2000" kern="1200">
                <a:solidFill>
                  <a:schemeClr val="tx1"/>
                </a:solidFill>
                <a:latin typeface="Arial Narrow"/>
                <a:ea typeface="+mn-ea"/>
                <a:cs typeface="Arial Narrow"/>
              </a:defRPr>
            </a:lvl3pPr>
            <a:lvl4pPr marL="1004888" indent="-182563" algn="l" rtl="0" eaLnBrk="0" fontAlgn="base" hangingPunct="0">
              <a:lnSpc>
                <a:spcPct val="100000"/>
              </a:lnSpc>
              <a:spcBef>
                <a:spcPts val="600"/>
              </a:spcBef>
              <a:spcAft>
                <a:spcPts val="0"/>
              </a:spcAft>
              <a:buClr>
                <a:schemeClr val="accent1"/>
              </a:buClr>
              <a:buSzPct val="85000"/>
              <a:buFont typeface="Wingdings" charset="0"/>
              <a:buChar char="§"/>
              <a:defRPr sz="2000" kern="1200">
                <a:solidFill>
                  <a:schemeClr val="tx1"/>
                </a:solidFill>
                <a:latin typeface="Arial Narrow"/>
                <a:ea typeface="+mn-ea"/>
                <a:cs typeface="Arial Narrow"/>
              </a:defRPr>
            </a:lvl4pPr>
            <a:lvl5pPr marL="1279525" indent="-182563" algn="l" rtl="0" eaLnBrk="0" fontAlgn="base" hangingPunct="0">
              <a:lnSpc>
                <a:spcPct val="100000"/>
              </a:lnSpc>
              <a:spcBef>
                <a:spcPts val="600"/>
              </a:spcBef>
              <a:spcAft>
                <a:spcPts val="0"/>
              </a:spcAft>
              <a:buClr>
                <a:schemeClr val="accent1"/>
              </a:buClr>
              <a:buSzPct val="85000"/>
              <a:buFont typeface="Wingdings" charset="0"/>
              <a:buChar char="§"/>
              <a:defRPr sz="2000" kern="1200">
                <a:solidFill>
                  <a:schemeClr val="tx1"/>
                </a:solidFill>
                <a:latin typeface="Arial Narrow"/>
                <a:ea typeface="+mn-ea"/>
                <a:cs typeface="Arial Narrow"/>
              </a:defRPr>
            </a:lvl5pPr>
            <a:lvl6pPr marL="16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9pPr>
          </a:lstStyle>
          <a:p>
            <a:pPr>
              <a:lnSpc>
                <a:spcPct val="120000"/>
              </a:lnSpc>
            </a:pPr>
            <a:r>
              <a:rPr lang="zh-CN" altLang="en-US" sz="2400" dirty="0" smtClean="0">
                <a:solidFill>
                  <a:srgbClr val="FF0000"/>
                </a:solidFill>
              </a:rPr>
              <a:t>分析：</a:t>
            </a:r>
            <a:endParaRPr lang="en-US" altLang="zh-CN" sz="2400" dirty="0" smtClean="0">
              <a:solidFill>
                <a:srgbClr val="FF0000"/>
              </a:solidFill>
            </a:endParaRPr>
          </a:p>
          <a:p>
            <a:pPr lvl="1"/>
            <a:r>
              <a:rPr lang="zh-CN" altLang="en-US" dirty="0" smtClean="0"/>
              <a:t>具有唯一候选码</a:t>
            </a:r>
            <a:r>
              <a:rPr lang="en-US" altLang="zh-CN" dirty="0" smtClean="0"/>
              <a:t>(C,T</a:t>
            </a:r>
            <a:r>
              <a:rPr lang="zh-CN" altLang="en-US" dirty="0" smtClean="0"/>
              <a:t>,</a:t>
            </a:r>
            <a:r>
              <a:rPr lang="en-US" altLang="zh-CN" dirty="0" smtClean="0"/>
              <a:t>B)</a:t>
            </a:r>
            <a:r>
              <a:rPr lang="zh-CN" altLang="en-US" dirty="0" smtClean="0"/>
              <a:t>，即全码</a:t>
            </a:r>
          </a:p>
          <a:p>
            <a:pPr lvl="1"/>
            <a:r>
              <a:rPr lang="en-US" altLang="zh-CN" dirty="0" err="1" smtClean="0"/>
              <a:t>Teaching∈BCNF</a:t>
            </a:r>
            <a:endParaRPr lang="en-US" altLang="zh-CN" dirty="0" smtClean="0"/>
          </a:p>
          <a:p>
            <a:pPr lvl="1"/>
            <a:r>
              <a:rPr lang="en-US" altLang="zh-CN" dirty="0" smtClean="0"/>
              <a:t>Teaching</a:t>
            </a:r>
            <a:r>
              <a:rPr lang="zh-CN" altLang="en-US" dirty="0" smtClean="0"/>
              <a:t>模式是否存在不良特性？</a:t>
            </a:r>
          </a:p>
          <a:p>
            <a:pPr lvl="2"/>
            <a:r>
              <a:rPr lang="zh-CN" altLang="en-US" sz="2400" dirty="0" smtClean="0"/>
              <a:t>数据冗余</a:t>
            </a:r>
          </a:p>
          <a:p>
            <a:pPr lvl="2"/>
            <a:r>
              <a:rPr lang="zh-CN" altLang="en-US" sz="2400" dirty="0" smtClean="0"/>
              <a:t>插入异常</a:t>
            </a:r>
          </a:p>
          <a:p>
            <a:pPr lvl="2"/>
            <a:r>
              <a:rPr lang="zh-CN" altLang="en-US" sz="2400" dirty="0" smtClean="0"/>
              <a:t>删除异常</a:t>
            </a:r>
          </a:p>
          <a:p>
            <a:pPr lvl="2"/>
            <a:r>
              <a:rPr lang="zh-CN" altLang="en-US" sz="2400" dirty="0" smtClean="0"/>
              <a:t>更新异常</a:t>
            </a:r>
          </a:p>
          <a:p>
            <a:r>
              <a:rPr lang="zh-CN" altLang="en-US" sz="2400" dirty="0" smtClean="0">
                <a:solidFill>
                  <a:srgbClr val="FF0000"/>
                </a:solidFill>
              </a:rPr>
              <a:t>症由：</a:t>
            </a:r>
            <a:r>
              <a:rPr lang="zh-CN" altLang="en-US" sz="2400" dirty="0" smtClean="0"/>
              <a:t>多值依赖</a:t>
            </a:r>
            <a:endParaRPr lang="en-US" sz="2400" dirty="0"/>
          </a:p>
        </p:txBody>
      </p:sp>
      <p:sp>
        <p:nvSpPr>
          <p:cNvPr id="9" name="Oval 8"/>
          <p:cNvSpPr/>
          <p:nvPr/>
        </p:nvSpPr>
        <p:spPr>
          <a:xfrm>
            <a:off x="2354622" y="2010446"/>
            <a:ext cx="952431" cy="1587193"/>
          </a:xfrm>
          <a:prstGeom prst="ellipse">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3465790" y="2010446"/>
            <a:ext cx="1422308" cy="767143"/>
          </a:xfrm>
          <a:prstGeom prst="ellipse">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40492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blinds(horizontal)">
                                      <p:cBhvr>
                                        <p:cTn id="30" dur="500"/>
                                        <p:tgtEl>
                                          <p:spTgt spid="7">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blinds(horizontal)">
                                      <p:cBhvr>
                                        <p:cTn id="33" dur="500"/>
                                        <p:tgtEl>
                                          <p:spTgt spid="7">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blinds(horizontal)">
                                      <p:cBhvr>
                                        <p:cTn id="36" dur="500"/>
                                        <p:tgtEl>
                                          <p:spTgt spid="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
                                            <p:txEl>
                                              <p:pRg st="8" end="8"/>
                                            </p:txEl>
                                          </p:spTgt>
                                        </p:tgtEl>
                                        <p:attrNameLst>
                                          <p:attrName>style.visibility</p:attrName>
                                        </p:attrNameLst>
                                      </p:cBhvr>
                                      <p:to>
                                        <p:strVal val="visible"/>
                                      </p:to>
                                    </p:set>
                                    <p:animEffect transition="in" filter="blinds(horizontal)">
                                      <p:cBhvr>
                                        <p:cTn id="41" dur="500"/>
                                        <p:tgtEl>
                                          <p:spTgt spid="7">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checkerboard(across)">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checkerboard(across)">
                                      <p:cBhvr>
                                        <p:cTn id="5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多值依赖</a:t>
            </a:r>
            <a:endParaRPr lang="en-US" dirty="0"/>
          </a:p>
        </p:txBody>
      </p:sp>
      <p:sp>
        <p:nvSpPr>
          <p:cNvPr id="3" name="Content Placeholder 2"/>
          <p:cNvSpPr>
            <a:spLocks noGrp="1"/>
          </p:cNvSpPr>
          <p:nvPr>
            <p:ph idx="1"/>
          </p:nvPr>
        </p:nvSpPr>
        <p:spPr/>
        <p:txBody>
          <a:bodyPr/>
          <a:lstStyle/>
          <a:p>
            <a:pPr>
              <a:lnSpc>
                <a:spcPct val="120000"/>
              </a:lnSpc>
            </a:pPr>
            <a:r>
              <a:rPr lang="en-US" altLang="zh-CN" sz="2400" dirty="0"/>
              <a:t>2. </a:t>
            </a:r>
            <a:r>
              <a:rPr lang="zh-CN" altLang="en-US" sz="2400" dirty="0"/>
              <a:t>定义</a:t>
            </a:r>
            <a:r>
              <a:rPr lang="en-US" altLang="zh-CN" sz="2400" dirty="0"/>
              <a:t>:</a:t>
            </a:r>
          </a:p>
          <a:p>
            <a:pPr>
              <a:lnSpc>
                <a:spcPct val="120000"/>
              </a:lnSpc>
              <a:buNone/>
            </a:pPr>
            <a:r>
              <a:rPr lang="en-US" altLang="zh-CN" sz="2400" dirty="0"/>
              <a:t>   </a:t>
            </a:r>
            <a:r>
              <a:rPr lang="zh-CN" altLang="en-US" sz="2400" dirty="0"/>
              <a:t>定义</a:t>
            </a:r>
            <a:r>
              <a:rPr lang="en-US" altLang="zh-CN" sz="2400" dirty="0"/>
              <a:t>6.15</a:t>
            </a:r>
            <a:r>
              <a:rPr lang="en-US" altLang="zh-CN" sz="2400" dirty="0">
                <a:solidFill>
                  <a:srgbClr val="0000CC"/>
                </a:solidFill>
              </a:rPr>
              <a:t>(</a:t>
            </a:r>
            <a:r>
              <a:rPr lang="zh-CN" altLang="en-US" sz="2400" dirty="0">
                <a:solidFill>
                  <a:srgbClr val="0000CC"/>
                </a:solidFill>
              </a:rPr>
              <a:t>描述型</a:t>
            </a:r>
            <a:r>
              <a:rPr lang="en-US" altLang="zh-CN" sz="2400" dirty="0">
                <a:solidFill>
                  <a:srgbClr val="0000CC"/>
                </a:solidFill>
              </a:rPr>
              <a:t>)</a:t>
            </a:r>
            <a:r>
              <a:rPr lang="en-US" altLang="zh-CN" sz="2400" dirty="0"/>
              <a:t>     </a:t>
            </a:r>
            <a:r>
              <a:rPr lang="zh-CN" altLang="en-US" sz="2400" dirty="0"/>
              <a:t>设</a:t>
            </a:r>
            <a:r>
              <a:rPr lang="en-US" altLang="zh-CN" sz="2400" dirty="0"/>
              <a:t>R(U)</a:t>
            </a:r>
            <a:r>
              <a:rPr lang="zh-CN" altLang="en-US" sz="2400" dirty="0"/>
              <a:t>是一个属性集</a:t>
            </a:r>
            <a:r>
              <a:rPr lang="en-US" altLang="zh-CN" sz="2400" dirty="0"/>
              <a:t>U</a:t>
            </a:r>
            <a:r>
              <a:rPr lang="zh-CN" altLang="en-US" sz="2400" dirty="0"/>
              <a:t>上的一个关系模式， </a:t>
            </a:r>
            <a:r>
              <a:rPr lang="en-US" altLang="zh-CN" sz="2400" dirty="0"/>
              <a:t>X</a:t>
            </a:r>
            <a:r>
              <a:rPr lang="zh-CN" altLang="en-US" sz="2400" dirty="0"/>
              <a:t>、 </a:t>
            </a:r>
            <a:r>
              <a:rPr lang="en-US" altLang="zh-CN" sz="2400" dirty="0"/>
              <a:t>Y</a:t>
            </a:r>
            <a:r>
              <a:rPr lang="zh-CN" altLang="en-US" sz="2400" dirty="0"/>
              <a:t>和</a:t>
            </a:r>
            <a:r>
              <a:rPr lang="en-US" altLang="zh-CN" sz="2400" dirty="0"/>
              <a:t>Z</a:t>
            </a:r>
            <a:r>
              <a:rPr lang="zh-CN" altLang="en-US" sz="2400" dirty="0"/>
              <a:t>是</a:t>
            </a:r>
            <a:r>
              <a:rPr lang="en-US" altLang="zh-CN" sz="2400" dirty="0"/>
              <a:t>U</a:t>
            </a:r>
            <a:r>
              <a:rPr lang="zh-CN" altLang="en-US" sz="2400" dirty="0"/>
              <a:t>的子集，并且</a:t>
            </a:r>
            <a:r>
              <a:rPr lang="en-US" altLang="zh-CN" sz="2400" dirty="0"/>
              <a:t>Z</a:t>
            </a:r>
            <a:r>
              <a:rPr lang="zh-CN" altLang="en-US" sz="2400" dirty="0"/>
              <a:t>＝</a:t>
            </a:r>
            <a:r>
              <a:rPr lang="en-US" altLang="zh-CN" sz="2400" dirty="0"/>
              <a:t>U</a:t>
            </a:r>
            <a:r>
              <a:rPr lang="zh-CN" altLang="en-US" sz="2400" dirty="0"/>
              <a:t>－</a:t>
            </a:r>
            <a:r>
              <a:rPr lang="en-US" altLang="zh-CN" sz="2400" dirty="0"/>
              <a:t>X</a:t>
            </a:r>
            <a:r>
              <a:rPr lang="zh-CN" altLang="en-US" sz="2400" dirty="0"/>
              <a:t>－</a:t>
            </a:r>
            <a:r>
              <a:rPr lang="en-US" altLang="zh-CN" sz="2400" dirty="0"/>
              <a:t>Y</a:t>
            </a:r>
            <a:r>
              <a:rPr lang="zh-CN" altLang="en-US" sz="2400" dirty="0"/>
              <a:t>，多值依赖 </a:t>
            </a:r>
            <a:r>
              <a:rPr lang="en-US" altLang="zh-CN" sz="2400" dirty="0">
                <a:solidFill>
                  <a:srgbClr val="0000CC"/>
                </a:solidFill>
              </a:rPr>
              <a:t>X→→Y</a:t>
            </a:r>
            <a:r>
              <a:rPr lang="zh-CN" altLang="en-US" sz="2400" dirty="0" smtClean="0"/>
              <a:t>成立，当且仅当：</a:t>
            </a:r>
            <a:endParaRPr lang="en-US" altLang="zh-CN" sz="2400" dirty="0" smtClean="0"/>
          </a:p>
          <a:p>
            <a:pPr>
              <a:lnSpc>
                <a:spcPct val="120000"/>
              </a:lnSpc>
              <a:buNone/>
            </a:pPr>
            <a:r>
              <a:rPr lang="en-US" altLang="zh-CN" sz="2400" dirty="0"/>
              <a:t> </a:t>
            </a:r>
            <a:r>
              <a:rPr lang="en-US" altLang="zh-CN" sz="2400" dirty="0" smtClean="0"/>
              <a:t> 1</a:t>
            </a:r>
            <a:r>
              <a:rPr lang="zh-CN" altLang="en-US" sz="2400" dirty="0"/>
              <a:t>）</a:t>
            </a:r>
            <a:r>
              <a:rPr lang="zh-CN" altLang="en-US" sz="2400" dirty="0" smtClean="0"/>
              <a:t>对</a:t>
            </a:r>
            <a:r>
              <a:rPr lang="en-US" altLang="zh-CN" sz="2400" dirty="0"/>
              <a:t>R</a:t>
            </a:r>
            <a:r>
              <a:rPr lang="zh-CN" altLang="en-US" sz="2400" dirty="0"/>
              <a:t>的任一关系</a:t>
            </a:r>
            <a:r>
              <a:rPr lang="en-US" altLang="zh-CN" sz="2400" dirty="0"/>
              <a:t>r</a:t>
            </a:r>
            <a:r>
              <a:rPr lang="zh-CN" altLang="en-US" sz="2400" dirty="0"/>
              <a:t>，</a:t>
            </a:r>
            <a:r>
              <a:rPr lang="en-US" altLang="zh-CN" sz="2400" dirty="0"/>
              <a:t>r</a:t>
            </a:r>
            <a:r>
              <a:rPr lang="zh-CN" altLang="en-US" sz="2400" dirty="0"/>
              <a:t>在（</a:t>
            </a:r>
            <a:r>
              <a:rPr lang="en-US" altLang="zh-CN" sz="2400" dirty="0"/>
              <a:t>X</a:t>
            </a:r>
            <a:r>
              <a:rPr lang="zh-CN" altLang="en-US" sz="2400" dirty="0"/>
              <a:t>，</a:t>
            </a:r>
            <a:r>
              <a:rPr lang="en-US" altLang="zh-CN" sz="2400" dirty="0"/>
              <a:t>Z</a:t>
            </a:r>
            <a:r>
              <a:rPr lang="zh-CN" altLang="en-US" sz="2400" dirty="0"/>
              <a:t>）上的每个值对应</a:t>
            </a:r>
            <a:r>
              <a:rPr lang="zh-CN" altLang="en-US" sz="2400" dirty="0">
                <a:solidFill>
                  <a:srgbClr val="FF0000"/>
                </a:solidFill>
              </a:rPr>
              <a:t>一组</a:t>
            </a:r>
            <a:r>
              <a:rPr lang="en-US" altLang="zh-CN" sz="2400" dirty="0">
                <a:solidFill>
                  <a:srgbClr val="FF0000"/>
                </a:solidFill>
              </a:rPr>
              <a:t>Y</a:t>
            </a:r>
            <a:r>
              <a:rPr lang="zh-CN" altLang="en-US" sz="2400" dirty="0" smtClean="0"/>
              <a:t>的值；</a:t>
            </a:r>
            <a:endParaRPr lang="en-US" altLang="zh-CN" sz="2400" dirty="0" smtClean="0"/>
          </a:p>
          <a:p>
            <a:pPr>
              <a:lnSpc>
                <a:spcPct val="120000"/>
              </a:lnSpc>
              <a:buNone/>
            </a:pPr>
            <a:r>
              <a:rPr lang="en-US" altLang="zh-CN" sz="2400" dirty="0" smtClean="0"/>
              <a:t>  </a:t>
            </a:r>
            <a:r>
              <a:rPr lang="zh-CN" altLang="zh-CN" sz="2400" dirty="0" smtClean="0"/>
              <a:t>2</a:t>
            </a:r>
            <a:r>
              <a:rPr lang="zh-CN" altLang="en-US" sz="2400" dirty="0" smtClean="0"/>
              <a:t>）这组值</a:t>
            </a:r>
            <a:r>
              <a:rPr lang="zh-CN" altLang="en-US" sz="2400" dirty="0" smtClean="0">
                <a:solidFill>
                  <a:srgbClr val="FF0000"/>
                </a:solidFill>
              </a:rPr>
              <a:t>仅仅</a:t>
            </a:r>
            <a:r>
              <a:rPr lang="zh-CN" altLang="en-US" sz="2400" dirty="0" smtClean="0"/>
              <a:t>决定于</a:t>
            </a:r>
            <a:r>
              <a:rPr lang="en-US" altLang="zh-CN" sz="2400" dirty="0"/>
              <a:t>X</a:t>
            </a:r>
            <a:r>
              <a:rPr lang="zh-CN" altLang="en-US" sz="2400" dirty="0"/>
              <a:t>值而</a:t>
            </a:r>
            <a:r>
              <a:rPr lang="zh-CN" altLang="en-US" sz="2400" dirty="0">
                <a:solidFill>
                  <a:srgbClr val="FF0000"/>
                </a:solidFill>
              </a:rPr>
              <a:t>与</a:t>
            </a:r>
            <a:r>
              <a:rPr lang="en-US" altLang="zh-CN" sz="2400" dirty="0">
                <a:solidFill>
                  <a:srgbClr val="FF0000"/>
                </a:solidFill>
              </a:rPr>
              <a:t>Z</a:t>
            </a:r>
            <a:r>
              <a:rPr lang="zh-CN" altLang="en-US" sz="2400" dirty="0">
                <a:solidFill>
                  <a:srgbClr val="FF0000"/>
                </a:solidFill>
              </a:rPr>
              <a:t>值无关</a:t>
            </a:r>
            <a:r>
              <a:rPr lang="zh-CN" altLang="en-US" sz="2400" dirty="0"/>
              <a:t>。</a:t>
            </a:r>
          </a:p>
          <a:p>
            <a:pPr>
              <a:lnSpc>
                <a:spcPct val="120000"/>
              </a:lnSpc>
              <a:buNone/>
            </a:pPr>
            <a:r>
              <a:rPr lang="zh-CN" altLang="en-US" sz="2400" dirty="0"/>
              <a:t> </a:t>
            </a:r>
            <a:endParaRPr lang="en-US" altLang="zh-CN" sz="2400" dirty="0" smtClean="0"/>
          </a:p>
          <a:p>
            <a:pPr>
              <a:lnSpc>
                <a:spcPct val="120000"/>
              </a:lnSpc>
              <a:buNone/>
            </a:pPr>
            <a:r>
              <a:rPr lang="zh-CN" altLang="en-US" sz="2400" dirty="0" smtClean="0"/>
              <a:t>例</a:t>
            </a:r>
            <a:r>
              <a:rPr lang="en-US" altLang="zh-CN" sz="2400" dirty="0" smtClean="0"/>
              <a:t>:</a:t>
            </a:r>
            <a:r>
              <a:rPr lang="zh-CN" altLang="en-US" sz="2400" dirty="0" smtClean="0"/>
              <a:t>  </a:t>
            </a:r>
            <a:r>
              <a:rPr lang="en-US" altLang="zh-CN" sz="2400" dirty="0"/>
              <a:t>Teaching</a:t>
            </a:r>
            <a:r>
              <a:rPr lang="zh-CN" altLang="en-US" sz="2400" dirty="0"/>
              <a:t>（</a:t>
            </a:r>
            <a:r>
              <a:rPr lang="en-US" altLang="zh-CN" sz="2400" dirty="0"/>
              <a:t>C, T, B</a:t>
            </a:r>
            <a:r>
              <a:rPr lang="zh-CN" altLang="en-US" sz="2400" dirty="0"/>
              <a:t>）有</a:t>
            </a:r>
          </a:p>
          <a:p>
            <a:pPr>
              <a:lnSpc>
                <a:spcPct val="120000"/>
              </a:lnSpc>
              <a:buNone/>
            </a:pPr>
            <a:r>
              <a:rPr lang="en-US" altLang="zh-CN" sz="2400" dirty="0" smtClean="0"/>
              <a:t>       C </a:t>
            </a:r>
            <a:r>
              <a:rPr lang="en-US" altLang="zh-CN" sz="2400" dirty="0"/>
              <a:t>→→T </a:t>
            </a:r>
            <a:r>
              <a:rPr lang="zh-CN" altLang="en-US" sz="2400" dirty="0"/>
              <a:t>和 </a:t>
            </a:r>
            <a:r>
              <a:rPr lang="en-US" altLang="zh-CN" sz="2400" dirty="0"/>
              <a:t>C →</a:t>
            </a:r>
            <a:r>
              <a:rPr lang="en-US" altLang="zh-CN" sz="2400" dirty="0" smtClean="0"/>
              <a:t>→B</a:t>
            </a:r>
          </a:p>
          <a:p>
            <a:pPr>
              <a:lnSpc>
                <a:spcPct val="120000"/>
              </a:lnSpc>
              <a:buNone/>
            </a:pPr>
            <a:r>
              <a:rPr lang="zh-CN" altLang="en-US" sz="2400" dirty="0"/>
              <a:t>对于</a:t>
            </a:r>
            <a:r>
              <a:rPr lang="en-US" altLang="zh-CN" sz="2400" dirty="0"/>
              <a:t>C</a:t>
            </a:r>
            <a:r>
              <a:rPr lang="zh-CN" altLang="en-US" sz="2400" dirty="0"/>
              <a:t>的每一个值，</a:t>
            </a:r>
            <a:r>
              <a:rPr lang="en-US" altLang="zh-CN" sz="2400" dirty="0"/>
              <a:t>T</a:t>
            </a:r>
            <a:r>
              <a:rPr lang="zh-CN" altLang="en-US" sz="2400" dirty="0"/>
              <a:t>有一组值与之对应，而不论</a:t>
            </a:r>
            <a:r>
              <a:rPr lang="en-US" altLang="zh-CN" sz="2400" dirty="0"/>
              <a:t>B</a:t>
            </a:r>
            <a:r>
              <a:rPr lang="zh-CN" altLang="en-US" sz="2400" dirty="0"/>
              <a:t>取何值</a:t>
            </a:r>
            <a:endParaRPr lang="en-US" altLang="zh-CN" sz="2400" dirty="0"/>
          </a:p>
          <a:p>
            <a:pPr>
              <a:lnSpc>
                <a:spcPct val="120000"/>
              </a:lnSpc>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45</a:t>
            </a:fld>
            <a:endParaRPr lang="en-US" altLang="zh-CN"/>
          </a:p>
        </p:txBody>
      </p:sp>
    </p:spTree>
    <p:extLst>
      <p:ext uri="{BB962C8B-B14F-4D97-AF65-F5344CB8AC3E}">
        <p14:creationId xmlns:p14="http://schemas.microsoft.com/office/powerpoint/2010/main" val="20422375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linds(horizontal)">
                                      <p:cBhvr>
                                        <p:cTn id="10" dur="500"/>
                                        <p:tgtEl>
                                          <p:spTgt spid="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blinds(horizontal)">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多值依赖</a:t>
            </a:r>
            <a:endParaRPr lang="en-US" dirty="0"/>
          </a:p>
        </p:txBody>
      </p:sp>
      <p:sp>
        <p:nvSpPr>
          <p:cNvPr id="3" name="Content Placeholder 2"/>
          <p:cNvSpPr>
            <a:spLocks noGrp="1"/>
          </p:cNvSpPr>
          <p:nvPr>
            <p:ph idx="1"/>
          </p:nvPr>
        </p:nvSpPr>
        <p:spPr/>
        <p:txBody>
          <a:bodyPr/>
          <a:lstStyle/>
          <a:p>
            <a:pPr>
              <a:lnSpc>
                <a:spcPct val="110000"/>
              </a:lnSpc>
              <a:buNone/>
            </a:pPr>
            <a:r>
              <a:rPr lang="zh-CN" altLang="en-US" sz="2400" dirty="0"/>
              <a:t>定义</a:t>
            </a:r>
            <a:r>
              <a:rPr lang="en-US" altLang="zh-CN" sz="2400" dirty="0"/>
              <a:t>6.15</a:t>
            </a:r>
            <a:r>
              <a:rPr lang="en-US" altLang="zh-CN" sz="2400" dirty="0">
                <a:solidFill>
                  <a:srgbClr val="0000B4"/>
                </a:solidFill>
                <a:latin typeface="Courier New" charset="0"/>
                <a:ea typeface="华文新魏" charset="0"/>
                <a:cs typeface="华文新魏" charset="0"/>
              </a:rPr>
              <a:t>’</a:t>
            </a:r>
            <a:r>
              <a:rPr lang="en-US" altLang="zh-CN" sz="2400" dirty="0">
                <a:solidFill>
                  <a:srgbClr val="0000B4"/>
                </a:solidFill>
              </a:rPr>
              <a:t>(</a:t>
            </a:r>
            <a:r>
              <a:rPr lang="zh-CN" altLang="en-US" sz="2400" dirty="0">
                <a:solidFill>
                  <a:srgbClr val="0000B4"/>
                </a:solidFill>
              </a:rPr>
              <a:t>形式化</a:t>
            </a:r>
            <a:r>
              <a:rPr lang="en-US" altLang="zh-CN" sz="2400" dirty="0">
                <a:solidFill>
                  <a:srgbClr val="0000B4"/>
                </a:solidFill>
              </a:rPr>
              <a:t>)</a:t>
            </a:r>
            <a:r>
              <a:rPr lang="en-US" altLang="zh-CN" sz="2400" dirty="0">
                <a:solidFill>
                  <a:schemeClr val="accent2"/>
                </a:solidFill>
              </a:rPr>
              <a:t>  </a:t>
            </a:r>
            <a:r>
              <a:rPr lang="zh-CN" altLang="en-US" sz="2400" dirty="0"/>
              <a:t>在</a:t>
            </a:r>
            <a:r>
              <a:rPr lang="en-US" altLang="zh-CN" sz="2400" i="1" dirty="0"/>
              <a:t>R</a:t>
            </a:r>
            <a:r>
              <a:rPr lang="zh-CN" altLang="en-US" sz="2400" dirty="0"/>
              <a:t>（</a:t>
            </a:r>
            <a:r>
              <a:rPr lang="en-US" altLang="zh-CN" sz="2400" i="1" dirty="0"/>
              <a:t>U</a:t>
            </a:r>
            <a:r>
              <a:rPr lang="zh-CN" altLang="en-US" sz="2400" dirty="0"/>
              <a:t>）的任一关系</a:t>
            </a:r>
            <a:r>
              <a:rPr lang="en-US" altLang="zh-CN" sz="2400" i="1" dirty="0"/>
              <a:t>r</a:t>
            </a:r>
            <a:r>
              <a:rPr lang="zh-CN" altLang="en-US" sz="2400" dirty="0"/>
              <a:t>中，如果存在元组</a:t>
            </a:r>
            <a:r>
              <a:rPr lang="en-US" altLang="zh-CN" sz="2400" i="1" dirty="0"/>
              <a:t>s</a:t>
            </a:r>
            <a:r>
              <a:rPr lang="zh-CN" altLang="en-US" sz="2400" dirty="0"/>
              <a:t>，</a:t>
            </a:r>
            <a:r>
              <a:rPr lang="en-US" altLang="zh-CN" sz="2400" i="1" dirty="0"/>
              <a:t>t </a:t>
            </a:r>
            <a:r>
              <a:rPr lang="zh-CN" altLang="en-US" sz="2400" dirty="0"/>
              <a:t>使得</a:t>
            </a:r>
            <a:r>
              <a:rPr lang="en-US" altLang="zh-CN" sz="2400" i="1" dirty="0"/>
              <a:t>s</a:t>
            </a:r>
            <a:r>
              <a:rPr lang="en-US" altLang="zh-CN" sz="2400" dirty="0"/>
              <a:t>[</a:t>
            </a:r>
            <a:r>
              <a:rPr lang="en-US" altLang="zh-CN" sz="2400" i="1" dirty="0"/>
              <a:t>X</a:t>
            </a:r>
            <a:r>
              <a:rPr lang="en-US" altLang="zh-CN" sz="2400" dirty="0"/>
              <a:t>]=</a:t>
            </a:r>
            <a:r>
              <a:rPr lang="en-US" altLang="zh-CN" sz="2400" i="1" dirty="0"/>
              <a:t>t</a:t>
            </a:r>
            <a:r>
              <a:rPr lang="en-US" altLang="zh-CN" sz="2400" dirty="0"/>
              <a:t>[</a:t>
            </a:r>
            <a:r>
              <a:rPr lang="en-US" altLang="zh-CN" sz="2400" i="1" dirty="0"/>
              <a:t>X</a:t>
            </a:r>
            <a:r>
              <a:rPr lang="en-US" altLang="zh-CN" sz="2400" dirty="0"/>
              <a:t>]</a:t>
            </a:r>
            <a:r>
              <a:rPr lang="zh-CN" altLang="en-US" sz="2400" dirty="0"/>
              <a:t>，那么就必然存在元组 </a:t>
            </a:r>
            <a:r>
              <a:rPr lang="en-US" altLang="zh-CN" sz="2400" dirty="0" smtClean="0"/>
              <a:t>u</a:t>
            </a:r>
            <a:r>
              <a:rPr lang="zh-CN" altLang="en-US" sz="2400" dirty="0" smtClean="0"/>
              <a:t>，</a:t>
            </a:r>
            <a:r>
              <a:rPr lang="zh-CN" altLang="zh-CN" sz="2400" i="1" dirty="0"/>
              <a:t>v</a:t>
            </a:r>
            <a:r>
              <a:rPr lang="en-US" altLang="zh-CN" sz="2400" dirty="0" smtClean="0">
                <a:sym typeface="Symbol" charset="0"/>
              </a:rPr>
              <a:t> </a:t>
            </a:r>
            <a:r>
              <a:rPr lang="en-US" altLang="zh-CN" sz="2400" i="1" dirty="0"/>
              <a:t>r</a:t>
            </a:r>
            <a:r>
              <a:rPr lang="zh-CN" altLang="en-US" sz="2400" dirty="0"/>
              <a:t>，（</a:t>
            </a:r>
            <a:r>
              <a:rPr lang="en-US" altLang="zh-CN" sz="2400" i="1" dirty="0"/>
              <a:t>v</a:t>
            </a:r>
            <a:r>
              <a:rPr lang="zh-CN" altLang="en-US" sz="2400" dirty="0" smtClean="0"/>
              <a:t>，</a:t>
            </a:r>
            <a:r>
              <a:rPr lang="en-US" altLang="zh-CN" sz="2400" dirty="0" smtClean="0"/>
              <a:t>u</a:t>
            </a:r>
            <a:r>
              <a:rPr lang="zh-CN" altLang="en-US" sz="2400" dirty="0" smtClean="0"/>
              <a:t>可以</a:t>
            </a:r>
            <a:r>
              <a:rPr lang="zh-CN" altLang="en-US" sz="2400" dirty="0"/>
              <a:t>与</a:t>
            </a:r>
            <a:r>
              <a:rPr lang="en-US" altLang="zh-CN" sz="2400" i="1" dirty="0"/>
              <a:t>s</a:t>
            </a:r>
            <a:r>
              <a:rPr lang="zh-CN" altLang="en-US" sz="2400" dirty="0"/>
              <a:t>，</a:t>
            </a:r>
            <a:r>
              <a:rPr lang="en-US" altLang="zh-CN" sz="2400" i="1" dirty="0"/>
              <a:t>t</a:t>
            </a:r>
            <a:r>
              <a:rPr lang="zh-CN" altLang="en-US" sz="2400" dirty="0"/>
              <a:t>相同），使得</a:t>
            </a:r>
            <a:r>
              <a:rPr lang="en-US" altLang="zh-CN" sz="2400" dirty="0"/>
              <a:t>:</a:t>
            </a:r>
          </a:p>
          <a:p>
            <a:pPr>
              <a:lnSpc>
                <a:spcPct val="110000"/>
              </a:lnSpc>
              <a:buNone/>
            </a:pPr>
            <a:r>
              <a:rPr lang="en-US" altLang="zh-CN" sz="2400" dirty="0"/>
              <a:t>          </a:t>
            </a:r>
            <a:r>
              <a:rPr lang="en-US" altLang="zh-CN" sz="2400" i="1" dirty="0"/>
              <a:t>v</a:t>
            </a:r>
            <a:r>
              <a:rPr lang="en-US" altLang="zh-CN" sz="2400" dirty="0"/>
              <a:t>[</a:t>
            </a:r>
            <a:r>
              <a:rPr lang="en-US" altLang="zh-CN" sz="2400" i="1" dirty="0"/>
              <a:t>X</a:t>
            </a:r>
            <a:r>
              <a:rPr lang="en-US" altLang="zh-CN" sz="2400" dirty="0"/>
              <a:t>] = </a:t>
            </a:r>
            <a:r>
              <a:rPr lang="en-US" altLang="zh-CN" sz="2400" dirty="0" smtClean="0"/>
              <a:t>u[</a:t>
            </a:r>
            <a:r>
              <a:rPr lang="en-US" altLang="zh-CN" sz="2400" i="1" dirty="0"/>
              <a:t>X</a:t>
            </a:r>
            <a:r>
              <a:rPr lang="en-US" altLang="zh-CN" sz="2400" dirty="0"/>
              <a:t>] = </a:t>
            </a:r>
            <a:r>
              <a:rPr lang="en-US" altLang="zh-CN" sz="2400" i="1" dirty="0"/>
              <a:t>s</a:t>
            </a:r>
            <a:r>
              <a:rPr lang="en-US" altLang="zh-CN" sz="2400" dirty="0"/>
              <a:t>[</a:t>
            </a:r>
            <a:r>
              <a:rPr lang="en-US" altLang="zh-CN" sz="2400" i="1" dirty="0"/>
              <a:t>X</a:t>
            </a:r>
            <a:r>
              <a:rPr lang="en-US" altLang="zh-CN" sz="2400" dirty="0"/>
              <a:t>] =  </a:t>
            </a:r>
            <a:r>
              <a:rPr lang="en-US" altLang="zh-CN" sz="2400" i="1" dirty="0"/>
              <a:t>t</a:t>
            </a:r>
            <a:r>
              <a:rPr lang="en-US" altLang="zh-CN" sz="2400" dirty="0"/>
              <a:t>[</a:t>
            </a:r>
            <a:r>
              <a:rPr lang="en-US" altLang="zh-CN" sz="2400" i="1" dirty="0"/>
              <a:t>X</a:t>
            </a:r>
            <a:r>
              <a:rPr lang="en-US" altLang="zh-CN" sz="2400" dirty="0"/>
              <a:t>] </a:t>
            </a:r>
          </a:p>
          <a:p>
            <a:pPr>
              <a:lnSpc>
                <a:spcPct val="110000"/>
              </a:lnSpc>
              <a:buNone/>
            </a:pPr>
            <a:r>
              <a:rPr lang="en-US" altLang="zh-CN" sz="2400" dirty="0"/>
              <a:t>          </a:t>
            </a:r>
            <a:r>
              <a:rPr lang="en-US" altLang="zh-CN" sz="2400" i="1" dirty="0"/>
              <a:t>v</a:t>
            </a:r>
            <a:r>
              <a:rPr lang="en-US" altLang="zh-CN" sz="2400" dirty="0"/>
              <a:t>[</a:t>
            </a:r>
            <a:r>
              <a:rPr lang="en-US" altLang="zh-CN" sz="2400" i="1" dirty="0"/>
              <a:t>Y</a:t>
            </a:r>
            <a:r>
              <a:rPr lang="en-US" altLang="zh-CN" sz="2400" dirty="0"/>
              <a:t>] = </a:t>
            </a:r>
            <a:r>
              <a:rPr lang="en-US" altLang="zh-CN" sz="2400" i="1" dirty="0"/>
              <a:t>t</a:t>
            </a:r>
            <a:r>
              <a:rPr lang="en-US" altLang="zh-CN" sz="2400" dirty="0"/>
              <a:t>[</a:t>
            </a:r>
            <a:r>
              <a:rPr lang="en-US" altLang="zh-CN" sz="2400" i="1" dirty="0"/>
              <a:t>Y</a:t>
            </a:r>
            <a:r>
              <a:rPr lang="en-US" altLang="zh-CN" sz="2400" dirty="0" smtClean="0"/>
              <a:t>]</a:t>
            </a:r>
            <a:r>
              <a:rPr lang="zh-CN" altLang="en-US" sz="2400" dirty="0" smtClean="0"/>
              <a:t>，</a:t>
            </a:r>
            <a:r>
              <a:rPr lang="en-US" altLang="zh-CN" sz="2400" dirty="0" smtClean="0"/>
              <a:t>u[</a:t>
            </a:r>
            <a:r>
              <a:rPr lang="en-US" altLang="zh-CN" sz="2400" i="1" dirty="0"/>
              <a:t>Y</a:t>
            </a:r>
            <a:r>
              <a:rPr lang="en-US" altLang="zh-CN" sz="2400" dirty="0"/>
              <a:t>] = </a:t>
            </a:r>
            <a:r>
              <a:rPr lang="en-US" altLang="zh-CN" sz="2400" i="1" dirty="0"/>
              <a:t>s</a:t>
            </a:r>
            <a:r>
              <a:rPr lang="en-US" altLang="zh-CN" sz="2400" dirty="0"/>
              <a:t>[</a:t>
            </a:r>
            <a:r>
              <a:rPr lang="en-US" altLang="zh-CN" sz="2400" i="1" dirty="0"/>
              <a:t>Y</a:t>
            </a:r>
            <a:r>
              <a:rPr lang="en-US" altLang="zh-CN" sz="2400" dirty="0"/>
              <a:t>]</a:t>
            </a:r>
          </a:p>
          <a:p>
            <a:pPr>
              <a:lnSpc>
                <a:spcPct val="110000"/>
              </a:lnSpc>
              <a:buNone/>
            </a:pPr>
            <a:r>
              <a:rPr lang="en-US" altLang="zh-CN" sz="2400" dirty="0"/>
              <a:t>          </a:t>
            </a:r>
            <a:r>
              <a:rPr lang="en-US" altLang="zh-CN" sz="2400" i="1" dirty="0"/>
              <a:t>v</a:t>
            </a:r>
            <a:r>
              <a:rPr lang="en-US" altLang="zh-CN" sz="2400" dirty="0"/>
              <a:t>[</a:t>
            </a:r>
            <a:r>
              <a:rPr lang="en-US" altLang="zh-CN" sz="2400" i="1" dirty="0"/>
              <a:t>Z</a:t>
            </a:r>
            <a:r>
              <a:rPr lang="en-US" altLang="zh-CN" sz="2400" dirty="0"/>
              <a:t>] = </a:t>
            </a:r>
            <a:r>
              <a:rPr lang="en-US" altLang="zh-CN" sz="2400" i="1" dirty="0"/>
              <a:t>s</a:t>
            </a:r>
            <a:r>
              <a:rPr lang="en-US" altLang="zh-CN" sz="2400" dirty="0"/>
              <a:t>[</a:t>
            </a:r>
            <a:r>
              <a:rPr lang="en-US" altLang="zh-CN" sz="2400" i="1" dirty="0"/>
              <a:t>Z</a:t>
            </a:r>
            <a:r>
              <a:rPr lang="en-US" altLang="zh-CN" sz="2400" dirty="0"/>
              <a:t>]</a:t>
            </a:r>
            <a:r>
              <a:rPr lang="zh-CN" altLang="en-US" sz="2400" dirty="0" smtClean="0"/>
              <a:t>，</a:t>
            </a:r>
            <a:r>
              <a:rPr lang="en-US" altLang="zh-CN" sz="2400" dirty="0" smtClean="0"/>
              <a:t>u[</a:t>
            </a:r>
            <a:r>
              <a:rPr lang="en-US" altLang="zh-CN" sz="2400" i="1" dirty="0"/>
              <a:t>Z</a:t>
            </a:r>
            <a:r>
              <a:rPr lang="en-US" altLang="zh-CN" sz="2400" dirty="0"/>
              <a:t>] = </a:t>
            </a:r>
            <a:r>
              <a:rPr lang="en-US" altLang="zh-CN" sz="2400" i="1" dirty="0"/>
              <a:t>t</a:t>
            </a:r>
            <a:r>
              <a:rPr lang="en-US" altLang="zh-CN" sz="2400" dirty="0"/>
              <a:t>[</a:t>
            </a:r>
            <a:r>
              <a:rPr lang="en-US" altLang="zh-CN" sz="2400" i="1" dirty="0"/>
              <a:t>Z</a:t>
            </a:r>
            <a:r>
              <a:rPr lang="en-US" altLang="zh-CN" sz="2400" dirty="0"/>
              <a:t>]</a:t>
            </a:r>
          </a:p>
          <a:p>
            <a:pPr>
              <a:lnSpc>
                <a:spcPct val="110000"/>
              </a:lnSpc>
              <a:buNone/>
            </a:pPr>
            <a:endParaRPr lang="en-US" altLang="zh-CN" sz="1000" dirty="0" smtClean="0"/>
          </a:p>
          <a:p>
            <a:pPr>
              <a:lnSpc>
                <a:spcPct val="110000"/>
              </a:lnSpc>
              <a:buNone/>
            </a:pPr>
            <a:r>
              <a:rPr lang="zh-CN" altLang="en-US" sz="2400" dirty="0" smtClean="0"/>
              <a:t>（</a:t>
            </a:r>
            <a:r>
              <a:rPr lang="zh-CN" altLang="en-US" sz="2400" dirty="0"/>
              <a:t>即交换</a:t>
            </a:r>
            <a:r>
              <a:rPr lang="en-US" altLang="zh-CN" sz="2400" i="1" dirty="0"/>
              <a:t>s</a:t>
            </a:r>
            <a:r>
              <a:rPr lang="zh-CN" altLang="en-US" sz="2400" dirty="0"/>
              <a:t>，</a:t>
            </a:r>
            <a:r>
              <a:rPr lang="en-US" altLang="zh-CN" sz="2400" i="1" dirty="0"/>
              <a:t>t</a:t>
            </a:r>
            <a:r>
              <a:rPr lang="zh-CN" altLang="en-US" sz="2400" dirty="0"/>
              <a:t>元组的</a:t>
            </a:r>
            <a:r>
              <a:rPr lang="en-US" altLang="zh-CN" sz="2400" i="1" dirty="0"/>
              <a:t>Y</a:t>
            </a:r>
            <a:r>
              <a:rPr lang="zh-CN" altLang="en-US" sz="2400" dirty="0"/>
              <a:t>值所得的两个新元组必在</a:t>
            </a:r>
            <a:r>
              <a:rPr lang="en-US" altLang="zh-CN" sz="2400" i="1" dirty="0"/>
              <a:t>r</a:t>
            </a:r>
            <a:r>
              <a:rPr lang="zh-CN" altLang="en-US" sz="2400" dirty="0"/>
              <a:t>中），则</a:t>
            </a:r>
            <a:r>
              <a:rPr lang="en-US" altLang="zh-CN" sz="2400" i="1" dirty="0"/>
              <a:t>Y</a:t>
            </a:r>
            <a:r>
              <a:rPr lang="zh-CN" altLang="en-US" sz="2400" dirty="0"/>
              <a:t>多值依赖于</a:t>
            </a:r>
            <a:r>
              <a:rPr lang="en-US" altLang="zh-CN" sz="2400" i="1" dirty="0"/>
              <a:t>X</a:t>
            </a:r>
            <a:r>
              <a:rPr lang="zh-CN" altLang="en-US" sz="2400" dirty="0"/>
              <a:t>，记为</a:t>
            </a:r>
            <a:r>
              <a:rPr lang="en-US" altLang="zh-CN" sz="2400" i="1" dirty="0"/>
              <a:t>X</a:t>
            </a:r>
            <a:r>
              <a:rPr lang="en-US" altLang="zh-CN" sz="2400" dirty="0"/>
              <a:t>→→</a:t>
            </a:r>
            <a:r>
              <a:rPr lang="en-US" altLang="zh-CN" sz="2400" i="1" dirty="0"/>
              <a:t>Y</a:t>
            </a:r>
            <a:r>
              <a:rPr lang="zh-CN" altLang="en-US" sz="2400" dirty="0"/>
              <a:t>。 这里，</a:t>
            </a:r>
            <a:r>
              <a:rPr lang="en-US" altLang="zh-CN" sz="2400" i="1" dirty="0"/>
              <a:t>X</a:t>
            </a:r>
            <a:r>
              <a:rPr lang="zh-CN" altLang="en-US" sz="2400" dirty="0"/>
              <a:t>，</a:t>
            </a:r>
            <a:r>
              <a:rPr lang="en-US" altLang="zh-CN" sz="2400" i="1" dirty="0"/>
              <a:t>Y</a:t>
            </a:r>
            <a:r>
              <a:rPr lang="zh-CN" altLang="en-US" sz="2400" dirty="0"/>
              <a:t>是</a:t>
            </a:r>
            <a:r>
              <a:rPr lang="en-US" altLang="zh-CN" sz="2400" i="1" dirty="0"/>
              <a:t>U</a:t>
            </a:r>
            <a:r>
              <a:rPr lang="zh-CN" altLang="en-US" sz="2400" dirty="0"/>
              <a:t>的子集，</a:t>
            </a:r>
            <a:r>
              <a:rPr lang="en-US" altLang="zh-CN" sz="2400" i="1" dirty="0"/>
              <a:t>Z</a:t>
            </a:r>
            <a:r>
              <a:rPr lang="en-US" altLang="zh-CN" sz="2400" dirty="0"/>
              <a:t>=</a:t>
            </a:r>
            <a:r>
              <a:rPr lang="en-US" altLang="zh-CN" sz="2400" i="1" dirty="0"/>
              <a:t>U-X</a:t>
            </a:r>
            <a:r>
              <a:rPr lang="en-US" altLang="zh-CN" sz="2400" dirty="0"/>
              <a:t>-</a:t>
            </a:r>
            <a:r>
              <a:rPr lang="en-US" altLang="zh-CN" sz="2400" i="1" dirty="0"/>
              <a:t>Y</a:t>
            </a:r>
            <a:r>
              <a:rPr lang="zh-CN" altLang="en-US" sz="2400" dirty="0"/>
              <a:t>。</a:t>
            </a:r>
          </a:p>
          <a:p>
            <a:pPr>
              <a:lnSpc>
                <a:spcPct val="110000"/>
              </a:lnSpc>
              <a:buNone/>
            </a:pPr>
            <a:r>
              <a:rPr lang="zh-CN" altLang="en-US" sz="2400" dirty="0"/>
              <a:t> </a:t>
            </a:r>
            <a:r>
              <a:rPr lang="zh-CN" altLang="en-US" sz="2400" dirty="0" smtClean="0"/>
              <a:t>或</a:t>
            </a:r>
            <a:r>
              <a:rPr lang="zh-CN" altLang="en-US" sz="2400" dirty="0"/>
              <a:t>：</a:t>
            </a:r>
            <a:r>
              <a:rPr lang="en-US" altLang="zh-CN" sz="2400" dirty="0">
                <a:solidFill>
                  <a:srgbClr val="0000CC"/>
                </a:solidFill>
              </a:rPr>
              <a:t>r</a:t>
            </a:r>
            <a:r>
              <a:rPr lang="zh-CN" altLang="en-US" sz="2400" dirty="0">
                <a:solidFill>
                  <a:srgbClr val="0000CC"/>
                </a:solidFill>
              </a:rPr>
              <a:t>中若存在</a:t>
            </a:r>
            <a:r>
              <a:rPr lang="en-US" altLang="zh-CN" sz="2400" dirty="0">
                <a:solidFill>
                  <a:srgbClr val="0000CC"/>
                </a:solidFill>
              </a:rPr>
              <a:t>(x,y1,z1)</a:t>
            </a:r>
            <a:r>
              <a:rPr lang="zh-CN" altLang="en-US" sz="2400" dirty="0">
                <a:solidFill>
                  <a:srgbClr val="0000CC"/>
                </a:solidFill>
              </a:rPr>
              <a:t>和</a:t>
            </a:r>
            <a:r>
              <a:rPr lang="en-US" altLang="zh-CN" sz="2400" dirty="0">
                <a:solidFill>
                  <a:srgbClr val="0000CC"/>
                </a:solidFill>
              </a:rPr>
              <a:t>(x,y2,z2)</a:t>
            </a:r>
            <a:r>
              <a:rPr lang="zh-CN" altLang="en-US" sz="2400" dirty="0">
                <a:solidFill>
                  <a:srgbClr val="0000CC"/>
                </a:solidFill>
              </a:rPr>
              <a:t>，则必存在</a:t>
            </a:r>
            <a:r>
              <a:rPr lang="en-US" altLang="zh-CN" sz="2400" dirty="0">
                <a:solidFill>
                  <a:srgbClr val="0000CC"/>
                </a:solidFill>
              </a:rPr>
              <a:t>(x,y2,z1)</a:t>
            </a:r>
            <a:r>
              <a:rPr lang="zh-CN" altLang="en-US" sz="2400" dirty="0">
                <a:solidFill>
                  <a:srgbClr val="0000CC"/>
                </a:solidFill>
              </a:rPr>
              <a:t>和</a:t>
            </a:r>
            <a:r>
              <a:rPr lang="en-US" altLang="zh-CN" sz="2400" dirty="0">
                <a:solidFill>
                  <a:srgbClr val="0000CC"/>
                </a:solidFill>
              </a:rPr>
              <a:t>(x,y1,z2)</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46</a:t>
            </a:fld>
            <a:endParaRPr lang="en-US" altLang="zh-CN"/>
          </a:p>
        </p:txBody>
      </p:sp>
      <p:pic>
        <p:nvPicPr>
          <p:cNvPr id="7" name="Picture 6" descr="屏幕快照 2017-04-27 下午2.32.0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6720" y="2195617"/>
            <a:ext cx="3420368" cy="1613647"/>
          </a:xfrm>
          <a:prstGeom prst="rect">
            <a:avLst/>
          </a:prstGeom>
        </p:spPr>
      </p:pic>
    </p:spTree>
    <p:extLst>
      <p:ext uri="{BB962C8B-B14F-4D97-AF65-F5344CB8AC3E}">
        <p14:creationId xmlns:p14="http://schemas.microsoft.com/office/powerpoint/2010/main" val="9323161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linds(horizontal)">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checkerboard(across)">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多值依赖</a:t>
            </a:r>
            <a:endParaRPr lang="en-US" dirty="0"/>
          </a:p>
        </p:txBody>
      </p:sp>
      <p:sp>
        <p:nvSpPr>
          <p:cNvPr id="3" name="Content Placeholder 2"/>
          <p:cNvSpPr>
            <a:spLocks noGrp="1"/>
          </p:cNvSpPr>
          <p:nvPr>
            <p:ph idx="1"/>
          </p:nvPr>
        </p:nvSpPr>
        <p:spPr/>
        <p:txBody>
          <a:bodyPr/>
          <a:lstStyle/>
          <a:p>
            <a:pPr>
              <a:lnSpc>
                <a:spcPct val="110000"/>
              </a:lnSpc>
            </a:pPr>
            <a:r>
              <a:rPr lang="en-US" altLang="zh-CN" sz="2400" dirty="0"/>
              <a:t>3. </a:t>
            </a:r>
            <a:r>
              <a:rPr lang="zh-CN" altLang="en-US" sz="2400" dirty="0"/>
              <a:t>平凡多值依赖与非平凡多值依赖</a:t>
            </a:r>
            <a:r>
              <a:rPr lang="en-US" altLang="zh-CN" sz="2400" dirty="0"/>
              <a:t>:</a:t>
            </a:r>
          </a:p>
          <a:p>
            <a:pPr lvl="1">
              <a:lnSpc>
                <a:spcPct val="110000"/>
              </a:lnSpc>
            </a:pPr>
            <a:r>
              <a:rPr lang="zh-CN" altLang="en-US" dirty="0"/>
              <a:t>若</a:t>
            </a:r>
            <a:r>
              <a:rPr lang="en-US" altLang="zh-CN" dirty="0"/>
              <a:t>X→→Y</a:t>
            </a:r>
            <a:r>
              <a:rPr lang="zh-CN" altLang="en-US" dirty="0"/>
              <a:t>，而</a:t>
            </a:r>
            <a:r>
              <a:rPr lang="en-US" altLang="zh-CN" dirty="0"/>
              <a:t>Z</a:t>
            </a:r>
            <a:r>
              <a:rPr lang="zh-CN" altLang="en-US" dirty="0"/>
              <a:t>＝</a:t>
            </a:r>
            <a:r>
              <a:rPr lang="en-US" altLang="zh-CN" dirty="0" err="1"/>
              <a:t>φ</a:t>
            </a:r>
            <a:r>
              <a:rPr lang="zh-CN" altLang="en-US" dirty="0" smtClean="0"/>
              <a:t>，</a:t>
            </a:r>
            <a:r>
              <a:rPr lang="zh-CN" altLang="en-US" dirty="0" smtClean="0"/>
              <a:t>即</a:t>
            </a:r>
            <a:r>
              <a:rPr lang="en-US" altLang="zh-CN" dirty="0">
                <a:solidFill>
                  <a:srgbClr val="000090"/>
                </a:solidFill>
              </a:rPr>
              <a:t>U</a:t>
            </a:r>
            <a:r>
              <a:rPr lang="zh-CN" altLang="en-US" dirty="0">
                <a:solidFill>
                  <a:srgbClr val="000090"/>
                </a:solidFill>
              </a:rPr>
              <a:t>＝</a:t>
            </a:r>
            <a:r>
              <a:rPr lang="en-US" altLang="zh-CN" dirty="0">
                <a:solidFill>
                  <a:srgbClr val="000090"/>
                </a:solidFill>
              </a:rPr>
              <a:t>X</a:t>
            </a:r>
            <a:r>
              <a:rPr lang="en-US" altLang="zh-CN" dirty="0">
                <a:solidFill>
                  <a:srgbClr val="000090"/>
                </a:solidFill>
                <a:sym typeface="Symbol" charset="0"/>
              </a:rPr>
              <a:t></a:t>
            </a:r>
            <a:r>
              <a:rPr lang="en-US" altLang="zh-CN" dirty="0">
                <a:solidFill>
                  <a:srgbClr val="000090"/>
                </a:solidFill>
              </a:rPr>
              <a:t>Y</a:t>
            </a:r>
            <a:r>
              <a:rPr lang="zh-CN" altLang="en-US" dirty="0" smtClean="0"/>
              <a:t>：</a:t>
            </a:r>
            <a:r>
              <a:rPr lang="zh-CN" altLang="en-US" dirty="0" smtClean="0"/>
              <a:t>则称</a:t>
            </a:r>
            <a:endParaRPr lang="zh-CN" altLang="en-US" dirty="0"/>
          </a:p>
          <a:p>
            <a:pPr lvl="1">
              <a:lnSpc>
                <a:spcPct val="110000"/>
              </a:lnSpc>
              <a:buNone/>
            </a:pPr>
            <a:r>
              <a:rPr lang="zh-CN" altLang="en-US" dirty="0"/>
              <a:t>   </a:t>
            </a:r>
            <a:r>
              <a:rPr lang="en-US" altLang="zh-CN" dirty="0"/>
              <a:t>X→→Y</a:t>
            </a:r>
            <a:r>
              <a:rPr lang="zh-CN" altLang="en-US" dirty="0"/>
              <a:t>为</a:t>
            </a:r>
            <a:r>
              <a:rPr lang="zh-CN" altLang="en-US" dirty="0">
                <a:solidFill>
                  <a:srgbClr val="FF3300"/>
                </a:solidFill>
              </a:rPr>
              <a:t>平凡的多值依赖</a:t>
            </a:r>
          </a:p>
          <a:p>
            <a:pPr marL="274637" lvl="1" indent="0">
              <a:lnSpc>
                <a:spcPct val="110000"/>
              </a:lnSpc>
              <a:buNone/>
            </a:pPr>
            <a:r>
              <a:rPr lang="zh-CN" altLang="en-US" dirty="0"/>
              <a:t>否则称</a:t>
            </a:r>
            <a:r>
              <a:rPr lang="en-US" altLang="zh-CN" dirty="0"/>
              <a:t>X→→Y</a:t>
            </a:r>
            <a:r>
              <a:rPr lang="zh-CN" altLang="en-US" dirty="0"/>
              <a:t>为</a:t>
            </a:r>
            <a:r>
              <a:rPr lang="zh-CN" altLang="en-US" dirty="0" smtClean="0">
                <a:solidFill>
                  <a:srgbClr val="FF3300"/>
                </a:solidFill>
              </a:rPr>
              <a:t>非平凡的多值依赖</a:t>
            </a:r>
            <a:r>
              <a:rPr lang="zh-CN" altLang="en-US" dirty="0" smtClean="0">
                <a:solidFill>
                  <a:srgbClr val="FF3300"/>
                </a:solidFill>
              </a:rPr>
              <a:t>。</a:t>
            </a:r>
            <a:endParaRPr lang="en-US" altLang="zh-CN" dirty="0">
              <a:solidFill>
                <a:srgbClr val="FF3300"/>
              </a:solidFill>
            </a:endParaRPr>
          </a:p>
          <a:p>
            <a:pPr>
              <a:lnSpc>
                <a:spcPct val="120000"/>
              </a:lnSpc>
            </a:pPr>
            <a:r>
              <a:rPr lang="en-US" altLang="zh-CN" sz="2400" dirty="0"/>
              <a:t>4. MVD</a:t>
            </a:r>
            <a:r>
              <a:rPr lang="zh-CN" altLang="en-US" sz="2400" dirty="0"/>
              <a:t>性质</a:t>
            </a:r>
            <a:r>
              <a:rPr lang="en-US" altLang="zh-CN" sz="2400" dirty="0"/>
              <a:t>:</a:t>
            </a:r>
          </a:p>
          <a:p>
            <a:pPr lvl="1">
              <a:lnSpc>
                <a:spcPct val="120000"/>
              </a:lnSpc>
            </a:pPr>
            <a:r>
              <a:rPr lang="zh-CN" altLang="en-US" dirty="0"/>
              <a:t>多值依赖具有</a:t>
            </a:r>
            <a:r>
              <a:rPr lang="zh-CN" altLang="en-US" dirty="0">
                <a:solidFill>
                  <a:srgbClr val="FF0000"/>
                </a:solidFill>
              </a:rPr>
              <a:t>对称性</a:t>
            </a:r>
          </a:p>
          <a:p>
            <a:pPr lvl="1">
              <a:buNone/>
            </a:pPr>
            <a:r>
              <a:rPr lang="zh-CN" altLang="en-US" dirty="0"/>
              <a:t>   若</a:t>
            </a:r>
            <a:r>
              <a:rPr lang="en-US" altLang="zh-CN" dirty="0"/>
              <a:t>X→→Y</a:t>
            </a:r>
            <a:r>
              <a:rPr lang="zh-CN" altLang="en-US" dirty="0"/>
              <a:t>，则</a:t>
            </a:r>
            <a:r>
              <a:rPr lang="en-US" altLang="zh-CN" dirty="0"/>
              <a:t>X→→Z</a:t>
            </a:r>
            <a:r>
              <a:rPr lang="zh-CN" altLang="en-US" dirty="0"/>
              <a:t>，其中</a:t>
            </a:r>
            <a:r>
              <a:rPr lang="en-US" altLang="zh-CN" dirty="0"/>
              <a:t>Z</a:t>
            </a:r>
            <a:r>
              <a:rPr lang="zh-CN" altLang="en-US" dirty="0"/>
              <a:t>＝</a:t>
            </a:r>
            <a:r>
              <a:rPr lang="en-US" altLang="zh-CN" dirty="0"/>
              <a:t>U</a:t>
            </a:r>
            <a:r>
              <a:rPr lang="zh-CN" altLang="en-US" dirty="0"/>
              <a:t>－</a:t>
            </a:r>
            <a:r>
              <a:rPr lang="en-US" altLang="zh-CN" dirty="0"/>
              <a:t>X</a:t>
            </a:r>
            <a:r>
              <a:rPr lang="zh-CN" altLang="en-US" dirty="0"/>
              <a:t>－</a:t>
            </a:r>
            <a:r>
              <a:rPr lang="en-US" altLang="zh-CN" dirty="0"/>
              <a:t>Y</a:t>
            </a:r>
          </a:p>
          <a:p>
            <a:pPr marL="0" indent="0">
              <a:lnSpc>
                <a:spcPct val="110000"/>
              </a:lnSpc>
              <a:buNone/>
            </a:pPr>
            <a:endParaRPr lang="en-US" altLang="zh-CN" sz="2400" dirty="0" smtClean="0">
              <a:solidFill>
                <a:srgbClr val="FF3300"/>
              </a:solidFill>
            </a:endParaRPr>
          </a:p>
        </p:txBody>
      </p:sp>
      <p:sp>
        <p:nvSpPr>
          <p:cNvPr id="4" name="Date Placeholder 3"/>
          <p:cNvSpPr>
            <a:spLocks noGrp="1"/>
          </p:cNvSpPr>
          <p:nvPr>
            <p:ph type="dt" sz="half" idx="10"/>
          </p:nvPr>
        </p:nvSpPr>
        <p:spPr>
          <a:xfrm>
            <a:off x="5661553" y="6272213"/>
            <a:ext cx="2454275" cy="365125"/>
          </a:xfrm>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a:xfrm>
            <a:off x="8485902" y="6249010"/>
            <a:ext cx="479425" cy="365125"/>
          </a:xfrm>
        </p:spPr>
        <p:txBody>
          <a:bodyPr/>
          <a:lstStyle/>
          <a:p>
            <a:pPr>
              <a:defRPr/>
            </a:pPr>
            <a:fld id="{47F445B7-5C44-804A-899A-16C4D8122FBA}" type="slidenum">
              <a:rPr lang="en-US" altLang="zh-CN" smtClean="0"/>
              <a:pPr>
                <a:defRPr/>
              </a:pPr>
              <a:t>47</a:t>
            </a:fld>
            <a:endParaRPr lang="en-US" altLang="zh-CN"/>
          </a:p>
        </p:txBody>
      </p:sp>
      <p:grpSp>
        <p:nvGrpSpPr>
          <p:cNvPr id="6" name="Group 4"/>
          <p:cNvGrpSpPr>
            <a:grpSpLocks/>
          </p:cNvGrpSpPr>
          <p:nvPr/>
        </p:nvGrpSpPr>
        <p:grpSpPr bwMode="auto">
          <a:xfrm>
            <a:off x="753095" y="4400940"/>
            <a:ext cx="3195866" cy="1752234"/>
            <a:chOff x="1800" y="1752"/>
            <a:chExt cx="8100" cy="2966"/>
          </a:xfrm>
        </p:grpSpPr>
        <p:sp>
          <p:nvSpPr>
            <p:cNvPr id="7" name="Oval 5"/>
            <p:cNvSpPr>
              <a:spLocks noChangeArrowheads="1"/>
            </p:cNvSpPr>
            <p:nvPr/>
          </p:nvSpPr>
          <p:spPr bwMode="auto">
            <a:xfrm>
              <a:off x="1800" y="2566"/>
              <a:ext cx="1247" cy="1073"/>
            </a:xfrm>
            <a:prstGeom prst="ellipse">
              <a:avLst/>
            </a:prstGeom>
            <a:solidFill>
              <a:srgbClr val="FFFFFF"/>
            </a:solidFill>
            <a:ln w="28575">
              <a:solidFill>
                <a:srgbClr val="000000"/>
              </a:solidFill>
              <a:round/>
              <a:headEnd/>
              <a:tailEnd/>
            </a:ln>
          </p:spPr>
          <p:txBody>
            <a:bodyPr/>
            <a:lstStyle/>
            <a:p>
              <a:pPr algn="just" eaLnBrk="1" hangingPunct="1">
                <a:spcBef>
                  <a:spcPct val="0"/>
                </a:spcBef>
              </a:pPr>
              <a:r>
                <a:rPr lang="en-US" altLang="zh-CN" sz="2000">
                  <a:latin typeface="+mn-lt"/>
                  <a:ea typeface="黑体"/>
                  <a:cs typeface="Arial Narrow"/>
                </a:rPr>
                <a:t>X</a:t>
              </a:r>
              <a:r>
                <a:rPr lang="en-US" altLang="zh-CN" sz="2000" baseline="-25000">
                  <a:latin typeface="+mn-lt"/>
                  <a:ea typeface="黑体"/>
                  <a:cs typeface="Arial Narrow"/>
                </a:rPr>
                <a:t>i</a:t>
              </a:r>
              <a:endParaRPr lang="en-US" altLang="zh-CN" sz="2000">
                <a:latin typeface="+mn-lt"/>
                <a:ea typeface="黑体"/>
                <a:cs typeface="Arial Narrow"/>
              </a:endParaRPr>
            </a:p>
          </p:txBody>
        </p:sp>
        <p:sp>
          <p:nvSpPr>
            <p:cNvPr id="8" name="AutoShape 6"/>
            <p:cNvSpPr>
              <a:spLocks noChangeArrowheads="1"/>
            </p:cNvSpPr>
            <p:nvPr/>
          </p:nvSpPr>
          <p:spPr bwMode="auto">
            <a:xfrm>
              <a:off x="3977" y="3913"/>
              <a:ext cx="5923" cy="805"/>
            </a:xfrm>
            <a:prstGeom prst="flowChartTerminator">
              <a:avLst/>
            </a:prstGeom>
            <a:solidFill>
              <a:srgbClr val="FFFFFF"/>
            </a:solidFill>
            <a:ln w="28575">
              <a:solidFill>
                <a:srgbClr val="000000"/>
              </a:solidFill>
              <a:miter lim="800000"/>
              <a:headEnd/>
              <a:tailEnd/>
            </a:ln>
          </p:spPr>
          <p:txBody>
            <a:bodyPr tIns="0"/>
            <a:lstStyle/>
            <a:p>
              <a:pPr algn="just" eaLnBrk="1" hangingPunct="1">
                <a:spcBef>
                  <a:spcPct val="0"/>
                </a:spcBef>
              </a:pPr>
              <a:r>
                <a:rPr lang="en-US" altLang="zh-CN" sz="2000" dirty="0">
                  <a:latin typeface="+mn-lt"/>
                  <a:ea typeface="黑体"/>
                  <a:cs typeface="Arial Narrow"/>
                </a:rPr>
                <a:t>Z</a:t>
              </a:r>
              <a:r>
                <a:rPr lang="en-US" altLang="zh-CN" sz="2000" baseline="-25000" dirty="0">
                  <a:latin typeface="+mn-lt"/>
                  <a:ea typeface="黑体"/>
                  <a:cs typeface="Arial Narrow"/>
                </a:rPr>
                <a:t>i1 </a:t>
              </a:r>
              <a:r>
                <a:rPr lang="en-US" altLang="zh-CN" sz="2000" dirty="0">
                  <a:latin typeface="+mn-lt"/>
                  <a:ea typeface="黑体"/>
                  <a:cs typeface="Arial Narrow"/>
                </a:rPr>
                <a:t> Z</a:t>
              </a:r>
              <a:r>
                <a:rPr lang="en-US" altLang="zh-CN" sz="2000" baseline="-25000" dirty="0">
                  <a:latin typeface="+mn-lt"/>
                  <a:ea typeface="黑体"/>
                  <a:cs typeface="Arial Narrow"/>
                </a:rPr>
                <a:t>i2</a:t>
              </a:r>
              <a:r>
                <a:rPr lang="en-US" altLang="zh-CN" sz="2000" dirty="0">
                  <a:latin typeface="+mn-lt"/>
                  <a:ea typeface="黑体"/>
                  <a:cs typeface="Arial Narrow"/>
                </a:rPr>
                <a:t>  … </a:t>
              </a:r>
              <a:r>
                <a:rPr lang="en-US" altLang="zh-CN" sz="2000" dirty="0" err="1">
                  <a:latin typeface="+mn-lt"/>
                  <a:ea typeface="黑体"/>
                  <a:cs typeface="Arial Narrow"/>
                </a:rPr>
                <a:t>Z</a:t>
              </a:r>
              <a:r>
                <a:rPr lang="en-US" altLang="zh-CN" sz="2000" baseline="-25000" dirty="0" err="1">
                  <a:latin typeface="+mn-lt"/>
                  <a:ea typeface="黑体"/>
                  <a:cs typeface="Arial Narrow"/>
                </a:rPr>
                <a:t>im</a:t>
              </a:r>
              <a:endParaRPr lang="en-US" altLang="zh-CN" sz="2000" dirty="0">
                <a:latin typeface="+mn-lt"/>
                <a:ea typeface="黑体"/>
                <a:cs typeface="Arial Narrow"/>
              </a:endParaRPr>
            </a:p>
            <a:p>
              <a:pPr algn="just" eaLnBrk="1" hangingPunct="1">
                <a:spcBef>
                  <a:spcPct val="0"/>
                </a:spcBef>
              </a:pPr>
              <a:endParaRPr lang="zh-CN" altLang="en-US" sz="2000" b="0" dirty="0">
                <a:latin typeface="+mn-lt"/>
                <a:ea typeface="黑体"/>
                <a:cs typeface="Arial Narrow"/>
              </a:endParaRPr>
            </a:p>
          </p:txBody>
        </p:sp>
        <p:sp>
          <p:nvSpPr>
            <p:cNvPr id="9" name="AutoShape 7"/>
            <p:cNvSpPr>
              <a:spLocks noChangeArrowheads="1"/>
            </p:cNvSpPr>
            <p:nvPr/>
          </p:nvSpPr>
          <p:spPr bwMode="auto">
            <a:xfrm>
              <a:off x="3977" y="1752"/>
              <a:ext cx="5923" cy="805"/>
            </a:xfrm>
            <a:prstGeom prst="flowChartTerminator">
              <a:avLst/>
            </a:prstGeom>
            <a:solidFill>
              <a:srgbClr val="FFFFFF"/>
            </a:solidFill>
            <a:ln w="28575">
              <a:solidFill>
                <a:srgbClr val="000000"/>
              </a:solidFill>
              <a:miter lim="800000"/>
              <a:headEnd/>
              <a:tailEnd/>
            </a:ln>
          </p:spPr>
          <p:txBody>
            <a:bodyPr tIns="0"/>
            <a:lstStyle/>
            <a:p>
              <a:pPr algn="just" eaLnBrk="1" hangingPunct="1">
                <a:spcBef>
                  <a:spcPct val="0"/>
                </a:spcBef>
              </a:pPr>
              <a:r>
                <a:rPr lang="en-US" altLang="zh-CN" sz="2000">
                  <a:latin typeface="+mn-lt"/>
                  <a:ea typeface="黑体"/>
                  <a:cs typeface="Arial Narrow"/>
                </a:rPr>
                <a:t>Y</a:t>
              </a:r>
              <a:r>
                <a:rPr lang="en-US" altLang="zh-CN" sz="2000" baseline="-25000">
                  <a:latin typeface="+mn-lt"/>
                  <a:ea typeface="黑体"/>
                  <a:cs typeface="Arial Narrow"/>
                </a:rPr>
                <a:t>i1</a:t>
              </a:r>
              <a:r>
                <a:rPr lang="en-US" altLang="zh-CN" sz="2000">
                  <a:latin typeface="+mn-lt"/>
                  <a:ea typeface="黑体"/>
                  <a:cs typeface="Arial Narrow"/>
                </a:rPr>
                <a:t> Y</a:t>
              </a:r>
              <a:r>
                <a:rPr lang="en-US" altLang="zh-CN" sz="2000" baseline="-25000">
                  <a:latin typeface="+mn-lt"/>
                  <a:ea typeface="黑体"/>
                  <a:cs typeface="Arial Narrow"/>
                </a:rPr>
                <a:t>i2</a:t>
              </a:r>
              <a:r>
                <a:rPr lang="en-US" altLang="zh-CN" sz="2000">
                  <a:latin typeface="+mn-lt"/>
                  <a:ea typeface="黑体"/>
                  <a:cs typeface="Arial Narrow"/>
                </a:rPr>
                <a:t> … Y</a:t>
              </a:r>
              <a:r>
                <a:rPr lang="en-US" altLang="zh-CN" sz="2000" baseline="-25000">
                  <a:latin typeface="+mn-lt"/>
                  <a:ea typeface="黑体"/>
                  <a:cs typeface="Arial Narrow"/>
                </a:rPr>
                <a:t>in</a:t>
              </a:r>
              <a:endParaRPr lang="en-US" altLang="zh-CN" sz="2000">
                <a:latin typeface="+mn-lt"/>
                <a:ea typeface="黑体"/>
                <a:cs typeface="Arial Narrow"/>
              </a:endParaRPr>
            </a:p>
          </p:txBody>
        </p:sp>
        <p:sp>
          <p:nvSpPr>
            <p:cNvPr id="10" name="Line 8"/>
            <p:cNvSpPr>
              <a:spLocks noChangeShapeType="1"/>
            </p:cNvSpPr>
            <p:nvPr/>
          </p:nvSpPr>
          <p:spPr bwMode="auto">
            <a:xfrm flipV="1">
              <a:off x="3047" y="2292"/>
              <a:ext cx="935" cy="53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1" name="Line 9"/>
            <p:cNvSpPr>
              <a:spLocks noChangeShapeType="1"/>
            </p:cNvSpPr>
            <p:nvPr/>
          </p:nvSpPr>
          <p:spPr bwMode="auto">
            <a:xfrm>
              <a:off x="3047" y="3373"/>
              <a:ext cx="935" cy="80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2" name="Freeform 10"/>
            <p:cNvSpPr>
              <a:spLocks/>
            </p:cNvSpPr>
            <p:nvPr/>
          </p:nvSpPr>
          <p:spPr bwMode="auto">
            <a:xfrm>
              <a:off x="4607" y="2586"/>
              <a:ext cx="11" cy="1317"/>
            </a:xfrm>
            <a:custGeom>
              <a:avLst/>
              <a:gdLst>
                <a:gd name="T0" fmla="*/ 6 w 6"/>
                <a:gd name="T1" fmla="*/ 0 h 765"/>
                <a:gd name="T2" fmla="*/ 0 w 6"/>
                <a:gd name="T3" fmla="*/ 765 h 765"/>
                <a:gd name="T4" fmla="*/ 0 60000 65536"/>
                <a:gd name="T5" fmla="*/ 0 60000 65536"/>
                <a:gd name="T6" fmla="*/ 0 w 6"/>
                <a:gd name="T7" fmla="*/ 0 h 765"/>
                <a:gd name="T8" fmla="*/ 6 w 6"/>
                <a:gd name="T9" fmla="*/ 765 h 765"/>
              </a:gdLst>
              <a:ahLst/>
              <a:cxnLst>
                <a:cxn ang="T4">
                  <a:pos x="T0" y="T1"/>
                </a:cxn>
                <a:cxn ang="T5">
                  <a:pos x="T2" y="T3"/>
                </a:cxn>
              </a:cxnLst>
              <a:rect l="T6" t="T7" r="T8" b="T9"/>
              <a:pathLst>
                <a:path w="6" h="765">
                  <a:moveTo>
                    <a:pt x="6" y="0"/>
                  </a:moveTo>
                  <a:lnTo>
                    <a:pt x="0" y="765"/>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mn-lt"/>
                <a:ea typeface="黑体"/>
                <a:cs typeface="Arial Narrow"/>
              </a:endParaRPr>
            </a:p>
          </p:txBody>
        </p:sp>
        <p:sp>
          <p:nvSpPr>
            <p:cNvPr id="13" name="Line 11"/>
            <p:cNvSpPr>
              <a:spLocks noChangeShapeType="1"/>
            </p:cNvSpPr>
            <p:nvPr/>
          </p:nvSpPr>
          <p:spPr bwMode="auto">
            <a:xfrm>
              <a:off x="4606" y="2561"/>
              <a:ext cx="1558"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4" name="Line 12"/>
            <p:cNvSpPr>
              <a:spLocks noChangeShapeType="1"/>
            </p:cNvSpPr>
            <p:nvPr/>
          </p:nvSpPr>
          <p:spPr bwMode="auto">
            <a:xfrm>
              <a:off x="4606" y="2561"/>
              <a:ext cx="4364"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5" name="Line 13"/>
            <p:cNvSpPr>
              <a:spLocks noChangeShapeType="1"/>
            </p:cNvSpPr>
            <p:nvPr/>
          </p:nvSpPr>
          <p:spPr bwMode="auto">
            <a:xfrm flipH="1">
              <a:off x="4606" y="2561"/>
              <a:ext cx="1558"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6" name="Line 14"/>
            <p:cNvSpPr>
              <a:spLocks noChangeShapeType="1"/>
            </p:cNvSpPr>
            <p:nvPr/>
          </p:nvSpPr>
          <p:spPr bwMode="auto">
            <a:xfrm>
              <a:off x="6164" y="2561"/>
              <a:ext cx="0"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7" name="Line 15"/>
            <p:cNvSpPr>
              <a:spLocks noChangeShapeType="1"/>
            </p:cNvSpPr>
            <p:nvPr/>
          </p:nvSpPr>
          <p:spPr bwMode="auto">
            <a:xfrm>
              <a:off x="6164" y="2561"/>
              <a:ext cx="2806"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8" name="Line 16"/>
            <p:cNvSpPr>
              <a:spLocks noChangeShapeType="1"/>
            </p:cNvSpPr>
            <p:nvPr/>
          </p:nvSpPr>
          <p:spPr bwMode="auto">
            <a:xfrm flipV="1">
              <a:off x="8970" y="2561"/>
              <a:ext cx="0"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19" name="Line 17"/>
            <p:cNvSpPr>
              <a:spLocks noChangeShapeType="1"/>
            </p:cNvSpPr>
            <p:nvPr/>
          </p:nvSpPr>
          <p:spPr bwMode="auto">
            <a:xfrm flipH="1">
              <a:off x="6164" y="2561"/>
              <a:ext cx="2806"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sp>
          <p:nvSpPr>
            <p:cNvPr id="20" name="Line 18"/>
            <p:cNvSpPr>
              <a:spLocks noChangeShapeType="1"/>
            </p:cNvSpPr>
            <p:nvPr/>
          </p:nvSpPr>
          <p:spPr bwMode="auto">
            <a:xfrm flipV="1">
              <a:off x="4606" y="2561"/>
              <a:ext cx="4364" cy="1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latin typeface="+mn-lt"/>
                <a:ea typeface="黑体"/>
                <a:cs typeface="Arial Narrow"/>
              </a:endParaRPr>
            </a:p>
          </p:txBody>
        </p:sp>
      </p:grpSp>
      <p:grpSp>
        <p:nvGrpSpPr>
          <p:cNvPr id="21" name="Group 19"/>
          <p:cNvGrpSpPr>
            <a:grpSpLocks/>
          </p:cNvGrpSpPr>
          <p:nvPr/>
        </p:nvGrpSpPr>
        <p:grpSpPr bwMode="auto">
          <a:xfrm>
            <a:off x="4306005" y="4387674"/>
            <a:ext cx="3478468" cy="1725392"/>
            <a:chOff x="2782" y="2016"/>
            <a:chExt cx="3075" cy="1607"/>
          </a:xfrm>
        </p:grpSpPr>
        <p:sp>
          <p:nvSpPr>
            <p:cNvPr id="22" name="Oval 20"/>
            <p:cNvSpPr>
              <a:spLocks noChangeArrowheads="1"/>
            </p:cNvSpPr>
            <p:nvPr/>
          </p:nvSpPr>
          <p:spPr bwMode="auto">
            <a:xfrm>
              <a:off x="2782" y="2333"/>
              <a:ext cx="451" cy="827"/>
            </a:xfrm>
            <a:prstGeom prst="ellipse">
              <a:avLst/>
            </a:prstGeom>
            <a:solidFill>
              <a:srgbClr val="FFFFFF"/>
            </a:solidFill>
            <a:ln w="28575">
              <a:solidFill>
                <a:srgbClr val="000000"/>
              </a:solidFill>
              <a:round/>
              <a:headEnd/>
              <a:tailEnd/>
            </a:ln>
          </p:spPr>
          <p:txBody>
            <a:bodyPr/>
            <a:lstStyle/>
            <a:p>
              <a:pPr algn="just" eaLnBrk="1" hangingPunct="1">
                <a:spcBef>
                  <a:spcPct val="0"/>
                </a:spcBef>
              </a:pPr>
              <a:r>
                <a:rPr lang="zh-CN" altLang="en-US" dirty="0" smtClean="0">
                  <a:latin typeface="+mn-lt"/>
                  <a:ea typeface="黑体"/>
                  <a:cs typeface="Arial Narrow"/>
                </a:rPr>
                <a:t>物理</a:t>
              </a:r>
              <a:endParaRPr lang="zh-CN" altLang="en-US" dirty="0">
                <a:latin typeface="+mn-lt"/>
                <a:ea typeface="黑体"/>
                <a:cs typeface="Arial Narrow"/>
              </a:endParaRPr>
            </a:p>
          </p:txBody>
        </p:sp>
        <p:sp>
          <p:nvSpPr>
            <p:cNvPr id="23" name="AutoShape 21"/>
            <p:cNvSpPr>
              <a:spLocks noChangeArrowheads="1"/>
            </p:cNvSpPr>
            <p:nvPr/>
          </p:nvSpPr>
          <p:spPr bwMode="auto">
            <a:xfrm>
              <a:off x="3524" y="3124"/>
              <a:ext cx="2333" cy="499"/>
            </a:xfrm>
            <a:prstGeom prst="flowChartTerminator">
              <a:avLst/>
            </a:prstGeom>
            <a:solidFill>
              <a:srgbClr val="FFFFFF"/>
            </a:solidFill>
            <a:ln w="28575">
              <a:solidFill>
                <a:srgbClr val="000000"/>
              </a:solidFill>
              <a:miter lim="800000"/>
              <a:headEnd/>
              <a:tailEnd/>
            </a:ln>
          </p:spPr>
          <p:txBody>
            <a:bodyPr tIns="72000"/>
            <a:lstStyle/>
            <a:p>
              <a:pPr algn="just" eaLnBrk="1" hangingPunct="1">
                <a:spcBef>
                  <a:spcPct val="0"/>
                </a:spcBef>
              </a:pPr>
              <a:r>
                <a:rPr lang="zh-CN" altLang="en-US" dirty="0">
                  <a:latin typeface="+mn-lt"/>
                  <a:ea typeface="黑体"/>
                  <a:cs typeface="Arial Narrow"/>
                </a:rPr>
                <a:t>普通物</a:t>
              </a:r>
              <a:r>
                <a:rPr lang="zh-CN" altLang="en-US" dirty="0" smtClean="0">
                  <a:latin typeface="+mn-lt"/>
                  <a:ea typeface="黑体"/>
                  <a:cs typeface="Arial Narrow"/>
                </a:rPr>
                <a:t>理学</a:t>
              </a:r>
              <a:r>
                <a:rPr lang="en-US" altLang="zh-CN" dirty="0" smtClean="0">
                  <a:latin typeface="+mn-lt"/>
                  <a:ea typeface="黑体"/>
                  <a:cs typeface="Arial Narrow"/>
                </a:rPr>
                <a:t> </a:t>
              </a:r>
              <a:r>
                <a:rPr lang="zh-CN" altLang="en-US" dirty="0" smtClean="0">
                  <a:latin typeface="+mn-lt"/>
                  <a:ea typeface="黑体"/>
                  <a:cs typeface="Arial Narrow"/>
                </a:rPr>
                <a:t>光学</a:t>
              </a:r>
              <a:r>
                <a:rPr lang="zh-CN" altLang="en-US" dirty="0">
                  <a:latin typeface="+mn-lt"/>
                  <a:ea typeface="黑体"/>
                  <a:cs typeface="Arial Narrow"/>
                </a:rPr>
                <a:t>原理</a:t>
              </a:r>
              <a:endParaRPr lang="zh-CN" altLang="en-US" b="0" dirty="0">
                <a:latin typeface="+mn-lt"/>
                <a:ea typeface="黑体"/>
                <a:cs typeface="Arial Narrow"/>
              </a:endParaRPr>
            </a:p>
          </p:txBody>
        </p:sp>
        <p:sp>
          <p:nvSpPr>
            <p:cNvPr id="24" name="AutoShape 22"/>
            <p:cNvSpPr>
              <a:spLocks noChangeArrowheads="1"/>
            </p:cNvSpPr>
            <p:nvPr/>
          </p:nvSpPr>
          <p:spPr bwMode="auto">
            <a:xfrm>
              <a:off x="3524" y="2016"/>
              <a:ext cx="2142" cy="417"/>
            </a:xfrm>
            <a:prstGeom prst="flowChartTerminator">
              <a:avLst/>
            </a:prstGeom>
            <a:solidFill>
              <a:srgbClr val="FFFFFF"/>
            </a:solidFill>
            <a:ln w="28575">
              <a:solidFill>
                <a:srgbClr val="000000"/>
              </a:solidFill>
              <a:miter lim="800000"/>
              <a:headEnd/>
              <a:tailEnd/>
            </a:ln>
          </p:spPr>
          <p:txBody>
            <a:bodyPr tIns="0"/>
            <a:lstStyle/>
            <a:p>
              <a:pPr algn="just" eaLnBrk="1" hangingPunct="1">
                <a:spcBef>
                  <a:spcPct val="0"/>
                </a:spcBef>
              </a:pPr>
              <a:r>
                <a:rPr lang="zh-CN" altLang="en-US" dirty="0">
                  <a:latin typeface="+mn-lt"/>
                  <a:ea typeface="黑体"/>
                  <a:cs typeface="Arial Narrow"/>
                </a:rPr>
                <a:t>李勇     </a:t>
              </a:r>
              <a:r>
                <a:rPr lang="en-US" altLang="zh-CN" dirty="0" smtClean="0">
                  <a:latin typeface="+mn-lt"/>
                  <a:ea typeface="黑体"/>
                  <a:cs typeface="Arial Narrow"/>
                </a:rPr>
                <a:t>   </a:t>
              </a:r>
              <a:r>
                <a:rPr lang="zh-CN" altLang="en-US" dirty="0" smtClean="0">
                  <a:latin typeface="+mn-lt"/>
                  <a:ea typeface="黑体"/>
                  <a:cs typeface="Arial Narrow"/>
                </a:rPr>
                <a:t>  </a:t>
              </a:r>
              <a:r>
                <a:rPr lang="zh-CN" altLang="en-US" dirty="0">
                  <a:latin typeface="+mn-lt"/>
                  <a:ea typeface="黑体"/>
                  <a:cs typeface="Arial Narrow"/>
                </a:rPr>
                <a:t>王军</a:t>
              </a:r>
            </a:p>
          </p:txBody>
        </p:sp>
        <p:sp>
          <p:nvSpPr>
            <p:cNvPr id="25" name="Line 23"/>
            <p:cNvSpPr>
              <a:spLocks noChangeShapeType="1"/>
            </p:cNvSpPr>
            <p:nvPr/>
          </p:nvSpPr>
          <p:spPr bwMode="auto">
            <a:xfrm flipV="1">
              <a:off x="3217" y="2295"/>
              <a:ext cx="338" cy="279"/>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a typeface="黑体"/>
                <a:cs typeface="Arial Narrow"/>
              </a:endParaRPr>
            </a:p>
          </p:txBody>
        </p:sp>
        <p:sp>
          <p:nvSpPr>
            <p:cNvPr id="26" name="Line 24"/>
            <p:cNvSpPr>
              <a:spLocks noChangeShapeType="1"/>
            </p:cNvSpPr>
            <p:nvPr/>
          </p:nvSpPr>
          <p:spPr bwMode="auto">
            <a:xfrm>
              <a:off x="3217" y="2855"/>
              <a:ext cx="338" cy="41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a typeface="黑体"/>
                <a:cs typeface="Arial Narrow"/>
              </a:endParaRPr>
            </a:p>
          </p:txBody>
        </p:sp>
        <p:sp>
          <p:nvSpPr>
            <p:cNvPr id="27" name="Freeform 25"/>
            <p:cNvSpPr>
              <a:spLocks/>
            </p:cNvSpPr>
            <p:nvPr/>
          </p:nvSpPr>
          <p:spPr bwMode="auto">
            <a:xfrm>
              <a:off x="3902" y="2432"/>
              <a:ext cx="3" cy="682"/>
            </a:xfrm>
            <a:custGeom>
              <a:avLst/>
              <a:gdLst>
                <a:gd name="T0" fmla="*/ 6 w 6"/>
                <a:gd name="T1" fmla="*/ 0 h 765"/>
                <a:gd name="T2" fmla="*/ 0 w 6"/>
                <a:gd name="T3" fmla="*/ 765 h 765"/>
                <a:gd name="T4" fmla="*/ 0 60000 65536"/>
                <a:gd name="T5" fmla="*/ 0 60000 65536"/>
                <a:gd name="T6" fmla="*/ 0 w 6"/>
                <a:gd name="T7" fmla="*/ 0 h 765"/>
                <a:gd name="T8" fmla="*/ 6 w 6"/>
                <a:gd name="T9" fmla="*/ 765 h 765"/>
              </a:gdLst>
              <a:ahLst/>
              <a:cxnLst>
                <a:cxn ang="T4">
                  <a:pos x="T0" y="T1"/>
                </a:cxn>
                <a:cxn ang="T5">
                  <a:pos x="T2" y="T3"/>
                </a:cxn>
              </a:cxnLst>
              <a:rect l="T6" t="T7" r="T8" b="T9"/>
              <a:pathLst>
                <a:path w="6" h="765">
                  <a:moveTo>
                    <a:pt x="6" y="0"/>
                  </a:moveTo>
                  <a:lnTo>
                    <a:pt x="0" y="765"/>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mn-lt"/>
                <a:ea typeface="黑体"/>
                <a:cs typeface="Arial Narrow"/>
              </a:endParaRPr>
            </a:p>
          </p:txBody>
        </p:sp>
        <p:sp>
          <p:nvSpPr>
            <p:cNvPr id="28" name="Line 26"/>
            <p:cNvSpPr>
              <a:spLocks noChangeShapeType="1"/>
            </p:cNvSpPr>
            <p:nvPr/>
          </p:nvSpPr>
          <p:spPr bwMode="auto">
            <a:xfrm>
              <a:off x="3902" y="2432"/>
              <a:ext cx="1427" cy="69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mn-lt"/>
                <a:ea typeface="黑体"/>
                <a:cs typeface="Arial Narrow"/>
              </a:endParaRPr>
            </a:p>
          </p:txBody>
        </p:sp>
        <p:sp>
          <p:nvSpPr>
            <p:cNvPr id="29" name="Line 27"/>
            <p:cNvSpPr>
              <a:spLocks noChangeShapeType="1"/>
            </p:cNvSpPr>
            <p:nvPr/>
          </p:nvSpPr>
          <p:spPr bwMode="auto">
            <a:xfrm flipV="1">
              <a:off x="5329" y="2435"/>
              <a:ext cx="0" cy="69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mn-lt"/>
                <a:ea typeface="黑体"/>
                <a:cs typeface="Arial Narrow"/>
              </a:endParaRPr>
            </a:p>
          </p:txBody>
        </p:sp>
        <p:sp>
          <p:nvSpPr>
            <p:cNvPr id="30" name="Line 28"/>
            <p:cNvSpPr>
              <a:spLocks noChangeShapeType="1"/>
            </p:cNvSpPr>
            <p:nvPr/>
          </p:nvSpPr>
          <p:spPr bwMode="auto">
            <a:xfrm flipV="1">
              <a:off x="3902" y="2435"/>
              <a:ext cx="1427" cy="70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mn-lt"/>
                <a:ea typeface="黑体"/>
                <a:cs typeface="Arial Narrow"/>
              </a:endParaRPr>
            </a:p>
          </p:txBody>
        </p:sp>
      </p:grpSp>
    </p:spTree>
    <p:extLst>
      <p:ext uri="{BB962C8B-B14F-4D97-AF65-F5344CB8AC3E}">
        <p14:creationId xmlns:p14="http://schemas.microsoft.com/office/powerpoint/2010/main" val="195603848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linds(horizontal)">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heckerboard(across)">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checkerboard(across)">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多值依赖</a:t>
            </a:r>
            <a:endParaRPr lang="en-US" dirty="0"/>
          </a:p>
        </p:txBody>
      </p:sp>
      <p:sp>
        <p:nvSpPr>
          <p:cNvPr id="3" name="Content Placeholder 2"/>
          <p:cNvSpPr>
            <a:spLocks noGrp="1"/>
          </p:cNvSpPr>
          <p:nvPr>
            <p:ph idx="1"/>
          </p:nvPr>
        </p:nvSpPr>
        <p:spPr>
          <a:xfrm>
            <a:off x="685799" y="908720"/>
            <a:ext cx="8277225" cy="5263481"/>
          </a:xfrm>
        </p:spPr>
        <p:txBody>
          <a:bodyPr/>
          <a:lstStyle/>
          <a:p>
            <a:pPr>
              <a:lnSpc>
                <a:spcPct val="110000"/>
              </a:lnSpc>
            </a:pPr>
            <a:r>
              <a:rPr lang="en-US" altLang="zh-CN" dirty="0" smtClean="0"/>
              <a:t>MVD</a:t>
            </a:r>
            <a:r>
              <a:rPr lang="zh-CN" altLang="en-US" dirty="0" smtClean="0"/>
              <a:t>性质</a:t>
            </a:r>
            <a:r>
              <a:rPr lang="en-US" altLang="zh-CN" dirty="0"/>
              <a:t>(</a:t>
            </a:r>
            <a:r>
              <a:rPr lang="zh-CN" altLang="en-US" dirty="0"/>
              <a:t>续</a:t>
            </a:r>
            <a:r>
              <a:rPr lang="en-US" altLang="zh-CN" dirty="0"/>
              <a:t>):</a:t>
            </a:r>
          </a:p>
          <a:p>
            <a:pPr lvl="1">
              <a:lnSpc>
                <a:spcPct val="110000"/>
              </a:lnSpc>
            </a:pPr>
            <a:r>
              <a:rPr lang="zh-CN" altLang="en-US" dirty="0">
                <a:solidFill>
                  <a:srgbClr val="FF0000"/>
                </a:solidFill>
              </a:rPr>
              <a:t>函数依赖是多值依赖的特例</a:t>
            </a:r>
            <a:r>
              <a:rPr lang="zh-CN" altLang="en-US" dirty="0"/>
              <a:t>，即</a:t>
            </a:r>
          </a:p>
          <a:p>
            <a:pPr lvl="1">
              <a:lnSpc>
                <a:spcPct val="110000"/>
              </a:lnSpc>
              <a:buNone/>
            </a:pPr>
            <a:r>
              <a:rPr lang="zh-CN" altLang="en-US" dirty="0"/>
              <a:t>	若</a:t>
            </a:r>
            <a:r>
              <a:rPr lang="en-US" altLang="zh-CN" dirty="0"/>
              <a:t>X</a:t>
            </a:r>
            <a:r>
              <a:rPr lang="en-US" altLang="zh-CN" b="1" dirty="0">
                <a:sym typeface="Symbol" charset="0"/>
              </a:rPr>
              <a:t></a:t>
            </a:r>
            <a:r>
              <a:rPr lang="en-US" altLang="zh-CN" dirty="0"/>
              <a:t>Y</a:t>
            </a:r>
            <a:r>
              <a:rPr lang="zh-CN" altLang="en-US" dirty="0"/>
              <a:t>，则</a:t>
            </a:r>
            <a:r>
              <a:rPr lang="en-US" altLang="zh-CN" dirty="0"/>
              <a:t>X</a:t>
            </a:r>
            <a:r>
              <a:rPr lang="en-US" altLang="zh-CN" b="1" dirty="0">
                <a:sym typeface="Symbol" charset="0"/>
              </a:rPr>
              <a:t></a:t>
            </a:r>
            <a:r>
              <a:rPr lang="en-US" altLang="zh-CN" dirty="0" smtClean="0"/>
              <a:t>Y</a:t>
            </a:r>
            <a:r>
              <a:rPr lang="zh-CN" altLang="en-US" dirty="0" smtClean="0"/>
              <a:t>。</a:t>
            </a:r>
            <a:endParaRPr lang="en-US" altLang="zh-CN" dirty="0" smtClean="0"/>
          </a:p>
          <a:p>
            <a:pPr lvl="1">
              <a:lnSpc>
                <a:spcPct val="110000"/>
              </a:lnSpc>
              <a:buNone/>
            </a:pPr>
            <a:r>
              <a:rPr lang="en-US" altLang="zh-CN" dirty="0"/>
              <a:t> </a:t>
            </a:r>
            <a:r>
              <a:rPr lang="en-US" altLang="zh-CN" dirty="0" smtClean="0"/>
              <a:t> </a:t>
            </a:r>
            <a:r>
              <a:rPr lang="zh-CN" altLang="en-US" dirty="0" smtClean="0"/>
              <a:t>（此时</a:t>
            </a:r>
            <a:r>
              <a:rPr lang="en-US" altLang="zh-CN" dirty="0" smtClean="0"/>
              <a:t>,s</a:t>
            </a:r>
            <a:r>
              <a:rPr lang="zh-CN" altLang="en-US" dirty="0" smtClean="0"/>
              <a:t>、</a:t>
            </a:r>
            <a:r>
              <a:rPr lang="en-US" altLang="zh-CN" dirty="0" smtClean="0"/>
              <a:t>t</a:t>
            </a:r>
            <a:r>
              <a:rPr lang="zh-CN" altLang="en-US" dirty="0" smtClean="0"/>
              <a:t>在</a:t>
            </a:r>
            <a:r>
              <a:rPr lang="en-US" altLang="zh-CN" dirty="0" smtClean="0"/>
              <a:t>X</a:t>
            </a:r>
            <a:r>
              <a:rPr lang="zh-CN" altLang="en-US" dirty="0" smtClean="0"/>
              <a:t>上的投影相等，则在</a:t>
            </a:r>
            <a:r>
              <a:rPr lang="en-US" altLang="zh-CN" dirty="0" smtClean="0"/>
              <a:t>Y</a:t>
            </a:r>
            <a:r>
              <a:rPr lang="zh-CN" altLang="en-US" dirty="0" smtClean="0"/>
              <a:t>上的投影也必然相等，该投影与</a:t>
            </a:r>
            <a:r>
              <a:rPr lang="en-US" altLang="zh-CN" dirty="0" smtClean="0"/>
              <a:t>s</a:t>
            </a:r>
            <a:r>
              <a:rPr lang="zh-CN" altLang="en-US" dirty="0" smtClean="0"/>
              <a:t>和</a:t>
            </a:r>
            <a:r>
              <a:rPr lang="en-US" altLang="zh-CN" dirty="0" smtClean="0"/>
              <a:t>t</a:t>
            </a:r>
            <a:r>
              <a:rPr lang="zh-CN" altLang="en-US" dirty="0" smtClean="0"/>
              <a:t>在</a:t>
            </a:r>
            <a:r>
              <a:rPr lang="en-US" altLang="zh-CN" dirty="0" smtClean="0"/>
              <a:t>Z</a:t>
            </a:r>
            <a:r>
              <a:rPr lang="zh-CN" altLang="en-US" dirty="0" smtClean="0"/>
              <a:t>＝</a:t>
            </a:r>
            <a:r>
              <a:rPr lang="en-US" altLang="zh-CN" dirty="0" smtClean="0"/>
              <a:t>U</a:t>
            </a:r>
            <a:r>
              <a:rPr lang="zh-CN" altLang="en-US" dirty="0" smtClean="0"/>
              <a:t>－</a:t>
            </a:r>
            <a:r>
              <a:rPr lang="en-US" altLang="zh-CN" dirty="0" smtClean="0"/>
              <a:t>X</a:t>
            </a:r>
            <a:r>
              <a:rPr lang="zh-CN" altLang="en-US" dirty="0" smtClean="0"/>
              <a:t>－</a:t>
            </a:r>
            <a:r>
              <a:rPr lang="en-US" altLang="zh-CN" dirty="0" smtClean="0"/>
              <a:t>Y</a:t>
            </a:r>
            <a:r>
              <a:rPr lang="zh-CN" altLang="en-US" dirty="0" smtClean="0"/>
              <a:t>上的投影无关。）</a:t>
            </a:r>
            <a:endParaRPr lang="en-US" altLang="zh-CN" dirty="0"/>
          </a:p>
          <a:p>
            <a:pPr lvl="1">
              <a:lnSpc>
                <a:spcPct val="110000"/>
              </a:lnSpc>
            </a:pPr>
            <a:r>
              <a:rPr lang="zh-CN" altLang="en-US" dirty="0"/>
              <a:t>多值依赖具有</a:t>
            </a:r>
            <a:r>
              <a:rPr lang="zh-CN" altLang="en-US" dirty="0">
                <a:solidFill>
                  <a:srgbClr val="FF0000"/>
                </a:solidFill>
              </a:rPr>
              <a:t>传递</a:t>
            </a:r>
            <a:r>
              <a:rPr lang="zh-CN" altLang="en-US" dirty="0" smtClean="0">
                <a:solidFill>
                  <a:srgbClr val="FF0000"/>
                </a:solidFill>
              </a:rPr>
              <a:t>性</a:t>
            </a:r>
            <a:r>
              <a:rPr lang="zh-CN" altLang="en-US" dirty="0" smtClean="0"/>
              <a:t>：</a:t>
            </a:r>
            <a:endParaRPr lang="zh-CN" altLang="en-US" dirty="0"/>
          </a:p>
          <a:p>
            <a:pPr lvl="1">
              <a:lnSpc>
                <a:spcPct val="110000"/>
              </a:lnSpc>
              <a:buNone/>
            </a:pPr>
            <a:r>
              <a:rPr lang="en-US" altLang="zh-CN" dirty="0" smtClean="0"/>
              <a:t> </a:t>
            </a:r>
            <a:r>
              <a:rPr lang="zh-CN" altLang="en-US" dirty="0" smtClean="0"/>
              <a:t>若</a:t>
            </a:r>
            <a:r>
              <a:rPr lang="en-US" altLang="zh-CN" dirty="0"/>
              <a:t>X→→Y</a:t>
            </a:r>
            <a:r>
              <a:rPr lang="zh-CN" altLang="en-US" dirty="0"/>
              <a:t>，</a:t>
            </a:r>
            <a:r>
              <a:rPr lang="en-US" altLang="zh-CN" dirty="0"/>
              <a:t>Y→→Z</a:t>
            </a:r>
            <a:r>
              <a:rPr lang="zh-CN" altLang="en-US" dirty="0"/>
              <a:t>， 则</a:t>
            </a:r>
            <a:r>
              <a:rPr lang="en-US" altLang="zh-CN" dirty="0"/>
              <a:t>X→→(Z –Y)</a:t>
            </a:r>
          </a:p>
          <a:p>
            <a:pPr lvl="1">
              <a:lnSpc>
                <a:spcPct val="110000"/>
              </a:lnSpc>
            </a:pPr>
            <a:r>
              <a:rPr lang="zh-CN" altLang="en-US" dirty="0">
                <a:solidFill>
                  <a:srgbClr val="FF0000"/>
                </a:solidFill>
              </a:rPr>
              <a:t>并规则</a:t>
            </a:r>
            <a:r>
              <a:rPr lang="en-US" altLang="zh-CN" dirty="0"/>
              <a:t>:</a:t>
            </a:r>
            <a:r>
              <a:rPr lang="zh-CN" altLang="en-US" dirty="0"/>
              <a:t>若</a:t>
            </a:r>
            <a:r>
              <a:rPr lang="en-US" altLang="zh-CN" dirty="0"/>
              <a:t>X→→Y</a:t>
            </a:r>
            <a:r>
              <a:rPr lang="zh-CN" altLang="en-US" dirty="0"/>
              <a:t>，</a:t>
            </a:r>
            <a:r>
              <a:rPr lang="en-US" altLang="zh-CN" dirty="0"/>
              <a:t>X→→Z</a:t>
            </a:r>
            <a:r>
              <a:rPr lang="zh-CN" altLang="en-US" dirty="0"/>
              <a:t>，则</a:t>
            </a:r>
            <a:r>
              <a:rPr lang="en-US" altLang="zh-CN" dirty="0"/>
              <a:t>X→→(Y</a:t>
            </a:r>
            <a:r>
              <a:rPr lang="en-US" altLang="zh-CN" dirty="0">
                <a:sym typeface="Symbol" charset="0"/>
              </a:rPr>
              <a:t></a:t>
            </a:r>
            <a:r>
              <a:rPr lang="en-US" altLang="zh-CN" dirty="0"/>
              <a:t> Z)</a:t>
            </a:r>
          </a:p>
          <a:p>
            <a:pPr lvl="1">
              <a:lnSpc>
                <a:spcPct val="110000"/>
              </a:lnSpc>
            </a:pPr>
            <a:r>
              <a:rPr lang="zh-CN" altLang="en-US" dirty="0">
                <a:solidFill>
                  <a:srgbClr val="FF0000"/>
                </a:solidFill>
              </a:rPr>
              <a:t>交规则</a:t>
            </a:r>
            <a:r>
              <a:rPr lang="en-US" altLang="zh-CN" dirty="0"/>
              <a:t>:</a:t>
            </a:r>
            <a:r>
              <a:rPr lang="zh-CN" altLang="en-US" dirty="0"/>
              <a:t>若</a:t>
            </a:r>
            <a:r>
              <a:rPr lang="en-US" altLang="zh-CN" dirty="0"/>
              <a:t>X→→Y</a:t>
            </a:r>
            <a:r>
              <a:rPr lang="zh-CN" altLang="en-US" dirty="0"/>
              <a:t>，</a:t>
            </a:r>
            <a:r>
              <a:rPr lang="en-US" altLang="zh-CN" dirty="0"/>
              <a:t>X→→Z</a:t>
            </a:r>
            <a:r>
              <a:rPr lang="zh-CN" altLang="en-US" dirty="0"/>
              <a:t>，则</a:t>
            </a:r>
            <a:r>
              <a:rPr lang="en-US" altLang="zh-CN" dirty="0"/>
              <a:t>X→→(Y∩Z)</a:t>
            </a:r>
          </a:p>
          <a:p>
            <a:pPr lvl="1">
              <a:lnSpc>
                <a:spcPct val="110000"/>
              </a:lnSpc>
            </a:pPr>
            <a:r>
              <a:rPr lang="zh-CN" altLang="en-US" dirty="0">
                <a:solidFill>
                  <a:srgbClr val="FF0000"/>
                </a:solidFill>
              </a:rPr>
              <a:t>差规则</a:t>
            </a:r>
            <a:r>
              <a:rPr lang="en-US" altLang="zh-CN" dirty="0"/>
              <a:t>:</a:t>
            </a:r>
          </a:p>
          <a:p>
            <a:pPr lvl="1">
              <a:lnSpc>
                <a:spcPct val="110000"/>
              </a:lnSpc>
              <a:buNone/>
            </a:pPr>
            <a:r>
              <a:rPr lang="en-US" altLang="zh-CN" dirty="0"/>
              <a:t>	</a:t>
            </a:r>
            <a:r>
              <a:rPr lang="en-US" altLang="zh-CN" dirty="0" smtClean="0"/>
              <a:t>              </a:t>
            </a:r>
            <a:r>
              <a:rPr lang="zh-CN" altLang="en-US" dirty="0" smtClean="0"/>
              <a:t>若</a:t>
            </a:r>
            <a:r>
              <a:rPr lang="en-US" altLang="zh-CN" dirty="0"/>
              <a:t>X→→Y</a:t>
            </a:r>
            <a:r>
              <a:rPr lang="zh-CN" altLang="en-US" dirty="0"/>
              <a:t>，</a:t>
            </a:r>
            <a:r>
              <a:rPr lang="en-US" altLang="zh-CN" dirty="0"/>
              <a:t>X→→Z</a:t>
            </a:r>
            <a:r>
              <a:rPr lang="zh-CN" altLang="en-US" dirty="0"/>
              <a:t>，则</a:t>
            </a:r>
            <a:r>
              <a:rPr lang="en-US" altLang="zh-CN" dirty="0"/>
              <a:t>X→→(Y-Z)</a:t>
            </a:r>
            <a:r>
              <a:rPr lang="zh-CN" altLang="en-US" dirty="0"/>
              <a:t>，</a:t>
            </a:r>
            <a:r>
              <a:rPr lang="en-US" altLang="zh-CN" dirty="0"/>
              <a:t>X→→(Z –Y)</a:t>
            </a:r>
          </a:p>
          <a:p>
            <a:pPr>
              <a:lnSpc>
                <a:spcPct val="110000"/>
              </a:lnSpc>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48</a:t>
            </a:fld>
            <a:endParaRPr lang="en-US" altLang="zh-CN"/>
          </a:p>
        </p:txBody>
      </p:sp>
    </p:spTree>
    <p:extLst>
      <p:ext uri="{BB962C8B-B14F-4D97-AF65-F5344CB8AC3E}">
        <p14:creationId xmlns:p14="http://schemas.microsoft.com/office/powerpoint/2010/main" val="164129486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linds(horizontal)">
                                      <p:cBhvr>
                                        <p:cTn id="20" dur="500"/>
                                        <p:tgtEl>
                                          <p:spTgt spid="3">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blinds(horizontal)">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blinds(horizontal)">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blinds(horizontal)">
                                      <p:cBhvr>
                                        <p:cTn id="38" dur="500"/>
                                        <p:tgtEl>
                                          <p:spTgt spid="3">
                                            <p:txEl>
                                              <p:pRg st="8" end="8"/>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blinds(horizontal)">
                                      <p:cBhvr>
                                        <p:cTn id="4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多值依赖</a:t>
            </a:r>
            <a:endParaRPr lang="en-US" dirty="0"/>
          </a:p>
        </p:txBody>
      </p:sp>
      <p:sp>
        <p:nvSpPr>
          <p:cNvPr id="3" name="Content Placeholder 2"/>
          <p:cNvSpPr>
            <a:spLocks noGrp="1"/>
          </p:cNvSpPr>
          <p:nvPr>
            <p:ph idx="1"/>
          </p:nvPr>
        </p:nvSpPr>
        <p:spPr>
          <a:xfrm>
            <a:off x="685800" y="988079"/>
            <a:ext cx="7797800" cy="5263481"/>
          </a:xfrm>
        </p:spPr>
        <p:txBody>
          <a:bodyPr/>
          <a:lstStyle/>
          <a:p>
            <a:pPr marL="0" indent="0">
              <a:lnSpc>
                <a:spcPct val="110000"/>
              </a:lnSpc>
              <a:buNone/>
            </a:pPr>
            <a:r>
              <a:rPr lang="en-US" altLang="zh-CN" sz="2400" dirty="0"/>
              <a:t>5. </a:t>
            </a:r>
            <a:r>
              <a:rPr lang="zh-CN" altLang="en-US" sz="2400" dirty="0"/>
              <a:t>多值依赖与函数依赖的区别</a:t>
            </a:r>
            <a:r>
              <a:rPr lang="en-US" altLang="zh-CN" sz="2400" dirty="0"/>
              <a:t>:</a:t>
            </a:r>
          </a:p>
          <a:p>
            <a:pPr lvl="1">
              <a:lnSpc>
                <a:spcPct val="110000"/>
              </a:lnSpc>
            </a:pPr>
            <a:r>
              <a:rPr lang="zh-CN" altLang="en-US" dirty="0"/>
              <a:t>函数依赖规定某些元组不能出现在关</a:t>
            </a:r>
            <a:r>
              <a:rPr lang="zh-CN" altLang="en-US" dirty="0" smtClean="0"/>
              <a:t>系中，</a:t>
            </a:r>
            <a:endParaRPr lang="zh-CN" altLang="en-US" dirty="0"/>
          </a:p>
          <a:p>
            <a:pPr lvl="1">
              <a:lnSpc>
                <a:spcPct val="110000"/>
              </a:lnSpc>
              <a:buNone/>
            </a:pPr>
            <a:r>
              <a:rPr lang="zh-CN" altLang="en-US" dirty="0"/>
              <a:t>	多值依赖要求某种形式的其它元组必须在关</a:t>
            </a:r>
            <a:r>
              <a:rPr lang="zh-CN" altLang="en-US" dirty="0" smtClean="0"/>
              <a:t>系中。</a:t>
            </a:r>
            <a:endParaRPr lang="zh-CN" altLang="en-US" dirty="0"/>
          </a:p>
          <a:p>
            <a:pPr lvl="1">
              <a:lnSpc>
                <a:spcPct val="110000"/>
              </a:lnSpc>
            </a:pPr>
            <a:r>
              <a:rPr lang="zh-CN" altLang="en-US" dirty="0"/>
              <a:t>有效</a:t>
            </a:r>
            <a:r>
              <a:rPr lang="zh-CN" altLang="en-US" dirty="0" smtClean="0"/>
              <a:t>性</a:t>
            </a:r>
            <a:r>
              <a:rPr lang="zh-CN" altLang="en-US" dirty="0" smtClean="0"/>
              <a:t>与属性集的</a:t>
            </a:r>
            <a:r>
              <a:rPr lang="zh-CN" altLang="en-US" dirty="0" smtClean="0"/>
              <a:t>范围</a:t>
            </a:r>
            <a:r>
              <a:rPr lang="zh-CN" altLang="en-US" dirty="0" smtClean="0"/>
              <a:t>不同：</a:t>
            </a:r>
            <a:endParaRPr lang="zh-CN" altLang="en-US" dirty="0"/>
          </a:p>
          <a:p>
            <a:pPr lvl="2">
              <a:lnSpc>
                <a:spcPct val="110000"/>
              </a:lnSpc>
              <a:buClr>
                <a:schemeClr val="tx1"/>
              </a:buClr>
            </a:pPr>
            <a:r>
              <a:rPr lang="en-US" altLang="zh-CN" sz="2400" dirty="0"/>
              <a:t>X → Y</a:t>
            </a:r>
            <a:r>
              <a:rPr lang="zh-CN" altLang="en-US" sz="2400" dirty="0"/>
              <a:t>的有效性仅决定于</a:t>
            </a:r>
            <a:r>
              <a:rPr lang="en-US" altLang="zh-CN" sz="2400" dirty="0"/>
              <a:t>X</a:t>
            </a:r>
            <a:r>
              <a:rPr lang="zh-CN" altLang="en-US" sz="2400" dirty="0"/>
              <a:t>、</a:t>
            </a:r>
            <a:r>
              <a:rPr lang="en-US" altLang="zh-CN" sz="2400" dirty="0"/>
              <a:t>Y</a:t>
            </a:r>
            <a:r>
              <a:rPr lang="zh-CN" altLang="en-US" sz="2400" dirty="0"/>
              <a:t>属性集</a:t>
            </a:r>
            <a:r>
              <a:rPr lang="zh-CN" altLang="en-US" sz="2400" dirty="0" smtClean="0"/>
              <a:t>上的值；</a:t>
            </a:r>
            <a:endParaRPr lang="zh-CN" altLang="en-US" sz="2400" dirty="0"/>
          </a:p>
          <a:p>
            <a:pPr lvl="2">
              <a:lnSpc>
                <a:spcPct val="110000"/>
              </a:lnSpc>
              <a:buClr>
                <a:schemeClr val="tx1"/>
              </a:buClr>
            </a:pPr>
            <a:r>
              <a:rPr lang="en-US" altLang="zh-CN" sz="2400" dirty="0"/>
              <a:t>X →→ Y</a:t>
            </a:r>
            <a:r>
              <a:rPr lang="zh-CN" altLang="en-US" sz="2400" dirty="0"/>
              <a:t>不仅涉及</a:t>
            </a:r>
            <a:r>
              <a:rPr lang="zh-CN" altLang="en-US" sz="2400" dirty="0" smtClean="0"/>
              <a:t>属性组</a:t>
            </a:r>
            <a:r>
              <a:rPr lang="en-US" altLang="zh-CN" sz="2400" dirty="0" smtClean="0"/>
              <a:t>X</a:t>
            </a:r>
            <a:r>
              <a:rPr lang="zh-CN" altLang="en-US" sz="2400" dirty="0" smtClean="0"/>
              <a:t>和</a:t>
            </a:r>
            <a:r>
              <a:rPr lang="en-US" altLang="zh-CN" sz="2400" dirty="0" smtClean="0"/>
              <a:t>Y</a:t>
            </a:r>
            <a:r>
              <a:rPr lang="zh-CN" altLang="en-US" sz="2400" dirty="0"/>
              <a:t>，而且涉及</a:t>
            </a:r>
            <a:r>
              <a:rPr lang="en-US" altLang="zh-CN" sz="2400" dirty="0"/>
              <a:t>U</a:t>
            </a:r>
            <a:r>
              <a:rPr lang="zh-CN" altLang="en-US" sz="2400" dirty="0"/>
              <a:t>中其余属性</a:t>
            </a:r>
            <a:r>
              <a:rPr lang="en-US" altLang="zh-CN" sz="2400" dirty="0" smtClean="0"/>
              <a:t>Z</a:t>
            </a:r>
            <a:r>
              <a:rPr lang="zh-CN" altLang="en-US" sz="2400" dirty="0" smtClean="0"/>
              <a:t>。</a:t>
            </a:r>
            <a:endParaRPr lang="en-US" altLang="zh-CN" sz="2400" dirty="0"/>
          </a:p>
          <a:p>
            <a:pPr lvl="2">
              <a:lnSpc>
                <a:spcPct val="110000"/>
              </a:lnSpc>
              <a:buClr>
                <a:schemeClr val="tx1"/>
              </a:buClr>
            </a:pPr>
            <a:r>
              <a:rPr lang="zh-CN" altLang="en-US" sz="2400" dirty="0"/>
              <a:t>若</a:t>
            </a:r>
            <a:r>
              <a:rPr lang="en-US" altLang="zh-CN" sz="2400" dirty="0"/>
              <a:t>X→Y</a:t>
            </a:r>
            <a:r>
              <a:rPr lang="zh-CN" altLang="en-US" sz="2400" dirty="0"/>
              <a:t>在</a:t>
            </a:r>
            <a:r>
              <a:rPr lang="en-US" altLang="zh-CN" sz="2400" dirty="0"/>
              <a:t>R(U)</a:t>
            </a:r>
            <a:r>
              <a:rPr lang="zh-CN" altLang="en-US" sz="2400" dirty="0"/>
              <a:t>上成立，则对于任何</a:t>
            </a:r>
            <a:r>
              <a:rPr lang="en-US" altLang="zh-CN" sz="2400" dirty="0"/>
              <a:t>Y′</a:t>
            </a:r>
            <a:r>
              <a:rPr lang="en-US" altLang="zh-CN" sz="2400" dirty="0">
                <a:sym typeface="Symbol" charset="0"/>
              </a:rPr>
              <a:t></a:t>
            </a:r>
            <a:r>
              <a:rPr lang="en-US" altLang="zh-CN" sz="2400" dirty="0"/>
              <a:t> Y</a:t>
            </a:r>
            <a:r>
              <a:rPr lang="zh-CN" altLang="en-US" sz="2400" dirty="0"/>
              <a:t>，均有</a:t>
            </a:r>
            <a:r>
              <a:rPr lang="en-US" altLang="zh-CN" sz="2400" dirty="0"/>
              <a:t>X</a:t>
            </a:r>
            <a:r>
              <a:rPr lang="en-US" altLang="zh-CN" sz="2400" b="1" dirty="0">
                <a:sym typeface="Symbol" charset="0"/>
              </a:rPr>
              <a:t></a:t>
            </a:r>
            <a:r>
              <a:rPr lang="en-US" altLang="zh-CN" sz="2400" dirty="0" smtClean="0"/>
              <a:t>Y′</a:t>
            </a:r>
            <a:r>
              <a:rPr lang="zh-CN" altLang="en-US" sz="2400" dirty="0" smtClean="0"/>
              <a:t>成立</a:t>
            </a:r>
            <a:r>
              <a:rPr lang="zh-CN" altLang="zh-CN" sz="2400" dirty="0" smtClean="0"/>
              <a:t>；</a:t>
            </a:r>
            <a:endParaRPr lang="en-US" altLang="zh-CN" sz="2400" dirty="0" smtClean="0"/>
          </a:p>
          <a:p>
            <a:pPr lvl="2">
              <a:lnSpc>
                <a:spcPct val="110000"/>
              </a:lnSpc>
              <a:buClr>
                <a:schemeClr val="tx1"/>
              </a:buClr>
            </a:pPr>
            <a:r>
              <a:rPr lang="zh-CN" altLang="en-US" sz="2400" dirty="0" smtClean="0"/>
              <a:t>多值依赖</a:t>
            </a:r>
            <a:r>
              <a:rPr lang="en-US" altLang="zh-CN" sz="2400" dirty="0"/>
              <a:t>X→→Y</a:t>
            </a:r>
            <a:r>
              <a:rPr lang="zh-CN" altLang="en-US" sz="2400" dirty="0"/>
              <a:t>若在</a:t>
            </a:r>
            <a:r>
              <a:rPr lang="en-US" altLang="zh-CN" sz="2400" dirty="0"/>
              <a:t>R(U)</a:t>
            </a:r>
            <a:r>
              <a:rPr lang="zh-CN" altLang="en-US" sz="2400" dirty="0"/>
              <a:t>上成立，</a:t>
            </a:r>
            <a:r>
              <a:rPr lang="zh-CN" altLang="en-US" sz="2400" dirty="0">
                <a:solidFill>
                  <a:srgbClr val="FF0000"/>
                </a:solidFill>
              </a:rPr>
              <a:t>不</a:t>
            </a:r>
            <a:r>
              <a:rPr lang="zh-CN" altLang="en-US" sz="2400" dirty="0"/>
              <a:t>能断言对于任何</a:t>
            </a:r>
            <a:r>
              <a:rPr lang="en-US" altLang="zh-CN" sz="2400" dirty="0" smtClean="0"/>
              <a:t>Y‘ </a:t>
            </a:r>
            <a:r>
              <a:rPr lang="en-US" altLang="zh-CN" sz="2400" dirty="0">
                <a:sym typeface="Symbol" charset="0"/>
              </a:rPr>
              <a:t></a:t>
            </a:r>
            <a:r>
              <a:rPr lang="en-US" altLang="zh-CN" sz="2400" dirty="0"/>
              <a:t> Y</a:t>
            </a:r>
            <a:r>
              <a:rPr lang="zh-CN" altLang="en-US" sz="2400" dirty="0"/>
              <a:t>有</a:t>
            </a:r>
            <a:r>
              <a:rPr lang="en-US" altLang="zh-CN" sz="2400" dirty="0"/>
              <a:t>X→→</a:t>
            </a:r>
            <a:r>
              <a:rPr lang="en-US" altLang="zh-CN" sz="2400" dirty="0" smtClean="0"/>
              <a:t>Y’ </a:t>
            </a:r>
            <a:r>
              <a:rPr lang="zh-CN" altLang="en-US" sz="2400" dirty="0" smtClean="0"/>
              <a:t>成立。</a:t>
            </a:r>
            <a:endParaRPr lang="zh-CN" alt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49</a:t>
            </a:fld>
            <a:endParaRPr lang="en-US" altLang="zh-CN"/>
          </a:p>
        </p:txBody>
      </p:sp>
    </p:spTree>
    <p:extLst>
      <p:ext uri="{BB962C8B-B14F-4D97-AF65-F5344CB8AC3E}">
        <p14:creationId xmlns:p14="http://schemas.microsoft.com/office/powerpoint/2010/main" val="124645646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多值依赖</a:t>
            </a:r>
            <a:endParaRPr lang="en-US" dirty="0"/>
          </a:p>
        </p:txBody>
      </p:sp>
      <p:sp>
        <p:nvSpPr>
          <p:cNvPr id="3" name="Content Placeholder 2"/>
          <p:cNvSpPr>
            <a:spLocks noGrp="1"/>
          </p:cNvSpPr>
          <p:nvPr>
            <p:ph idx="1"/>
          </p:nvPr>
        </p:nvSpPr>
        <p:spPr>
          <a:xfrm>
            <a:off x="685800" y="908720"/>
            <a:ext cx="7797800" cy="5263481"/>
          </a:xfrm>
        </p:spPr>
        <p:txBody>
          <a:bodyPr/>
          <a:lstStyle/>
          <a:p>
            <a:pPr marL="182563" lvl="2">
              <a:lnSpc>
                <a:spcPct val="130000"/>
              </a:lnSpc>
            </a:pPr>
            <a:r>
              <a:rPr lang="en-US" altLang="zh-CN" sz="2400" dirty="0"/>
              <a:t>5. </a:t>
            </a:r>
            <a:r>
              <a:rPr lang="zh-CN" altLang="en-US" sz="2400" dirty="0"/>
              <a:t>多值依赖与函数依赖</a:t>
            </a:r>
            <a:r>
              <a:rPr lang="zh-CN" altLang="en-US" sz="2400" dirty="0" smtClean="0"/>
              <a:t>的区别（续）</a:t>
            </a:r>
            <a:r>
              <a:rPr lang="en-US" altLang="zh-CN" sz="2400" dirty="0" smtClean="0"/>
              <a:t>:</a:t>
            </a:r>
          </a:p>
          <a:p>
            <a:pPr marL="457201" lvl="3">
              <a:lnSpc>
                <a:spcPct val="130000"/>
              </a:lnSpc>
            </a:pPr>
            <a:r>
              <a:rPr lang="zh-CN" altLang="en-US" sz="2400" dirty="0" smtClean="0"/>
              <a:t>若</a:t>
            </a:r>
            <a:r>
              <a:rPr lang="en-US" altLang="zh-CN" sz="2400" dirty="0"/>
              <a:t>X→→Y</a:t>
            </a:r>
            <a:r>
              <a:rPr lang="zh-CN" altLang="en-US" sz="2400" dirty="0"/>
              <a:t>在</a:t>
            </a:r>
            <a:r>
              <a:rPr lang="en-US" altLang="zh-CN" sz="2400" dirty="0"/>
              <a:t>U</a:t>
            </a:r>
            <a:r>
              <a:rPr lang="zh-CN" altLang="en-US" sz="2400" dirty="0"/>
              <a:t>上成立，则在</a:t>
            </a:r>
            <a:r>
              <a:rPr lang="en-US" altLang="zh-CN" sz="2400" dirty="0"/>
              <a:t>W</a:t>
            </a:r>
            <a:r>
              <a:rPr lang="zh-CN" altLang="en-US" sz="2400" dirty="0"/>
              <a:t>（</a:t>
            </a:r>
            <a:r>
              <a:rPr lang="en-US" altLang="zh-CN" sz="2400" dirty="0"/>
              <a:t>X Y </a:t>
            </a:r>
            <a:r>
              <a:rPr lang="en-US" altLang="zh-CN" sz="2400" dirty="0">
                <a:sym typeface="Symbol" charset="0"/>
              </a:rPr>
              <a:t></a:t>
            </a:r>
            <a:r>
              <a:rPr lang="en-US" altLang="zh-CN" sz="2400" dirty="0"/>
              <a:t> W </a:t>
            </a:r>
            <a:r>
              <a:rPr lang="en-US" altLang="zh-CN" sz="2400" dirty="0">
                <a:sym typeface="Symbol" charset="0"/>
              </a:rPr>
              <a:t></a:t>
            </a:r>
            <a:r>
              <a:rPr lang="en-US" altLang="zh-CN" sz="2400" dirty="0"/>
              <a:t> U</a:t>
            </a:r>
            <a:r>
              <a:rPr lang="zh-CN" altLang="en-US" sz="2400" dirty="0"/>
              <a:t>）上一定成立，称</a:t>
            </a:r>
            <a:r>
              <a:rPr lang="en-US" altLang="zh-CN" sz="2400" dirty="0"/>
              <a:t>X→→Y</a:t>
            </a:r>
            <a:r>
              <a:rPr lang="zh-CN" altLang="en-US" sz="2400" dirty="0"/>
              <a:t>为</a:t>
            </a:r>
            <a:r>
              <a:rPr lang="en-US" altLang="zh-CN" sz="2400" dirty="0"/>
              <a:t>R</a:t>
            </a:r>
            <a:r>
              <a:rPr lang="zh-CN" altLang="en-US" sz="2400" dirty="0"/>
              <a:t>（</a:t>
            </a:r>
            <a:r>
              <a:rPr lang="en-US" altLang="zh-CN" sz="2400" dirty="0"/>
              <a:t>U</a:t>
            </a:r>
            <a:r>
              <a:rPr lang="zh-CN" altLang="en-US" sz="2400" dirty="0"/>
              <a:t>）的</a:t>
            </a:r>
            <a:r>
              <a:rPr lang="zh-CN" altLang="en-US" sz="2400" dirty="0">
                <a:solidFill>
                  <a:srgbClr val="FF0000"/>
                </a:solidFill>
              </a:rPr>
              <a:t>嵌入型多值依赖</a:t>
            </a:r>
            <a:r>
              <a:rPr lang="zh-CN" altLang="zh-CN" sz="2400" dirty="0"/>
              <a:t>。</a:t>
            </a:r>
            <a:r>
              <a:rPr lang="zh-CN" altLang="en-US" sz="2400" dirty="0"/>
              <a:t>反之则不然，即</a:t>
            </a:r>
            <a:r>
              <a:rPr lang="en-US" altLang="zh-CN" sz="2400" dirty="0">
                <a:solidFill>
                  <a:srgbClr val="0000CC"/>
                </a:solidFill>
              </a:rPr>
              <a:t>X→→Y</a:t>
            </a:r>
            <a:r>
              <a:rPr lang="zh-CN" altLang="en-US" sz="2400" dirty="0">
                <a:solidFill>
                  <a:srgbClr val="0000CC"/>
                </a:solidFill>
              </a:rPr>
              <a:t>在</a:t>
            </a:r>
            <a:r>
              <a:rPr lang="en-US" altLang="zh-CN" sz="2400" dirty="0">
                <a:solidFill>
                  <a:srgbClr val="0000CC"/>
                </a:solidFill>
              </a:rPr>
              <a:t>W</a:t>
            </a:r>
            <a:r>
              <a:rPr lang="zh-CN" altLang="en-US" sz="2400" dirty="0">
                <a:solidFill>
                  <a:srgbClr val="0000CC"/>
                </a:solidFill>
              </a:rPr>
              <a:t>（</a:t>
            </a:r>
            <a:r>
              <a:rPr lang="en-US" altLang="zh-CN" sz="2400" dirty="0">
                <a:solidFill>
                  <a:srgbClr val="0000CC"/>
                </a:solidFill>
              </a:rPr>
              <a:t>W </a:t>
            </a:r>
            <a:r>
              <a:rPr lang="en-US" altLang="zh-CN" sz="2400" dirty="0">
                <a:solidFill>
                  <a:srgbClr val="0000CC"/>
                </a:solidFill>
                <a:sym typeface="Symbol" charset="0"/>
              </a:rPr>
              <a:t></a:t>
            </a:r>
            <a:r>
              <a:rPr lang="en-US" altLang="zh-CN" sz="2400" dirty="0">
                <a:solidFill>
                  <a:srgbClr val="0000CC"/>
                </a:solidFill>
              </a:rPr>
              <a:t>  U</a:t>
            </a:r>
            <a:r>
              <a:rPr lang="zh-CN" altLang="en-US" sz="2400" dirty="0">
                <a:solidFill>
                  <a:srgbClr val="0000CC"/>
                </a:solidFill>
              </a:rPr>
              <a:t>）上成立</a:t>
            </a:r>
            <a:r>
              <a:rPr lang="zh-CN" altLang="en-US" sz="2400" dirty="0"/>
              <a:t>，在</a:t>
            </a:r>
            <a:r>
              <a:rPr lang="en-US" altLang="zh-CN" sz="2400" dirty="0"/>
              <a:t>U</a:t>
            </a:r>
            <a:r>
              <a:rPr lang="zh-CN" altLang="en-US" sz="2400" dirty="0"/>
              <a:t>上并</a:t>
            </a:r>
            <a:r>
              <a:rPr lang="zh-CN" altLang="en-US" sz="2400" dirty="0">
                <a:solidFill>
                  <a:srgbClr val="FF0000"/>
                </a:solidFill>
              </a:rPr>
              <a:t>不</a:t>
            </a:r>
            <a:r>
              <a:rPr lang="zh-CN" altLang="en-US" sz="2400" dirty="0"/>
              <a:t>一定成立</a:t>
            </a:r>
            <a:r>
              <a:rPr lang="zh-CN" altLang="en-US" sz="2400" dirty="0" smtClean="0"/>
              <a:t>。</a:t>
            </a:r>
            <a:endParaRPr lang="en-US" altLang="zh-CN" sz="2400" dirty="0" smtClean="0"/>
          </a:p>
          <a:p>
            <a:pPr marL="457201" lvl="3">
              <a:lnSpc>
                <a:spcPct val="130000"/>
              </a:lnSpc>
            </a:pPr>
            <a:r>
              <a:rPr lang="zh-CN" altLang="en-US" sz="2400" dirty="0" smtClean="0"/>
              <a:t>只</a:t>
            </a:r>
            <a:r>
              <a:rPr lang="zh-CN" altLang="en-US" sz="2400" dirty="0"/>
              <a:t>要在</a:t>
            </a:r>
            <a:r>
              <a:rPr lang="en-US" altLang="zh-CN" sz="2400" dirty="0"/>
              <a:t>R</a:t>
            </a:r>
            <a:r>
              <a:rPr lang="zh-CN" altLang="en-US" sz="2400" dirty="0"/>
              <a:t>（</a:t>
            </a:r>
            <a:r>
              <a:rPr lang="en-US" altLang="zh-CN" sz="2400" dirty="0"/>
              <a:t>U</a:t>
            </a:r>
            <a:r>
              <a:rPr lang="zh-CN" altLang="en-US" sz="2400" dirty="0"/>
              <a:t>）的任何一个关系</a:t>
            </a:r>
            <a:r>
              <a:rPr lang="en-US" altLang="zh-CN" sz="2400" dirty="0"/>
              <a:t>r</a:t>
            </a:r>
            <a:r>
              <a:rPr lang="zh-CN" altLang="en-US" sz="2400" dirty="0"/>
              <a:t>中，元组在</a:t>
            </a:r>
            <a:r>
              <a:rPr lang="en-US" altLang="zh-CN" sz="2400" dirty="0"/>
              <a:t>X</a:t>
            </a:r>
            <a:r>
              <a:rPr lang="zh-CN" altLang="en-US" sz="2400" dirty="0"/>
              <a:t>和</a:t>
            </a:r>
            <a:r>
              <a:rPr lang="en-US" altLang="zh-CN" sz="2400" dirty="0"/>
              <a:t>Y</a:t>
            </a:r>
            <a:r>
              <a:rPr lang="zh-CN" altLang="en-US" sz="2400" dirty="0"/>
              <a:t>上的值满足定义</a:t>
            </a:r>
            <a:r>
              <a:rPr lang="en-US" altLang="zh-CN" sz="2400" dirty="0"/>
              <a:t>5.l</a:t>
            </a:r>
            <a:r>
              <a:rPr lang="zh-CN" altLang="en-US" sz="2400" dirty="0"/>
              <a:t>（函数依赖）</a:t>
            </a:r>
            <a:r>
              <a:rPr lang="zh-CN" altLang="en-US" sz="2400" dirty="0" smtClean="0"/>
              <a:t>，则函数依赖</a:t>
            </a:r>
            <a:r>
              <a:rPr lang="en-US" altLang="zh-CN" sz="2400" dirty="0"/>
              <a:t>X→Y</a:t>
            </a:r>
            <a:r>
              <a:rPr lang="zh-CN" altLang="en-US" sz="2400" dirty="0"/>
              <a:t>在任何属性集</a:t>
            </a:r>
            <a:r>
              <a:rPr lang="en-US" altLang="zh-CN" sz="2400" dirty="0"/>
              <a:t>W</a:t>
            </a:r>
            <a:r>
              <a:rPr lang="zh-CN" altLang="en-US" sz="2400" dirty="0"/>
              <a:t>（</a:t>
            </a:r>
            <a:r>
              <a:rPr lang="en-US" altLang="zh-CN" sz="2400" dirty="0"/>
              <a:t>X Y </a:t>
            </a:r>
            <a:r>
              <a:rPr lang="en-US" altLang="zh-CN" sz="2400" dirty="0">
                <a:sym typeface="Symbol" charset="0"/>
              </a:rPr>
              <a:t></a:t>
            </a:r>
            <a:r>
              <a:rPr lang="en-US" altLang="zh-CN" sz="2400" dirty="0"/>
              <a:t> W </a:t>
            </a:r>
            <a:r>
              <a:rPr lang="en-US" altLang="zh-CN" sz="2400" dirty="0">
                <a:sym typeface="Symbol" charset="0"/>
              </a:rPr>
              <a:t></a:t>
            </a:r>
            <a:r>
              <a:rPr lang="en-US" altLang="zh-CN" sz="2400" dirty="0"/>
              <a:t>U</a:t>
            </a:r>
            <a:r>
              <a:rPr lang="zh-CN" altLang="en-US" sz="2400" dirty="0"/>
              <a:t>）上成立。</a:t>
            </a:r>
            <a:endParaRPr lang="en-US" altLang="zh-CN" sz="2400" dirty="0"/>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50</a:t>
            </a:fld>
            <a:endParaRPr lang="en-US" altLang="zh-CN"/>
          </a:p>
        </p:txBody>
      </p:sp>
    </p:spTree>
    <p:extLst>
      <p:ext uri="{BB962C8B-B14F-4D97-AF65-F5344CB8AC3E}">
        <p14:creationId xmlns:p14="http://schemas.microsoft.com/office/powerpoint/2010/main" val="15412956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多值依赖</a:t>
            </a:r>
            <a:endParaRPr lang="en-US" dirty="0"/>
          </a:p>
        </p:txBody>
      </p:sp>
      <p:sp>
        <p:nvSpPr>
          <p:cNvPr id="4" name="Date Placeholder 3"/>
          <p:cNvSpPr>
            <a:spLocks noGrp="1"/>
          </p:cNvSpPr>
          <p:nvPr>
            <p:ph type="dt" sz="half" idx="10"/>
          </p:nvPr>
        </p:nvSpPr>
        <p:spPr>
          <a:xfrm>
            <a:off x="5715721" y="6272213"/>
            <a:ext cx="2454275" cy="365125"/>
          </a:xfrm>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51</a:t>
            </a:fld>
            <a:endParaRPr lang="en-US" altLang="zh-CN"/>
          </a:p>
        </p:txBody>
      </p:sp>
      <p:graphicFrame>
        <p:nvGraphicFramePr>
          <p:cNvPr id="6" name="Object 3"/>
          <p:cNvGraphicFramePr>
            <a:graphicFrameLocks noChangeAspect="1"/>
          </p:cNvGraphicFramePr>
          <p:nvPr>
            <p:extLst>
              <p:ext uri="{D42A27DB-BD31-4B8C-83A1-F6EECF244321}">
                <p14:modId xmlns:p14="http://schemas.microsoft.com/office/powerpoint/2010/main" val="381276858"/>
              </p:ext>
            </p:extLst>
          </p:nvPr>
        </p:nvGraphicFramePr>
        <p:xfrm>
          <a:off x="576099" y="1445258"/>
          <a:ext cx="5867764" cy="2286926"/>
        </p:xfrm>
        <a:graphic>
          <a:graphicData uri="http://schemas.openxmlformats.org/presentationml/2006/ole">
            <mc:AlternateContent xmlns:mc="http://schemas.openxmlformats.org/markup-compatibility/2006">
              <mc:Choice xmlns:v="urn:schemas-microsoft-com:vml" Requires="v">
                <p:oleObj spid="_x0000_s1085" name="Document" r:id="rId3" imgW="5630040" imgH="1935000" progId="Word.Document.8">
                  <p:embed/>
                </p:oleObj>
              </mc:Choice>
              <mc:Fallback>
                <p:oleObj name="Document" r:id="rId3" imgW="5630040" imgH="193500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099" y="1445258"/>
                        <a:ext cx="5867764" cy="2286926"/>
                      </a:xfrm>
                      <a:prstGeom prst="rect">
                        <a:avLst/>
                      </a:prstGeom>
                      <a:noFill/>
                      <a:ln>
                        <a:noFill/>
                      </a:ln>
                      <a:effectLst/>
                      <a:extLst/>
                    </p:spPr>
                  </p:pic>
                </p:oleObj>
              </mc:Fallback>
            </mc:AlternateContent>
          </a:graphicData>
        </a:graphic>
      </p:graphicFrame>
      <p:grpSp>
        <p:nvGrpSpPr>
          <p:cNvPr id="7" name="Group 4"/>
          <p:cNvGrpSpPr>
            <a:grpSpLocks/>
          </p:cNvGrpSpPr>
          <p:nvPr/>
        </p:nvGrpSpPr>
        <p:grpSpPr bwMode="auto">
          <a:xfrm>
            <a:off x="858186" y="3915444"/>
            <a:ext cx="5293419" cy="2066476"/>
            <a:chOff x="781" y="2739"/>
            <a:chExt cx="4206" cy="1339"/>
          </a:xfrm>
        </p:grpSpPr>
        <p:sp>
          <p:nvSpPr>
            <p:cNvPr id="8" name="Rectangle 5"/>
            <p:cNvSpPr>
              <a:spLocks noChangeArrowheads="1"/>
            </p:cNvSpPr>
            <p:nvPr/>
          </p:nvSpPr>
          <p:spPr bwMode="auto">
            <a:xfrm>
              <a:off x="1227" y="2746"/>
              <a:ext cx="21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A</a:t>
              </a:r>
              <a:endParaRPr lang="en-US" altLang="zh-CN" sz="2800">
                <a:latin typeface="Times New Roman"/>
                <a:cs typeface="Times New Roman"/>
              </a:endParaRPr>
            </a:p>
          </p:txBody>
        </p:sp>
        <p:sp>
          <p:nvSpPr>
            <p:cNvPr id="9" name="Rectangle 6"/>
            <p:cNvSpPr>
              <a:spLocks noChangeArrowheads="1"/>
            </p:cNvSpPr>
            <p:nvPr/>
          </p:nvSpPr>
          <p:spPr bwMode="auto">
            <a:xfrm>
              <a:off x="2282" y="2746"/>
              <a:ext cx="19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B</a:t>
              </a:r>
              <a:endParaRPr lang="en-US" altLang="zh-CN" sz="2800">
                <a:latin typeface="Times New Roman"/>
                <a:cs typeface="Times New Roman"/>
              </a:endParaRPr>
            </a:p>
          </p:txBody>
        </p:sp>
        <p:sp>
          <p:nvSpPr>
            <p:cNvPr id="10" name="Rectangle 7"/>
            <p:cNvSpPr>
              <a:spLocks noChangeArrowheads="1"/>
            </p:cNvSpPr>
            <p:nvPr/>
          </p:nvSpPr>
          <p:spPr bwMode="auto">
            <a:xfrm>
              <a:off x="3330" y="2746"/>
              <a:ext cx="19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C</a:t>
              </a:r>
              <a:endParaRPr lang="en-US" altLang="zh-CN" sz="2800">
                <a:latin typeface="Times New Roman"/>
                <a:cs typeface="Times New Roman"/>
              </a:endParaRPr>
            </a:p>
          </p:txBody>
        </p:sp>
        <p:sp>
          <p:nvSpPr>
            <p:cNvPr id="11" name="Rectangle 8"/>
            <p:cNvSpPr>
              <a:spLocks noChangeArrowheads="1"/>
            </p:cNvSpPr>
            <p:nvPr/>
          </p:nvSpPr>
          <p:spPr bwMode="auto">
            <a:xfrm>
              <a:off x="4376" y="2746"/>
              <a:ext cx="2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D</a:t>
              </a:r>
              <a:endParaRPr lang="en-US" altLang="zh-CN" sz="2800">
                <a:latin typeface="Times New Roman"/>
                <a:cs typeface="Times New Roman"/>
              </a:endParaRPr>
            </a:p>
          </p:txBody>
        </p:sp>
        <p:sp>
          <p:nvSpPr>
            <p:cNvPr id="12" name="Line 9"/>
            <p:cNvSpPr>
              <a:spLocks noChangeShapeType="1"/>
            </p:cNvSpPr>
            <p:nvPr/>
          </p:nvSpPr>
          <p:spPr bwMode="auto">
            <a:xfrm>
              <a:off x="781"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 name="Line 10"/>
            <p:cNvSpPr>
              <a:spLocks noChangeShapeType="1"/>
            </p:cNvSpPr>
            <p:nvPr/>
          </p:nvSpPr>
          <p:spPr bwMode="auto">
            <a:xfrm>
              <a:off x="781"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 name="Line 11"/>
            <p:cNvSpPr>
              <a:spLocks noChangeShapeType="1"/>
            </p:cNvSpPr>
            <p:nvPr/>
          </p:nvSpPr>
          <p:spPr bwMode="auto">
            <a:xfrm>
              <a:off x="781"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 name="Line 12"/>
            <p:cNvSpPr>
              <a:spLocks noChangeShapeType="1"/>
            </p:cNvSpPr>
            <p:nvPr/>
          </p:nvSpPr>
          <p:spPr bwMode="auto">
            <a:xfrm>
              <a:off x="781"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 name="Line 13"/>
            <p:cNvSpPr>
              <a:spLocks noChangeShapeType="1"/>
            </p:cNvSpPr>
            <p:nvPr/>
          </p:nvSpPr>
          <p:spPr bwMode="auto">
            <a:xfrm>
              <a:off x="786" y="2739"/>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7" name="Line 14"/>
            <p:cNvSpPr>
              <a:spLocks noChangeShapeType="1"/>
            </p:cNvSpPr>
            <p:nvPr/>
          </p:nvSpPr>
          <p:spPr bwMode="auto">
            <a:xfrm>
              <a:off x="1831"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8" name="Line 15"/>
            <p:cNvSpPr>
              <a:spLocks noChangeShapeType="1"/>
            </p:cNvSpPr>
            <p:nvPr/>
          </p:nvSpPr>
          <p:spPr bwMode="auto">
            <a:xfrm>
              <a:off x="1831"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9" name="Line 16"/>
            <p:cNvSpPr>
              <a:spLocks noChangeShapeType="1"/>
            </p:cNvSpPr>
            <p:nvPr/>
          </p:nvSpPr>
          <p:spPr bwMode="auto">
            <a:xfrm>
              <a:off x="1836" y="2739"/>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0" name="Line 17"/>
            <p:cNvSpPr>
              <a:spLocks noChangeShapeType="1"/>
            </p:cNvSpPr>
            <p:nvPr/>
          </p:nvSpPr>
          <p:spPr bwMode="auto">
            <a:xfrm>
              <a:off x="2881"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1" name="Line 18"/>
            <p:cNvSpPr>
              <a:spLocks noChangeShapeType="1"/>
            </p:cNvSpPr>
            <p:nvPr/>
          </p:nvSpPr>
          <p:spPr bwMode="auto">
            <a:xfrm>
              <a:off x="2881"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2" name="Line 19"/>
            <p:cNvSpPr>
              <a:spLocks noChangeShapeType="1"/>
            </p:cNvSpPr>
            <p:nvPr/>
          </p:nvSpPr>
          <p:spPr bwMode="auto">
            <a:xfrm>
              <a:off x="2886" y="2739"/>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3" name="Line 20"/>
            <p:cNvSpPr>
              <a:spLocks noChangeShapeType="1"/>
            </p:cNvSpPr>
            <p:nvPr/>
          </p:nvSpPr>
          <p:spPr bwMode="auto">
            <a:xfrm>
              <a:off x="3932"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4" name="Line 21"/>
            <p:cNvSpPr>
              <a:spLocks noChangeShapeType="1"/>
            </p:cNvSpPr>
            <p:nvPr/>
          </p:nvSpPr>
          <p:spPr bwMode="auto">
            <a:xfrm>
              <a:off x="3932"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5" name="Line 22"/>
            <p:cNvSpPr>
              <a:spLocks noChangeShapeType="1"/>
            </p:cNvSpPr>
            <p:nvPr/>
          </p:nvSpPr>
          <p:spPr bwMode="auto">
            <a:xfrm>
              <a:off x="3937" y="2739"/>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6" name="Line 23"/>
            <p:cNvSpPr>
              <a:spLocks noChangeShapeType="1"/>
            </p:cNvSpPr>
            <p:nvPr/>
          </p:nvSpPr>
          <p:spPr bwMode="auto">
            <a:xfrm>
              <a:off x="4982"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7" name="Line 24"/>
            <p:cNvSpPr>
              <a:spLocks noChangeShapeType="1"/>
            </p:cNvSpPr>
            <p:nvPr/>
          </p:nvSpPr>
          <p:spPr bwMode="auto">
            <a:xfrm>
              <a:off x="4982"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8" name="Line 25"/>
            <p:cNvSpPr>
              <a:spLocks noChangeShapeType="1"/>
            </p:cNvSpPr>
            <p:nvPr/>
          </p:nvSpPr>
          <p:spPr bwMode="auto">
            <a:xfrm>
              <a:off x="4982" y="273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29" name="Line 26"/>
            <p:cNvSpPr>
              <a:spLocks noChangeShapeType="1"/>
            </p:cNvSpPr>
            <p:nvPr/>
          </p:nvSpPr>
          <p:spPr bwMode="auto">
            <a:xfrm>
              <a:off x="4982" y="2739"/>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30" name="Rectangle 27"/>
            <p:cNvSpPr>
              <a:spLocks noChangeArrowheads="1"/>
            </p:cNvSpPr>
            <p:nvPr/>
          </p:nvSpPr>
          <p:spPr bwMode="auto">
            <a:xfrm>
              <a:off x="781" y="2743"/>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31" name="Line 28"/>
            <p:cNvSpPr>
              <a:spLocks noChangeShapeType="1"/>
            </p:cNvSpPr>
            <p:nvPr/>
          </p:nvSpPr>
          <p:spPr bwMode="auto">
            <a:xfrm>
              <a:off x="1831" y="2743"/>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32" name="Rectangle 29"/>
            <p:cNvSpPr>
              <a:spLocks noChangeArrowheads="1"/>
            </p:cNvSpPr>
            <p:nvPr/>
          </p:nvSpPr>
          <p:spPr bwMode="auto">
            <a:xfrm>
              <a:off x="2881" y="2743"/>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33" name="Line 30"/>
            <p:cNvSpPr>
              <a:spLocks noChangeShapeType="1"/>
            </p:cNvSpPr>
            <p:nvPr/>
          </p:nvSpPr>
          <p:spPr bwMode="auto">
            <a:xfrm>
              <a:off x="2881" y="2743"/>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34" name="Line 31"/>
            <p:cNvSpPr>
              <a:spLocks noChangeShapeType="1"/>
            </p:cNvSpPr>
            <p:nvPr/>
          </p:nvSpPr>
          <p:spPr bwMode="auto">
            <a:xfrm>
              <a:off x="3932" y="2743"/>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35" name="Line 32"/>
            <p:cNvSpPr>
              <a:spLocks noChangeShapeType="1"/>
            </p:cNvSpPr>
            <p:nvPr/>
          </p:nvSpPr>
          <p:spPr bwMode="auto">
            <a:xfrm>
              <a:off x="4982" y="2743"/>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36" name="Rectangle 33"/>
            <p:cNvSpPr>
              <a:spLocks noChangeArrowheads="1"/>
            </p:cNvSpPr>
            <p:nvPr/>
          </p:nvSpPr>
          <p:spPr bwMode="auto">
            <a:xfrm>
              <a:off x="1200" y="3010"/>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dirty="0">
                  <a:solidFill>
                    <a:srgbClr val="000000"/>
                  </a:solidFill>
                  <a:latin typeface="Times New Roman"/>
                  <a:cs typeface="Times New Roman"/>
                </a:rPr>
                <a:t>a1</a:t>
              </a:r>
              <a:endParaRPr lang="en-US" altLang="zh-CN" sz="2800" dirty="0">
                <a:latin typeface="Times New Roman"/>
                <a:cs typeface="Times New Roman"/>
              </a:endParaRPr>
            </a:p>
          </p:txBody>
        </p:sp>
        <p:sp>
          <p:nvSpPr>
            <p:cNvPr id="37" name="Rectangle 34"/>
            <p:cNvSpPr>
              <a:spLocks noChangeArrowheads="1"/>
            </p:cNvSpPr>
            <p:nvPr/>
          </p:nvSpPr>
          <p:spPr bwMode="auto">
            <a:xfrm>
              <a:off x="2245" y="3010"/>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b1</a:t>
              </a:r>
              <a:endParaRPr lang="en-US" altLang="zh-CN" sz="2800">
                <a:latin typeface="Times New Roman"/>
                <a:cs typeface="Times New Roman"/>
              </a:endParaRPr>
            </a:p>
          </p:txBody>
        </p:sp>
        <p:sp>
          <p:nvSpPr>
            <p:cNvPr id="38" name="Rectangle 35"/>
            <p:cNvSpPr>
              <a:spLocks noChangeArrowheads="1"/>
            </p:cNvSpPr>
            <p:nvPr/>
          </p:nvSpPr>
          <p:spPr bwMode="auto">
            <a:xfrm>
              <a:off x="3298" y="3010"/>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c1</a:t>
              </a:r>
              <a:endParaRPr lang="en-US" altLang="zh-CN" sz="2800">
                <a:latin typeface="Times New Roman"/>
                <a:cs typeface="Times New Roman"/>
              </a:endParaRPr>
            </a:p>
          </p:txBody>
        </p:sp>
        <p:sp>
          <p:nvSpPr>
            <p:cNvPr id="39" name="Rectangle 36"/>
            <p:cNvSpPr>
              <a:spLocks noChangeArrowheads="1"/>
            </p:cNvSpPr>
            <p:nvPr/>
          </p:nvSpPr>
          <p:spPr bwMode="auto">
            <a:xfrm>
              <a:off x="4343" y="3010"/>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d1</a:t>
              </a:r>
              <a:endParaRPr lang="en-US" altLang="zh-CN" sz="2800">
                <a:latin typeface="Times New Roman"/>
                <a:cs typeface="Times New Roman"/>
              </a:endParaRPr>
            </a:p>
          </p:txBody>
        </p:sp>
        <p:sp>
          <p:nvSpPr>
            <p:cNvPr id="40" name="Line 37"/>
            <p:cNvSpPr>
              <a:spLocks noChangeShapeType="1"/>
            </p:cNvSpPr>
            <p:nvPr/>
          </p:nvSpPr>
          <p:spPr bwMode="auto">
            <a:xfrm>
              <a:off x="781" y="3001"/>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1" name="Line 38"/>
            <p:cNvSpPr>
              <a:spLocks noChangeShapeType="1"/>
            </p:cNvSpPr>
            <p:nvPr/>
          </p:nvSpPr>
          <p:spPr bwMode="auto">
            <a:xfrm>
              <a:off x="781" y="3001"/>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2" name="Line 39"/>
            <p:cNvSpPr>
              <a:spLocks noChangeShapeType="1"/>
            </p:cNvSpPr>
            <p:nvPr/>
          </p:nvSpPr>
          <p:spPr bwMode="auto">
            <a:xfrm>
              <a:off x="786" y="3001"/>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3" name="Line 40"/>
            <p:cNvSpPr>
              <a:spLocks noChangeShapeType="1"/>
            </p:cNvSpPr>
            <p:nvPr/>
          </p:nvSpPr>
          <p:spPr bwMode="auto">
            <a:xfrm>
              <a:off x="1831" y="3001"/>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4" name="Line 41"/>
            <p:cNvSpPr>
              <a:spLocks noChangeShapeType="1"/>
            </p:cNvSpPr>
            <p:nvPr/>
          </p:nvSpPr>
          <p:spPr bwMode="auto">
            <a:xfrm>
              <a:off x="1831" y="3001"/>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5" name="Line 42"/>
            <p:cNvSpPr>
              <a:spLocks noChangeShapeType="1"/>
            </p:cNvSpPr>
            <p:nvPr/>
          </p:nvSpPr>
          <p:spPr bwMode="auto">
            <a:xfrm>
              <a:off x="1836" y="3001"/>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6" name="Line 43"/>
            <p:cNvSpPr>
              <a:spLocks noChangeShapeType="1"/>
            </p:cNvSpPr>
            <p:nvPr/>
          </p:nvSpPr>
          <p:spPr bwMode="auto">
            <a:xfrm>
              <a:off x="2881" y="3001"/>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7" name="Line 44"/>
            <p:cNvSpPr>
              <a:spLocks noChangeShapeType="1"/>
            </p:cNvSpPr>
            <p:nvPr/>
          </p:nvSpPr>
          <p:spPr bwMode="auto">
            <a:xfrm>
              <a:off x="2881" y="3001"/>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8" name="Line 45"/>
            <p:cNvSpPr>
              <a:spLocks noChangeShapeType="1"/>
            </p:cNvSpPr>
            <p:nvPr/>
          </p:nvSpPr>
          <p:spPr bwMode="auto">
            <a:xfrm>
              <a:off x="2886" y="3001"/>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49" name="Line 46"/>
            <p:cNvSpPr>
              <a:spLocks noChangeShapeType="1"/>
            </p:cNvSpPr>
            <p:nvPr/>
          </p:nvSpPr>
          <p:spPr bwMode="auto">
            <a:xfrm>
              <a:off x="3932" y="3001"/>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0" name="Line 47"/>
            <p:cNvSpPr>
              <a:spLocks noChangeShapeType="1"/>
            </p:cNvSpPr>
            <p:nvPr/>
          </p:nvSpPr>
          <p:spPr bwMode="auto">
            <a:xfrm>
              <a:off x="3932" y="3001"/>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1" name="Line 48"/>
            <p:cNvSpPr>
              <a:spLocks noChangeShapeType="1"/>
            </p:cNvSpPr>
            <p:nvPr/>
          </p:nvSpPr>
          <p:spPr bwMode="auto">
            <a:xfrm>
              <a:off x="3937" y="3001"/>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2" name="Line 49"/>
            <p:cNvSpPr>
              <a:spLocks noChangeShapeType="1"/>
            </p:cNvSpPr>
            <p:nvPr/>
          </p:nvSpPr>
          <p:spPr bwMode="auto">
            <a:xfrm>
              <a:off x="4982" y="3001"/>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3" name="Line 50"/>
            <p:cNvSpPr>
              <a:spLocks noChangeShapeType="1"/>
            </p:cNvSpPr>
            <p:nvPr/>
          </p:nvSpPr>
          <p:spPr bwMode="auto">
            <a:xfrm>
              <a:off x="4982" y="3001"/>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4" name="Rectangle 51"/>
            <p:cNvSpPr>
              <a:spLocks noChangeArrowheads="1"/>
            </p:cNvSpPr>
            <p:nvPr/>
          </p:nvSpPr>
          <p:spPr bwMode="auto">
            <a:xfrm>
              <a:off x="781" y="3005"/>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55" name="Line 52"/>
            <p:cNvSpPr>
              <a:spLocks noChangeShapeType="1"/>
            </p:cNvSpPr>
            <p:nvPr/>
          </p:nvSpPr>
          <p:spPr bwMode="auto">
            <a:xfrm>
              <a:off x="1831" y="3005"/>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6" name="Rectangle 53"/>
            <p:cNvSpPr>
              <a:spLocks noChangeArrowheads="1"/>
            </p:cNvSpPr>
            <p:nvPr/>
          </p:nvSpPr>
          <p:spPr bwMode="auto">
            <a:xfrm>
              <a:off x="2881" y="3005"/>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57" name="Line 54"/>
            <p:cNvSpPr>
              <a:spLocks noChangeShapeType="1"/>
            </p:cNvSpPr>
            <p:nvPr/>
          </p:nvSpPr>
          <p:spPr bwMode="auto">
            <a:xfrm>
              <a:off x="2881" y="3005"/>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8" name="Line 55"/>
            <p:cNvSpPr>
              <a:spLocks noChangeShapeType="1"/>
            </p:cNvSpPr>
            <p:nvPr/>
          </p:nvSpPr>
          <p:spPr bwMode="auto">
            <a:xfrm>
              <a:off x="3932" y="3005"/>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59" name="Line 56"/>
            <p:cNvSpPr>
              <a:spLocks noChangeShapeType="1"/>
            </p:cNvSpPr>
            <p:nvPr/>
          </p:nvSpPr>
          <p:spPr bwMode="auto">
            <a:xfrm>
              <a:off x="4982" y="3005"/>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60" name="Rectangle 57"/>
            <p:cNvSpPr>
              <a:spLocks noChangeArrowheads="1"/>
            </p:cNvSpPr>
            <p:nvPr/>
          </p:nvSpPr>
          <p:spPr bwMode="auto">
            <a:xfrm>
              <a:off x="1200" y="3272"/>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a1</a:t>
              </a:r>
              <a:endParaRPr lang="en-US" altLang="zh-CN" sz="2800">
                <a:latin typeface="Times New Roman"/>
                <a:cs typeface="Times New Roman"/>
              </a:endParaRPr>
            </a:p>
          </p:txBody>
        </p:sp>
        <p:sp>
          <p:nvSpPr>
            <p:cNvPr id="61" name="Rectangle 58"/>
            <p:cNvSpPr>
              <a:spLocks noChangeArrowheads="1"/>
            </p:cNvSpPr>
            <p:nvPr/>
          </p:nvSpPr>
          <p:spPr bwMode="auto">
            <a:xfrm>
              <a:off x="2245" y="3272"/>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b1</a:t>
              </a:r>
              <a:endParaRPr lang="en-US" altLang="zh-CN" sz="2800">
                <a:latin typeface="Times New Roman"/>
                <a:cs typeface="Times New Roman"/>
              </a:endParaRPr>
            </a:p>
          </p:txBody>
        </p:sp>
        <p:sp>
          <p:nvSpPr>
            <p:cNvPr id="62" name="Rectangle 59"/>
            <p:cNvSpPr>
              <a:spLocks noChangeArrowheads="1"/>
            </p:cNvSpPr>
            <p:nvPr/>
          </p:nvSpPr>
          <p:spPr bwMode="auto">
            <a:xfrm>
              <a:off x="3293" y="3272"/>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c1</a:t>
              </a:r>
              <a:endParaRPr lang="en-US" altLang="zh-CN" sz="2800">
                <a:latin typeface="Times New Roman"/>
                <a:cs typeface="Times New Roman"/>
              </a:endParaRPr>
            </a:p>
          </p:txBody>
        </p:sp>
        <p:sp>
          <p:nvSpPr>
            <p:cNvPr id="63" name="Rectangle 60"/>
            <p:cNvSpPr>
              <a:spLocks noChangeArrowheads="1"/>
            </p:cNvSpPr>
            <p:nvPr/>
          </p:nvSpPr>
          <p:spPr bwMode="auto">
            <a:xfrm>
              <a:off x="4343" y="3272"/>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d2</a:t>
              </a:r>
              <a:endParaRPr lang="en-US" altLang="zh-CN" sz="2800">
                <a:latin typeface="Times New Roman"/>
                <a:cs typeface="Times New Roman"/>
              </a:endParaRPr>
            </a:p>
          </p:txBody>
        </p:sp>
        <p:sp>
          <p:nvSpPr>
            <p:cNvPr id="64" name="Rectangle 61"/>
            <p:cNvSpPr>
              <a:spLocks noChangeArrowheads="1"/>
            </p:cNvSpPr>
            <p:nvPr/>
          </p:nvSpPr>
          <p:spPr bwMode="auto">
            <a:xfrm>
              <a:off x="781" y="326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65" name="Line 62"/>
            <p:cNvSpPr>
              <a:spLocks noChangeShapeType="1"/>
            </p:cNvSpPr>
            <p:nvPr/>
          </p:nvSpPr>
          <p:spPr bwMode="auto">
            <a:xfrm>
              <a:off x="781" y="326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66" name="Line 63"/>
            <p:cNvSpPr>
              <a:spLocks noChangeShapeType="1"/>
            </p:cNvSpPr>
            <p:nvPr/>
          </p:nvSpPr>
          <p:spPr bwMode="auto">
            <a:xfrm>
              <a:off x="781" y="326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67" name="Rectangle 64"/>
            <p:cNvSpPr>
              <a:spLocks noChangeArrowheads="1"/>
            </p:cNvSpPr>
            <p:nvPr/>
          </p:nvSpPr>
          <p:spPr bwMode="auto">
            <a:xfrm>
              <a:off x="786" y="3265"/>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68" name="Line 65"/>
            <p:cNvSpPr>
              <a:spLocks noChangeShapeType="1"/>
            </p:cNvSpPr>
            <p:nvPr/>
          </p:nvSpPr>
          <p:spPr bwMode="auto">
            <a:xfrm>
              <a:off x="786" y="3265"/>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69" name="Line 66"/>
            <p:cNvSpPr>
              <a:spLocks noChangeShapeType="1"/>
            </p:cNvSpPr>
            <p:nvPr/>
          </p:nvSpPr>
          <p:spPr bwMode="auto">
            <a:xfrm>
              <a:off x="1831" y="326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0" name="Line 67"/>
            <p:cNvSpPr>
              <a:spLocks noChangeShapeType="1"/>
            </p:cNvSpPr>
            <p:nvPr/>
          </p:nvSpPr>
          <p:spPr bwMode="auto">
            <a:xfrm>
              <a:off x="1831" y="326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1" name="Rectangle 68"/>
            <p:cNvSpPr>
              <a:spLocks noChangeArrowheads="1"/>
            </p:cNvSpPr>
            <p:nvPr/>
          </p:nvSpPr>
          <p:spPr bwMode="auto">
            <a:xfrm>
              <a:off x="1836" y="3265"/>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72" name="Line 69"/>
            <p:cNvSpPr>
              <a:spLocks noChangeShapeType="1"/>
            </p:cNvSpPr>
            <p:nvPr/>
          </p:nvSpPr>
          <p:spPr bwMode="auto">
            <a:xfrm>
              <a:off x="1836" y="3265"/>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3" name="Rectangle 70"/>
            <p:cNvSpPr>
              <a:spLocks noChangeArrowheads="1"/>
            </p:cNvSpPr>
            <p:nvPr/>
          </p:nvSpPr>
          <p:spPr bwMode="auto">
            <a:xfrm>
              <a:off x="2881" y="326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74" name="Line 71"/>
            <p:cNvSpPr>
              <a:spLocks noChangeShapeType="1"/>
            </p:cNvSpPr>
            <p:nvPr/>
          </p:nvSpPr>
          <p:spPr bwMode="auto">
            <a:xfrm>
              <a:off x="2881" y="326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5" name="Line 72"/>
            <p:cNvSpPr>
              <a:spLocks noChangeShapeType="1"/>
            </p:cNvSpPr>
            <p:nvPr/>
          </p:nvSpPr>
          <p:spPr bwMode="auto">
            <a:xfrm>
              <a:off x="2881" y="326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6" name="Rectangle 73"/>
            <p:cNvSpPr>
              <a:spLocks noChangeArrowheads="1"/>
            </p:cNvSpPr>
            <p:nvPr/>
          </p:nvSpPr>
          <p:spPr bwMode="auto">
            <a:xfrm>
              <a:off x="2886" y="3265"/>
              <a:ext cx="104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77" name="Line 74"/>
            <p:cNvSpPr>
              <a:spLocks noChangeShapeType="1"/>
            </p:cNvSpPr>
            <p:nvPr/>
          </p:nvSpPr>
          <p:spPr bwMode="auto">
            <a:xfrm>
              <a:off x="2886" y="3265"/>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8" name="Line 75"/>
            <p:cNvSpPr>
              <a:spLocks noChangeShapeType="1"/>
            </p:cNvSpPr>
            <p:nvPr/>
          </p:nvSpPr>
          <p:spPr bwMode="auto">
            <a:xfrm>
              <a:off x="3932" y="326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79" name="Line 76"/>
            <p:cNvSpPr>
              <a:spLocks noChangeShapeType="1"/>
            </p:cNvSpPr>
            <p:nvPr/>
          </p:nvSpPr>
          <p:spPr bwMode="auto">
            <a:xfrm>
              <a:off x="3932" y="326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0" name="Rectangle 77"/>
            <p:cNvSpPr>
              <a:spLocks noChangeArrowheads="1"/>
            </p:cNvSpPr>
            <p:nvPr/>
          </p:nvSpPr>
          <p:spPr bwMode="auto">
            <a:xfrm>
              <a:off x="3937" y="3265"/>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81" name="Line 78"/>
            <p:cNvSpPr>
              <a:spLocks noChangeShapeType="1"/>
            </p:cNvSpPr>
            <p:nvPr/>
          </p:nvSpPr>
          <p:spPr bwMode="auto">
            <a:xfrm>
              <a:off x="3937" y="3265"/>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2" name="Line 79"/>
            <p:cNvSpPr>
              <a:spLocks noChangeShapeType="1"/>
            </p:cNvSpPr>
            <p:nvPr/>
          </p:nvSpPr>
          <p:spPr bwMode="auto">
            <a:xfrm>
              <a:off x="4982" y="326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3" name="Line 80"/>
            <p:cNvSpPr>
              <a:spLocks noChangeShapeType="1"/>
            </p:cNvSpPr>
            <p:nvPr/>
          </p:nvSpPr>
          <p:spPr bwMode="auto">
            <a:xfrm>
              <a:off x="4982" y="326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4" name="Rectangle 81"/>
            <p:cNvSpPr>
              <a:spLocks noChangeArrowheads="1"/>
            </p:cNvSpPr>
            <p:nvPr/>
          </p:nvSpPr>
          <p:spPr bwMode="auto">
            <a:xfrm>
              <a:off x="781" y="3270"/>
              <a:ext cx="5"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85" name="Line 82"/>
            <p:cNvSpPr>
              <a:spLocks noChangeShapeType="1"/>
            </p:cNvSpPr>
            <p:nvPr/>
          </p:nvSpPr>
          <p:spPr bwMode="auto">
            <a:xfrm>
              <a:off x="1831" y="3270"/>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6" name="Rectangle 83"/>
            <p:cNvSpPr>
              <a:spLocks noChangeArrowheads="1"/>
            </p:cNvSpPr>
            <p:nvPr/>
          </p:nvSpPr>
          <p:spPr bwMode="auto">
            <a:xfrm>
              <a:off x="2881" y="3270"/>
              <a:ext cx="5"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87" name="Line 84"/>
            <p:cNvSpPr>
              <a:spLocks noChangeShapeType="1"/>
            </p:cNvSpPr>
            <p:nvPr/>
          </p:nvSpPr>
          <p:spPr bwMode="auto">
            <a:xfrm>
              <a:off x="2881" y="3270"/>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8" name="Line 85"/>
            <p:cNvSpPr>
              <a:spLocks noChangeShapeType="1"/>
            </p:cNvSpPr>
            <p:nvPr/>
          </p:nvSpPr>
          <p:spPr bwMode="auto">
            <a:xfrm>
              <a:off x="3932" y="3270"/>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89" name="Line 86"/>
            <p:cNvSpPr>
              <a:spLocks noChangeShapeType="1"/>
            </p:cNvSpPr>
            <p:nvPr/>
          </p:nvSpPr>
          <p:spPr bwMode="auto">
            <a:xfrm>
              <a:off x="4982" y="3270"/>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90" name="Rectangle 87"/>
            <p:cNvSpPr>
              <a:spLocks noChangeArrowheads="1"/>
            </p:cNvSpPr>
            <p:nvPr/>
          </p:nvSpPr>
          <p:spPr bwMode="auto">
            <a:xfrm>
              <a:off x="1200" y="3534"/>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a1</a:t>
              </a:r>
              <a:endParaRPr lang="en-US" altLang="zh-CN" sz="2800">
                <a:latin typeface="Times New Roman"/>
                <a:cs typeface="Times New Roman"/>
              </a:endParaRPr>
            </a:p>
          </p:txBody>
        </p:sp>
        <p:sp>
          <p:nvSpPr>
            <p:cNvPr id="91" name="Rectangle 88"/>
            <p:cNvSpPr>
              <a:spLocks noChangeArrowheads="1"/>
            </p:cNvSpPr>
            <p:nvPr/>
          </p:nvSpPr>
          <p:spPr bwMode="auto">
            <a:xfrm>
              <a:off x="2245" y="3534"/>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b2</a:t>
              </a:r>
              <a:endParaRPr lang="en-US" altLang="zh-CN" sz="2800">
                <a:latin typeface="Times New Roman"/>
                <a:cs typeface="Times New Roman"/>
              </a:endParaRPr>
            </a:p>
          </p:txBody>
        </p:sp>
        <p:sp>
          <p:nvSpPr>
            <p:cNvPr id="92" name="Rectangle 89"/>
            <p:cNvSpPr>
              <a:spLocks noChangeArrowheads="1"/>
            </p:cNvSpPr>
            <p:nvPr/>
          </p:nvSpPr>
          <p:spPr bwMode="auto">
            <a:xfrm>
              <a:off x="3298" y="3534"/>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c2</a:t>
              </a:r>
              <a:endParaRPr lang="en-US" altLang="zh-CN" sz="2800">
                <a:latin typeface="Times New Roman"/>
                <a:cs typeface="Times New Roman"/>
              </a:endParaRPr>
            </a:p>
          </p:txBody>
        </p:sp>
        <p:sp>
          <p:nvSpPr>
            <p:cNvPr id="93" name="Rectangle 90"/>
            <p:cNvSpPr>
              <a:spLocks noChangeArrowheads="1"/>
            </p:cNvSpPr>
            <p:nvPr/>
          </p:nvSpPr>
          <p:spPr bwMode="auto">
            <a:xfrm>
              <a:off x="4343" y="3534"/>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d1</a:t>
              </a:r>
              <a:endParaRPr lang="en-US" altLang="zh-CN" sz="2800">
                <a:latin typeface="Times New Roman"/>
                <a:cs typeface="Times New Roman"/>
              </a:endParaRPr>
            </a:p>
          </p:txBody>
        </p:sp>
        <p:sp>
          <p:nvSpPr>
            <p:cNvPr id="94" name="Rectangle 91"/>
            <p:cNvSpPr>
              <a:spLocks noChangeArrowheads="1"/>
            </p:cNvSpPr>
            <p:nvPr/>
          </p:nvSpPr>
          <p:spPr bwMode="auto">
            <a:xfrm>
              <a:off x="781" y="352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95" name="Line 92"/>
            <p:cNvSpPr>
              <a:spLocks noChangeShapeType="1"/>
            </p:cNvSpPr>
            <p:nvPr/>
          </p:nvSpPr>
          <p:spPr bwMode="auto">
            <a:xfrm>
              <a:off x="781" y="352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96" name="Line 93"/>
            <p:cNvSpPr>
              <a:spLocks noChangeShapeType="1"/>
            </p:cNvSpPr>
            <p:nvPr/>
          </p:nvSpPr>
          <p:spPr bwMode="auto">
            <a:xfrm>
              <a:off x="781" y="352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97" name="Rectangle 94"/>
            <p:cNvSpPr>
              <a:spLocks noChangeArrowheads="1"/>
            </p:cNvSpPr>
            <p:nvPr/>
          </p:nvSpPr>
          <p:spPr bwMode="auto">
            <a:xfrm>
              <a:off x="786" y="3527"/>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98" name="Line 95"/>
            <p:cNvSpPr>
              <a:spLocks noChangeShapeType="1"/>
            </p:cNvSpPr>
            <p:nvPr/>
          </p:nvSpPr>
          <p:spPr bwMode="auto">
            <a:xfrm>
              <a:off x="786" y="3527"/>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99" name="Line 96"/>
            <p:cNvSpPr>
              <a:spLocks noChangeShapeType="1"/>
            </p:cNvSpPr>
            <p:nvPr/>
          </p:nvSpPr>
          <p:spPr bwMode="auto">
            <a:xfrm>
              <a:off x="1831" y="352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0" name="Line 97"/>
            <p:cNvSpPr>
              <a:spLocks noChangeShapeType="1"/>
            </p:cNvSpPr>
            <p:nvPr/>
          </p:nvSpPr>
          <p:spPr bwMode="auto">
            <a:xfrm>
              <a:off x="1831" y="352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1" name="Rectangle 98"/>
            <p:cNvSpPr>
              <a:spLocks noChangeArrowheads="1"/>
            </p:cNvSpPr>
            <p:nvPr/>
          </p:nvSpPr>
          <p:spPr bwMode="auto">
            <a:xfrm>
              <a:off x="1836" y="3527"/>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02" name="Line 99"/>
            <p:cNvSpPr>
              <a:spLocks noChangeShapeType="1"/>
            </p:cNvSpPr>
            <p:nvPr/>
          </p:nvSpPr>
          <p:spPr bwMode="auto">
            <a:xfrm>
              <a:off x="1836" y="3527"/>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3" name="Rectangle 100"/>
            <p:cNvSpPr>
              <a:spLocks noChangeArrowheads="1"/>
            </p:cNvSpPr>
            <p:nvPr/>
          </p:nvSpPr>
          <p:spPr bwMode="auto">
            <a:xfrm>
              <a:off x="2881" y="352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04" name="Line 101"/>
            <p:cNvSpPr>
              <a:spLocks noChangeShapeType="1"/>
            </p:cNvSpPr>
            <p:nvPr/>
          </p:nvSpPr>
          <p:spPr bwMode="auto">
            <a:xfrm>
              <a:off x="2881" y="352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5" name="Line 102"/>
            <p:cNvSpPr>
              <a:spLocks noChangeShapeType="1"/>
            </p:cNvSpPr>
            <p:nvPr/>
          </p:nvSpPr>
          <p:spPr bwMode="auto">
            <a:xfrm>
              <a:off x="2881" y="352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6" name="Rectangle 103"/>
            <p:cNvSpPr>
              <a:spLocks noChangeArrowheads="1"/>
            </p:cNvSpPr>
            <p:nvPr/>
          </p:nvSpPr>
          <p:spPr bwMode="auto">
            <a:xfrm>
              <a:off x="2886" y="3527"/>
              <a:ext cx="104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07" name="Line 104"/>
            <p:cNvSpPr>
              <a:spLocks noChangeShapeType="1"/>
            </p:cNvSpPr>
            <p:nvPr/>
          </p:nvSpPr>
          <p:spPr bwMode="auto">
            <a:xfrm>
              <a:off x="2886" y="3527"/>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8" name="Line 105"/>
            <p:cNvSpPr>
              <a:spLocks noChangeShapeType="1"/>
            </p:cNvSpPr>
            <p:nvPr/>
          </p:nvSpPr>
          <p:spPr bwMode="auto">
            <a:xfrm>
              <a:off x="3932" y="352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09" name="Line 106"/>
            <p:cNvSpPr>
              <a:spLocks noChangeShapeType="1"/>
            </p:cNvSpPr>
            <p:nvPr/>
          </p:nvSpPr>
          <p:spPr bwMode="auto">
            <a:xfrm>
              <a:off x="3932" y="352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0" name="Rectangle 107"/>
            <p:cNvSpPr>
              <a:spLocks noChangeArrowheads="1"/>
            </p:cNvSpPr>
            <p:nvPr/>
          </p:nvSpPr>
          <p:spPr bwMode="auto">
            <a:xfrm>
              <a:off x="3937" y="3527"/>
              <a:ext cx="10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11" name="Line 108"/>
            <p:cNvSpPr>
              <a:spLocks noChangeShapeType="1"/>
            </p:cNvSpPr>
            <p:nvPr/>
          </p:nvSpPr>
          <p:spPr bwMode="auto">
            <a:xfrm>
              <a:off x="3937" y="3527"/>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2" name="Line 109"/>
            <p:cNvSpPr>
              <a:spLocks noChangeShapeType="1"/>
            </p:cNvSpPr>
            <p:nvPr/>
          </p:nvSpPr>
          <p:spPr bwMode="auto">
            <a:xfrm>
              <a:off x="4982" y="352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3" name="Line 110"/>
            <p:cNvSpPr>
              <a:spLocks noChangeShapeType="1"/>
            </p:cNvSpPr>
            <p:nvPr/>
          </p:nvSpPr>
          <p:spPr bwMode="auto">
            <a:xfrm>
              <a:off x="4982" y="352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4" name="Rectangle 111"/>
            <p:cNvSpPr>
              <a:spLocks noChangeArrowheads="1"/>
            </p:cNvSpPr>
            <p:nvPr/>
          </p:nvSpPr>
          <p:spPr bwMode="auto">
            <a:xfrm>
              <a:off x="781" y="3532"/>
              <a:ext cx="5"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15" name="Line 112"/>
            <p:cNvSpPr>
              <a:spLocks noChangeShapeType="1"/>
            </p:cNvSpPr>
            <p:nvPr/>
          </p:nvSpPr>
          <p:spPr bwMode="auto">
            <a:xfrm>
              <a:off x="1831" y="3532"/>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6" name="Rectangle 113"/>
            <p:cNvSpPr>
              <a:spLocks noChangeArrowheads="1"/>
            </p:cNvSpPr>
            <p:nvPr/>
          </p:nvSpPr>
          <p:spPr bwMode="auto">
            <a:xfrm>
              <a:off x="2881" y="3532"/>
              <a:ext cx="5"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17" name="Line 114"/>
            <p:cNvSpPr>
              <a:spLocks noChangeShapeType="1"/>
            </p:cNvSpPr>
            <p:nvPr/>
          </p:nvSpPr>
          <p:spPr bwMode="auto">
            <a:xfrm>
              <a:off x="2881" y="3532"/>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8" name="Line 115"/>
            <p:cNvSpPr>
              <a:spLocks noChangeShapeType="1"/>
            </p:cNvSpPr>
            <p:nvPr/>
          </p:nvSpPr>
          <p:spPr bwMode="auto">
            <a:xfrm>
              <a:off x="3932" y="3532"/>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19" name="Line 116"/>
            <p:cNvSpPr>
              <a:spLocks noChangeShapeType="1"/>
            </p:cNvSpPr>
            <p:nvPr/>
          </p:nvSpPr>
          <p:spPr bwMode="auto">
            <a:xfrm>
              <a:off x="4982" y="3532"/>
              <a:ext cx="1" cy="2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20" name="Rectangle 117"/>
            <p:cNvSpPr>
              <a:spLocks noChangeArrowheads="1"/>
            </p:cNvSpPr>
            <p:nvPr/>
          </p:nvSpPr>
          <p:spPr bwMode="auto">
            <a:xfrm>
              <a:off x="1200" y="3799"/>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a1</a:t>
              </a:r>
              <a:endParaRPr lang="en-US" altLang="zh-CN" sz="2800">
                <a:latin typeface="Times New Roman"/>
                <a:cs typeface="Times New Roman"/>
              </a:endParaRPr>
            </a:p>
          </p:txBody>
        </p:sp>
        <p:sp>
          <p:nvSpPr>
            <p:cNvPr id="121" name="Rectangle 118"/>
            <p:cNvSpPr>
              <a:spLocks noChangeArrowheads="1"/>
            </p:cNvSpPr>
            <p:nvPr/>
          </p:nvSpPr>
          <p:spPr bwMode="auto">
            <a:xfrm>
              <a:off x="2245" y="3799"/>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b2</a:t>
              </a:r>
              <a:endParaRPr lang="en-US" altLang="zh-CN" sz="2800">
                <a:latin typeface="Times New Roman"/>
                <a:cs typeface="Times New Roman"/>
              </a:endParaRPr>
            </a:p>
          </p:txBody>
        </p:sp>
        <p:sp>
          <p:nvSpPr>
            <p:cNvPr id="122" name="Rectangle 119"/>
            <p:cNvSpPr>
              <a:spLocks noChangeArrowheads="1"/>
            </p:cNvSpPr>
            <p:nvPr/>
          </p:nvSpPr>
          <p:spPr bwMode="auto">
            <a:xfrm>
              <a:off x="3298" y="3799"/>
              <a:ext cx="26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c2</a:t>
              </a:r>
              <a:endParaRPr lang="en-US" altLang="zh-CN" sz="2800">
                <a:latin typeface="Times New Roman"/>
                <a:cs typeface="Times New Roman"/>
              </a:endParaRPr>
            </a:p>
          </p:txBody>
        </p:sp>
        <p:sp>
          <p:nvSpPr>
            <p:cNvPr id="123" name="Rectangle 120"/>
            <p:cNvSpPr>
              <a:spLocks noChangeArrowheads="1"/>
            </p:cNvSpPr>
            <p:nvPr/>
          </p:nvSpPr>
          <p:spPr bwMode="auto">
            <a:xfrm>
              <a:off x="4343" y="3799"/>
              <a:ext cx="28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spcBef>
                  <a:spcPct val="0"/>
                </a:spcBef>
              </a:pPr>
              <a:r>
                <a:rPr lang="en-US" altLang="zh-CN" sz="2800">
                  <a:solidFill>
                    <a:srgbClr val="000000"/>
                  </a:solidFill>
                  <a:latin typeface="Times New Roman"/>
                  <a:cs typeface="Times New Roman"/>
                </a:rPr>
                <a:t>d2</a:t>
              </a:r>
              <a:endParaRPr lang="en-US" altLang="zh-CN" sz="2800">
                <a:latin typeface="Times New Roman"/>
                <a:cs typeface="Times New Roman"/>
              </a:endParaRPr>
            </a:p>
          </p:txBody>
        </p:sp>
        <p:sp>
          <p:nvSpPr>
            <p:cNvPr id="124" name="Rectangle 121"/>
            <p:cNvSpPr>
              <a:spLocks noChangeArrowheads="1"/>
            </p:cNvSpPr>
            <p:nvPr/>
          </p:nvSpPr>
          <p:spPr bwMode="auto">
            <a:xfrm>
              <a:off x="781" y="379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25" name="Line 122"/>
            <p:cNvSpPr>
              <a:spLocks noChangeShapeType="1"/>
            </p:cNvSpPr>
            <p:nvPr/>
          </p:nvSpPr>
          <p:spPr bwMode="auto">
            <a:xfrm>
              <a:off x="781" y="3792"/>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26" name="Line 123"/>
            <p:cNvSpPr>
              <a:spLocks noChangeShapeType="1"/>
            </p:cNvSpPr>
            <p:nvPr/>
          </p:nvSpPr>
          <p:spPr bwMode="auto">
            <a:xfrm>
              <a:off x="781" y="3792"/>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27" name="Rectangle 124"/>
            <p:cNvSpPr>
              <a:spLocks noChangeArrowheads="1"/>
            </p:cNvSpPr>
            <p:nvPr/>
          </p:nvSpPr>
          <p:spPr bwMode="auto">
            <a:xfrm>
              <a:off x="786" y="3792"/>
              <a:ext cx="104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28" name="Line 125"/>
            <p:cNvSpPr>
              <a:spLocks noChangeShapeType="1"/>
            </p:cNvSpPr>
            <p:nvPr/>
          </p:nvSpPr>
          <p:spPr bwMode="auto">
            <a:xfrm>
              <a:off x="786" y="3792"/>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29" name="Line 126"/>
            <p:cNvSpPr>
              <a:spLocks noChangeShapeType="1"/>
            </p:cNvSpPr>
            <p:nvPr/>
          </p:nvSpPr>
          <p:spPr bwMode="auto">
            <a:xfrm>
              <a:off x="1831" y="3792"/>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0" name="Line 127"/>
            <p:cNvSpPr>
              <a:spLocks noChangeShapeType="1"/>
            </p:cNvSpPr>
            <p:nvPr/>
          </p:nvSpPr>
          <p:spPr bwMode="auto">
            <a:xfrm>
              <a:off x="1831" y="3792"/>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1" name="Rectangle 128"/>
            <p:cNvSpPr>
              <a:spLocks noChangeArrowheads="1"/>
            </p:cNvSpPr>
            <p:nvPr/>
          </p:nvSpPr>
          <p:spPr bwMode="auto">
            <a:xfrm>
              <a:off x="1836" y="3792"/>
              <a:ext cx="104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32" name="Line 129"/>
            <p:cNvSpPr>
              <a:spLocks noChangeShapeType="1"/>
            </p:cNvSpPr>
            <p:nvPr/>
          </p:nvSpPr>
          <p:spPr bwMode="auto">
            <a:xfrm>
              <a:off x="1836" y="3792"/>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3" name="Rectangle 130"/>
            <p:cNvSpPr>
              <a:spLocks noChangeArrowheads="1"/>
            </p:cNvSpPr>
            <p:nvPr/>
          </p:nvSpPr>
          <p:spPr bwMode="auto">
            <a:xfrm>
              <a:off x="2881" y="379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34" name="Line 131"/>
            <p:cNvSpPr>
              <a:spLocks noChangeShapeType="1"/>
            </p:cNvSpPr>
            <p:nvPr/>
          </p:nvSpPr>
          <p:spPr bwMode="auto">
            <a:xfrm>
              <a:off x="2881" y="3792"/>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5" name="Line 132"/>
            <p:cNvSpPr>
              <a:spLocks noChangeShapeType="1"/>
            </p:cNvSpPr>
            <p:nvPr/>
          </p:nvSpPr>
          <p:spPr bwMode="auto">
            <a:xfrm>
              <a:off x="2881" y="3792"/>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6" name="Rectangle 133"/>
            <p:cNvSpPr>
              <a:spLocks noChangeArrowheads="1"/>
            </p:cNvSpPr>
            <p:nvPr/>
          </p:nvSpPr>
          <p:spPr bwMode="auto">
            <a:xfrm>
              <a:off x="2886" y="3792"/>
              <a:ext cx="104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37" name="Line 134"/>
            <p:cNvSpPr>
              <a:spLocks noChangeShapeType="1"/>
            </p:cNvSpPr>
            <p:nvPr/>
          </p:nvSpPr>
          <p:spPr bwMode="auto">
            <a:xfrm>
              <a:off x="2886" y="3792"/>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8" name="Line 135"/>
            <p:cNvSpPr>
              <a:spLocks noChangeShapeType="1"/>
            </p:cNvSpPr>
            <p:nvPr/>
          </p:nvSpPr>
          <p:spPr bwMode="auto">
            <a:xfrm>
              <a:off x="3932" y="3792"/>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39" name="Line 136"/>
            <p:cNvSpPr>
              <a:spLocks noChangeShapeType="1"/>
            </p:cNvSpPr>
            <p:nvPr/>
          </p:nvSpPr>
          <p:spPr bwMode="auto">
            <a:xfrm>
              <a:off x="3932" y="3792"/>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0" name="Rectangle 137"/>
            <p:cNvSpPr>
              <a:spLocks noChangeArrowheads="1"/>
            </p:cNvSpPr>
            <p:nvPr/>
          </p:nvSpPr>
          <p:spPr bwMode="auto">
            <a:xfrm>
              <a:off x="3937" y="3792"/>
              <a:ext cx="104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41" name="Line 138"/>
            <p:cNvSpPr>
              <a:spLocks noChangeShapeType="1"/>
            </p:cNvSpPr>
            <p:nvPr/>
          </p:nvSpPr>
          <p:spPr bwMode="auto">
            <a:xfrm>
              <a:off x="3937" y="3792"/>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2" name="Line 139"/>
            <p:cNvSpPr>
              <a:spLocks noChangeShapeType="1"/>
            </p:cNvSpPr>
            <p:nvPr/>
          </p:nvSpPr>
          <p:spPr bwMode="auto">
            <a:xfrm>
              <a:off x="4982" y="3792"/>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3" name="Line 140"/>
            <p:cNvSpPr>
              <a:spLocks noChangeShapeType="1"/>
            </p:cNvSpPr>
            <p:nvPr/>
          </p:nvSpPr>
          <p:spPr bwMode="auto">
            <a:xfrm>
              <a:off x="4982" y="3792"/>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4" name="Rectangle 141"/>
            <p:cNvSpPr>
              <a:spLocks noChangeArrowheads="1"/>
            </p:cNvSpPr>
            <p:nvPr/>
          </p:nvSpPr>
          <p:spPr bwMode="auto">
            <a:xfrm>
              <a:off x="781" y="3796"/>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45" name="Line 142"/>
            <p:cNvSpPr>
              <a:spLocks noChangeShapeType="1"/>
            </p:cNvSpPr>
            <p:nvPr/>
          </p:nvSpPr>
          <p:spPr bwMode="auto">
            <a:xfrm>
              <a:off x="781"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6" name="Line 143"/>
            <p:cNvSpPr>
              <a:spLocks noChangeShapeType="1"/>
            </p:cNvSpPr>
            <p:nvPr/>
          </p:nvSpPr>
          <p:spPr bwMode="auto">
            <a:xfrm>
              <a:off x="781"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7" name="Line 144"/>
            <p:cNvSpPr>
              <a:spLocks noChangeShapeType="1"/>
            </p:cNvSpPr>
            <p:nvPr/>
          </p:nvSpPr>
          <p:spPr bwMode="auto">
            <a:xfrm>
              <a:off x="781"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8" name="Line 145"/>
            <p:cNvSpPr>
              <a:spLocks noChangeShapeType="1"/>
            </p:cNvSpPr>
            <p:nvPr/>
          </p:nvSpPr>
          <p:spPr bwMode="auto">
            <a:xfrm>
              <a:off x="781"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49" name="Line 146"/>
            <p:cNvSpPr>
              <a:spLocks noChangeShapeType="1"/>
            </p:cNvSpPr>
            <p:nvPr/>
          </p:nvSpPr>
          <p:spPr bwMode="auto">
            <a:xfrm>
              <a:off x="786" y="4054"/>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0" name="Line 147"/>
            <p:cNvSpPr>
              <a:spLocks noChangeShapeType="1"/>
            </p:cNvSpPr>
            <p:nvPr/>
          </p:nvSpPr>
          <p:spPr bwMode="auto">
            <a:xfrm>
              <a:off x="1831" y="3796"/>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1" name="Line 148"/>
            <p:cNvSpPr>
              <a:spLocks noChangeShapeType="1"/>
            </p:cNvSpPr>
            <p:nvPr/>
          </p:nvSpPr>
          <p:spPr bwMode="auto">
            <a:xfrm>
              <a:off x="1831"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2" name="Line 149"/>
            <p:cNvSpPr>
              <a:spLocks noChangeShapeType="1"/>
            </p:cNvSpPr>
            <p:nvPr/>
          </p:nvSpPr>
          <p:spPr bwMode="auto">
            <a:xfrm>
              <a:off x="1831"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3" name="Line 150"/>
            <p:cNvSpPr>
              <a:spLocks noChangeShapeType="1"/>
            </p:cNvSpPr>
            <p:nvPr/>
          </p:nvSpPr>
          <p:spPr bwMode="auto">
            <a:xfrm>
              <a:off x="1836" y="4054"/>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4" name="Rectangle 151"/>
            <p:cNvSpPr>
              <a:spLocks noChangeArrowheads="1"/>
            </p:cNvSpPr>
            <p:nvPr/>
          </p:nvSpPr>
          <p:spPr bwMode="auto">
            <a:xfrm>
              <a:off x="2881" y="3796"/>
              <a:ext cx="5" cy="2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a:cs typeface="Times New Roman"/>
              </a:endParaRPr>
            </a:p>
          </p:txBody>
        </p:sp>
        <p:sp>
          <p:nvSpPr>
            <p:cNvPr id="155" name="Line 152"/>
            <p:cNvSpPr>
              <a:spLocks noChangeShapeType="1"/>
            </p:cNvSpPr>
            <p:nvPr/>
          </p:nvSpPr>
          <p:spPr bwMode="auto">
            <a:xfrm>
              <a:off x="2881" y="3796"/>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6" name="Line 153"/>
            <p:cNvSpPr>
              <a:spLocks noChangeShapeType="1"/>
            </p:cNvSpPr>
            <p:nvPr/>
          </p:nvSpPr>
          <p:spPr bwMode="auto">
            <a:xfrm>
              <a:off x="2881"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7" name="Line 154"/>
            <p:cNvSpPr>
              <a:spLocks noChangeShapeType="1"/>
            </p:cNvSpPr>
            <p:nvPr/>
          </p:nvSpPr>
          <p:spPr bwMode="auto">
            <a:xfrm>
              <a:off x="2881"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8" name="Line 155"/>
            <p:cNvSpPr>
              <a:spLocks noChangeShapeType="1"/>
            </p:cNvSpPr>
            <p:nvPr/>
          </p:nvSpPr>
          <p:spPr bwMode="auto">
            <a:xfrm>
              <a:off x="2886" y="4054"/>
              <a:ext cx="104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59" name="Line 156"/>
            <p:cNvSpPr>
              <a:spLocks noChangeShapeType="1"/>
            </p:cNvSpPr>
            <p:nvPr/>
          </p:nvSpPr>
          <p:spPr bwMode="auto">
            <a:xfrm>
              <a:off x="3932" y="3796"/>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0" name="Line 157"/>
            <p:cNvSpPr>
              <a:spLocks noChangeShapeType="1"/>
            </p:cNvSpPr>
            <p:nvPr/>
          </p:nvSpPr>
          <p:spPr bwMode="auto">
            <a:xfrm>
              <a:off x="3932"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1" name="Line 158"/>
            <p:cNvSpPr>
              <a:spLocks noChangeShapeType="1"/>
            </p:cNvSpPr>
            <p:nvPr/>
          </p:nvSpPr>
          <p:spPr bwMode="auto">
            <a:xfrm>
              <a:off x="3932"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2" name="Line 159"/>
            <p:cNvSpPr>
              <a:spLocks noChangeShapeType="1"/>
            </p:cNvSpPr>
            <p:nvPr/>
          </p:nvSpPr>
          <p:spPr bwMode="auto">
            <a:xfrm>
              <a:off x="3937" y="4054"/>
              <a:ext cx="10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3" name="Line 160"/>
            <p:cNvSpPr>
              <a:spLocks noChangeShapeType="1"/>
            </p:cNvSpPr>
            <p:nvPr/>
          </p:nvSpPr>
          <p:spPr bwMode="auto">
            <a:xfrm>
              <a:off x="4982" y="3796"/>
              <a:ext cx="1" cy="2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4" name="Line 161"/>
            <p:cNvSpPr>
              <a:spLocks noChangeShapeType="1"/>
            </p:cNvSpPr>
            <p:nvPr/>
          </p:nvSpPr>
          <p:spPr bwMode="auto">
            <a:xfrm>
              <a:off x="4982"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5" name="Line 162"/>
            <p:cNvSpPr>
              <a:spLocks noChangeShapeType="1"/>
            </p:cNvSpPr>
            <p:nvPr/>
          </p:nvSpPr>
          <p:spPr bwMode="auto">
            <a:xfrm>
              <a:off x="4982"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6" name="Line 163"/>
            <p:cNvSpPr>
              <a:spLocks noChangeShapeType="1"/>
            </p:cNvSpPr>
            <p:nvPr/>
          </p:nvSpPr>
          <p:spPr bwMode="auto">
            <a:xfrm>
              <a:off x="4982" y="405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sp>
          <p:nvSpPr>
            <p:cNvPr id="167" name="Line 164"/>
            <p:cNvSpPr>
              <a:spLocks noChangeShapeType="1"/>
            </p:cNvSpPr>
            <p:nvPr/>
          </p:nvSpPr>
          <p:spPr bwMode="auto">
            <a:xfrm>
              <a:off x="4982" y="4054"/>
              <a:ext cx="1"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a:cs typeface="Times New Roman"/>
              </a:endParaRPr>
            </a:p>
          </p:txBody>
        </p:sp>
      </p:grpSp>
      <p:sp>
        <p:nvSpPr>
          <p:cNvPr id="168" name="AutoShape 165"/>
          <p:cNvSpPr>
            <a:spLocks noChangeArrowheads="1"/>
          </p:cNvSpPr>
          <p:nvPr/>
        </p:nvSpPr>
        <p:spPr bwMode="auto">
          <a:xfrm>
            <a:off x="6591524" y="1603138"/>
            <a:ext cx="2182092" cy="1908157"/>
          </a:xfrm>
          <a:prstGeom prst="wedgeRoundRectCallout">
            <a:avLst>
              <a:gd name="adj1" fmla="val -46750"/>
              <a:gd name="adj2" fmla="val -18000"/>
              <a:gd name="adj3" fmla="val 16667"/>
            </a:avLst>
          </a:prstGeom>
          <a:solidFill>
            <a:schemeClr val="accent1"/>
          </a:solidFill>
          <a:ln w="9525">
            <a:solidFill>
              <a:srgbClr val="0000FF"/>
            </a:solidFill>
            <a:miter lim="800000"/>
            <a:headEnd/>
            <a:tailEnd/>
          </a:ln>
        </p:spPr>
        <p:txBody>
          <a:bodyPr/>
          <a:lstStyle/>
          <a:p>
            <a:pPr eaLnBrk="1" hangingPunct="1">
              <a:spcBef>
                <a:spcPct val="0"/>
              </a:spcBef>
            </a:pPr>
            <a:r>
              <a:rPr lang="en-US" altLang="zh-CN" sz="2400" dirty="0">
                <a:latin typeface="Arial Narrow" charset="0"/>
                <a:ea typeface="华文新魏" charset="0"/>
                <a:cs typeface="华文新魏" charset="0"/>
              </a:rPr>
              <a:t>A</a:t>
            </a:r>
            <a:r>
              <a:rPr lang="en-US" altLang="zh-CN" sz="2400" dirty="0">
                <a:latin typeface="Arial Narrow" charset="0"/>
                <a:ea typeface="华文新魏" charset="0"/>
                <a:cs typeface="华文新魏" charset="0"/>
                <a:sym typeface="Symbol" charset="0"/>
              </a:rPr>
              <a:t>B</a:t>
            </a:r>
            <a:r>
              <a:rPr lang="zh-CN" altLang="en-US" sz="2400" dirty="0">
                <a:latin typeface="Arial Narrow" charset="0"/>
                <a:ea typeface="华文新魏" charset="0"/>
                <a:cs typeface="华文新魏" charset="0"/>
                <a:sym typeface="Symbol" charset="0"/>
              </a:rPr>
              <a:t>在</a:t>
            </a:r>
            <a:r>
              <a:rPr lang="en-US" altLang="zh-CN" sz="2400" dirty="0">
                <a:latin typeface="Arial Narrow" charset="0"/>
                <a:ea typeface="华文新魏" charset="0"/>
                <a:cs typeface="华文新魏" charset="0"/>
                <a:sym typeface="Symbol" charset="0"/>
              </a:rPr>
              <a:t>{ABC}</a:t>
            </a:r>
            <a:r>
              <a:rPr lang="zh-CN" altLang="en-US" sz="2400" dirty="0">
                <a:latin typeface="Arial Narrow" charset="0"/>
                <a:ea typeface="华文新魏" charset="0"/>
                <a:cs typeface="华文新魏" charset="0"/>
                <a:sym typeface="Symbol" charset="0"/>
              </a:rPr>
              <a:t>上成立，而在</a:t>
            </a:r>
            <a:r>
              <a:rPr lang="en-US" altLang="zh-CN" sz="2400" dirty="0">
                <a:latin typeface="Arial Narrow" charset="0"/>
                <a:ea typeface="华文新魏" charset="0"/>
                <a:cs typeface="华文新魏" charset="0"/>
                <a:sym typeface="Symbol" charset="0"/>
              </a:rPr>
              <a:t>{ABCD}</a:t>
            </a:r>
            <a:r>
              <a:rPr lang="zh-CN" altLang="en-US" sz="2400" dirty="0">
                <a:latin typeface="Arial Narrow" charset="0"/>
                <a:ea typeface="华文新魏" charset="0"/>
                <a:cs typeface="华文新魏" charset="0"/>
                <a:sym typeface="Symbol" charset="0"/>
              </a:rPr>
              <a:t>上不成立</a:t>
            </a:r>
            <a:endParaRPr lang="zh-CN" altLang="en-US" sz="2400" dirty="0">
              <a:latin typeface="Arial Narrow" charset="0"/>
              <a:ea typeface="华文新魏" charset="0"/>
              <a:cs typeface="华文新魏" charset="0"/>
            </a:endParaRPr>
          </a:p>
        </p:txBody>
      </p:sp>
      <p:sp>
        <p:nvSpPr>
          <p:cNvPr id="169" name="AutoShape 166"/>
          <p:cNvSpPr>
            <a:spLocks noChangeArrowheads="1"/>
          </p:cNvSpPr>
          <p:nvPr/>
        </p:nvSpPr>
        <p:spPr bwMode="auto">
          <a:xfrm>
            <a:off x="6621665" y="4412382"/>
            <a:ext cx="2209080" cy="1016185"/>
          </a:xfrm>
          <a:prstGeom prst="wedgeRoundRectCallout">
            <a:avLst>
              <a:gd name="adj1" fmla="val -46306"/>
              <a:gd name="adj2" fmla="val -13634"/>
              <a:gd name="adj3" fmla="val 16667"/>
            </a:avLst>
          </a:prstGeom>
          <a:solidFill>
            <a:schemeClr val="accent1"/>
          </a:solidFill>
          <a:ln w="9525">
            <a:solidFill>
              <a:srgbClr val="0000FF"/>
            </a:solidFill>
            <a:miter lim="800000"/>
            <a:headEnd/>
            <a:tailEnd/>
          </a:ln>
        </p:spPr>
        <p:txBody>
          <a:bodyPr/>
          <a:lstStyle/>
          <a:p>
            <a:pPr eaLnBrk="1" hangingPunct="1">
              <a:spcBef>
                <a:spcPct val="0"/>
              </a:spcBef>
            </a:pPr>
            <a:r>
              <a:rPr lang="en-US" altLang="zh-CN" sz="2400" dirty="0">
                <a:latin typeface="Arial Narrow" charset="0"/>
                <a:ea typeface="华文新魏" charset="0"/>
                <a:cs typeface="华文新魏" charset="0"/>
              </a:rPr>
              <a:t>A</a:t>
            </a:r>
            <a:r>
              <a:rPr lang="en-US" altLang="zh-CN" sz="2400" dirty="0">
                <a:latin typeface="Arial Narrow" charset="0"/>
                <a:ea typeface="华文新魏" charset="0"/>
                <a:cs typeface="华文新魏" charset="0"/>
                <a:sym typeface="Symbol" charset="0"/>
              </a:rPr>
              <a:t></a:t>
            </a:r>
            <a:r>
              <a:rPr lang="en-US" altLang="zh-CN" sz="2400" dirty="0" smtClean="0">
                <a:latin typeface="Arial Narrow" charset="0"/>
                <a:ea typeface="华文新魏" charset="0"/>
                <a:cs typeface="华文新魏" charset="0"/>
                <a:sym typeface="Symbol" charset="0"/>
              </a:rPr>
              <a:t>BC</a:t>
            </a:r>
            <a:r>
              <a:rPr lang="zh-CN" altLang="en-US" sz="2400" dirty="0" smtClean="0">
                <a:latin typeface="Arial Narrow" charset="0"/>
                <a:ea typeface="华文新魏" charset="0"/>
                <a:cs typeface="华文新魏" charset="0"/>
                <a:sym typeface="Symbol" charset="0"/>
              </a:rPr>
              <a:t>成立</a:t>
            </a:r>
            <a:endParaRPr lang="en-US" altLang="zh-CN" sz="2400" dirty="0" smtClean="0">
              <a:latin typeface="Arial Narrow" charset="0"/>
              <a:ea typeface="华文新魏" charset="0"/>
              <a:cs typeface="华文新魏" charset="0"/>
            </a:endParaRPr>
          </a:p>
          <a:p>
            <a:pPr eaLnBrk="1" hangingPunct="1">
              <a:spcBef>
                <a:spcPct val="0"/>
              </a:spcBef>
            </a:pPr>
            <a:r>
              <a:rPr lang="en-US" altLang="zh-CN" sz="2400" dirty="0" smtClean="0">
                <a:latin typeface="Arial Narrow" charset="0"/>
                <a:ea typeface="华文新魏" charset="0"/>
                <a:cs typeface="华文新魏" charset="0"/>
              </a:rPr>
              <a:t>A</a:t>
            </a:r>
            <a:r>
              <a:rPr lang="en-US" altLang="zh-CN" sz="2400" dirty="0">
                <a:latin typeface="Arial Narrow" charset="0"/>
                <a:ea typeface="华文新魏" charset="0"/>
                <a:cs typeface="华文新魏" charset="0"/>
                <a:sym typeface="Symbol" charset="0"/>
              </a:rPr>
              <a:t>B</a:t>
            </a:r>
            <a:r>
              <a:rPr lang="zh-CN" altLang="en-US" sz="2400" dirty="0">
                <a:latin typeface="Arial Narrow" charset="0"/>
                <a:ea typeface="华文新魏" charset="0"/>
                <a:cs typeface="华文新魏" charset="0"/>
                <a:sym typeface="Symbol" charset="0"/>
              </a:rPr>
              <a:t>不成立</a:t>
            </a:r>
          </a:p>
        </p:txBody>
      </p:sp>
      <p:sp>
        <p:nvSpPr>
          <p:cNvPr id="3" name="TextBox 2"/>
          <p:cNvSpPr txBox="1"/>
          <p:nvPr/>
        </p:nvSpPr>
        <p:spPr>
          <a:xfrm>
            <a:off x="685800" y="983593"/>
            <a:ext cx="977851" cy="461665"/>
          </a:xfrm>
          <a:prstGeom prst="rect">
            <a:avLst/>
          </a:prstGeom>
          <a:noFill/>
        </p:spPr>
        <p:txBody>
          <a:bodyPr wrap="square" rtlCol="0">
            <a:spAutoFit/>
          </a:bodyPr>
          <a:lstStyle/>
          <a:p>
            <a:r>
              <a:rPr lang="zh-CN" altLang="en-US" sz="2400" dirty="0" smtClean="0">
                <a:latin typeface="黑体"/>
                <a:ea typeface="黑体"/>
                <a:cs typeface="黑体"/>
              </a:rPr>
              <a:t>例：</a:t>
            </a:r>
            <a:endParaRPr lang="en-US" sz="2400" dirty="0">
              <a:latin typeface="黑体"/>
              <a:ea typeface="黑体"/>
              <a:cs typeface="黑体"/>
            </a:endParaRPr>
          </a:p>
        </p:txBody>
      </p:sp>
    </p:spTree>
    <p:extLst>
      <p:ext uri="{BB962C8B-B14F-4D97-AF65-F5344CB8AC3E}">
        <p14:creationId xmlns:p14="http://schemas.microsoft.com/office/powerpoint/2010/main" val="22961592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blinds(horizontal)">
                                      <p:cBhvr>
                                        <p:cTn id="7" dur="5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9"/>
                                        </p:tgtEl>
                                        <p:attrNameLst>
                                          <p:attrName>style.visibility</p:attrName>
                                        </p:attrNameLst>
                                      </p:cBhvr>
                                      <p:to>
                                        <p:strVal val="visible"/>
                                      </p:to>
                                    </p:set>
                                    <p:animEffect transition="in" filter="blinds(horizontal)">
                                      <p:cBhvr>
                                        <p:cTn id="17"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6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多值依赖</a:t>
            </a:r>
            <a:endParaRPr lang="en-US" dirty="0"/>
          </a:p>
        </p:txBody>
      </p:sp>
      <p:sp>
        <p:nvSpPr>
          <p:cNvPr id="3" name="Content Placeholder 2"/>
          <p:cNvSpPr>
            <a:spLocks noGrp="1"/>
          </p:cNvSpPr>
          <p:nvPr>
            <p:ph idx="1"/>
          </p:nvPr>
        </p:nvSpPr>
        <p:spPr/>
        <p:txBody>
          <a:bodyPr/>
          <a:lstStyle/>
          <a:p>
            <a:r>
              <a:rPr lang="zh-CN" altLang="en-US" dirty="0" smtClean="0"/>
              <a:t>例：找出关</a:t>
            </a:r>
            <a:r>
              <a:rPr lang="zh-CN" altLang="en-US" dirty="0"/>
              <a:t>系上所满</a:t>
            </a:r>
            <a:r>
              <a:rPr lang="zh-CN" altLang="en-US" dirty="0" smtClean="0"/>
              <a:t>足的多值依赖</a:t>
            </a:r>
            <a:r>
              <a:rPr lang="zh-CN" altLang="zh-CN" dirty="0" smtClean="0"/>
              <a:t>：</a:t>
            </a:r>
            <a:endParaRPr lang="en-US" altLang="zh-CN" dirty="0" smtClean="0"/>
          </a:p>
          <a:p>
            <a:endParaRPr lang="en-US" altLang="zh-CN" dirty="0">
              <a:solidFill>
                <a:srgbClr val="0000CC"/>
              </a:solidFill>
            </a:endParaRPr>
          </a:p>
          <a:p>
            <a:pPr marL="0" indent="0">
              <a:buNone/>
            </a:pPr>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52</a:t>
            </a:fld>
            <a:endParaRPr lang="en-US" altLang="zh-CN"/>
          </a:p>
        </p:txBody>
      </p:sp>
      <p:graphicFrame>
        <p:nvGraphicFramePr>
          <p:cNvPr id="6" name="Group 4"/>
          <p:cNvGraphicFramePr>
            <a:graphicFrameLocks noGrp="1"/>
          </p:cNvGraphicFramePr>
          <p:nvPr>
            <p:extLst>
              <p:ext uri="{D42A27DB-BD31-4B8C-83A1-F6EECF244321}">
                <p14:modId xmlns:p14="http://schemas.microsoft.com/office/powerpoint/2010/main" val="2483327832"/>
              </p:ext>
            </p:extLst>
          </p:nvPr>
        </p:nvGraphicFramePr>
        <p:xfrm>
          <a:off x="1047174" y="1642918"/>
          <a:ext cx="3416300" cy="2286000"/>
        </p:xfrm>
        <a:graphic>
          <a:graphicData uri="http://schemas.openxmlformats.org/drawingml/2006/table">
            <a:tbl>
              <a:tblPr/>
              <a:tblGrid>
                <a:gridCol w="1138238"/>
                <a:gridCol w="1139825"/>
                <a:gridCol w="1138237"/>
              </a:tblGrid>
              <a:tr h="1190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rgbClr val="0000CC"/>
                          </a:solidFill>
                          <a:effectLst/>
                          <a:latin typeface="Arial" charset="0"/>
                          <a:ea typeface="宋体" charset="0"/>
                          <a:cs typeface="宋体"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rgbClr val="0000CC"/>
                          </a:solidFill>
                          <a:effectLst/>
                          <a:latin typeface="Arial" charset="0"/>
                          <a:ea typeface="宋体" charset="0"/>
                          <a:cs typeface="宋体"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rgbClr val="0000CC"/>
                          </a:solidFill>
                          <a:effectLst/>
                          <a:latin typeface="Arial" charset="0"/>
                          <a:ea typeface="宋体" charset="0"/>
                          <a:cs typeface="宋体"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c1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c2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c1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c3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30"/>
          <p:cNvSpPr txBox="1">
            <a:spLocks noChangeArrowheads="1"/>
          </p:cNvSpPr>
          <p:nvPr/>
        </p:nvSpPr>
        <p:spPr bwMode="auto">
          <a:xfrm>
            <a:off x="793174" y="4373418"/>
            <a:ext cx="7848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0"/>
              </a:spcBef>
              <a:defRPr kumimoji="1" sz="3600" b="1">
                <a:solidFill>
                  <a:schemeClr val="tx1"/>
                </a:solidFill>
                <a:latin typeface="宋体" charset="0"/>
                <a:ea typeface="宋体" charset="0"/>
                <a:cs typeface="宋体" charset="0"/>
              </a:defRPr>
            </a:lvl1pPr>
            <a:lvl2pPr marL="742950" indent="-285750">
              <a:spcBef>
                <a:spcPct val="0"/>
              </a:spcBef>
              <a:defRPr kumimoji="1" sz="3600" b="1">
                <a:solidFill>
                  <a:schemeClr val="tx1"/>
                </a:solidFill>
                <a:latin typeface="宋体" charset="0"/>
                <a:ea typeface="宋体" charset="0"/>
                <a:cs typeface="宋体" charset="0"/>
              </a:defRPr>
            </a:lvl2pPr>
            <a:lvl3pPr marL="1143000" indent="-228600">
              <a:spcBef>
                <a:spcPct val="0"/>
              </a:spcBef>
              <a:defRPr kumimoji="1" sz="3600" b="1">
                <a:solidFill>
                  <a:schemeClr val="tx1"/>
                </a:solidFill>
                <a:latin typeface="宋体" charset="0"/>
                <a:ea typeface="宋体" charset="0"/>
                <a:cs typeface="宋体" charset="0"/>
              </a:defRPr>
            </a:lvl3pPr>
            <a:lvl4pPr marL="1600200" indent="-228600">
              <a:spcBef>
                <a:spcPct val="0"/>
              </a:spcBef>
              <a:defRPr kumimoji="1" sz="3600" b="1">
                <a:solidFill>
                  <a:schemeClr val="tx1"/>
                </a:solidFill>
                <a:latin typeface="宋体" charset="0"/>
                <a:ea typeface="宋体" charset="0"/>
                <a:cs typeface="宋体" charset="0"/>
              </a:defRPr>
            </a:lvl4pPr>
            <a:lvl5pPr marL="2057400" indent="-228600">
              <a:spcBef>
                <a:spcPct val="0"/>
              </a:spcBef>
              <a:defRPr kumimoji="1" sz="3600" b="1">
                <a:solidFill>
                  <a:schemeClr val="tx1"/>
                </a:solidFill>
                <a:latin typeface="宋体" charset="0"/>
                <a:ea typeface="宋体" charset="0"/>
                <a:cs typeface="宋体" charset="0"/>
              </a:defRPr>
            </a:lvl5pPr>
            <a:lvl6pPr marL="25146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spcBef>
                <a:spcPct val="50000"/>
              </a:spcBef>
            </a:pPr>
            <a:r>
              <a:rPr lang="en-US" altLang="zh-CN" sz="2400" dirty="0">
                <a:latin typeface="Times New Roman" charset="0"/>
              </a:rPr>
              <a:t>B →→C? </a:t>
            </a:r>
            <a:r>
              <a:rPr lang="zh-CN" altLang="en-US" sz="2400" dirty="0">
                <a:latin typeface="Times New Roman" charset="0"/>
              </a:rPr>
              <a:t>若使</a:t>
            </a:r>
            <a:r>
              <a:rPr lang="en-US" altLang="zh-CN" sz="2400" dirty="0">
                <a:latin typeface="Times New Roman" charset="0"/>
              </a:rPr>
              <a:t>B→→C</a:t>
            </a:r>
            <a:r>
              <a:rPr lang="zh-CN" altLang="en-US" sz="2400" dirty="0">
                <a:latin typeface="Times New Roman" charset="0"/>
              </a:rPr>
              <a:t>，需加入哪些元组？ </a:t>
            </a:r>
          </a:p>
        </p:txBody>
      </p:sp>
      <p:sp>
        <p:nvSpPr>
          <p:cNvPr id="8" name="Text Box 31"/>
          <p:cNvSpPr txBox="1">
            <a:spLocks noChangeArrowheads="1"/>
          </p:cNvSpPr>
          <p:nvPr/>
        </p:nvSpPr>
        <p:spPr bwMode="auto">
          <a:xfrm>
            <a:off x="5200074" y="1630218"/>
            <a:ext cx="3429000" cy="229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0"/>
              </a:spcBef>
              <a:defRPr kumimoji="1" sz="3600" b="1">
                <a:solidFill>
                  <a:schemeClr val="tx1"/>
                </a:solidFill>
                <a:latin typeface="宋体" charset="0"/>
                <a:ea typeface="宋体" charset="0"/>
                <a:cs typeface="宋体" charset="0"/>
              </a:defRPr>
            </a:lvl1pPr>
            <a:lvl2pPr marL="742950" indent="-285750">
              <a:spcBef>
                <a:spcPct val="0"/>
              </a:spcBef>
              <a:defRPr kumimoji="1" sz="3600" b="1">
                <a:solidFill>
                  <a:schemeClr val="tx1"/>
                </a:solidFill>
                <a:latin typeface="宋体" charset="0"/>
                <a:ea typeface="宋体" charset="0"/>
                <a:cs typeface="宋体" charset="0"/>
              </a:defRPr>
            </a:lvl2pPr>
            <a:lvl3pPr marL="1143000" indent="-228600">
              <a:spcBef>
                <a:spcPct val="0"/>
              </a:spcBef>
              <a:defRPr kumimoji="1" sz="3600" b="1">
                <a:solidFill>
                  <a:schemeClr val="tx1"/>
                </a:solidFill>
                <a:latin typeface="宋体" charset="0"/>
                <a:ea typeface="宋体" charset="0"/>
                <a:cs typeface="宋体" charset="0"/>
              </a:defRPr>
            </a:lvl3pPr>
            <a:lvl4pPr marL="1600200" indent="-228600">
              <a:spcBef>
                <a:spcPct val="0"/>
              </a:spcBef>
              <a:defRPr kumimoji="1" sz="3600" b="1">
                <a:solidFill>
                  <a:schemeClr val="tx1"/>
                </a:solidFill>
                <a:latin typeface="宋体" charset="0"/>
                <a:ea typeface="宋体" charset="0"/>
                <a:cs typeface="宋体" charset="0"/>
              </a:defRPr>
            </a:lvl4pPr>
            <a:lvl5pPr marL="2057400" indent="-228600">
              <a:spcBef>
                <a:spcPct val="0"/>
              </a:spcBef>
              <a:defRPr kumimoji="1" sz="3600" b="1">
                <a:solidFill>
                  <a:schemeClr val="tx1"/>
                </a:solidFill>
                <a:latin typeface="宋体" charset="0"/>
                <a:ea typeface="宋体" charset="0"/>
                <a:cs typeface="宋体" charset="0"/>
              </a:defRPr>
            </a:lvl5pPr>
            <a:lvl6pPr marL="25146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lnSpc>
                <a:spcPct val="120000"/>
              </a:lnSpc>
            </a:pPr>
            <a:r>
              <a:rPr lang="en-US" altLang="zh-CN" sz="2400">
                <a:latin typeface="Times New Roman" charset="0"/>
              </a:rPr>
              <a:t>A→→C</a:t>
            </a:r>
          </a:p>
          <a:p>
            <a:pPr algn="l" eaLnBrk="1" hangingPunct="1">
              <a:lnSpc>
                <a:spcPct val="120000"/>
              </a:lnSpc>
            </a:pPr>
            <a:r>
              <a:rPr lang="en-US" altLang="zh-CN" sz="2400">
                <a:latin typeface="Times New Roman" charset="0"/>
              </a:rPr>
              <a:t>A→→B</a:t>
            </a:r>
          </a:p>
          <a:p>
            <a:pPr algn="l" eaLnBrk="1" hangingPunct="1">
              <a:lnSpc>
                <a:spcPct val="120000"/>
              </a:lnSpc>
            </a:pPr>
            <a:r>
              <a:rPr lang="en-US" altLang="zh-CN" sz="2400">
                <a:latin typeface="Times New Roman" charset="0"/>
              </a:rPr>
              <a:t>C→→B</a:t>
            </a:r>
          </a:p>
          <a:p>
            <a:pPr algn="l" eaLnBrk="1" hangingPunct="1">
              <a:lnSpc>
                <a:spcPct val="120000"/>
              </a:lnSpc>
            </a:pPr>
            <a:r>
              <a:rPr lang="en-US" altLang="zh-CN" sz="2400">
                <a:latin typeface="Times New Roman" charset="0"/>
              </a:rPr>
              <a:t>C→→A</a:t>
            </a:r>
          </a:p>
          <a:p>
            <a:pPr algn="l" eaLnBrk="1" hangingPunct="1">
              <a:lnSpc>
                <a:spcPct val="120000"/>
              </a:lnSpc>
            </a:pPr>
            <a:r>
              <a:rPr lang="zh-CN" altLang="en-US" sz="2400">
                <a:latin typeface="Times New Roman" charset="0"/>
              </a:rPr>
              <a:t>事实上</a:t>
            </a:r>
            <a:r>
              <a:rPr lang="en-US" altLang="zh-CN" sz="2400">
                <a:latin typeface="Times New Roman" charset="0"/>
              </a:rPr>
              <a:t>A→B, C →B</a:t>
            </a:r>
          </a:p>
        </p:txBody>
      </p:sp>
      <p:graphicFrame>
        <p:nvGraphicFramePr>
          <p:cNvPr id="9" name="Group 32"/>
          <p:cNvGraphicFramePr>
            <a:graphicFrameLocks noGrp="1"/>
          </p:cNvGraphicFramePr>
          <p:nvPr>
            <p:extLst>
              <p:ext uri="{D42A27DB-BD31-4B8C-83A1-F6EECF244321}">
                <p14:modId xmlns:p14="http://schemas.microsoft.com/office/powerpoint/2010/main" val="676277008"/>
              </p:ext>
            </p:extLst>
          </p:nvPr>
        </p:nvGraphicFramePr>
        <p:xfrm>
          <a:off x="1009074" y="5066145"/>
          <a:ext cx="3416300" cy="914400"/>
        </p:xfrm>
        <a:graphic>
          <a:graphicData uri="http://schemas.openxmlformats.org/drawingml/2006/table">
            <a:tbl>
              <a:tblPr/>
              <a:tblGrid>
                <a:gridCol w="1138238"/>
                <a:gridCol w="1139825"/>
                <a:gridCol w="1138237"/>
              </a:tblGrid>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c3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c2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Text Box 46"/>
          <p:cNvSpPr txBox="1">
            <a:spLocks noChangeArrowheads="1"/>
          </p:cNvSpPr>
          <p:nvPr/>
        </p:nvSpPr>
        <p:spPr bwMode="auto">
          <a:xfrm>
            <a:off x="4819074" y="4983018"/>
            <a:ext cx="3429000" cy="966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0"/>
              </a:spcBef>
              <a:defRPr kumimoji="1" sz="3600" b="1">
                <a:solidFill>
                  <a:schemeClr val="tx1"/>
                </a:solidFill>
                <a:latin typeface="宋体" charset="0"/>
                <a:ea typeface="宋体" charset="0"/>
                <a:cs typeface="宋体" charset="0"/>
              </a:defRPr>
            </a:lvl1pPr>
            <a:lvl2pPr marL="742950" indent="-285750">
              <a:spcBef>
                <a:spcPct val="0"/>
              </a:spcBef>
              <a:defRPr kumimoji="1" sz="3600" b="1">
                <a:solidFill>
                  <a:schemeClr val="tx1"/>
                </a:solidFill>
                <a:latin typeface="宋体" charset="0"/>
                <a:ea typeface="宋体" charset="0"/>
                <a:cs typeface="宋体" charset="0"/>
              </a:defRPr>
            </a:lvl2pPr>
            <a:lvl3pPr marL="1143000" indent="-228600">
              <a:spcBef>
                <a:spcPct val="0"/>
              </a:spcBef>
              <a:defRPr kumimoji="1" sz="3600" b="1">
                <a:solidFill>
                  <a:schemeClr val="tx1"/>
                </a:solidFill>
                <a:latin typeface="宋体" charset="0"/>
                <a:ea typeface="宋体" charset="0"/>
                <a:cs typeface="宋体" charset="0"/>
              </a:defRPr>
            </a:lvl3pPr>
            <a:lvl4pPr marL="1600200" indent="-228600">
              <a:spcBef>
                <a:spcPct val="0"/>
              </a:spcBef>
              <a:defRPr kumimoji="1" sz="3600" b="1">
                <a:solidFill>
                  <a:schemeClr val="tx1"/>
                </a:solidFill>
                <a:latin typeface="宋体" charset="0"/>
                <a:ea typeface="宋体" charset="0"/>
                <a:cs typeface="宋体" charset="0"/>
              </a:defRPr>
            </a:lvl4pPr>
            <a:lvl5pPr marL="2057400" indent="-228600">
              <a:spcBef>
                <a:spcPct val="0"/>
              </a:spcBef>
              <a:defRPr kumimoji="1" sz="3600" b="1">
                <a:solidFill>
                  <a:schemeClr val="tx1"/>
                </a:solidFill>
                <a:latin typeface="宋体" charset="0"/>
                <a:ea typeface="宋体" charset="0"/>
                <a:cs typeface="宋体" charset="0"/>
              </a:defRPr>
            </a:lvl5pPr>
            <a:lvl6pPr marL="25146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6pPr>
            <a:lvl7pPr marL="29718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7pPr>
            <a:lvl8pPr marL="34290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8pPr>
            <a:lvl9pPr marL="3886200" indent="-228600" algn="ctr" eaLnBrk="0" fontAlgn="base" hangingPunct="0">
              <a:spcBef>
                <a:spcPct val="0"/>
              </a:spcBef>
              <a:spcAft>
                <a:spcPct val="0"/>
              </a:spcAft>
              <a:defRPr kumimoji="1" sz="3600" b="1">
                <a:solidFill>
                  <a:schemeClr val="tx1"/>
                </a:solidFill>
                <a:latin typeface="宋体" charset="0"/>
                <a:ea typeface="宋体" charset="0"/>
                <a:cs typeface="宋体" charset="0"/>
              </a:defRPr>
            </a:lvl9pPr>
          </a:lstStyle>
          <a:p>
            <a:pPr algn="l" eaLnBrk="1" hangingPunct="1">
              <a:lnSpc>
                <a:spcPct val="120000"/>
              </a:lnSpc>
            </a:pPr>
            <a:r>
              <a:rPr lang="zh-CN" altLang="en-US" sz="2400" dirty="0">
                <a:latin typeface="Times New Roman" charset="0"/>
              </a:rPr>
              <a:t>加入后有没有破坏前述依赖关系？</a:t>
            </a:r>
          </a:p>
        </p:txBody>
      </p:sp>
    </p:spTree>
    <p:extLst>
      <p:ext uri="{BB962C8B-B14F-4D97-AF65-F5344CB8AC3E}">
        <p14:creationId xmlns:p14="http://schemas.microsoft.com/office/powerpoint/2010/main" val="32354297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多值依赖</a:t>
            </a:r>
            <a:endParaRPr lang="en-US" dirty="0"/>
          </a:p>
        </p:txBody>
      </p:sp>
      <p:sp>
        <p:nvSpPr>
          <p:cNvPr id="3" name="Content Placeholder 2"/>
          <p:cNvSpPr>
            <a:spLocks noGrp="1"/>
          </p:cNvSpPr>
          <p:nvPr>
            <p:ph idx="1"/>
          </p:nvPr>
        </p:nvSpPr>
        <p:spPr/>
        <p:txBody>
          <a:bodyPr/>
          <a:lstStyle/>
          <a:p>
            <a:pPr>
              <a:lnSpc>
                <a:spcPct val="120000"/>
              </a:lnSpc>
            </a:pPr>
            <a:r>
              <a:rPr lang="en-US" altLang="zh-CN" dirty="0"/>
              <a:t>6. </a:t>
            </a:r>
            <a:r>
              <a:rPr lang="zh-CN" altLang="en-US" dirty="0"/>
              <a:t>不当</a:t>
            </a:r>
            <a:r>
              <a:rPr lang="en-US" altLang="zh-CN" dirty="0"/>
              <a:t>MVD</a:t>
            </a:r>
            <a:r>
              <a:rPr lang="zh-CN" altLang="en-US" dirty="0"/>
              <a:t>的关系式引起的弊端及对策</a:t>
            </a:r>
            <a:r>
              <a:rPr lang="en-US" altLang="zh-CN" dirty="0"/>
              <a:t>:</a:t>
            </a:r>
          </a:p>
          <a:p>
            <a:pPr lvl="1">
              <a:lnSpc>
                <a:spcPct val="120000"/>
              </a:lnSpc>
            </a:pPr>
            <a:r>
              <a:rPr lang="en-US" altLang="zh-CN" dirty="0"/>
              <a:t>Teaching(C,T,B) </a:t>
            </a:r>
            <a:r>
              <a:rPr lang="zh-CN" altLang="en-US" dirty="0" smtClean="0"/>
              <a:t>分解为：</a:t>
            </a:r>
            <a:r>
              <a:rPr lang="en-US" altLang="zh-CN" dirty="0"/>
              <a:t>T(C,T) </a:t>
            </a:r>
            <a:r>
              <a:rPr lang="en-US" altLang="zh-CN" dirty="0" smtClean="0"/>
              <a:t> </a:t>
            </a:r>
            <a:r>
              <a:rPr lang="zh-CN" altLang="en-US" dirty="0" smtClean="0"/>
              <a:t>和</a:t>
            </a:r>
            <a:r>
              <a:rPr lang="en-US" altLang="zh-CN" dirty="0" smtClean="0"/>
              <a:t> B</a:t>
            </a:r>
            <a:r>
              <a:rPr lang="en-US" altLang="zh-CN" dirty="0"/>
              <a:t>(C,B)</a:t>
            </a:r>
          </a:p>
          <a:p>
            <a:pPr lvl="1">
              <a:lnSpc>
                <a:spcPct val="120000"/>
              </a:lnSpc>
            </a:pPr>
            <a:endParaRPr lang="en-US" altLang="zh-CN" dirty="0"/>
          </a:p>
          <a:p>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53</a:t>
            </a:fld>
            <a:endParaRPr lang="en-US" altLang="zh-CN"/>
          </a:p>
        </p:txBody>
      </p:sp>
      <p:graphicFrame>
        <p:nvGraphicFramePr>
          <p:cNvPr id="6" name="Group 5"/>
          <p:cNvGraphicFramePr>
            <a:graphicFrameLocks noGrp="1"/>
          </p:cNvGraphicFramePr>
          <p:nvPr>
            <p:extLst>
              <p:ext uri="{D42A27DB-BD31-4B8C-83A1-F6EECF244321}">
                <p14:modId xmlns:p14="http://schemas.microsoft.com/office/powerpoint/2010/main" val="2257520082"/>
              </p:ext>
            </p:extLst>
          </p:nvPr>
        </p:nvGraphicFramePr>
        <p:xfrm>
          <a:off x="1275774" y="2336801"/>
          <a:ext cx="2819400" cy="3349625"/>
        </p:xfrm>
        <a:graphic>
          <a:graphicData uri="http://schemas.openxmlformats.org/drawingml/2006/table">
            <a:tbl>
              <a:tblPr/>
              <a:tblGrid>
                <a:gridCol w="1662113"/>
                <a:gridCol w="1157287"/>
              </a:tblGrid>
              <a:tr h="47942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rgbClr val="0000B4"/>
                          </a:solidFill>
                          <a:effectLst/>
                          <a:latin typeface="宋体" charset="0"/>
                          <a:ea typeface="宋体" charset="0"/>
                          <a:cs typeface="宋体" charset="0"/>
                        </a:rPr>
                        <a:t>课程</a:t>
                      </a:r>
                      <a:r>
                        <a:rPr kumimoji="0" lang="en-US" altLang="zh-CN" sz="2000" b="0" i="0" u="none" strike="noStrike" cap="none" normalizeH="0" baseline="0">
                          <a:ln>
                            <a:noFill/>
                          </a:ln>
                          <a:solidFill>
                            <a:srgbClr val="0000B4"/>
                          </a:solidFill>
                          <a:effectLst/>
                          <a:latin typeface="宋体" charset="0"/>
                          <a:ea typeface="宋体" charset="0"/>
                          <a:cs typeface="宋体" charset="0"/>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rgbClr val="0000B4"/>
                          </a:solidFill>
                          <a:effectLst/>
                          <a:latin typeface="宋体" charset="0"/>
                          <a:ea typeface="宋体" charset="0"/>
                          <a:cs typeface="宋体" charset="0"/>
                        </a:rPr>
                        <a:t>教员</a:t>
                      </a:r>
                      <a:r>
                        <a:rPr kumimoji="0" lang="en-US" altLang="zh-CN" sz="2000" b="0" i="0" u="none" strike="noStrike" cap="none" normalizeH="0" baseline="0">
                          <a:ln>
                            <a:noFill/>
                          </a:ln>
                          <a:solidFill>
                            <a:srgbClr val="0000B4"/>
                          </a:solidFill>
                          <a:effectLst/>
                          <a:latin typeface="宋体" charset="0"/>
                          <a:ea typeface="宋体" charset="0"/>
                          <a:cs typeface="宋体" charset="0"/>
                        </a:rPr>
                        <a:t>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王军</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李勇</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张平</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周峰</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31"/>
          <p:cNvGraphicFramePr>
            <a:graphicFrameLocks noGrp="1"/>
          </p:cNvGraphicFramePr>
          <p:nvPr>
            <p:extLst>
              <p:ext uri="{D42A27DB-BD31-4B8C-83A1-F6EECF244321}">
                <p14:modId xmlns:p14="http://schemas.microsoft.com/office/powerpoint/2010/main" val="644419147"/>
              </p:ext>
            </p:extLst>
          </p:nvPr>
        </p:nvGraphicFramePr>
        <p:xfrm>
          <a:off x="4247574" y="2336801"/>
          <a:ext cx="3657600" cy="2867026"/>
        </p:xfrm>
        <a:graphic>
          <a:graphicData uri="http://schemas.openxmlformats.org/drawingml/2006/table">
            <a:tbl>
              <a:tblPr/>
              <a:tblGrid>
                <a:gridCol w="1676400"/>
                <a:gridCol w="1981200"/>
              </a:tblGrid>
              <a:tr h="47942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rgbClr val="0000B4"/>
                          </a:solidFill>
                          <a:effectLst/>
                          <a:latin typeface="宋体" charset="0"/>
                          <a:ea typeface="宋体" charset="0"/>
                          <a:cs typeface="宋体" charset="0"/>
                        </a:rPr>
                        <a:t>课程</a:t>
                      </a:r>
                      <a:r>
                        <a:rPr kumimoji="0" lang="en-US" altLang="zh-CN" sz="2000" b="0" i="0" u="none" strike="noStrike" cap="none" normalizeH="0" baseline="0">
                          <a:ln>
                            <a:noFill/>
                          </a:ln>
                          <a:solidFill>
                            <a:srgbClr val="0000B4"/>
                          </a:solidFill>
                          <a:effectLst/>
                          <a:latin typeface="宋体" charset="0"/>
                          <a:ea typeface="宋体" charset="0"/>
                          <a:cs typeface="宋体" charset="0"/>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rgbClr val="0000B4"/>
                          </a:solidFill>
                          <a:effectLst/>
                          <a:latin typeface="宋体" charset="0"/>
                          <a:ea typeface="宋体" charset="0"/>
                          <a:cs typeface="宋体" charset="0"/>
                        </a:rPr>
                        <a:t>参考书</a:t>
                      </a:r>
                      <a:r>
                        <a:rPr kumimoji="0" lang="en-US" altLang="zh-CN" sz="2000" b="0" i="0" u="none" strike="noStrike" cap="none" normalizeH="0" baseline="0">
                          <a:ln>
                            <a:noFill/>
                          </a:ln>
                          <a:solidFill>
                            <a:srgbClr val="0000B4"/>
                          </a:solidFill>
                          <a:effectLst/>
                          <a:latin typeface="宋体" charset="0"/>
                          <a:ea typeface="宋体" charset="0"/>
                          <a:cs typeface="宋体" charset="0"/>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普通物理学</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783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物理</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光学原理</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6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高等代数</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计算数学</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zh-CN" altLang="en-US" sz="2000" b="0" i="0" u="none" strike="noStrike" cap="none" normalizeH="0" baseline="0">
                          <a:ln>
                            <a:noFill/>
                          </a:ln>
                          <a:solidFill>
                            <a:schemeClr val="tx1"/>
                          </a:solidFill>
                          <a:effectLst/>
                          <a:latin typeface="宋体" charset="0"/>
                          <a:ea typeface="宋体" charset="0"/>
                          <a:cs typeface="宋体" charset="0"/>
                        </a:rPr>
                        <a:t>数学分析</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7180037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6.2.8 4NF</a:t>
            </a:r>
            <a:endParaRPr lang="en-US" dirty="0"/>
          </a:p>
        </p:txBody>
      </p:sp>
      <p:sp>
        <p:nvSpPr>
          <p:cNvPr id="3" name="Content Placeholder 2"/>
          <p:cNvSpPr>
            <a:spLocks noGrp="1"/>
          </p:cNvSpPr>
          <p:nvPr>
            <p:ph idx="1"/>
          </p:nvPr>
        </p:nvSpPr>
        <p:spPr/>
        <p:txBody>
          <a:bodyPr/>
          <a:lstStyle/>
          <a:p>
            <a:pPr marL="0" indent="0">
              <a:buNone/>
            </a:pPr>
            <a:r>
              <a:rPr lang="zh-CN" altLang="en-US" sz="2400" dirty="0" smtClean="0"/>
              <a:t>定义</a:t>
            </a:r>
            <a:r>
              <a:rPr lang="en-US" altLang="zh-CN" sz="2400" dirty="0" smtClean="0"/>
              <a:t>6.10  </a:t>
            </a:r>
            <a:r>
              <a:rPr lang="zh-CN" altLang="en-US" sz="2400" dirty="0"/>
              <a:t>关系模式</a:t>
            </a:r>
            <a:r>
              <a:rPr lang="en-US" altLang="zh-CN" sz="2400" dirty="0"/>
              <a:t>R&lt;U</a:t>
            </a:r>
            <a:r>
              <a:rPr lang="zh-CN" altLang="en-US" sz="2400" dirty="0"/>
              <a:t>，</a:t>
            </a:r>
            <a:r>
              <a:rPr lang="en-US" altLang="zh-CN" sz="2400" dirty="0"/>
              <a:t>F&gt;∈1NF</a:t>
            </a:r>
            <a:r>
              <a:rPr lang="zh-CN" altLang="en-US" sz="2400" dirty="0"/>
              <a:t>，如果对于</a:t>
            </a:r>
            <a:r>
              <a:rPr lang="en-US" altLang="zh-CN" sz="2400" dirty="0"/>
              <a:t>R</a:t>
            </a:r>
            <a:r>
              <a:rPr lang="zh-CN" altLang="en-US" sz="2400" dirty="0"/>
              <a:t>的每个</a:t>
            </a:r>
            <a:r>
              <a:rPr lang="zh-CN" altLang="en-US" sz="2400" dirty="0">
                <a:solidFill>
                  <a:srgbClr val="0000FF"/>
                </a:solidFill>
              </a:rPr>
              <a:t>非平凡</a:t>
            </a:r>
            <a:r>
              <a:rPr lang="zh-CN" altLang="en-US" sz="2400" dirty="0">
                <a:solidFill>
                  <a:srgbClr val="0000FF"/>
                </a:solidFill>
                <a:latin typeface="宋体" charset="0"/>
              </a:rPr>
              <a:t>多值依赖</a:t>
            </a:r>
            <a:r>
              <a:rPr lang="en-US" altLang="zh-CN" sz="2400" dirty="0"/>
              <a:t>X→→Y</a:t>
            </a:r>
            <a:r>
              <a:rPr lang="zh-CN" altLang="en-US" sz="2400" dirty="0"/>
              <a:t>（</a:t>
            </a:r>
            <a:r>
              <a:rPr lang="en-US" altLang="zh-CN" sz="2400" dirty="0"/>
              <a:t>Y </a:t>
            </a:r>
            <a:r>
              <a:rPr lang="en-US" altLang="zh-CN" sz="2400" dirty="0">
                <a:sym typeface="Symbol" charset="0"/>
              </a:rPr>
              <a:t></a:t>
            </a:r>
            <a:r>
              <a:rPr lang="en-US" altLang="zh-CN" sz="2400" dirty="0"/>
              <a:t> X</a:t>
            </a:r>
            <a:r>
              <a:rPr lang="zh-CN" altLang="en-US" sz="2400" dirty="0"/>
              <a:t>），</a:t>
            </a:r>
            <a:r>
              <a:rPr lang="en-US" altLang="zh-CN" sz="2400" dirty="0"/>
              <a:t>X</a:t>
            </a:r>
            <a:r>
              <a:rPr lang="zh-CN" altLang="en-US" sz="2400" dirty="0"/>
              <a:t>都含有候选码，则</a:t>
            </a:r>
            <a:r>
              <a:rPr lang="en-US" altLang="zh-CN" sz="2400" dirty="0"/>
              <a:t>R∈4NF</a:t>
            </a:r>
            <a:r>
              <a:rPr lang="zh-CN" altLang="en-US" sz="2400" dirty="0"/>
              <a:t>。</a:t>
            </a:r>
          </a:p>
          <a:p>
            <a:pPr marL="0" indent="0">
              <a:buNone/>
            </a:pPr>
            <a:r>
              <a:rPr lang="zh-CN" altLang="en-US" sz="2400" dirty="0">
                <a:solidFill>
                  <a:srgbClr val="0000CC"/>
                </a:solidFill>
              </a:rPr>
              <a:t>不允许</a:t>
            </a:r>
            <a:r>
              <a:rPr lang="zh-CN" altLang="en-US" sz="2400" dirty="0"/>
              <a:t>有非平凡且非函数依赖</a:t>
            </a:r>
            <a:r>
              <a:rPr lang="zh-CN" altLang="en-US" sz="2400" dirty="0" smtClean="0"/>
              <a:t>的</a:t>
            </a:r>
            <a:r>
              <a:rPr lang="zh-CN" altLang="en-US" sz="2400" dirty="0" smtClean="0">
                <a:solidFill>
                  <a:srgbClr val="0000CC"/>
                </a:solidFill>
              </a:rPr>
              <a:t>多值依赖。</a:t>
            </a:r>
            <a:endParaRPr lang="zh-CN" altLang="en-US" sz="2400" dirty="0">
              <a:solidFill>
                <a:srgbClr val="0000CC"/>
              </a:solidFill>
            </a:endParaRPr>
          </a:p>
          <a:p>
            <a:pPr marL="0" indent="0">
              <a:buNone/>
            </a:pPr>
            <a:r>
              <a:rPr lang="zh-CN" altLang="en-US" sz="2400" dirty="0">
                <a:solidFill>
                  <a:srgbClr val="0000CC"/>
                </a:solidFill>
              </a:rPr>
              <a:t>允许</a:t>
            </a:r>
            <a:r>
              <a:rPr lang="zh-CN" altLang="en-US" sz="2400" dirty="0"/>
              <a:t>的</a:t>
            </a:r>
            <a:r>
              <a:rPr lang="zh-CN" altLang="en-US" sz="2400" dirty="0" smtClean="0"/>
              <a:t>是非平凡多值依赖，即</a:t>
            </a:r>
            <a:r>
              <a:rPr lang="zh-CN" altLang="en-US" sz="2400" dirty="0" smtClean="0">
                <a:solidFill>
                  <a:srgbClr val="0000CC"/>
                </a:solidFill>
              </a:rPr>
              <a:t>函数依赖</a:t>
            </a:r>
            <a:r>
              <a:rPr lang="zh-CN" altLang="en-US" sz="2400" dirty="0" smtClean="0"/>
              <a:t>。</a:t>
            </a:r>
            <a:endParaRPr lang="en-US" altLang="zh-CN" sz="2400" dirty="0" smtClean="0"/>
          </a:p>
          <a:p>
            <a:pPr marL="0" indent="0">
              <a:buNone/>
            </a:pPr>
            <a:r>
              <a:rPr lang="zh-CN" altLang="en-US" sz="2400" dirty="0">
                <a:solidFill>
                  <a:srgbClr val="FF0000"/>
                </a:solidFill>
              </a:rPr>
              <a:t>如果</a:t>
            </a:r>
            <a:r>
              <a:rPr lang="en-US" altLang="zh-CN" sz="2400" dirty="0">
                <a:solidFill>
                  <a:srgbClr val="FF0000"/>
                </a:solidFill>
              </a:rPr>
              <a:t>R ∈ 4NF</a:t>
            </a:r>
            <a:r>
              <a:rPr lang="zh-CN" altLang="en-US" sz="2400" dirty="0">
                <a:solidFill>
                  <a:srgbClr val="FF0000"/>
                </a:solidFill>
              </a:rPr>
              <a:t>， 则</a:t>
            </a:r>
            <a:r>
              <a:rPr lang="en-US" altLang="zh-CN" sz="2400" dirty="0">
                <a:solidFill>
                  <a:srgbClr val="FF0000"/>
                </a:solidFill>
              </a:rPr>
              <a:t>R ∈ BCNF </a:t>
            </a:r>
            <a:r>
              <a:rPr lang="zh-CN" altLang="en-US" sz="2400" dirty="0" smtClean="0">
                <a:solidFill>
                  <a:srgbClr val="FF0000"/>
                </a:solidFill>
              </a:rPr>
              <a:t>。</a:t>
            </a:r>
            <a:endParaRPr lang="en-US" altLang="zh-CN" sz="2400" dirty="0" smtClean="0"/>
          </a:p>
          <a:p>
            <a:pPr marL="0" indent="0">
              <a:buNone/>
            </a:pPr>
            <a:endParaRPr lang="zh-CN" altLang="en-US" sz="1000" dirty="0"/>
          </a:p>
          <a:p>
            <a:pPr marL="609600" indent="-609600">
              <a:buNone/>
            </a:pPr>
            <a:r>
              <a:rPr lang="en-US" altLang="zh-CN" sz="2400" dirty="0"/>
              <a:t>[</a:t>
            </a:r>
            <a:r>
              <a:rPr lang="zh-CN" altLang="en-US" sz="2400" dirty="0"/>
              <a:t>例</a:t>
            </a:r>
            <a:r>
              <a:rPr lang="en-US" altLang="zh-CN" sz="2400" dirty="0"/>
              <a:t>] </a:t>
            </a:r>
            <a:r>
              <a:rPr lang="zh-CN" altLang="en-US" sz="2400" dirty="0"/>
              <a:t>关系模式</a:t>
            </a:r>
            <a:r>
              <a:rPr lang="en-US" altLang="zh-CN" sz="2400" dirty="0"/>
              <a:t>: Teaching(C,T,B) ∈ 4NF</a:t>
            </a:r>
            <a:r>
              <a:rPr lang="zh-CN" altLang="en-US" sz="2400" dirty="0"/>
              <a:t>，码为</a:t>
            </a:r>
            <a:r>
              <a:rPr lang="en-US" altLang="zh-CN" sz="2400" dirty="0"/>
              <a:t>(C, T, B)</a:t>
            </a:r>
          </a:p>
          <a:p>
            <a:pPr marL="609600" indent="-609600">
              <a:buClr>
                <a:srgbClr val="0000CC"/>
              </a:buClr>
            </a:pPr>
            <a:r>
              <a:rPr lang="zh-CN" altLang="en-US" sz="2400" dirty="0"/>
              <a:t>存在</a:t>
            </a:r>
            <a:r>
              <a:rPr lang="en-US" altLang="zh-CN" sz="2400" dirty="0"/>
              <a:t>MVD</a:t>
            </a:r>
            <a:r>
              <a:rPr lang="zh-CN" altLang="en-US" sz="2400" dirty="0"/>
              <a:t>：</a:t>
            </a:r>
            <a:r>
              <a:rPr lang="en-US" altLang="zh-CN" sz="2400" dirty="0"/>
              <a:t>C→→T,</a:t>
            </a:r>
            <a:r>
              <a:rPr lang="zh-CN" altLang="en-US" sz="2400" dirty="0"/>
              <a:t>且</a:t>
            </a:r>
            <a:r>
              <a:rPr lang="en-US" altLang="zh-CN" sz="2400" dirty="0"/>
              <a:t>C</a:t>
            </a:r>
            <a:r>
              <a:rPr lang="zh-CN" altLang="en-US" sz="2400" dirty="0"/>
              <a:t>不是候选码</a:t>
            </a:r>
          </a:p>
          <a:p>
            <a:pPr marL="609600" indent="-609600">
              <a:buClr>
                <a:srgbClr val="0000CC"/>
              </a:buClr>
            </a:pPr>
            <a:r>
              <a:rPr lang="zh-CN" altLang="en-US" sz="2400" dirty="0"/>
              <a:t>分解成两个关系模式：</a:t>
            </a:r>
          </a:p>
          <a:p>
            <a:pPr marL="609600" indent="-609600">
              <a:buNone/>
            </a:pPr>
            <a:r>
              <a:rPr lang="zh-CN" altLang="en-US" sz="2400" dirty="0"/>
              <a:t>			</a:t>
            </a:r>
            <a:r>
              <a:rPr lang="en-US" altLang="zh-CN" sz="2400" dirty="0"/>
              <a:t>T(C, T) ∈ 4NF  (</a:t>
            </a:r>
            <a:r>
              <a:rPr lang="zh-CN" altLang="en-US" sz="2400" dirty="0"/>
              <a:t>码</a:t>
            </a:r>
            <a:r>
              <a:rPr lang="en-US" altLang="zh-CN" sz="2400" dirty="0"/>
              <a:t>:CT)</a:t>
            </a:r>
          </a:p>
          <a:p>
            <a:pPr marL="609600" indent="-609600">
              <a:buNone/>
            </a:pPr>
            <a:r>
              <a:rPr lang="en-US" altLang="zh-CN" sz="2400" dirty="0"/>
              <a:t>          		B(C, B) ∈ 4NF  (</a:t>
            </a:r>
            <a:r>
              <a:rPr lang="zh-CN" altLang="en-US" sz="2400" dirty="0"/>
              <a:t>码</a:t>
            </a:r>
            <a:r>
              <a:rPr lang="en-US" altLang="zh-CN" sz="2400" dirty="0"/>
              <a:t>:CB)</a:t>
            </a:r>
          </a:p>
          <a:p>
            <a:pPr marL="609600" indent="-609600">
              <a:buNone/>
            </a:pPr>
            <a:r>
              <a:rPr lang="en-US" altLang="zh-CN" sz="2400" dirty="0"/>
              <a:t>        C→→T</a:t>
            </a:r>
            <a:r>
              <a:rPr lang="zh-CN" altLang="en-US" sz="2400" dirty="0"/>
              <a:t>， </a:t>
            </a:r>
            <a:r>
              <a:rPr lang="en-US" altLang="zh-CN" sz="2400" dirty="0"/>
              <a:t>C→→B</a:t>
            </a:r>
            <a:r>
              <a:rPr lang="zh-CN" altLang="en-US" sz="2400" dirty="0"/>
              <a:t>是平凡多值依赖</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54</a:t>
            </a:fld>
            <a:endParaRPr lang="en-US" altLang="zh-CN"/>
          </a:p>
        </p:txBody>
      </p:sp>
      <p:cxnSp>
        <p:nvCxnSpPr>
          <p:cNvPr id="7" name="Straight Connector 6"/>
          <p:cNvCxnSpPr/>
          <p:nvPr/>
        </p:nvCxnSpPr>
        <p:spPr>
          <a:xfrm flipH="1">
            <a:off x="4110182" y="1208278"/>
            <a:ext cx="184727" cy="5310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4595091" y="3651025"/>
            <a:ext cx="138545" cy="41563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910980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heckerboard(across)">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heckerboard(across)">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checkerboard(across)">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checkerboard(across)">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checkerboard(across)">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checkerboard(across)">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6.2.9 </a:t>
            </a:r>
            <a:r>
              <a:rPr lang="zh-CN" altLang="en-US" dirty="0" smtClean="0"/>
              <a:t>关系规范化小结</a:t>
            </a:r>
            <a:endParaRPr lang="en-US"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55</a:t>
            </a:fld>
            <a:endParaRPr lang="en-US" altLang="zh-CN"/>
          </a:p>
        </p:txBody>
      </p:sp>
      <p:sp>
        <p:nvSpPr>
          <p:cNvPr id="40" name="Rectangle 3"/>
          <p:cNvSpPr>
            <a:spLocks noChangeArrowheads="1"/>
          </p:cNvSpPr>
          <p:nvPr/>
        </p:nvSpPr>
        <p:spPr bwMode="auto">
          <a:xfrm>
            <a:off x="1600200" y="2286000"/>
            <a:ext cx="1905000" cy="685800"/>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wrap="none" anchor="ctr">
            <a:flatTx/>
          </a:bodyPr>
          <a:lstStyle/>
          <a:p>
            <a:pPr eaLnBrk="1" hangingPunct="1">
              <a:spcBef>
                <a:spcPct val="0"/>
              </a:spcBef>
            </a:pPr>
            <a:r>
              <a:rPr lang="en-US" altLang="zh-CN" sz="2400" b="0"/>
              <a:t>2NF</a:t>
            </a:r>
          </a:p>
        </p:txBody>
      </p:sp>
      <p:sp>
        <p:nvSpPr>
          <p:cNvPr id="41" name="Rectangle 4"/>
          <p:cNvSpPr>
            <a:spLocks noChangeArrowheads="1"/>
          </p:cNvSpPr>
          <p:nvPr/>
        </p:nvSpPr>
        <p:spPr bwMode="auto">
          <a:xfrm>
            <a:off x="1600200" y="5715000"/>
            <a:ext cx="1905000" cy="685800"/>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wrap="none" anchor="ctr">
            <a:flatTx/>
          </a:bodyPr>
          <a:lstStyle/>
          <a:p>
            <a:pPr eaLnBrk="1" hangingPunct="1">
              <a:spcBef>
                <a:spcPct val="0"/>
              </a:spcBef>
            </a:pPr>
            <a:r>
              <a:rPr lang="en-US" altLang="zh-CN" sz="2400" b="0"/>
              <a:t>4NF</a:t>
            </a:r>
          </a:p>
        </p:txBody>
      </p:sp>
      <p:sp>
        <p:nvSpPr>
          <p:cNvPr id="42" name="AutoShape 5"/>
          <p:cNvSpPr>
            <a:spLocks noChangeArrowheads="1"/>
          </p:cNvSpPr>
          <p:nvPr/>
        </p:nvSpPr>
        <p:spPr bwMode="auto">
          <a:xfrm>
            <a:off x="2362200" y="1778000"/>
            <a:ext cx="457200" cy="457200"/>
          </a:xfrm>
          <a:prstGeom prst="downArrow">
            <a:avLst>
              <a:gd name="adj1" fmla="val 50000"/>
              <a:gd name="adj2" fmla="val 25000"/>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vert="eaVert" wrap="none" anchor="ctr"/>
          <a:lstStyle/>
          <a:p>
            <a:endParaRPr lang="zh-CN" altLang="en-US" sz="2400"/>
          </a:p>
        </p:txBody>
      </p:sp>
      <p:sp>
        <p:nvSpPr>
          <p:cNvPr id="43" name="Rectangle 6"/>
          <p:cNvSpPr>
            <a:spLocks noChangeArrowheads="1"/>
          </p:cNvSpPr>
          <p:nvPr/>
        </p:nvSpPr>
        <p:spPr bwMode="auto">
          <a:xfrm>
            <a:off x="1600200" y="1143000"/>
            <a:ext cx="1905000" cy="685800"/>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wrap="none" anchor="ctr">
            <a:flatTx/>
          </a:bodyPr>
          <a:lstStyle/>
          <a:p>
            <a:pPr eaLnBrk="1" hangingPunct="1">
              <a:spcBef>
                <a:spcPct val="0"/>
              </a:spcBef>
            </a:pPr>
            <a:r>
              <a:rPr lang="en-US" altLang="zh-CN" sz="2400" b="0"/>
              <a:t>1NF</a:t>
            </a:r>
          </a:p>
        </p:txBody>
      </p:sp>
      <p:sp>
        <p:nvSpPr>
          <p:cNvPr id="44" name="Rectangle 7"/>
          <p:cNvSpPr>
            <a:spLocks noChangeArrowheads="1"/>
          </p:cNvSpPr>
          <p:nvPr/>
        </p:nvSpPr>
        <p:spPr bwMode="auto">
          <a:xfrm>
            <a:off x="1600200" y="3429000"/>
            <a:ext cx="1905000" cy="685800"/>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wrap="none" anchor="ctr">
            <a:flatTx/>
          </a:bodyPr>
          <a:lstStyle/>
          <a:p>
            <a:pPr eaLnBrk="1" hangingPunct="1">
              <a:spcBef>
                <a:spcPct val="0"/>
              </a:spcBef>
            </a:pPr>
            <a:r>
              <a:rPr lang="en-US" altLang="zh-CN" sz="2400" b="0"/>
              <a:t>3NF</a:t>
            </a:r>
          </a:p>
        </p:txBody>
      </p:sp>
      <p:sp>
        <p:nvSpPr>
          <p:cNvPr id="45" name="AutoShape 8"/>
          <p:cNvSpPr>
            <a:spLocks noChangeArrowheads="1"/>
          </p:cNvSpPr>
          <p:nvPr/>
        </p:nvSpPr>
        <p:spPr bwMode="auto">
          <a:xfrm>
            <a:off x="2362200" y="5207000"/>
            <a:ext cx="457200" cy="457200"/>
          </a:xfrm>
          <a:prstGeom prst="downArrow">
            <a:avLst>
              <a:gd name="adj1" fmla="val 50000"/>
              <a:gd name="adj2" fmla="val 25000"/>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vert="eaVert" wrap="none" anchor="ctr"/>
          <a:lstStyle/>
          <a:p>
            <a:endParaRPr lang="zh-CN" altLang="en-US" sz="2400"/>
          </a:p>
        </p:txBody>
      </p:sp>
      <p:sp>
        <p:nvSpPr>
          <p:cNvPr id="46" name="Rectangle 9"/>
          <p:cNvSpPr>
            <a:spLocks noChangeArrowheads="1"/>
          </p:cNvSpPr>
          <p:nvPr/>
        </p:nvSpPr>
        <p:spPr bwMode="auto">
          <a:xfrm>
            <a:off x="4648200" y="1510139"/>
            <a:ext cx="3657600" cy="83099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anchor="ctr">
            <a:spAutoFit/>
            <a:flatTx/>
          </a:bodyPr>
          <a:lstStyle/>
          <a:p>
            <a:pPr algn="l" eaLnBrk="1" hangingPunct="1">
              <a:spcBef>
                <a:spcPct val="0"/>
              </a:spcBef>
            </a:pPr>
            <a:r>
              <a:rPr lang="zh-CN" altLang="en-US" sz="2400" b="0">
                <a:ea typeface="华文行楷" charset="0"/>
                <a:cs typeface="华文行楷" charset="0"/>
              </a:rPr>
              <a:t>消除非主属性对码的部分函数依赖</a:t>
            </a:r>
          </a:p>
        </p:txBody>
      </p:sp>
      <p:sp>
        <p:nvSpPr>
          <p:cNvPr id="47" name="Rectangle 10"/>
          <p:cNvSpPr>
            <a:spLocks noChangeArrowheads="1"/>
          </p:cNvSpPr>
          <p:nvPr/>
        </p:nvSpPr>
        <p:spPr bwMode="auto">
          <a:xfrm>
            <a:off x="4648200" y="2688064"/>
            <a:ext cx="3657600" cy="83099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anchor="ctr">
            <a:spAutoFit/>
            <a:flatTx/>
          </a:bodyPr>
          <a:lstStyle/>
          <a:p>
            <a:pPr algn="l" eaLnBrk="1" hangingPunct="1">
              <a:spcBef>
                <a:spcPct val="0"/>
              </a:spcBef>
            </a:pPr>
            <a:r>
              <a:rPr lang="zh-CN" altLang="en-US" sz="2400" b="0">
                <a:ea typeface="华文行楷" charset="0"/>
                <a:cs typeface="华文行楷" charset="0"/>
              </a:rPr>
              <a:t>消除非主属性对码的传递函数依赖</a:t>
            </a:r>
          </a:p>
        </p:txBody>
      </p:sp>
      <p:sp>
        <p:nvSpPr>
          <p:cNvPr id="48" name="Rectangle 11"/>
          <p:cNvSpPr>
            <a:spLocks noChangeArrowheads="1"/>
          </p:cNvSpPr>
          <p:nvPr/>
        </p:nvSpPr>
        <p:spPr bwMode="auto">
          <a:xfrm>
            <a:off x="4648200" y="3907264"/>
            <a:ext cx="3657600" cy="83099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anchor="ctr">
            <a:spAutoFit/>
            <a:flatTx/>
          </a:bodyPr>
          <a:lstStyle/>
          <a:p>
            <a:pPr algn="l" eaLnBrk="1" hangingPunct="1">
              <a:spcBef>
                <a:spcPct val="0"/>
              </a:spcBef>
            </a:pPr>
            <a:r>
              <a:rPr lang="zh-CN" altLang="en-US" sz="2400" b="0">
                <a:ea typeface="华文行楷" charset="0"/>
                <a:cs typeface="华文行楷" charset="0"/>
              </a:rPr>
              <a:t>消除主属性对码的部分和传递函数依赖</a:t>
            </a:r>
          </a:p>
        </p:txBody>
      </p:sp>
      <p:sp>
        <p:nvSpPr>
          <p:cNvPr id="49" name="Rectangle 12"/>
          <p:cNvSpPr>
            <a:spLocks noChangeArrowheads="1"/>
          </p:cNvSpPr>
          <p:nvPr/>
        </p:nvSpPr>
        <p:spPr bwMode="auto">
          <a:xfrm>
            <a:off x="4648200" y="5126464"/>
            <a:ext cx="3657600" cy="83099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anchor="ctr">
            <a:spAutoFit/>
            <a:flatTx/>
          </a:bodyPr>
          <a:lstStyle/>
          <a:p>
            <a:pPr algn="l" eaLnBrk="1" hangingPunct="1">
              <a:spcBef>
                <a:spcPct val="0"/>
              </a:spcBef>
            </a:pPr>
            <a:r>
              <a:rPr lang="zh-CN" altLang="en-US" sz="2400" b="0" dirty="0">
                <a:ea typeface="华文行楷" charset="0"/>
                <a:cs typeface="华文行楷" charset="0"/>
              </a:rPr>
              <a:t>消除</a:t>
            </a:r>
            <a:r>
              <a:rPr lang="zh-CN" altLang="en-US" sz="2400" b="0" dirty="0" smtClean="0">
                <a:ea typeface="华文行楷" charset="0"/>
                <a:cs typeface="华文行楷" charset="0"/>
              </a:rPr>
              <a:t>非平凡且非函数依赖</a:t>
            </a:r>
            <a:r>
              <a:rPr lang="zh-CN" altLang="en-US" sz="2400" b="0" dirty="0">
                <a:ea typeface="华文行楷" charset="0"/>
                <a:cs typeface="华文行楷" charset="0"/>
              </a:rPr>
              <a:t>的多值依赖</a:t>
            </a:r>
          </a:p>
        </p:txBody>
      </p:sp>
      <p:sp>
        <p:nvSpPr>
          <p:cNvPr id="50" name="AutoShape 13"/>
          <p:cNvSpPr>
            <a:spLocks noChangeArrowheads="1"/>
          </p:cNvSpPr>
          <p:nvPr/>
        </p:nvSpPr>
        <p:spPr bwMode="auto">
          <a:xfrm>
            <a:off x="2819400" y="1854200"/>
            <a:ext cx="1752600" cy="228600"/>
          </a:xfrm>
          <a:prstGeom prst="leftArrow">
            <a:avLst>
              <a:gd name="adj1" fmla="val 50000"/>
              <a:gd name="adj2" fmla="val 191667"/>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wrap="none" anchor="ctr"/>
          <a:lstStyle/>
          <a:p>
            <a:endParaRPr lang="zh-CN" altLang="en-US" sz="2400"/>
          </a:p>
        </p:txBody>
      </p:sp>
      <p:sp>
        <p:nvSpPr>
          <p:cNvPr id="51" name="AutoShape 14"/>
          <p:cNvSpPr>
            <a:spLocks noChangeArrowheads="1"/>
          </p:cNvSpPr>
          <p:nvPr/>
        </p:nvSpPr>
        <p:spPr bwMode="auto">
          <a:xfrm>
            <a:off x="2819400" y="3059113"/>
            <a:ext cx="1752600" cy="228600"/>
          </a:xfrm>
          <a:prstGeom prst="leftArrow">
            <a:avLst>
              <a:gd name="adj1" fmla="val 50000"/>
              <a:gd name="adj2" fmla="val 191667"/>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wrap="none" anchor="ctr"/>
          <a:lstStyle/>
          <a:p>
            <a:endParaRPr lang="zh-CN" altLang="en-US" sz="2400"/>
          </a:p>
        </p:txBody>
      </p:sp>
      <p:sp>
        <p:nvSpPr>
          <p:cNvPr id="52" name="AutoShape 15"/>
          <p:cNvSpPr>
            <a:spLocks noChangeArrowheads="1"/>
          </p:cNvSpPr>
          <p:nvPr/>
        </p:nvSpPr>
        <p:spPr bwMode="auto">
          <a:xfrm>
            <a:off x="2819400" y="4168775"/>
            <a:ext cx="1752600" cy="228600"/>
          </a:xfrm>
          <a:prstGeom prst="leftArrow">
            <a:avLst>
              <a:gd name="adj1" fmla="val 50000"/>
              <a:gd name="adj2" fmla="val 191667"/>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wrap="none" anchor="ctr"/>
          <a:lstStyle/>
          <a:p>
            <a:endParaRPr lang="zh-CN" altLang="en-US" sz="2400"/>
          </a:p>
        </p:txBody>
      </p:sp>
      <p:sp>
        <p:nvSpPr>
          <p:cNvPr id="53" name="AutoShape 16"/>
          <p:cNvSpPr>
            <a:spLocks noChangeArrowheads="1"/>
          </p:cNvSpPr>
          <p:nvPr/>
        </p:nvSpPr>
        <p:spPr bwMode="auto">
          <a:xfrm>
            <a:off x="2819400" y="5359400"/>
            <a:ext cx="1752600" cy="228600"/>
          </a:xfrm>
          <a:prstGeom prst="leftArrow">
            <a:avLst>
              <a:gd name="adj1" fmla="val 50000"/>
              <a:gd name="adj2" fmla="val 191667"/>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wrap="none" anchor="ctr"/>
          <a:lstStyle/>
          <a:p>
            <a:endParaRPr lang="zh-CN" altLang="en-US" sz="2400"/>
          </a:p>
        </p:txBody>
      </p:sp>
      <p:sp>
        <p:nvSpPr>
          <p:cNvPr id="54" name="Rectangle 17"/>
          <p:cNvSpPr>
            <a:spLocks noChangeArrowheads="1"/>
          </p:cNvSpPr>
          <p:nvPr/>
        </p:nvSpPr>
        <p:spPr bwMode="auto">
          <a:xfrm>
            <a:off x="1600200" y="4572000"/>
            <a:ext cx="1905000" cy="685800"/>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5E9EFF"/>
            </a:extrusionClr>
          </a:sp3d>
        </p:spPr>
        <p:txBody>
          <a:bodyPr wrap="none" anchor="ctr">
            <a:flatTx/>
          </a:bodyPr>
          <a:lstStyle/>
          <a:p>
            <a:pPr eaLnBrk="1" hangingPunct="1">
              <a:spcBef>
                <a:spcPct val="0"/>
              </a:spcBef>
            </a:pPr>
            <a:r>
              <a:rPr lang="en-US" altLang="zh-CN" sz="2400" b="0"/>
              <a:t>BCNF</a:t>
            </a:r>
          </a:p>
        </p:txBody>
      </p:sp>
      <p:sp>
        <p:nvSpPr>
          <p:cNvPr id="55" name="AutoShape 18"/>
          <p:cNvSpPr>
            <a:spLocks noChangeArrowheads="1"/>
          </p:cNvSpPr>
          <p:nvPr/>
        </p:nvSpPr>
        <p:spPr bwMode="auto">
          <a:xfrm>
            <a:off x="2362200" y="4064000"/>
            <a:ext cx="457200" cy="457200"/>
          </a:xfrm>
          <a:prstGeom prst="downArrow">
            <a:avLst>
              <a:gd name="adj1" fmla="val 50000"/>
              <a:gd name="adj2" fmla="val 25000"/>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vert="eaVert" wrap="none" anchor="ctr"/>
          <a:lstStyle/>
          <a:p>
            <a:endParaRPr lang="zh-CN" altLang="en-US" sz="2400"/>
          </a:p>
        </p:txBody>
      </p:sp>
      <p:sp>
        <p:nvSpPr>
          <p:cNvPr id="56" name="AutoShape 19"/>
          <p:cNvSpPr>
            <a:spLocks noChangeArrowheads="1"/>
          </p:cNvSpPr>
          <p:nvPr/>
        </p:nvSpPr>
        <p:spPr bwMode="auto">
          <a:xfrm>
            <a:off x="2362200" y="2921000"/>
            <a:ext cx="457200" cy="457200"/>
          </a:xfrm>
          <a:prstGeom prst="downArrow">
            <a:avLst>
              <a:gd name="adj1" fmla="val 50000"/>
              <a:gd name="adj2" fmla="val 25000"/>
            </a:avLst>
          </a:prstGeom>
          <a:gradFill rotWithShape="0">
            <a:gsLst>
              <a:gs pos="0">
                <a:srgbClr val="5E9EFF"/>
              </a:gs>
              <a:gs pos="39999">
                <a:srgbClr val="85C2FF"/>
              </a:gs>
              <a:gs pos="70000">
                <a:srgbClr val="C4D6EB"/>
              </a:gs>
              <a:gs pos="100000">
                <a:srgbClr val="FFEBFA"/>
              </a:gs>
            </a:gsLst>
            <a:lin ang="5400000" scaled="1"/>
          </a:gradFill>
          <a:ln w="9525">
            <a:solidFill>
              <a:schemeClr val="tx1"/>
            </a:solidFill>
            <a:miter lim="800000"/>
            <a:headEnd/>
            <a:tailEnd/>
          </a:ln>
        </p:spPr>
        <p:txBody>
          <a:bodyPr vert="eaVert" wrap="none" anchor="ctr"/>
          <a:lstStyle/>
          <a:p>
            <a:endParaRPr lang="zh-CN" altLang="en-US" sz="2400"/>
          </a:p>
        </p:txBody>
      </p:sp>
    </p:spTree>
    <p:extLst>
      <p:ext uri="{BB962C8B-B14F-4D97-AF65-F5344CB8AC3E}">
        <p14:creationId xmlns:p14="http://schemas.microsoft.com/office/powerpoint/2010/main" val="3967316417"/>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EBAD632-FB03-4B44-9BCE-561678AA1B19}" type="slidenum">
              <a:rPr lang="en-US" altLang="zh-CN"/>
              <a:pPr/>
              <a:t>56</a:t>
            </a:fld>
            <a:endParaRPr lang="en-US" altLang="zh-CN"/>
          </a:p>
        </p:txBody>
      </p:sp>
      <p:sp>
        <p:nvSpPr>
          <p:cNvPr id="137219" name="Rectangle 3"/>
          <p:cNvSpPr>
            <a:spLocks noGrp="1" noChangeArrowheads="1"/>
          </p:cNvSpPr>
          <p:nvPr>
            <p:ph type="body" idx="1"/>
          </p:nvPr>
        </p:nvSpPr>
        <p:spPr>
          <a:xfrm>
            <a:off x="626735" y="972197"/>
            <a:ext cx="7831465" cy="5300015"/>
          </a:xfrm>
        </p:spPr>
        <p:txBody>
          <a:bodyPr/>
          <a:lstStyle/>
          <a:p>
            <a:pPr>
              <a:lnSpc>
                <a:spcPct val="110000"/>
              </a:lnSpc>
              <a:buFontTx/>
              <a:buNone/>
            </a:pPr>
            <a:r>
              <a:rPr lang="en-US" altLang="zh-CN" sz="2400" dirty="0"/>
              <a:t>1</a:t>
            </a:r>
            <a:r>
              <a:rPr lang="zh-CN" altLang="en-US" sz="2400" dirty="0"/>
              <a:t>）</a:t>
            </a:r>
            <a:r>
              <a:rPr lang="en-US" altLang="zh-CN" sz="2400" dirty="0"/>
              <a:t>3NF</a:t>
            </a:r>
            <a:r>
              <a:rPr lang="zh-CN" altLang="en-US" sz="2400" dirty="0"/>
              <a:t>必定为</a:t>
            </a:r>
            <a:r>
              <a:rPr lang="en-US" altLang="zh-CN" sz="2400" dirty="0"/>
              <a:t>2NF</a:t>
            </a:r>
            <a:r>
              <a:rPr lang="zh-CN" altLang="en-US" sz="2400" dirty="0"/>
              <a:t>和</a:t>
            </a:r>
            <a:r>
              <a:rPr lang="en-US" altLang="zh-CN" sz="2400" dirty="0"/>
              <a:t>1NF</a:t>
            </a:r>
            <a:r>
              <a:rPr lang="zh-CN" altLang="en-US" sz="2400" dirty="0"/>
              <a:t>，反之不一定；</a:t>
            </a:r>
            <a:endParaRPr lang="en-US" altLang="zh-CN" sz="2400" dirty="0"/>
          </a:p>
          <a:p>
            <a:pPr>
              <a:lnSpc>
                <a:spcPct val="110000"/>
              </a:lnSpc>
              <a:buFontTx/>
              <a:buNone/>
            </a:pPr>
            <a:r>
              <a:rPr lang="en-US" altLang="zh-CN" sz="2400" dirty="0"/>
              <a:t>2</a:t>
            </a:r>
            <a:r>
              <a:rPr lang="zh-CN" altLang="en-US" sz="2400" dirty="0" smtClean="0"/>
              <a:t>）</a:t>
            </a:r>
            <a:r>
              <a:rPr lang="en-US" altLang="zh-CN" sz="2400" dirty="0" smtClean="0"/>
              <a:t>4NF</a:t>
            </a:r>
            <a:r>
              <a:rPr lang="zh-CN" altLang="en-US" sz="2400" dirty="0" smtClean="0"/>
              <a:t>必为</a:t>
            </a:r>
            <a:r>
              <a:rPr lang="en-US" altLang="zh-CN" sz="2400" dirty="0" smtClean="0"/>
              <a:t>BCNF</a:t>
            </a:r>
            <a:r>
              <a:rPr lang="zh-CN" altLang="en-US" sz="2400" dirty="0" smtClean="0"/>
              <a:t>，</a:t>
            </a:r>
            <a:r>
              <a:rPr lang="en-US" altLang="zh-CN" sz="2400" dirty="0" smtClean="0"/>
              <a:t>BCNF</a:t>
            </a:r>
            <a:r>
              <a:rPr lang="zh-CN" altLang="en-US" sz="2400" dirty="0"/>
              <a:t>必为</a:t>
            </a:r>
            <a:r>
              <a:rPr lang="en-US" altLang="zh-CN" sz="2400" dirty="0"/>
              <a:t>3NF</a:t>
            </a:r>
            <a:r>
              <a:rPr lang="zh-CN" altLang="en-US" sz="2400" dirty="0"/>
              <a:t>，反之不一定；</a:t>
            </a:r>
            <a:endParaRPr lang="en-US" altLang="zh-CN" sz="2400" dirty="0"/>
          </a:p>
          <a:p>
            <a:pPr>
              <a:lnSpc>
                <a:spcPct val="110000"/>
              </a:lnSpc>
              <a:buFontTx/>
              <a:buNone/>
            </a:pPr>
            <a:r>
              <a:rPr lang="en-US" altLang="zh-CN" sz="2400" dirty="0"/>
              <a:t>3</a:t>
            </a:r>
            <a:r>
              <a:rPr lang="zh-CN" altLang="en-US" sz="2400" dirty="0"/>
              <a:t>）</a:t>
            </a:r>
            <a:r>
              <a:rPr lang="en-US" altLang="zh-CN" sz="2400" dirty="0"/>
              <a:t>3NF</a:t>
            </a:r>
            <a:r>
              <a:rPr lang="zh-CN" altLang="en-US" sz="2400" dirty="0"/>
              <a:t>已在很</a:t>
            </a:r>
            <a:r>
              <a:rPr lang="zh-CN" altLang="en-US" sz="2400" dirty="0" smtClean="0"/>
              <a:t>大程度上控制了数据冗余、很大程度上消去了插入和删除操作异</a:t>
            </a:r>
            <a:r>
              <a:rPr lang="zh-CN" altLang="en-US" sz="2400" dirty="0"/>
              <a:t>常</a:t>
            </a:r>
            <a:r>
              <a:rPr lang="zh-CN" altLang="en-US" sz="2400" dirty="0" smtClean="0"/>
              <a:t>；但，</a:t>
            </a:r>
            <a:r>
              <a:rPr lang="en-US" altLang="zh-CN" sz="2400" dirty="0" smtClean="0"/>
              <a:t>3NF</a:t>
            </a:r>
            <a:r>
              <a:rPr lang="zh-CN" altLang="en-US" sz="2400" dirty="0"/>
              <a:t>分解仍不够彻底（可能存在主属性对候选码的部分</a:t>
            </a:r>
            <a:r>
              <a:rPr lang="en-US" altLang="zh-CN" sz="2400" dirty="0" err="1"/>
              <a:t>fd</a:t>
            </a:r>
            <a:r>
              <a:rPr lang="zh-CN" altLang="en-US" sz="2400" dirty="0"/>
              <a:t>和传递</a:t>
            </a:r>
            <a:r>
              <a:rPr lang="en-US" altLang="zh-CN" sz="2400" dirty="0" err="1"/>
              <a:t>fd</a:t>
            </a:r>
            <a:r>
              <a:rPr lang="zh-CN" altLang="en-US" sz="2400" dirty="0"/>
              <a:t>）；</a:t>
            </a:r>
            <a:endParaRPr lang="en-US" altLang="zh-CN" sz="2400" dirty="0"/>
          </a:p>
          <a:p>
            <a:pPr>
              <a:lnSpc>
                <a:spcPct val="110000"/>
              </a:lnSpc>
              <a:buFontTx/>
              <a:buNone/>
            </a:pPr>
            <a:r>
              <a:rPr lang="en-US" altLang="zh-CN" sz="2400" dirty="0" smtClean="0"/>
              <a:t>5</a:t>
            </a:r>
            <a:r>
              <a:rPr lang="zh-CN" altLang="en-US" sz="2400" dirty="0" smtClean="0"/>
              <a:t>）</a:t>
            </a:r>
            <a:r>
              <a:rPr lang="zh-CN" altLang="en-US" sz="2400" u="sng" dirty="0">
                <a:solidFill>
                  <a:srgbClr val="FF0000"/>
                </a:solidFill>
              </a:rPr>
              <a:t>在</a:t>
            </a:r>
            <a:r>
              <a:rPr lang="en-US" altLang="zh-CN" sz="2400" u="sng" dirty="0" err="1">
                <a:solidFill>
                  <a:srgbClr val="FF0000"/>
                </a:solidFill>
              </a:rPr>
              <a:t>fd</a:t>
            </a:r>
            <a:r>
              <a:rPr lang="zh-CN" altLang="en-US" sz="2400" u="sng" dirty="0">
                <a:solidFill>
                  <a:srgbClr val="FF0000"/>
                </a:solidFill>
              </a:rPr>
              <a:t>范围内</a:t>
            </a:r>
            <a:r>
              <a:rPr lang="zh-CN" altLang="en-US" sz="2400" dirty="0"/>
              <a:t>，</a:t>
            </a:r>
            <a:r>
              <a:rPr lang="en-US" altLang="zh-CN" sz="2400" dirty="0"/>
              <a:t>BCNF</a:t>
            </a:r>
            <a:r>
              <a:rPr lang="zh-CN" altLang="en-US" sz="2400" dirty="0"/>
              <a:t>下已完全消去了插入删除异常</a:t>
            </a:r>
            <a:r>
              <a:rPr lang="zh-CN" altLang="en-US" sz="2400" dirty="0" smtClean="0"/>
              <a:t>；</a:t>
            </a:r>
            <a:endParaRPr lang="en-US" altLang="zh-CN" sz="2400" dirty="0" smtClean="0"/>
          </a:p>
          <a:p>
            <a:pPr>
              <a:lnSpc>
                <a:spcPct val="110000"/>
              </a:lnSpc>
              <a:buFontTx/>
              <a:buNone/>
            </a:pPr>
            <a:r>
              <a:rPr lang="en-US" altLang="zh-CN" sz="2400" dirty="0" smtClean="0"/>
              <a:t>6</a:t>
            </a:r>
            <a:r>
              <a:rPr lang="zh-CN" altLang="en-US" sz="2400" dirty="0" smtClean="0"/>
              <a:t>）</a:t>
            </a:r>
            <a:r>
              <a:rPr lang="en-US" altLang="zh-CN" sz="2400" dirty="0" smtClean="0"/>
              <a:t>4NF</a:t>
            </a:r>
            <a:r>
              <a:rPr lang="zh-CN" altLang="en-US" sz="2400" dirty="0" smtClean="0"/>
              <a:t>是</a:t>
            </a:r>
            <a:r>
              <a:rPr lang="zh-CN" altLang="en-US" sz="2400" u="sng" dirty="0" smtClean="0">
                <a:solidFill>
                  <a:srgbClr val="FF0000"/>
                </a:solidFill>
              </a:rPr>
              <a:t>多值依赖范畴内</a:t>
            </a:r>
            <a:r>
              <a:rPr lang="zh-CN" altLang="en-US" sz="2400" dirty="0" smtClean="0"/>
              <a:t>最高程度的规范化；</a:t>
            </a:r>
            <a:endParaRPr lang="en-US" altLang="zh-CN" sz="2400" dirty="0"/>
          </a:p>
          <a:p>
            <a:pPr>
              <a:lnSpc>
                <a:spcPct val="110000"/>
              </a:lnSpc>
              <a:buFontTx/>
              <a:buNone/>
            </a:pPr>
            <a:r>
              <a:rPr lang="en-US" altLang="zh-CN" sz="2400" dirty="0"/>
              <a:t>7</a:t>
            </a:r>
            <a:r>
              <a:rPr lang="zh-CN" altLang="en-US" sz="2400" dirty="0"/>
              <a:t>）范式并非越高越好；</a:t>
            </a:r>
            <a:endParaRPr lang="en-US" altLang="zh-CN" sz="2400" dirty="0"/>
          </a:p>
          <a:p>
            <a:pPr>
              <a:lnSpc>
                <a:spcPct val="110000"/>
              </a:lnSpc>
              <a:buFontTx/>
              <a:buNone/>
            </a:pPr>
            <a:r>
              <a:rPr lang="en-US" altLang="zh-CN" sz="2400" dirty="0"/>
              <a:t>8</a:t>
            </a:r>
            <a:r>
              <a:rPr lang="zh-CN" altLang="en-US" sz="2400" dirty="0"/>
              <a:t>）适可而止（垃圾，连接运算）；</a:t>
            </a:r>
            <a:endParaRPr lang="en-US" altLang="zh-CN" sz="2400" dirty="0"/>
          </a:p>
          <a:p>
            <a:pPr>
              <a:lnSpc>
                <a:spcPct val="110000"/>
              </a:lnSpc>
              <a:buFontTx/>
              <a:buNone/>
            </a:pPr>
            <a:r>
              <a:rPr lang="en-US" altLang="zh-CN" sz="2400" dirty="0"/>
              <a:t>9</a:t>
            </a:r>
            <a:r>
              <a:rPr lang="zh-CN" altLang="en-US" sz="2400" dirty="0"/>
              <a:t>）分解不唯一。</a:t>
            </a:r>
            <a:r>
              <a:rPr lang="en-US" altLang="zh-CN" sz="2400" dirty="0"/>
              <a:t> </a:t>
            </a:r>
          </a:p>
        </p:txBody>
      </p:sp>
      <p:sp>
        <p:nvSpPr>
          <p:cNvPr id="137220" name="Rectangle 4"/>
          <p:cNvSpPr>
            <a:spLocks noGrp="1" noChangeArrowheads="1"/>
          </p:cNvSpPr>
          <p:nvPr>
            <p:ph type="title"/>
          </p:nvPr>
        </p:nvSpPr>
        <p:spPr/>
        <p:txBody>
          <a:bodyPr/>
          <a:lstStyle/>
          <a:p>
            <a:r>
              <a:rPr lang="zh-CN" altLang="en-US" sz="4000">
                <a:solidFill>
                  <a:srgbClr val="3333CC"/>
                </a:solidFill>
              </a:rPr>
              <a:t>结论</a:t>
            </a:r>
            <a:endParaRPr lang="en-US" altLang="zh-CN" sz="4000">
              <a:solidFill>
                <a:srgbClr val="3333CC"/>
              </a:solidFill>
            </a:endParaRPr>
          </a:p>
        </p:txBody>
      </p:sp>
    </p:spTree>
    <p:extLst>
      <p:ext uri="{BB962C8B-B14F-4D97-AF65-F5344CB8AC3E}">
        <p14:creationId xmlns:p14="http://schemas.microsoft.com/office/powerpoint/2010/main" val="240332564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linds(horizontal)">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blinds(horizontal)">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blinds(horizontal)">
                                      <p:cBhvr>
                                        <p:cTn id="17" dur="500"/>
                                        <p:tgtEl>
                                          <p:spTgt spid="137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blinds(horizontal)">
                                      <p:cBhvr>
                                        <p:cTn id="22" dur="500"/>
                                        <p:tgtEl>
                                          <p:spTgt spid="137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7219">
                                            <p:txEl>
                                              <p:pRg st="4" end="4"/>
                                            </p:txEl>
                                          </p:spTgt>
                                        </p:tgtEl>
                                        <p:attrNameLst>
                                          <p:attrName>style.visibility</p:attrName>
                                        </p:attrNameLst>
                                      </p:cBhvr>
                                      <p:to>
                                        <p:strVal val="visible"/>
                                      </p:to>
                                    </p:set>
                                    <p:animEffect transition="in" filter="blinds(horizontal)">
                                      <p:cBhvr>
                                        <p:cTn id="27" dur="500"/>
                                        <p:tgtEl>
                                          <p:spTgt spid="137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7219">
                                            <p:txEl>
                                              <p:pRg st="5" end="5"/>
                                            </p:txEl>
                                          </p:spTgt>
                                        </p:tgtEl>
                                        <p:attrNameLst>
                                          <p:attrName>style.visibility</p:attrName>
                                        </p:attrNameLst>
                                      </p:cBhvr>
                                      <p:to>
                                        <p:strVal val="visible"/>
                                      </p:to>
                                    </p:set>
                                    <p:animEffect transition="in" filter="blinds(horizontal)">
                                      <p:cBhvr>
                                        <p:cTn id="32" dur="500"/>
                                        <p:tgtEl>
                                          <p:spTgt spid="137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7219">
                                            <p:txEl>
                                              <p:pRg st="6" end="6"/>
                                            </p:txEl>
                                          </p:spTgt>
                                        </p:tgtEl>
                                        <p:attrNameLst>
                                          <p:attrName>style.visibility</p:attrName>
                                        </p:attrNameLst>
                                      </p:cBhvr>
                                      <p:to>
                                        <p:strVal val="visible"/>
                                      </p:to>
                                    </p:set>
                                    <p:animEffect transition="in" filter="blinds(horizontal)">
                                      <p:cBhvr>
                                        <p:cTn id="37" dur="500"/>
                                        <p:tgtEl>
                                          <p:spTgt spid="1372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7219">
                                            <p:txEl>
                                              <p:pRg st="7" end="7"/>
                                            </p:txEl>
                                          </p:spTgt>
                                        </p:tgtEl>
                                        <p:attrNameLst>
                                          <p:attrName>style.visibility</p:attrName>
                                        </p:attrNameLst>
                                      </p:cBhvr>
                                      <p:to>
                                        <p:strVal val="visible"/>
                                      </p:to>
                                    </p:set>
                                    <p:animEffect transition="in" filter="blinds(horizontal)">
                                      <p:cBhvr>
                                        <p:cTn id="42" dur="500"/>
                                        <p:tgtEl>
                                          <p:spTgt spid="1372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6.3.5 </a:t>
            </a:r>
            <a:r>
              <a:rPr lang="zh-CN" altLang="en-US" dirty="0"/>
              <a:t>关系规范化小结</a:t>
            </a:r>
            <a:endParaRPr lang="en-US" dirty="0"/>
          </a:p>
        </p:txBody>
      </p:sp>
      <p:sp>
        <p:nvSpPr>
          <p:cNvPr id="3" name="Content Placeholder 2"/>
          <p:cNvSpPr>
            <a:spLocks noGrp="1"/>
          </p:cNvSpPr>
          <p:nvPr>
            <p:ph idx="1"/>
          </p:nvPr>
        </p:nvSpPr>
        <p:spPr>
          <a:xfrm>
            <a:off x="546100" y="3972534"/>
            <a:ext cx="7772400" cy="2733432"/>
          </a:xfrm>
        </p:spPr>
        <p:txBody>
          <a:bodyPr/>
          <a:lstStyle/>
          <a:p>
            <a:pPr>
              <a:spcBef>
                <a:spcPct val="15000"/>
              </a:spcBef>
            </a:pPr>
            <a:r>
              <a:rPr lang="zh-CN" altLang="en-US" sz="2400" dirty="0">
                <a:solidFill>
                  <a:srgbClr val="0000FF"/>
                </a:solidFill>
              </a:rPr>
              <a:t>结论：</a:t>
            </a:r>
            <a:endParaRPr lang="zh-CN" altLang="en-US" sz="2400" dirty="0"/>
          </a:p>
          <a:p>
            <a:pPr>
              <a:spcBef>
                <a:spcPct val="15000"/>
              </a:spcBef>
              <a:buClr>
                <a:srgbClr val="0000FF"/>
              </a:buClr>
              <a:buSzPct val="90000"/>
              <a:buFont typeface="Wingdings" charset="0"/>
              <a:buChar char="v"/>
            </a:pPr>
            <a:r>
              <a:rPr lang="zh-CN" altLang="en-US" sz="2400" dirty="0">
                <a:solidFill>
                  <a:srgbClr val="FF0066"/>
                </a:solidFill>
              </a:rPr>
              <a:t> </a:t>
            </a:r>
            <a:r>
              <a:rPr lang="zh-CN" altLang="en-US" sz="2400" dirty="0">
                <a:solidFill>
                  <a:srgbClr val="FF0066"/>
                </a:solidFill>
                <a:effectLst>
                  <a:outerShdw blurRad="38100" dist="38100" dir="2700000" algn="tl">
                    <a:srgbClr val="000000"/>
                  </a:outerShdw>
                </a:effectLst>
              </a:rPr>
              <a:t>范式并非越高越好</a:t>
            </a:r>
            <a:r>
              <a:rPr lang="zh-CN" altLang="en-US" sz="2400" dirty="0"/>
              <a:t>。范式越高，异常越少，但查询越麻烦；</a:t>
            </a:r>
          </a:p>
          <a:p>
            <a:pPr>
              <a:spcBef>
                <a:spcPct val="15000"/>
              </a:spcBef>
              <a:buClr>
                <a:srgbClr val="0000FF"/>
              </a:buClr>
              <a:buSzPct val="90000"/>
              <a:buFont typeface="Wingdings" charset="0"/>
              <a:buChar char="v"/>
            </a:pPr>
            <a:r>
              <a:rPr lang="zh-CN" altLang="en-US" sz="2400" dirty="0"/>
              <a:t> </a:t>
            </a:r>
            <a:r>
              <a:rPr lang="en-US" altLang="zh-CN" sz="2400" dirty="0"/>
              <a:t>3NF</a:t>
            </a:r>
            <a:r>
              <a:rPr lang="zh-CN" altLang="en-US" sz="2400" dirty="0"/>
              <a:t>已在很大程度上控制了数据冗余和操作异常；</a:t>
            </a:r>
          </a:p>
          <a:p>
            <a:pPr>
              <a:spcBef>
                <a:spcPct val="15000"/>
              </a:spcBef>
              <a:buClr>
                <a:srgbClr val="0000FF"/>
              </a:buClr>
              <a:buSzPct val="90000"/>
              <a:buFont typeface="Wingdings" charset="0"/>
              <a:buChar char="v"/>
            </a:pPr>
            <a:r>
              <a:rPr lang="zh-CN" altLang="en-US" sz="2400" dirty="0"/>
              <a:t> 理论上数据库设计一般应规范到</a:t>
            </a:r>
            <a:r>
              <a:rPr lang="en-US" altLang="zh-CN" sz="2400" dirty="0"/>
              <a:t>3NF</a:t>
            </a:r>
            <a:r>
              <a:rPr lang="zh-CN" altLang="en-US" sz="2400" dirty="0"/>
              <a:t>，但实际应用中为减少连接运算，提高查询效率，不一定都达到</a:t>
            </a:r>
            <a:r>
              <a:rPr lang="en-US" altLang="zh-CN" sz="2400" dirty="0"/>
              <a:t>3NF</a:t>
            </a:r>
            <a:r>
              <a:rPr lang="zh-CN" altLang="en-US" sz="2400" dirty="0"/>
              <a:t>。</a:t>
            </a:r>
          </a:p>
          <a:p>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57</a:t>
            </a:fld>
            <a:endParaRPr lang="en-US" altLang="zh-CN"/>
          </a:p>
        </p:txBody>
      </p:sp>
      <p:grpSp>
        <p:nvGrpSpPr>
          <p:cNvPr id="6" name="Group 2"/>
          <p:cNvGrpSpPr>
            <a:grpSpLocks/>
          </p:cNvGrpSpPr>
          <p:nvPr/>
        </p:nvGrpSpPr>
        <p:grpSpPr bwMode="auto">
          <a:xfrm>
            <a:off x="820617" y="1084992"/>
            <a:ext cx="1234831" cy="2728912"/>
            <a:chOff x="4522" y="576"/>
            <a:chExt cx="1046" cy="1872"/>
          </a:xfrm>
        </p:grpSpPr>
        <p:sp>
          <p:nvSpPr>
            <p:cNvPr id="7" name="Rectangle 3"/>
            <p:cNvSpPr>
              <a:spLocks noChangeArrowheads="1"/>
            </p:cNvSpPr>
            <p:nvPr/>
          </p:nvSpPr>
          <p:spPr bwMode="auto">
            <a:xfrm>
              <a:off x="4522" y="576"/>
              <a:ext cx="104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buClr>
                  <a:schemeClr val="folHlink"/>
                </a:buClr>
                <a:buSzPct val="60000"/>
              </a:pPr>
              <a:r>
                <a:rPr lang="en-US" altLang="zh-CN"/>
                <a:t>1NF</a:t>
              </a:r>
            </a:p>
          </p:txBody>
        </p:sp>
        <p:sp>
          <p:nvSpPr>
            <p:cNvPr id="8" name="Rectangle 4"/>
            <p:cNvSpPr>
              <a:spLocks noChangeArrowheads="1"/>
            </p:cNvSpPr>
            <p:nvPr/>
          </p:nvSpPr>
          <p:spPr bwMode="auto">
            <a:xfrm>
              <a:off x="4522" y="1056"/>
              <a:ext cx="104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buClr>
                  <a:schemeClr val="folHlink"/>
                </a:buClr>
                <a:buSzPct val="60000"/>
              </a:pPr>
              <a:r>
                <a:rPr lang="en-US" altLang="zh-CN"/>
                <a:t>2NF</a:t>
              </a:r>
            </a:p>
          </p:txBody>
        </p:sp>
        <p:sp>
          <p:nvSpPr>
            <p:cNvPr id="9" name="Rectangle 5"/>
            <p:cNvSpPr>
              <a:spLocks noChangeArrowheads="1"/>
            </p:cNvSpPr>
            <p:nvPr/>
          </p:nvSpPr>
          <p:spPr bwMode="auto">
            <a:xfrm>
              <a:off x="4522" y="1584"/>
              <a:ext cx="104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buClr>
                  <a:schemeClr val="folHlink"/>
                </a:buClr>
                <a:buSzPct val="60000"/>
              </a:pPr>
              <a:r>
                <a:rPr lang="en-US" altLang="zh-CN" dirty="0"/>
                <a:t>3NF</a:t>
              </a:r>
            </a:p>
          </p:txBody>
        </p:sp>
        <p:sp>
          <p:nvSpPr>
            <p:cNvPr id="10" name="Rectangle 6"/>
            <p:cNvSpPr>
              <a:spLocks noChangeArrowheads="1"/>
            </p:cNvSpPr>
            <p:nvPr/>
          </p:nvSpPr>
          <p:spPr bwMode="auto">
            <a:xfrm>
              <a:off x="4522" y="2112"/>
              <a:ext cx="104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buClr>
                  <a:schemeClr val="folHlink"/>
                </a:buClr>
                <a:buSzPct val="60000"/>
              </a:pPr>
              <a:r>
                <a:rPr lang="en-US" altLang="zh-CN"/>
                <a:t>BCNF</a:t>
              </a:r>
            </a:p>
          </p:txBody>
        </p:sp>
        <p:sp>
          <p:nvSpPr>
            <p:cNvPr id="11" name="Line 7"/>
            <p:cNvSpPr>
              <a:spLocks noChangeShapeType="1"/>
            </p:cNvSpPr>
            <p:nvPr/>
          </p:nvSpPr>
          <p:spPr bwMode="auto">
            <a:xfrm>
              <a:off x="5045" y="912"/>
              <a:ext cx="0" cy="144"/>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2" name="Line 8"/>
            <p:cNvSpPr>
              <a:spLocks noChangeShapeType="1"/>
            </p:cNvSpPr>
            <p:nvPr/>
          </p:nvSpPr>
          <p:spPr bwMode="auto">
            <a:xfrm>
              <a:off x="5045" y="1392"/>
              <a:ext cx="0" cy="19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3" name="Line 9"/>
            <p:cNvSpPr>
              <a:spLocks noChangeShapeType="1"/>
            </p:cNvSpPr>
            <p:nvPr/>
          </p:nvSpPr>
          <p:spPr bwMode="auto">
            <a:xfrm>
              <a:off x="5045" y="1920"/>
              <a:ext cx="0" cy="19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grpSp>
      <p:grpSp>
        <p:nvGrpSpPr>
          <p:cNvPr id="14" name="Group 10"/>
          <p:cNvGrpSpPr>
            <a:grpSpLocks/>
          </p:cNvGrpSpPr>
          <p:nvPr/>
        </p:nvGrpSpPr>
        <p:grpSpPr bwMode="auto">
          <a:xfrm>
            <a:off x="4084638" y="1084992"/>
            <a:ext cx="1185862" cy="2725008"/>
            <a:chOff x="1365" y="480"/>
            <a:chExt cx="747" cy="2112"/>
          </a:xfrm>
        </p:grpSpPr>
        <p:sp>
          <p:nvSpPr>
            <p:cNvPr id="15" name="Text Box 11"/>
            <p:cNvSpPr txBox="1">
              <a:spLocks noChangeArrowheads="1"/>
            </p:cNvSpPr>
            <p:nvPr/>
          </p:nvSpPr>
          <p:spPr bwMode="auto">
            <a:xfrm>
              <a:off x="1365" y="480"/>
              <a:ext cx="7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eaLnBrk="1" hangingPunct="1">
                <a:spcBef>
                  <a:spcPct val="50000"/>
                </a:spcBef>
                <a:buClrTx/>
                <a:buSzTx/>
                <a:buFontTx/>
                <a:buNone/>
              </a:pPr>
              <a:r>
                <a:rPr lang="zh-CN" altLang="en-US"/>
                <a:t>查询</a:t>
              </a:r>
            </a:p>
          </p:txBody>
        </p:sp>
        <p:sp>
          <p:nvSpPr>
            <p:cNvPr id="16" name="Text Box 12"/>
            <p:cNvSpPr txBox="1">
              <a:spLocks noChangeArrowheads="1"/>
            </p:cNvSpPr>
            <p:nvPr/>
          </p:nvSpPr>
          <p:spPr bwMode="auto">
            <a:xfrm>
              <a:off x="1473" y="2304"/>
              <a:ext cx="5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defRPr/>
              </a:pPr>
              <a:r>
                <a:rPr lang="zh-CN" altLang="en-US">
                  <a:solidFill>
                    <a:srgbClr val="FF0066"/>
                  </a:solidFill>
                  <a:effectLst>
                    <a:outerShdw blurRad="38100" dist="38100" dir="2700000" algn="tl">
                      <a:srgbClr val="000000"/>
                    </a:outerShdw>
                  </a:effectLst>
                  <a:ea typeface="楷体_GB2312" pitchFamily="49" charset="-122"/>
                  <a:cs typeface="+mn-cs"/>
                </a:rPr>
                <a:t>难</a:t>
              </a:r>
            </a:p>
          </p:txBody>
        </p:sp>
        <p:sp>
          <p:nvSpPr>
            <p:cNvPr id="17" name="Line 13"/>
            <p:cNvSpPr>
              <a:spLocks noChangeShapeType="1"/>
            </p:cNvSpPr>
            <p:nvPr/>
          </p:nvSpPr>
          <p:spPr bwMode="auto">
            <a:xfrm>
              <a:off x="1747" y="1056"/>
              <a:ext cx="0" cy="124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8" name="Rectangle 14"/>
            <p:cNvSpPr>
              <a:spLocks noChangeArrowheads="1"/>
            </p:cNvSpPr>
            <p:nvPr/>
          </p:nvSpPr>
          <p:spPr bwMode="auto">
            <a:xfrm>
              <a:off x="1584" y="76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itchFamily="2" charset="2"/>
                <a:buNone/>
                <a:defRPr/>
              </a:pPr>
              <a:r>
                <a:rPr lang="zh-CN" altLang="en-US">
                  <a:solidFill>
                    <a:srgbClr val="FF0066"/>
                  </a:solidFill>
                  <a:effectLst>
                    <a:outerShdw blurRad="38100" dist="38100" dir="2700000" algn="tl">
                      <a:srgbClr val="000000"/>
                    </a:outerShdw>
                  </a:effectLst>
                  <a:ea typeface="楷体_GB2312" pitchFamily="49" charset="-122"/>
                  <a:cs typeface="+mn-cs"/>
                </a:rPr>
                <a:t>易</a:t>
              </a:r>
            </a:p>
          </p:txBody>
        </p:sp>
      </p:grpSp>
      <p:grpSp>
        <p:nvGrpSpPr>
          <p:cNvPr id="19" name="Group 15"/>
          <p:cNvGrpSpPr>
            <a:grpSpLocks/>
          </p:cNvGrpSpPr>
          <p:nvPr/>
        </p:nvGrpSpPr>
        <p:grpSpPr bwMode="auto">
          <a:xfrm>
            <a:off x="2146300" y="1084992"/>
            <a:ext cx="1828800" cy="2725008"/>
            <a:chOff x="144" y="480"/>
            <a:chExt cx="1152" cy="2112"/>
          </a:xfrm>
        </p:grpSpPr>
        <p:sp>
          <p:nvSpPr>
            <p:cNvPr id="20" name="Text Box 16"/>
            <p:cNvSpPr txBox="1">
              <a:spLocks noChangeArrowheads="1"/>
            </p:cNvSpPr>
            <p:nvPr/>
          </p:nvSpPr>
          <p:spPr bwMode="auto">
            <a:xfrm>
              <a:off x="144" y="48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eaLnBrk="1" hangingPunct="1">
                <a:spcBef>
                  <a:spcPct val="50000"/>
                </a:spcBef>
                <a:buClrTx/>
                <a:buSzTx/>
                <a:buFontTx/>
                <a:buNone/>
              </a:pPr>
              <a:r>
                <a:rPr lang="zh-CN" altLang="en-US"/>
                <a:t>操作资源</a:t>
              </a:r>
            </a:p>
          </p:txBody>
        </p:sp>
        <p:sp>
          <p:nvSpPr>
            <p:cNvPr id="21" name="Text Box 17"/>
            <p:cNvSpPr txBox="1">
              <a:spLocks noChangeArrowheads="1"/>
            </p:cNvSpPr>
            <p:nvPr/>
          </p:nvSpPr>
          <p:spPr bwMode="auto">
            <a:xfrm>
              <a:off x="480" y="230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defRPr/>
              </a:pPr>
              <a:r>
                <a:rPr lang="zh-CN" altLang="en-US">
                  <a:solidFill>
                    <a:srgbClr val="FF0066"/>
                  </a:solidFill>
                  <a:effectLst>
                    <a:outerShdw blurRad="38100" dist="38100" dir="2700000" algn="tl">
                      <a:srgbClr val="000000"/>
                    </a:outerShdw>
                  </a:effectLst>
                  <a:ea typeface="楷体_GB2312" pitchFamily="49" charset="-122"/>
                  <a:cs typeface="+mn-cs"/>
                </a:rPr>
                <a:t>多</a:t>
              </a:r>
            </a:p>
          </p:txBody>
        </p:sp>
        <p:sp>
          <p:nvSpPr>
            <p:cNvPr id="22" name="Rectangle 18"/>
            <p:cNvSpPr>
              <a:spLocks noChangeArrowheads="1"/>
            </p:cNvSpPr>
            <p:nvPr/>
          </p:nvSpPr>
          <p:spPr bwMode="auto">
            <a:xfrm>
              <a:off x="528" y="76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itchFamily="2" charset="2"/>
                <a:buNone/>
                <a:defRPr/>
              </a:pPr>
              <a:r>
                <a:rPr lang="zh-CN" altLang="en-US">
                  <a:solidFill>
                    <a:srgbClr val="FF0066"/>
                  </a:solidFill>
                  <a:effectLst>
                    <a:outerShdw blurRad="38100" dist="38100" dir="2700000" algn="tl">
                      <a:srgbClr val="000000"/>
                    </a:outerShdw>
                  </a:effectLst>
                  <a:ea typeface="楷体_GB2312" pitchFamily="49" charset="-122"/>
                  <a:cs typeface="+mn-cs"/>
                </a:rPr>
                <a:t>少</a:t>
              </a:r>
            </a:p>
          </p:txBody>
        </p:sp>
        <p:sp>
          <p:nvSpPr>
            <p:cNvPr id="23" name="Line 19"/>
            <p:cNvSpPr>
              <a:spLocks noChangeShapeType="1"/>
            </p:cNvSpPr>
            <p:nvPr/>
          </p:nvSpPr>
          <p:spPr bwMode="auto">
            <a:xfrm>
              <a:off x="672" y="1056"/>
              <a:ext cx="0" cy="124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grpSp>
      <p:grpSp>
        <p:nvGrpSpPr>
          <p:cNvPr id="24" name="Group 20"/>
          <p:cNvGrpSpPr>
            <a:grpSpLocks/>
          </p:cNvGrpSpPr>
          <p:nvPr/>
        </p:nvGrpSpPr>
        <p:grpSpPr bwMode="auto">
          <a:xfrm>
            <a:off x="5191125" y="1084992"/>
            <a:ext cx="2076450" cy="2725008"/>
            <a:chOff x="2062" y="480"/>
            <a:chExt cx="1308" cy="2112"/>
          </a:xfrm>
        </p:grpSpPr>
        <p:sp>
          <p:nvSpPr>
            <p:cNvPr id="25" name="Text Box 21"/>
            <p:cNvSpPr txBox="1">
              <a:spLocks noChangeArrowheads="1"/>
            </p:cNvSpPr>
            <p:nvPr/>
          </p:nvSpPr>
          <p:spPr bwMode="auto">
            <a:xfrm>
              <a:off x="2062" y="480"/>
              <a:ext cx="1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eaLnBrk="1" hangingPunct="1">
                <a:spcBef>
                  <a:spcPct val="50000"/>
                </a:spcBef>
                <a:buClrTx/>
                <a:buSzTx/>
                <a:buFontTx/>
                <a:buNone/>
              </a:pPr>
              <a:r>
                <a:rPr lang="zh-CN" altLang="en-US"/>
                <a:t>操作异常</a:t>
              </a:r>
            </a:p>
          </p:txBody>
        </p:sp>
        <p:sp>
          <p:nvSpPr>
            <p:cNvPr id="26" name="Text Box 22"/>
            <p:cNvSpPr txBox="1">
              <a:spLocks noChangeArrowheads="1"/>
            </p:cNvSpPr>
            <p:nvPr/>
          </p:nvSpPr>
          <p:spPr bwMode="auto">
            <a:xfrm>
              <a:off x="2499" y="2304"/>
              <a:ext cx="4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defRPr/>
              </a:pPr>
              <a:r>
                <a:rPr lang="zh-CN" altLang="en-US">
                  <a:solidFill>
                    <a:srgbClr val="FF0066"/>
                  </a:solidFill>
                  <a:effectLst>
                    <a:outerShdw blurRad="38100" dist="38100" dir="2700000" algn="tl">
                      <a:srgbClr val="000000"/>
                    </a:outerShdw>
                  </a:effectLst>
                  <a:ea typeface="楷体_GB2312" pitchFamily="49" charset="-122"/>
                  <a:cs typeface="+mn-cs"/>
                </a:rPr>
                <a:t>少</a:t>
              </a:r>
            </a:p>
          </p:txBody>
        </p:sp>
        <p:sp>
          <p:nvSpPr>
            <p:cNvPr id="27" name="Rectangle 23"/>
            <p:cNvSpPr>
              <a:spLocks noChangeArrowheads="1"/>
            </p:cNvSpPr>
            <p:nvPr/>
          </p:nvSpPr>
          <p:spPr bwMode="auto">
            <a:xfrm>
              <a:off x="2544" y="76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itchFamily="2" charset="2"/>
                <a:buNone/>
                <a:defRPr/>
              </a:pPr>
              <a:r>
                <a:rPr lang="zh-CN" altLang="en-US">
                  <a:solidFill>
                    <a:srgbClr val="FF0066"/>
                  </a:solidFill>
                  <a:effectLst>
                    <a:outerShdw blurRad="38100" dist="38100" dir="2700000" algn="tl">
                      <a:srgbClr val="000000"/>
                    </a:outerShdw>
                  </a:effectLst>
                  <a:ea typeface="楷体_GB2312" pitchFamily="49" charset="-122"/>
                  <a:cs typeface="+mn-cs"/>
                </a:rPr>
                <a:t>多</a:t>
              </a:r>
            </a:p>
          </p:txBody>
        </p:sp>
        <p:sp>
          <p:nvSpPr>
            <p:cNvPr id="28" name="Line 24"/>
            <p:cNvSpPr>
              <a:spLocks noChangeShapeType="1"/>
            </p:cNvSpPr>
            <p:nvPr/>
          </p:nvSpPr>
          <p:spPr bwMode="auto">
            <a:xfrm>
              <a:off x="2688" y="1056"/>
              <a:ext cx="0" cy="124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grpSp>
      <p:grpSp>
        <p:nvGrpSpPr>
          <p:cNvPr id="29" name="Group 25"/>
          <p:cNvGrpSpPr>
            <a:grpSpLocks/>
          </p:cNvGrpSpPr>
          <p:nvPr/>
        </p:nvGrpSpPr>
        <p:grpSpPr bwMode="auto">
          <a:xfrm>
            <a:off x="6991350" y="1077067"/>
            <a:ext cx="2076450" cy="2713395"/>
            <a:chOff x="3196" y="489"/>
            <a:chExt cx="1308" cy="2103"/>
          </a:xfrm>
        </p:grpSpPr>
        <p:sp>
          <p:nvSpPr>
            <p:cNvPr id="30" name="Text Box 26"/>
            <p:cNvSpPr txBox="1">
              <a:spLocks noChangeArrowheads="1"/>
            </p:cNvSpPr>
            <p:nvPr/>
          </p:nvSpPr>
          <p:spPr bwMode="auto">
            <a:xfrm>
              <a:off x="3196" y="489"/>
              <a:ext cx="1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400" b="1">
                  <a:solidFill>
                    <a:schemeClr val="tx1"/>
                  </a:solidFill>
                  <a:latin typeface="Times New Roman" charset="0"/>
                  <a:ea typeface="楷体_GB2312" charset="0"/>
                  <a:cs typeface="楷体_GB2312" charset="0"/>
                </a:defRPr>
              </a:lvl1pPr>
              <a:lvl2pPr marL="742950" indent="-285750" eaLnBrk="0" hangingPunct="0">
                <a:defRPr kumimoji="1" sz="2400" b="1">
                  <a:solidFill>
                    <a:schemeClr val="tx1"/>
                  </a:solidFill>
                  <a:latin typeface="Times New Roman" charset="0"/>
                  <a:ea typeface="楷体_GB2312" charset="0"/>
                  <a:cs typeface="楷体_GB2312" charset="0"/>
                </a:defRPr>
              </a:lvl2pPr>
              <a:lvl3pPr marL="1143000" indent="-228600" eaLnBrk="0" hangingPunct="0">
                <a:defRPr kumimoji="1" sz="2400" b="1">
                  <a:solidFill>
                    <a:schemeClr val="tx1"/>
                  </a:solidFill>
                  <a:latin typeface="Times New Roman" charset="0"/>
                  <a:ea typeface="楷体_GB2312" charset="0"/>
                  <a:cs typeface="楷体_GB2312" charset="0"/>
                </a:defRPr>
              </a:lvl3pPr>
              <a:lvl4pPr marL="1600200" indent="-228600" eaLnBrk="0" hangingPunct="0">
                <a:defRPr kumimoji="1" sz="2400" b="1">
                  <a:solidFill>
                    <a:schemeClr val="tx1"/>
                  </a:solidFill>
                  <a:latin typeface="Times New Roman" charset="0"/>
                  <a:ea typeface="楷体_GB2312" charset="0"/>
                  <a:cs typeface="楷体_GB2312" charset="0"/>
                </a:defRPr>
              </a:lvl4pPr>
              <a:lvl5pPr marL="2057400" indent="-228600" eaLnBrk="0" hangingPunct="0">
                <a:defRPr kumimoji="1" sz="2400" b="1">
                  <a:solidFill>
                    <a:schemeClr val="tx1"/>
                  </a:solidFill>
                  <a:latin typeface="Times New Roman" charset="0"/>
                  <a:ea typeface="楷体_GB2312" charset="0"/>
                  <a:cs typeface="楷体_GB2312" charset="0"/>
                </a:defRPr>
              </a:lvl5pPr>
              <a:lvl6pPr marL="25146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6pPr>
              <a:lvl7pPr marL="29718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7pPr>
              <a:lvl8pPr marL="34290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8pPr>
              <a:lvl9pPr marL="3886200" indent="-228600" algn="just" eaLnBrk="0" fontAlgn="base" hangingPunct="0">
                <a:spcBef>
                  <a:spcPct val="20000"/>
                </a:spcBef>
                <a:spcAft>
                  <a:spcPct val="0"/>
                </a:spcAft>
                <a:buClr>
                  <a:srgbClr val="FF9933"/>
                </a:buClr>
                <a:buSzPct val="75000"/>
                <a:buFont typeface="Wingdings" charset="0"/>
                <a:defRPr kumimoji="1" sz="2400" b="1">
                  <a:solidFill>
                    <a:schemeClr val="tx1"/>
                  </a:solidFill>
                  <a:latin typeface="Times New Roman" charset="0"/>
                  <a:ea typeface="楷体_GB2312" charset="0"/>
                  <a:cs typeface="楷体_GB2312" charset="0"/>
                </a:defRPr>
              </a:lvl9pPr>
            </a:lstStyle>
            <a:p>
              <a:pPr algn="ctr" eaLnBrk="1" hangingPunct="1">
                <a:spcBef>
                  <a:spcPct val="50000"/>
                </a:spcBef>
                <a:buClrTx/>
                <a:buSzTx/>
                <a:buFontTx/>
                <a:buNone/>
              </a:pPr>
              <a:r>
                <a:rPr lang="zh-CN" altLang="en-US" dirty="0"/>
                <a:t>信息含量</a:t>
              </a:r>
            </a:p>
          </p:txBody>
        </p:sp>
        <p:sp>
          <p:nvSpPr>
            <p:cNvPr id="31" name="Text Box 27"/>
            <p:cNvSpPr txBox="1">
              <a:spLocks noChangeArrowheads="1"/>
            </p:cNvSpPr>
            <p:nvPr/>
          </p:nvSpPr>
          <p:spPr bwMode="auto">
            <a:xfrm>
              <a:off x="3478" y="2304"/>
              <a:ext cx="6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defRPr/>
              </a:pPr>
              <a:r>
                <a:rPr lang="zh-CN" altLang="en-US">
                  <a:solidFill>
                    <a:srgbClr val="FF0066"/>
                  </a:solidFill>
                  <a:effectLst>
                    <a:outerShdw blurRad="38100" dist="38100" dir="2700000" algn="tl">
                      <a:srgbClr val="000000"/>
                    </a:outerShdw>
                  </a:effectLst>
                  <a:ea typeface="楷体_GB2312" pitchFamily="49" charset="-122"/>
                  <a:cs typeface="+mn-cs"/>
                </a:rPr>
                <a:t>单调</a:t>
              </a:r>
            </a:p>
          </p:txBody>
        </p:sp>
        <p:sp>
          <p:nvSpPr>
            <p:cNvPr id="32" name="Rectangle 28"/>
            <p:cNvSpPr>
              <a:spLocks noChangeArrowheads="1"/>
            </p:cNvSpPr>
            <p:nvPr/>
          </p:nvSpPr>
          <p:spPr bwMode="auto">
            <a:xfrm>
              <a:off x="3600" y="768"/>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FF0066"/>
                  </a:solidFill>
                  <a:effectLst>
                    <a:outerShdw blurRad="38100" dist="38100" dir="2700000" algn="tl">
                      <a:srgbClr val="000000"/>
                    </a:outerShdw>
                  </a:effectLst>
                </a:rPr>
                <a:t>丰富</a:t>
              </a:r>
            </a:p>
          </p:txBody>
        </p:sp>
        <p:sp>
          <p:nvSpPr>
            <p:cNvPr id="33" name="Line 29"/>
            <p:cNvSpPr>
              <a:spLocks noChangeShapeType="1"/>
            </p:cNvSpPr>
            <p:nvPr/>
          </p:nvSpPr>
          <p:spPr bwMode="auto">
            <a:xfrm>
              <a:off x="3840" y="1056"/>
              <a:ext cx="0" cy="124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grpSp>
    </p:spTree>
    <p:extLst>
      <p:ext uri="{BB962C8B-B14F-4D97-AF65-F5344CB8AC3E}">
        <p14:creationId xmlns:p14="http://schemas.microsoft.com/office/powerpoint/2010/main" val="306369661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up)">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blinds(horizontal)">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blinds(horizontal)">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blinds(horizontal)">
                                      <p:cBhvr>
                                        <p:cTn id="42" dur="50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blinds(horizontal)">
                                      <p:cBhvr>
                                        <p:cTn id="4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关系模式的规范化</a:t>
            </a:r>
            <a:endParaRPr lang="en-US" dirty="0"/>
          </a:p>
        </p:txBody>
      </p:sp>
      <p:sp>
        <p:nvSpPr>
          <p:cNvPr id="3" name="Content Placeholder 2"/>
          <p:cNvSpPr>
            <a:spLocks noGrp="1"/>
          </p:cNvSpPr>
          <p:nvPr>
            <p:ph idx="1"/>
          </p:nvPr>
        </p:nvSpPr>
        <p:spPr/>
        <p:txBody>
          <a:bodyPr/>
          <a:lstStyle/>
          <a:p>
            <a:pPr marL="0" indent="0">
              <a:spcBef>
                <a:spcPct val="40000"/>
              </a:spcBef>
              <a:buNone/>
            </a:pPr>
            <a:r>
              <a:rPr lang="zh-CN" altLang="en-US" sz="2400" dirty="0">
                <a:solidFill>
                  <a:srgbClr val="FF0066"/>
                </a:solidFill>
                <a:effectLst>
                  <a:outerShdw blurRad="38100" dist="38100" dir="2700000" algn="tl">
                    <a:srgbClr val="000000"/>
                  </a:outerShdw>
                </a:effectLst>
              </a:rPr>
              <a:t>反规范化</a:t>
            </a:r>
            <a:r>
              <a:rPr lang="en-US" altLang="zh-CN" sz="2400" dirty="0"/>
              <a:t>——</a:t>
            </a:r>
            <a:r>
              <a:rPr lang="zh-CN" altLang="en-US" sz="2400" dirty="0"/>
              <a:t>在数据库中，为了提高查询效率而有意降低关系规范化程度的一种技术。</a:t>
            </a:r>
          </a:p>
          <a:p>
            <a:pPr marL="0" indent="0">
              <a:spcBef>
                <a:spcPct val="40000"/>
              </a:spcBef>
              <a:buNone/>
            </a:pPr>
            <a:r>
              <a:rPr lang="zh-CN" altLang="en-US" sz="2400" dirty="0" smtClean="0">
                <a:solidFill>
                  <a:srgbClr val="0000FF"/>
                </a:solidFill>
              </a:rPr>
              <a:t>例如</a:t>
            </a:r>
            <a:r>
              <a:rPr lang="zh-CN" altLang="en-US" sz="2400" dirty="0">
                <a:solidFill>
                  <a:srgbClr val="0000FF"/>
                </a:solidFill>
              </a:rPr>
              <a:t>：</a:t>
            </a:r>
            <a:r>
              <a:rPr lang="zh-CN" altLang="en-US" sz="2400" dirty="0"/>
              <a:t>一般选课数据库的关系模式如下：</a:t>
            </a:r>
          </a:p>
          <a:p>
            <a:pPr lvl="1" indent="0">
              <a:spcBef>
                <a:spcPct val="40000"/>
              </a:spcBef>
              <a:buNone/>
            </a:pPr>
            <a:r>
              <a:rPr lang="zh-CN" altLang="en-US" dirty="0"/>
              <a:t>	</a:t>
            </a:r>
            <a:r>
              <a:rPr lang="en-US" altLang="zh-CN" dirty="0" smtClean="0">
                <a:solidFill>
                  <a:srgbClr val="0000FF"/>
                </a:solidFill>
              </a:rPr>
              <a:t>class</a:t>
            </a:r>
            <a:r>
              <a:rPr lang="en-US" altLang="zh-CN" dirty="0">
                <a:solidFill>
                  <a:srgbClr val="0000FF"/>
                </a:solidFill>
              </a:rPr>
              <a:t>(</a:t>
            </a:r>
            <a:r>
              <a:rPr lang="en-US" altLang="zh-CN" u="sng" dirty="0" err="1">
                <a:solidFill>
                  <a:srgbClr val="0000FF"/>
                </a:solidFill>
              </a:rPr>
              <a:t>clno</a:t>
            </a:r>
            <a:r>
              <a:rPr lang="en-US" altLang="zh-CN" dirty="0">
                <a:solidFill>
                  <a:srgbClr val="0000FF"/>
                </a:solidFill>
              </a:rPr>
              <a:t>, </a:t>
            </a:r>
            <a:r>
              <a:rPr lang="en-US" altLang="zh-CN" dirty="0" err="1">
                <a:solidFill>
                  <a:srgbClr val="0000FF"/>
                </a:solidFill>
              </a:rPr>
              <a:t>dept</a:t>
            </a:r>
            <a:r>
              <a:rPr lang="en-US" altLang="zh-CN" dirty="0">
                <a:solidFill>
                  <a:srgbClr val="0000FF"/>
                </a:solidFill>
              </a:rPr>
              <a:t>, major)</a:t>
            </a:r>
          </a:p>
          <a:p>
            <a:pPr lvl="1" indent="0">
              <a:spcBef>
                <a:spcPct val="40000"/>
              </a:spcBef>
              <a:buNone/>
            </a:pPr>
            <a:r>
              <a:rPr lang="en-US" altLang="zh-CN" dirty="0">
                <a:solidFill>
                  <a:srgbClr val="0000FF"/>
                </a:solidFill>
              </a:rPr>
              <a:t>	</a:t>
            </a:r>
            <a:r>
              <a:rPr lang="en-US" altLang="zh-CN" dirty="0" smtClean="0">
                <a:solidFill>
                  <a:srgbClr val="0000FF"/>
                </a:solidFill>
              </a:rPr>
              <a:t>student</a:t>
            </a:r>
            <a:r>
              <a:rPr lang="en-US" altLang="zh-CN" dirty="0">
                <a:solidFill>
                  <a:srgbClr val="0000FF"/>
                </a:solidFill>
              </a:rPr>
              <a:t>(</a:t>
            </a:r>
            <a:r>
              <a:rPr lang="en-US" altLang="zh-CN" u="sng" dirty="0" err="1">
                <a:solidFill>
                  <a:srgbClr val="0000FF"/>
                </a:solidFill>
              </a:rPr>
              <a:t>sno</a:t>
            </a:r>
            <a:r>
              <a:rPr lang="en-US" altLang="zh-CN" dirty="0">
                <a:solidFill>
                  <a:srgbClr val="0000FF"/>
                </a:solidFill>
              </a:rPr>
              <a:t>, ID-card, </a:t>
            </a:r>
            <a:r>
              <a:rPr lang="en-US" altLang="zh-CN" dirty="0" err="1">
                <a:solidFill>
                  <a:srgbClr val="0000FF"/>
                </a:solidFill>
              </a:rPr>
              <a:t>sname</a:t>
            </a:r>
            <a:r>
              <a:rPr lang="en-US" altLang="zh-CN" dirty="0">
                <a:solidFill>
                  <a:srgbClr val="0000FF"/>
                </a:solidFill>
              </a:rPr>
              <a:t>, sex, birthdate, </a:t>
            </a:r>
            <a:r>
              <a:rPr lang="en-US" altLang="zh-CN" u="sng" dirty="0" err="1">
                <a:solidFill>
                  <a:srgbClr val="0000FF"/>
                </a:solidFill>
              </a:rPr>
              <a:t>clno</a:t>
            </a:r>
            <a:r>
              <a:rPr lang="zh-CN" altLang="en-US" dirty="0">
                <a:solidFill>
                  <a:srgbClr val="0000FF"/>
                </a:solidFill>
              </a:rPr>
              <a:t>）</a:t>
            </a:r>
          </a:p>
          <a:p>
            <a:pPr lvl="1" indent="0">
              <a:spcBef>
                <a:spcPct val="40000"/>
              </a:spcBef>
              <a:buNone/>
            </a:pPr>
            <a:r>
              <a:rPr lang="zh-CN" altLang="en-US" dirty="0">
                <a:solidFill>
                  <a:srgbClr val="0000FF"/>
                </a:solidFill>
              </a:rPr>
              <a:t>	</a:t>
            </a:r>
            <a:r>
              <a:rPr lang="en-US" altLang="zh-CN" dirty="0" smtClean="0">
                <a:solidFill>
                  <a:srgbClr val="0000FF"/>
                </a:solidFill>
              </a:rPr>
              <a:t>course</a:t>
            </a:r>
            <a:r>
              <a:rPr lang="en-US" altLang="zh-CN" dirty="0">
                <a:solidFill>
                  <a:srgbClr val="0000FF"/>
                </a:solidFill>
              </a:rPr>
              <a:t>(</a:t>
            </a:r>
            <a:r>
              <a:rPr lang="en-US" altLang="zh-CN" u="sng" dirty="0" err="1">
                <a:solidFill>
                  <a:srgbClr val="0000FF"/>
                </a:solidFill>
              </a:rPr>
              <a:t>cno</a:t>
            </a:r>
            <a:r>
              <a:rPr lang="en-US" altLang="zh-CN" dirty="0">
                <a:solidFill>
                  <a:srgbClr val="0000FF"/>
                </a:solidFill>
              </a:rPr>
              <a:t>, </a:t>
            </a:r>
            <a:r>
              <a:rPr lang="en-US" altLang="zh-CN" dirty="0" err="1">
                <a:solidFill>
                  <a:srgbClr val="0000FF"/>
                </a:solidFill>
              </a:rPr>
              <a:t>cname</a:t>
            </a:r>
            <a:r>
              <a:rPr lang="en-US" altLang="zh-CN" dirty="0">
                <a:solidFill>
                  <a:srgbClr val="0000FF"/>
                </a:solidFill>
              </a:rPr>
              <a:t>, score, </a:t>
            </a:r>
            <a:r>
              <a:rPr lang="en-US" altLang="zh-CN" dirty="0" err="1">
                <a:solidFill>
                  <a:srgbClr val="0000FF"/>
                </a:solidFill>
              </a:rPr>
              <a:t>pcno</a:t>
            </a:r>
            <a:r>
              <a:rPr lang="en-US" altLang="zh-CN" dirty="0">
                <a:solidFill>
                  <a:srgbClr val="0000FF"/>
                </a:solidFill>
              </a:rPr>
              <a:t>)</a:t>
            </a:r>
          </a:p>
          <a:p>
            <a:pPr lvl="1" indent="0">
              <a:spcBef>
                <a:spcPct val="40000"/>
              </a:spcBef>
              <a:buNone/>
            </a:pPr>
            <a:r>
              <a:rPr lang="en-US" altLang="zh-CN" dirty="0">
                <a:solidFill>
                  <a:srgbClr val="0000FF"/>
                </a:solidFill>
              </a:rPr>
              <a:t>	</a:t>
            </a:r>
            <a:r>
              <a:rPr lang="en-US" altLang="zh-CN" dirty="0" err="1" smtClean="0">
                <a:solidFill>
                  <a:srgbClr val="0000FF"/>
                </a:solidFill>
              </a:rPr>
              <a:t>sc</a:t>
            </a:r>
            <a:r>
              <a:rPr lang="en-US" altLang="zh-CN" dirty="0">
                <a:solidFill>
                  <a:srgbClr val="0000FF"/>
                </a:solidFill>
              </a:rPr>
              <a:t>(</a:t>
            </a:r>
            <a:r>
              <a:rPr lang="en-US" altLang="zh-CN" u="sng" dirty="0" err="1">
                <a:solidFill>
                  <a:srgbClr val="0000FF"/>
                </a:solidFill>
              </a:rPr>
              <a:t>sno</a:t>
            </a:r>
            <a:r>
              <a:rPr lang="en-US" altLang="zh-CN" dirty="0" err="1">
                <a:solidFill>
                  <a:srgbClr val="0000FF"/>
                </a:solidFill>
              </a:rPr>
              <a:t>,</a:t>
            </a:r>
            <a:r>
              <a:rPr lang="en-US" altLang="zh-CN" u="sng" dirty="0" err="1">
                <a:solidFill>
                  <a:srgbClr val="0000FF"/>
                </a:solidFill>
              </a:rPr>
              <a:t>cno</a:t>
            </a:r>
            <a:r>
              <a:rPr lang="en-US" altLang="zh-CN" dirty="0" err="1">
                <a:solidFill>
                  <a:srgbClr val="0000FF"/>
                </a:solidFill>
              </a:rPr>
              <a:t>,grade</a:t>
            </a:r>
            <a:r>
              <a:rPr lang="en-US" altLang="zh-CN" baseline="-30000" dirty="0">
                <a:solidFill>
                  <a:srgbClr val="0000FF"/>
                </a:solidFill>
              </a:rPr>
              <a:t> </a:t>
            </a:r>
            <a:r>
              <a:rPr lang="en-US" altLang="zh-CN" dirty="0">
                <a:solidFill>
                  <a:srgbClr val="0000FF"/>
                </a:solidFill>
              </a:rPr>
              <a:t>)</a:t>
            </a:r>
          </a:p>
          <a:p>
            <a:pPr marL="0" indent="0">
              <a:spcBef>
                <a:spcPct val="40000"/>
              </a:spcBef>
              <a:buNone/>
            </a:pPr>
            <a:r>
              <a:rPr lang="en-US" altLang="zh-CN" sz="2400" dirty="0"/>
              <a:t> </a:t>
            </a:r>
            <a:r>
              <a:rPr lang="en-US" altLang="zh-CN" sz="2400" dirty="0" smtClean="0"/>
              <a:t>    </a:t>
            </a:r>
            <a:r>
              <a:rPr lang="zh-CN" altLang="en-US" sz="2400" dirty="0" smtClean="0"/>
              <a:t>但对于查分系统</a:t>
            </a:r>
            <a:r>
              <a:rPr lang="zh-CN" altLang="en-US" sz="2400" dirty="0"/>
              <a:t>，为提高查询效率，可设计如下关系模式：</a:t>
            </a:r>
          </a:p>
          <a:p>
            <a:pPr marL="0" indent="0">
              <a:spcBef>
                <a:spcPct val="40000"/>
              </a:spcBef>
              <a:buNone/>
            </a:pPr>
            <a:r>
              <a:rPr lang="zh-CN" altLang="en-US" sz="2400" dirty="0"/>
              <a:t>	</a:t>
            </a:r>
            <a:r>
              <a:rPr lang="en-US" altLang="zh-CN" sz="2400" dirty="0" smtClean="0">
                <a:solidFill>
                  <a:srgbClr val="FF0066"/>
                </a:solidFill>
                <a:effectLst>
                  <a:outerShdw blurRad="38100" dist="38100" dir="2700000" algn="tl">
                    <a:srgbClr val="000000"/>
                  </a:outerShdw>
                </a:effectLst>
              </a:rPr>
              <a:t>students </a:t>
            </a:r>
            <a:r>
              <a:rPr lang="en-US" altLang="zh-CN" sz="2400" dirty="0">
                <a:solidFill>
                  <a:srgbClr val="FF0066"/>
                </a:solidFill>
                <a:effectLst>
                  <a:outerShdw blurRad="38100" dist="38100" dir="2700000" algn="tl">
                    <a:srgbClr val="000000"/>
                  </a:outerShdw>
                </a:effectLst>
              </a:rPr>
              <a:t>(</a:t>
            </a:r>
            <a:r>
              <a:rPr lang="en-US" altLang="zh-CN" sz="2400" u="sng" dirty="0" err="1">
                <a:solidFill>
                  <a:srgbClr val="FF0066"/>
                </a:solidFill>
                <a:effectLst>
                  <a:outerShdw blurRad="38100" dist="38100" dir="2700000" algn="tl">
                    <a:srgbClr val="000000"/>
                  </a:outerShdw>
                </a:effectLst>
              </a:rPr>
              <a:t>sno</a:t>
            </a:r>
            <a:r>
              <a:rPr lang="en-US" altLang="zh-CN" sz="2400" dirty="0">
                <a:solidFill>
                  <a:srgbClr val="FF0066"/>
                </a:solidFill>
                <a:effectLst>
                  <a:outerShdw blurRad="38100" dist="38100" dir="2700000" algn="tl">
                    <a:srgbClr val="000000"/>
                  </a:outerShdw>
                </a:effectLst>
              </a:rPr>
              <a:t>, ID-card, </a:t>
            </a:r>
            <a:r>
              <a:rPr lang="en-US" altLang="zh-CN" sz="2400" dirty="0" err="1">
                <a:solidFill>
                  <a:srgbClr val="FF0066"/>
                </a:solidFill>
                <a:effectLst>
                  <a:outerShdw blurRad="38100" dist="38100" dir="2700000" algn="tl">
                    <a:srgbClr val="000000"/>
                  </a:outerShdw>
                </a:effectLst>
              </a:rPr>
              <a:t>sname</a:t>
            </a:r>
            <a:r>
              <a:rPr lang="en-US" altLang="zh-CN" sz="2400" dirty="0">
                <a:solidFill>
                  <a:srgbClr val="FF0066"/>
                </a:solidFill>
                <a:effectLst>
                  <a:outerShdw blurRad="38100" dist="38100" dir="2700000" algn="tl">
                    <a:srgbClr val="000000"/>
                  </a:outerShdw>
                </a:effectLst>
              </a:rPr>
              <a:t>, </a:t>
            </a:r>
            <a:r>
              <a:rPr lang="en-US" altLang="zh-CN" sz="2400" u="sng" dirty="0" err="1">
                <a:solidFill>
                  <a:srgbClr val="FF0066"/>
                </a:solidFill>
                <a:effectLst>
                  <a:outerShdw blurRad="38100" dist="38100" dir="2700000" algn="tl">
                    <a:srgbClr val="000000"/>
                  </a:outerShdw>
                </a:effectLst>
              </a:rPr>
              <a:t>cno</a:t>
            </a:r>
            <a:r>
              <a:rPr lang="en-US" altLang="zh-CN" sz="2400" dirty="0">
                <a:solidFill>
                  <a:srgbClr val="FF0066"/>
                </a:solidFill>
                <a:effectLst>
                  <a:outerShdw blurRad="38100" dist="38100" dir="2700000" algn="tl">
                    <a:srgbClr val="000000"/>
                  </a:outerShdw>
                </a:effectLst>
              </a:rPr>
              <a:t>, grade</a:t>
            </a:r>
            <a:r>
              <a:rPr lang="en-US" altLang="zh-CN" sz="2400" baseline="-30000" dirty="0">
                <a:solidFill>
                  <a:srgbClr val="FF0066"/>
                </a:solidFill>
                <a:effectLst>
                  <a:outerShdw blurRad="38100" dist="38100" dir="2700000" algn="tl">
                    <a:srgbClr val="000000"/>
                  </a:outerShdw>
                </a:effectLst>
              </a:rPr>
              <a:t> </a:t>
            </a:r>
            <a:r>
              <a:rPr lang="en-US" altLang="zh-CN" sz="2400" dirty="0">
                <a:solidFill>
                  <a:srgbClr val="FF0066"/>
                </a:solidFill>
                <a:effectLst>
                  <a:outerShdw blurRad="38100" dist="38100" dir="2700000" algn="tl">
                    <a:srgbClr val="000000"/>
                  </a:outerShdw>
                </a:effectLst>
              </a:rPr>
              <a:t>)</a:t>
            </a:r>
          </a:p>
          <a:p>
            <a:pPr marL="0" indent="0">
              <a:buNone/>
            </a:pPr>
            <a:endParaRPr lang="en-US" sz="2400" dirty="0"/>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58</a:t>
            </a:fld>
            <a:endParaRPr lang="en-US" altLang="zh-CN"/>
          </a:p>
        </p:txBody>
      </p:sp>
    </p:spTree>
    <p:extLst>
      <p:ext uri="{BB962C8B-B14F-4D97-AF65-F5344CB8AC3E}">
        <p14:creationId xmlns:p14="http://schemas.microsoft.com/office/powerpoint/2010/main" val="473785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关系模式的规范化</a:t>
            </a:r>
            <a:endParaRPr lang="en-US" dirty="0"/>
          </a:p>
        </p:txBody>
      </p:sp>
      <p:sp>
        <p:nvSpPr>
          <p:cNvPr id="3" name="Content Placeholder 2"/>
          <p:cNvSpPr>
            <a:spLocks noGrp="1"/>
          </p:cNvSpPr>
          <p:nvPr>
            <p:ph idx="1"/>
          </p:nvPr>
        </p:nvSpPr>
        <p:spPr/>
        <p:txBody>
          <a:bodyPr/>
          <a:lstStyle/>
          <a:p>
            <a:pPr marL="0" indent="0">
              <a:spcAft>
                <a:spcPts val="600"/>
              </a:spcAft>
              <a:buNone/>
            </a:pPr>
            <a:r>
              <a:rPr lang="zh-CN" altLang="en-US" dirty="0" smtClean="0">
                <a:solidFill>
                  <a:srgbClr val="FF0000"/>
                </a:solidFill>
                <a:ea typeface="经典细隶书简" charset="0"/>
                <a:cs typeface="经典细隶书简" charset="0"/>
              </a:rPr>
              <a:t>思考</a:t>
            </a:r>
            <a:r>
              <a:rPr lang="zh-CN" altLang="en-US" dirty="0" smtClean="0"/>
              <a:t>：</a:t>
            </a:r>
            <a:endParaRPr lang="en-US" altLang="zh-CN" dirty="0" smtClean="0"/>
          </a:p>
          <a:p>
            <a:pPr>
              <a:spcAft>
                <a:spcPts val="600"/>
              </a:spcAft>
            </a:pPr>
            <a:r>
              <a:rPr lang="zh-CN" altLang="en-US" dirty="0">
                <a:solidFill>
                  <a:srgbClr val="000090"/>
                </a:solidFill>
              </a:rPr>
              <a:t>任何一个二目关系模式</a:t>
            </a:r>
            <a:r>
              <a:rPr lang="en-US" altLang="zh-CN" dirty="0">
                <a:solidFill>
                  <a:srgbClr val="000090"/>
                </a:solidFill>
              </a:rPr>
              <a:t>R</a:t>
            </a:r>
            <a:r>
              <a:rPr lang="zh-CN" altLang="en-US" dirty="0">
                <a:solidFill>
                  <a:srgbClr val="000090"/>
                </a:solidFill>
              </a:rPr>
              <a:t>（</a:t>
            </a:r>
            <a:r>
              <a:rPr lang="en-US" altLang="zh-CN" dirty="0">
                <a:solidFill>
                  <a:srgbClr val="000090"/>
                </a:solidFill>
              </a:rPr>
              <a:t>A</a:t>
            </a:r>
            <a:r>
              <a:rPr lang="zh-CN" altLang="en-US" dirty="0">
                <a:solidFill>
                  <a:srgbClr val="000090"/>
                </a:solidFill>
              </a:rPr>
              <a:t>，</a:t>
            </a:r>
            <a:r>
              <a:rPr lang="en-US" altLang="zh-CN" dirty="0">
                <a:solidFill>
                  <a:srgbClr val="000090"/>
                </a:solidFill>
              </a:rPr>
              <a:t>B</a:t>
            </a:r>
            <a:r>
              <a:rPr lang="zh-CN" altLang="en-US" dirty="0">
                <a:solidFill>
                  <a:srgbClr val="000090"/>
                </a:solidFill>
              </a:rPr>
              <a:t>）一定属于</a:t>
            </a:r>
            <a:r>
              <a:rPr lang="en-US" altLang="zh-CN" dirty="0">
                <a:solidFill>
                  <a:srgbClr val="000090"/>
                </a:solidFill>
              </a:rPr>
              <a:t>BCNF</a:t>
            </a:r>
            <a:r>
              <a:rPr lang="zh-CN" altLang="en-US" dirty="0">
                <a:solidFill>
                  <a:srgbClr val="000090"/>
                </a:solidFill>
              </a:rPr>
              <a:t>吗？一定属于</a:t>
            </a:r>
            <a:r>
              <a:rPr lang="en-US" altLang="zh-CN" dirty="0">
                <a:solidFill>
                  <a:srgbClr val="000090"/>
                </a:solidFill>
              </a:rPr>
              <a:t>4NF</a:t>
            </a:r>
            <a:r>
              <a:rPr lang="zh-CN" altLang="en-US" dirty="0">
                <a:solidFill>
                  <a:srgbClr val="000090"/>
                </a:solidFill>
              </a:rPr>
              <a:t>吗？</a:t>
            </a:r>
          </a:p>
          <a:p>
            <a:pPr>
              <a:spcAft>
                <a:spcPts val="600"/>
              </a:spcAft>
            </a:pPr>
            <a:r>
              <a:rPr lang="zh-CN" altLang="en-US" dirty="0">
                <a:solidFill>
                  <a:srgbClr val="000090"/>
                </a:solidFill>
              </a:rPr>
              <a:t>关系模式</a:t>
            </a:r>
            <a:r>
              <a:rPr lang="en-US" altLang="zh-CN" dirty="0">
                <a:solidFill>
                  <a:srgbClr val="000090"/>
                </a:solidFill>
              </a:rPr>
              <a:t>R</a:t>
            </a:r>
            <a:r>
              <a:rPr lang="zh-CN" altLang="en-US" dirty="0">
                <a:solidFill>
                  <a:srgbClr val="000090"/>
                </a:solidFill>
              </a:rPr>
              <a:t>（</a:t>
            </a:r>
            <a:r>
              <a:rPr lang="en-US" altLang="zh-CN" dirty="0">
                <a:solidFill>
                  <a:srgbClr val="000090"/>
                </a:solidFill>
              </a:rPr>
              <a:t>A</a:t>
            </a:r>
            <a:r>
              <a:rPr lang="zh-CN" altLang="en-US" dirty="0">
                <a:solidFill>
                  <a:srgbClr val="000090"/>
                </a:solidFill>
              </a:rPr>
              <a:t>，</a:t>
            </a:r>
            <a:r>
              <a:rPr lang="en-US" altLang="zh-CN" dirty="0">
                <a:solidFill>
                  <a:srgbClr val="000090"/>
                </a:solidFill>
              </a:rPr>
              <a:t>B</a:t>
            </a:r>
            <a:r>
              <a:rPr lang="zh-CN" altLang="en-US" dirty="0">
                <a:solidFill>
                  <a:srgbClr val="000090"/>
                </a:solidFill>
              </a:rPr>
              <a:t>，</a:t>
            </a:r>
            <a:r>
              <a:rPr lang="en-US" altLang="zh-CN" dirty="0">
                <a:solidFill>
                  <a:srgbClr val="000090"/>
                </a:solidFill>
              </a:rPr>
              <a:t>C</a:t>
            </a:r>
            <a:r>
              <a:rPr lang="zh-CN" altLang="en-US" dirty="0">
                <a:solidFill>
                  <a:srgbClr val="000090"/>
                </a:solidFill>
              </a:rPr>
              <a:t>），</a:t>
            </a:r>
            <a:r>
              <a:rPr lang="en-US" altLang="zh-CN" dirty="0">
                <a:solidFill>
                  <a:srgbClr val="000090"/>
                </a:solidFill>
              </a:rPr>
              <a:t>AB</a:t>
            </a:r>
            <a:r>
              <a:rPr lang="en-US" altLang="zh-CN" dirty="0">
                <a:solidFill>
                  <a:srgbClr val="000090"/>
                </a:solidFill>
                <a:sym typeface="Symbol" charset="0"/>
              </a:rPr>
              <a:t>C</a:t>
            </a:r>
            <a:r>
              <a:rPr lang="zh-CN" altLang="en-US" dirty="0">
                <a:solidFill>
                  <a:srgbClr val="000090"/>
                </a:solidFill>
                <a:sym typeface="Symbol" charset="0"/>
              </a:rPr>
              <a:t>一定成立吗？</a:t>
            </a:r>
            <a:endParaRPr lang="zh-CN" altLang="en-US" dirty="0">
              <a:solidFill>
                <a:srgbClr val="000090"/>
              </a:solidFill>
            </a:endParaRPr>
          </a:p>
          <a:p>
            <a:pPr>
              <a:spcAft>
                <a:spcPts val="600"/>
              </a:spcAft>
            </a:pPr>
            <a:r>
              <a:rPr lang="zh-CN" altLang="en-US" dirty="0">
                <a:solidFill>
                  <a:srgbClr val="000090"/>
                </a:solidFill>
              </a:rPr>
              <a:t>一个全是主属性的关系模式一定可以达到第几范式？</a:t>
            </a:r>
          </a:p>
          <a:p>
            <a:pPr>
              <a:spcAft>
                <a:spcPts val="600"/>
              </a:spcAft>
            </a:pPr>
            <a:r>
              <a:rPr lang="zh-CN" altLang="en-US" dirty="0">
                <a:solidFill>
                  <a:srgbClr val="000090"/>
                </a:solidFill>
              </a:rPr>
              <a:t>一个全码的关系模式一定可以达到第几范式？</a:t>
            </a:r>
          </a:p>
          <a:p>
            <a:pPr>
              <a:spcAft>
                <a:spcPts val="600"/>
              </a:spcAft>
            </a:pPr>
            <a:endParaRPr lang="zh-CN" altLang="en-US" dirty="0">
              <a:ea typeface="经典细隶书简" charset="0"/>
              <a:cs typeface="经典细隶书简" charset="0"/>
            </a:endParaRPr>
          </a:p>
        </p:txBody>
      </p:sp>
      <p:sp>
        <p:nvSpPr>
          <p:cNvPr id="4" name="Date Placeholder 3"/>
          <p:cNvSpPr>
            <a:spLocks noGrp="1"/>
          </p:cNvSpPr>
          <p:nvPr>
            <p:ph type="dt" sz="half" idx="10"/>
          </p:nvPr>
        </p:nvSpPr>
        <p:spPr/>
        <p:txBody>
          <a:bodyPr/>
          <a:lstStyle/>
          <a:p>
            <a:pPr>
              <a:defRPr/>
            </a:pPr>
            <a:fld id="{783D1D5F-944C-AF4B-AD91-9B9D64FAE84E}" type="datetimeFigureOut">
              <a:rPr lang="en-US" altLang="zh-CN" smtClean="0"/>
              <a:pPr>
                <a:defRPr/>
              </a:pPr>
              <a:t>17-4-28</a:t>
            </a:fld>
            <a:endParaRPr lang="en-US" altLang="zh-CN"/>
          </a:p>
        </p:txBody>
      </p:sp>
      <p:sp>
        <p:nvSpPr>
          <p:cNvPr id="5" name="Slide Number Placeholder 4"/>
          <p:cNvSpPr>
            <a:spLocks noGrp="1"/>
          </p:cNvSpPr>
          <p:nvPr>
            <p:ph type="sldNum" sz="quarter" idx="11"/>
          </p:nvPr>
        </p:nvSpPr>
        <p:spPr/>
        <p:txBody>
          <a:bodyPr/>
          <a:lstStyle/>
          <a:p>
            <a:pPr>
              <a:defRPr/>
            </a:pPr>
            <a:fld id="{47F445B7-5C44-804A-899A-16C4D8122FBA}" type="slidenum">
              <a:rPr lang="en-US" altLang="zh-CN" smtClean="0"/>
              <a:pPr>
                <a:defRPr/>
              </a:pPr>
              <a:t>59</a:t>
            </a:fld>
            <a:endParaRPr lang="en-US" altLang="zh-CN"/>
          </a:p>
        </p:txBody>
      </p:sp>
    </p:spTree>
    <p:extLst>
      <p:ext uri="{BB962C8B-B14F-4D97-AF65-F5344CB8AC3E}">
        <p14:creationId xmlns:p14="http://schemas.microsoft.com/office/powerpoint/2010/main" val="33045265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头类型">
  <a:themeElements>
    <a:clrScheme name="木头类型">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木头类型">
      <a:majorFont>
        <a:latin typeface="Arial Black"/>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木头类型">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 xmlns:thm15="http://schemas.microsoft.com/office/thememl/2012/main" name="Wood Type" id="{7ACABC62-BF99-48CF-A9DC-4DB89C7B13DC}" vid="{BE1B6DD8-9976-4550-A6F4-B2DD4EA939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Theme.thmx</Template>
  <TotalTime>2946</TotalTime>
  <Words>4863</Words>
  <Application>Microsoft Macintosh PowerPoint</Application>
  <PresentationFormat>On-screen Show (4:3)</PresentationFormat>
  <Paragraphs>1163</Paragraphs>
  <Slides>59</Slides>
  <Notes>5</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62" baseType="lpstr">
      <vt:lpstr>木头类型</vt:lpstr>
      <vt:lpstr>Equation</vt:lpstr>
      <vt:lpstr>Document</vt:lpstr>
      <vt:lpstr>第六章   关系数据理论</vt:lpstr>
      <vt:lpstr>第六章  关系数据理论</vt:lpstr>
      <vt:lpstr>6.1 问题的提出</vt:lpstr>
      <vt:lpstr>6.1 问题的提出</vt:lpstr>
      <vt:lpstr>6.1 问题的提出</vt:lpstr>
      <vt:lpstr>6.1 问题的提出</vt:lpstr>
      <vt:lpstr>6.1 问题的提出</vt:lpstr>
      <vt:lpstr>6.1 问题的提出</vt:lpstr>
      <vt:lpstr>6.1 问题的提出</vt:lpstr>
      <vt:lpstr>6.1 问题的提出</vt:lpstr>
      <vt:lpstr>6.1 问题的提出</vt:lpstr>
      <vt:lpstr>6.1 问题的提出</vt:lpstr>
      <vt:lpstr>第六章  关系数据理论</vt:lpstr>
      <vt:lpstr>6.2.1 函数依赖</vt:lpstr>
      <vt:lpstr>6.2.1 函数依赖</vt:lpstr>
      <vt:lpstr>6.2.1 函数依赖</vt:lpstr>
      <vt:lpstr>6.2.1 函数依赖</vt:lpstr>
      <vt:lpstr>6.2.1 函数依赖</vt:lpstr>
      <vt:lpstr>6.2.1 函数依赖</vt:lpstr>
      <vt:lpstr>6.2.2 码</vt:lpstr>
      <vt:lpstr>6.2.2 码</vt:lpstr>
      <vt:lpstr>6.2.3 范式</vt:lpstr>
      <vt:lpstr>第一范式（First Normal Form，1NF）</vt:lpstr>
      <vt:lpstr>1NF</vt:lpstr>
      <vt:lpstr>1NF</vt:lpstr>
      <vt:lpstr>6.2.4 2NF</vt:lpstr>
      <vt:lpstr>2NF</vt:lpstr>
      <vt:lpstr>6.2.5 3NF</vt:lpstr>
      <vt:lpstr>3NF</vt:lpstr>
      <vt:lpstr>3NF</vt:lpstr>
      <vt:lpstr>3NF</vt:lpstr>
      <vt:lpstr>课堂练习：试证明，若关系模式R是二元关系，则R3NF。</vt:lpstr>
      <vt:lpstr>案例：规范化的过程</vt:lpstr>
      <vt:lpstr>案例：规范化的过程(2)</vt:lpstr>
      <vt:lpstr>案例：规范化的过程(3)</vt:lpstr>
      <vt:lpstr>案例：规范化的过程(4)</vt:lpstr>
      <vt:lpstr>3NF可能存在的问题</vt:lpstr>
      <vt:lpstr>3NF可能存在的问题</vt:lpstr>
      <vt:lpstr>3NF可能存在的问题</vt:lpstr>
      <vt:lpstr>6.2.6 BC范式 </vt:lpstr>
      <vt:lpstr>课堂练习</vt:lpstr>
      <vt:lpstr>BCNF</vt:lpstr>
      <vt:lpstr>6.2.7 多值依赖</vt:lpstr>
      <vt:lpstr>多值依赖</vt:lpstr>
      <vt:lpstr>多值依赖</vt:lpstr>
      <vt:lpstr>多值依赖</vt:lpstr>
      <vt:lpstr>多值依赖</vt:lpstr>
      <vt:lpstr>多值依赖</vt:lpstr>
      <vt:lpstr>多值依赖</vt:lpstr>
      <vt:lpstr>多值依赖</vt:lpstr>
      <vt:lpstr>多值依赖</vt:lpstr>
      <vt:lpstr>多值依赖</vt:lpstr>
      <vt:lpstr>多值依赖</vt:lpstr>
      <vt:lpstr>6.2.8 4NF</vt:lpstr>
      <vt:lpstr>6.2.9 关系规范化小结</vt:lpstr>
      <vt:lpstr>结论</vt:lpstr>
      <vt:lpstr>6.3.5 关系规范化小结</vt:lpstr>
      <vt:lpstr>关系模式的规范化</vt:lpstr>
      <vt:lpstr>关系模式的规范化</vt:lpstr>
    </vt:vector>
  </TitlesOfParts>
  <Manager/>
  <Company>HUST</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数据库安全性</dc:title>
  <dc:subject/>
  <dc:creator>Qiong Zuo</dc:creator>
  <cp:keywords/>
  <dc:description/>
  <cp:lastModifiedBy>Qiong Zuo</cp:lastModifiedBy>
  <cp:revision>253</cp:revision>
  <dcterms:created xsi:type="dcterms:W3CDTF">2017-04-13T08:34:23Z</dcterms:created>
  <dcterms:modified xsi:type="dcterms:W3CDTF">2017-04-28T01:26:31Z</dcterms:modified>
  <cp:category/>
</cp:coreProperties>
</file>